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2880360"/>
            <a:ext cx="11640312" cy="36576"/>
          </a:xfrm>
          <a:prstGeom prst="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0"/>
            <a:ext cx="116403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5C242"/>
                </a:solidFill>
              </a:rPr>
              <a:t>Chemistry Midterm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063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</a:rPr>
              <a:t>195 Questions | Boards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2148840"/>
            <a:ext cx="64008" cy="2560320"/>
          </a:xfrm>
          <a:prstGeom prst="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148840"/>
            <a:ext cx="1143914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5C242"/>
                </a:solidFill>
              </a:rPr>
              <a:t>SOLUTIONS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Q1.  68% of nitric acid in water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Has zero enthalpy of mixing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Cannot be separated by distillation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Follows Raoult's Law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Has zero volume change of mixing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Q2.  Assuming complete dissociation, the value of van't Hoff factor for Na2SO4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Q3.  Consider a blood cell placed in a NaCl solution of concentration more than 0.9% (w/V). Which one of the following statements is true in this case?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Osmosis takes place from the cell to the NaCl solution, and the cell shrinks.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Osmosis takes place from the NaCl solution to the cell, and the cell swells.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Osmosis takes place from the cell to the NaCl solution, and the cell swells.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Osmosis takes place from the NaCl solution to the cell, and the cell shrinks.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Q4.  De-salination of sea water can be done by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Dialysis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Hypertonic 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Evaporation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Reverse osmosis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Q5.  During osmosis, the solvent molecules are moving from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Hypertonic solution to isotonic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Hypertonic solution to hypotonic 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Higher concentrated solution to lower concentrated 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Hypotonic solution to hypertonic 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Q6.  For a 0.1M solution, the colligative property will follow the order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NaCl &gt; Na2SO4 &gt; Na3PO4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NaCl &lt; Na2SO4 &lt; Na3PO4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NaCl &lt; Na2SO4 ≈ Na3PO4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NaCl &lt; Na2SO4 = Na3PO4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Q7.  If abnormal molar mass is more than normal molar mass, the Van't Hoff factor (i)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i &gt;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i =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i &lt;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i ≥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Q8.  In a solution containing a non-volatile solute, the mole fraction of solvent is 0.9. The relative lowering of vapor pressure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0.1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0.9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1.1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Q9.  Isotonic solutions have the same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Surface tension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Vapour pressure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Osmotic pressure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Viscosity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Q10.  Pick out the ideal solution among the following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Phenol and Aniline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Ethanol and Acetone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Chloroform and Acetone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n-Hexane and n-Heptane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Q11.  The concentration term depends on temperature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ppm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mole fraction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molality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molarity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Q12.  The condition caused when scuba divers go into deep sea water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Anoxia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Hemophilia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Bends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None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Q13.  The KH values for Ar(g), CO2 (aq), HCHO (aq), and CH4(aq) are 40.39, 1.67, 1.83 × 10-3, and 0.413 respectively. Arrange them in the order of their increasing solubility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HCHO &lt; CH4 &lt; CO2 &lt; 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HCHO &lt; CO2 &lt; CH4 &lt; 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Ar &lt; CO2 &lt; CH4 &lt; HCHO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Ar &lt; CH4 &lt; CO2 &lt; HCHO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Q14.  The dissolution of a gas in a liquid is governed by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Roult's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Henry's law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Dalton's law of Pressure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Boyle's law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Q15.  The maximum amount of a solid solute that can be dissolved in a specific amount of a given liquid solvent does not depend upon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Nature of solvent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Pressure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Nature of solute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Temperature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Q16.  The mixture which shows positive deviation from Raoult's law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Ethanol + Acetone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Benzene + Toluene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Acetone + Chloroform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Chlorobenzene + Bromoethane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Q17.  The most diluted solution is (molar mass of NaCl = 58.5 g mol-1)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2% (w/w) NaCl in water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1M NaCl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2 ppm of NaCl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2 m NaCl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Q18.  The pressure cooker reduces the cooking timing because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Heat is more evenly distributed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The boiling point of water inside the cooker is elevated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The boiling point of water inside the cooker is depressed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Higher pressure inside the cooker tenderizes food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Q19.  The solubility of a gas in water depends 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Nature of the gas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Temperature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Pressure of the gas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All of the above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Q20.  The solubility of a solid gas does not depend 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Nature of the solute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Nature of the solvent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Pressure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None of these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Q21.  The solution which has lower osmotic pressure with respect to another is called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Isotonic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Hypertonic 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Hypotonic 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None of these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Q22.  The solutions which show a large positive deviation from Raoult's law 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Minimum boiling point azeotrope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Maximum boiling point azeotrope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Minimum or maximum boiling point azeotrope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No azeotrope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Q23.  The tanks used by most scuba divers are filled with air diluted with helium of around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88.3%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56.2%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32.1%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11.7%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Q24.  The value of Henry's constant KH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Greater for gases with higher solubility.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Greater for gases with lower solubility.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Constant for all gases.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Not related to the solubility of gases.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Q25.  Value of Henry's constant (KH)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Increases with increase in temperature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Decreases with increase in temperature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Remains constant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First increases, then decreases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Q26.  When a substance is dissolved in a solvent, the vapor pressure for the solvent is decreased. This results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The solution having a lower osmotic pressure than the solvent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A decrease in the boiling point of the solvent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The solution having a higher freezing point than the solvent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An increase in the boiling point of the solution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Q27.  Which of the following aqueous solutions should have the highest boiling point?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1.0 M NaOH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1.0 M Na2SO4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1.0 M NH4NO3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1.0 M KNO3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Q28.  Which of the following liquid-liquid solutions show negative deviation from Raoult's law?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Benzene and Toluene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Water and Ethanol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Acetone and Chloroform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Chlorobenzene and Bromobenzene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Q29.  Which of the following solutions is used as an antifreezing agent in car radiators to cool the engine?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35% (v/v) solution of ethylene glycol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35% (m/m) solution of ethylene glycol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35% (m/v) solution of ethylene glycol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35% (v/m) solution of ethylene glycol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Q30.  Which one of the following is not a solid solution?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Hydrogen in palladium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Camphor in nitrogen gas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Amalgam of mercury &amp; sodium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Copper in gold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2148840"/>
            <a:ext cx="64008" cy="2560320"/>
          </a:xfrm>
          <a:prstGeom prst="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148840"/>
            <a:ext cx="1143914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5C242"/>
                </a:solidFill>
              </a:rPr>
              <a:t>ELECTROCHEMISTRY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ELECTROCHEMISTRY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Q31.  A galvanic cell has an electrical potential of 1.1 V. If an opposing potential of 1.1 V is applied to this cell, what will happen to the cell reaction and current flowing through the cell?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The reaction stops and no current flows through the cell.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The reaction continues but current flows in the opposite direction.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The concentration of reactants becomes unity and current flows from cathode to anode.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The cell does not function as a galvanic cell and zinc is deposited on the zinc plate.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ELECTROCHEMISTRY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Q32.  An electrochemical cell can behave like an electrolytic cell when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Ecell =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Ecell &gt; Eext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Ecell &lt; Eext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Ecell = Eext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ELECTROCHEMISTRY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Q33.  Assertion: The specific conductivity decreases with dilution. Reason: The number of ions per unit volume that carry the current in a solution decreases on dilution.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Both assertion and reason are true, and the reason is the correct explanation of the assertion.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Both assertion and reason are true, but the reason is not the correct explanation of the assertion.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Assertion is true, but the reason is false.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Both assertion and reason are false.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ELECTROCHEMISTRY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Q34.  Ecell of Daniel cell is calculated by using the following formula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Ecell = E°cell - 0.0295 log (Cu2+/Zn2+)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Ecell = E°cell - 0.0295 log (Cu/Zn2+)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Ecell = E°cell - 0.0295 log (Zn2+/Cu2+)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Ecell = E°cell - 0.0295 log (Cu2+/Zn)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ELECTROCHEMISTRY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Q35.  Fluorine has the highest standard electrode potential, indicating that fluorine gas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Strongest reducing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Strongest oxidizing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Weak oxidizing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SEP value is zero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ELECTROCHEMISTRY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Q36.  If the E0cell for a given reaction has a negative value, then which of the following is the correct relationship for the value of ΔG0 and Keq?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ΔG0&gt;0 and Keq&gt;1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ΔG0&lt;0 and Keq&lt;1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ΔG0&gt;0 and Keq&lt;1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ΔG0&lt;0 and Keq&gt;1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ELECTROCHEMISTRY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Q37.  In a galvanic cell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Chemical energy is converted into heat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Electrical energy is converted into heat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Chemical energy is converted into electrical energy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Electrical energy is converted into chemical energy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ELECTROCHEMISTRY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Q38.  Match the batteries in Column I with their anode material in Column II. Column I Column II (i) Leclanché cell (a) Lead (Pb) (ii) Mercury cell (b) Hydrogen(H2) gas (iii) Lead storage battery (c) Zinc (Zn) (iv) H2-O2 fuel cell. (d) Zinc – Mercury amalgam(Zn(Hg))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i-a, ii-b, iii-c, iv-d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i-b, ii-a, iii-d, iv-c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i-c, ii-d, iii-a, iv-b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i-d, ii-c, iii-a, iv-b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ELECTROCHEMISTRY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Q39.  Saturated solution of KNO3 is used to make a salt bridge because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Velocity of K+ is greater than that of NO3-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Velocity of NO3- is greater than that of K+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Velocity of both K+ and NO3- are nearly the same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KNO3 is highly soluble in water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ELECTROCHEMISTRY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Q40.  Statement I: Conductivity (κ) of a solution decreases with dilution. Statement II: Molar conductivity (λm) of solution increases with dilution. Identify the correct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Both statements I and II are correct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Both statements I and II are incorrect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Statement I is correct but statement II is incorrect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Statement I is incorrect but statement II is correct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ELECTROCHEMISTRY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Q41.  Statement I: Cu displaces H2 gas from dilute acids. Statement II: ions Cu2+ get reduced more easily than H+ 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Both Statement I and II are correct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Both Statement I and II are incorrect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Statement I is correct and Statement II is incorrect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Statement I is incorrect and Statement II is correct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ELECTROCHEMISTRY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Q42.  The E° values of Fe2+ / Fe, Zn2+ / Zn, and Sn2+ / Sn are -0.44V, -0.76V, and -0.14V respectively. Which of these metals can displace iron from an Fe2+ solution?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Both Zn and Sn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Zn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Sn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Neither Zn nor Sn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ELECTROCHEMISTRY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Q43.  The molar conductivity is maximum for the solution of concentration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0.005 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0.001 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0.004 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0.002 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ELECTROCHEMISTRY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Q44.  The product formed at the anode during the electrolysis of aqueous NaCl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H2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O2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Cl2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ELECTROCHEMISTRY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Q45.  The quantity of electricity required for the reduction of one mole of Al3+ ions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1 Faraday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2 Faraday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3 Faraday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4 Faraday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ELECTROCHEMISTRY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Q46.  What will happen in the Daniel cell, when Eext&lt;1.1 V?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Electrons flow from Zn rod to Cu rod; hence current flows from Cu to Zn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Electrons flow from Cu rod to Zn rod; hence current flows from Cu to Zn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Electrons flow from Zn rod to Cu rod; hence current flows from Zn to Cu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Electrons flow from Cu rod to Zn rod; hence current flows from Zn to Cu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ELECTROCHEMISTRY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Q47.  When one Faraday current is passed, which of the following would deposit one-gram atomic mass of the metal?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NaCl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ZnSO4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AlCl3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BaCl2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ELECTROCHEMISTRY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Q48.  Which of these statements about a galvanic cell are not true? i) The cathode carries a positive sign. ii) Oxidation occurs at the anode. iii) Electrons flow from cathode to anode in the external circuit. iv) The anode carries a negative 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i and iii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i and ii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ii and iii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ii and iv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2148840"/>
            <a:ext cx="64008" cy="2560320"/>
          </a:xfrm>
          <a:prstGeom prst="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148840"/>
            <a:ext cx="1143914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5C242"/>
                </a:solidFill>
              </a:rPr>
              <a:t>CHEMICAL KINETICS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Q49.  Acid hydrolysis of ethyl acetate is an example 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Zero order reaction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First order reaction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Second order reaction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Pseudo first order reaction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Q50.  All natural and artificial radioactive decay of unstable nuclei take place by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Zero order kinetics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Half-order kinetics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First-order kinetics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Second-order kinetics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Q51.  For 2NO(g) + O2(g) → 2NO2(g), the following initial-rate data were obtained. Choose the rate equation.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Rate = k[NO]2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Rate = k[NO]2 [O2]2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Rate = k[NO] [O2]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Rate = k[NO]2 [O2]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Q52.  Consider the Arrhenius equation k=e−Ea/RT and mark the correct option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Rate constant increases exponentially with increasing activation energy and decreasing temperature.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Rate constant decreases exponentially with increasing activation energy and decreasing temperature.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Rate constant increases exponentially with increasing activation energy and increasing temperature.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Rate constant increases exponentially with decreasing activation energy and decreasing temperature.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Q53.  For a chemical reaction A → B, it is found that the rate of a reaction doubles when the concentration of A is doubled. The order of the reaction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Two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Zero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Three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Q54.  For a zero-order reaction, the intercept for the plot of concentration of reactants vs. time is equal 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-k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log 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[R0]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log [R0]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Q55.  In a reaction A + B → products, rate is doubled when the concentration of B is doubled, and rate increases by a factor of 8 when the concentrations of both the reactants (A and B. are doubled. The rate law for the reaction can be written as: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Rate = K [A][B]2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Rate = K [A]2[B]2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Rate = K [A]2[B]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Rate = 𝐾 [A] [B]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Q56.  In a reaction Hg + Cl2 → HgCl2, the rate of disappearance of Hg is equal 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Rate of disappearance of Cl2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Rate of appearance of HgCl2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Rate of appearance of Cl2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Both (a) and (b)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Q57.  In a reaction, when the concentration of a reactant is increased two times, the increase in the rate of reaction was four times. The order of the reaction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First order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Zero order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Pseudo first 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Second order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Q58.  In presence of a catalyst, the heat evolved or absorbed during the reaction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Increases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Decreases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Depends on the reaction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Remains unchanged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Q59.  Order of a reaction in which unit of rate of reaction and rate constant are the same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1 2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Q60.  Statement I: A catalyst does not alter Gibb’s energy (ΔG) of a reaction. Statement II: A catalyst alters the activation energy (Ea) of a reaction by providing an alternate pathway.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Both Statement I and II are correct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Both Statement I and II are incorrect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Statement I is correct, but Statement II is incorrect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Statement I is incorrect, but Statement II is correct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Q61.  Statement I: If in a zero-order reaction, the concentration of the reactant is doubled, the half-life period is also doubled. Statement II: For a first-order reaction, the half-life period is independent of the initial concentration of the reactant.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Both Statement I and II are correct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Both Statement I and II are incorrect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Statement I is correct but Statement II is incorrect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Statement I is incorrect but Statement II is correct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Q62.  The collision frequency in a reaction depends 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Number of moles of reactants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Proper orientation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Activated reactant molecules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Both (b) and (c)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Q63.  The following factor which does not affect the rate of reaction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Molecularity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Temperature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Catalyst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Concentration of reactant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Q64.  The half-life period of a first-order reaction is 15 minutes. The amount of substance left after one hour will be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One-half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One-fourth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One-eighth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One-sixteenth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Q65.  The molecularity of a reaction cannot be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Zero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Both (a) and (b)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Whole number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Q66.  The number of collisions per second per unit volume of the reaction is known 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Collision energy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Activation energy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Collision frequency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Kinetic energy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Q67.  The order of a chemical reaction having the rate expression, Rate = k[A] [B]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1 2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1 4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Q68.  The overall order of a reaction which has the rate expression Rate = K[A]1/2[B]3/2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3 2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Q69.  The order for a reaction with the rate law Rate=𝑘[𝐴]1[𝐵]1 is: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Zero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Fraction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Two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Q70.  The rate constant of a reaction is k = 2.3 × 10-5 L mol-1 s-1. The order of the reaction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Zero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Two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Three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Q71.  The S.I. unit of the rate constant of a first-order reaction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s-1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mol dm-3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mol dm-3 s-1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mol-1 dm3 s-1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Q72.  The slope of the Arrhenius plot (log k versus 1/T) for a given reaction is found to be −2000 K. What is the activation energy (Ea) of the reaction in J mol−1? (Given R = 8.314 J K−1mol−1)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38,314.5 J mol−1 (or 38.3 kJ mol−1)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19,157.2 J mol−1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76,629.0 J mol−1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8,314.0 J mol−1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Q73.  The time required for 100 percent completion of a zero-order reaction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2k / [R]0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[R]0 / 2k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[R]0 / 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[R]0 k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Q74.  The unit of the rate constant of a reaction is the same as that of its rate. The order of the reaction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Zero order.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First order.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Second order.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Pseudo order.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Q75.  What is the value of ‘x' if the total order of the reaction, which has the rate expression: Rate = k [A]ˣ [B]2ˣ is 3/2?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3/2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Q76.  When the initial concentration of the reactant is doubled, then the half-life of a zero-order reaction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Is halved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Is doubled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Is tripled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Remains unchanged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Q77.  Which of the following factors does not affect the rate of reaction?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Molecularity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Temperature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Catalyst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Concentration of reactant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CHEMICAL KINETICS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Q78.  Which of the following is correct for a zero-order reaction?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t½ ∝ [R0]0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t½ ∝ [R0]2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t½ ∝ [R0]-1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t½ ∝ [R0]1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2148840"/>
            <a:ext cx="64008" cy="2560320"/>
          </a:xfrm>
          <a:prstGeom prst="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148840"/>
            <a:ext cx="1143914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5C242"/>
                </a:solidFill>
              </a:rPr>
              <a:t>D AND F BLOCK ELEMENTS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Q79.  Actinoids 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Radioactive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Prepared in nanograms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Having smaller half-lives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All the above are correct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Q80.  Among ScCl3, TiCl3, and ZnCl2, the colored compound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ScCl3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TiCl3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ZnCl2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All the above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Q81.  Diamagnetic compound among the following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Cu2O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MnO2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V2O3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FeO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Q82.  Identify the correct sequence of the number of unpaired electrons of the following 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Ti3+ &gt; Cr3+ &gt; Fe3+ &gt; Ni2+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Fe3+ &gt; Ni2+ &gt; Ti2+ &gt; Cr3+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Fe3+ &gt; Cr3+ &gt; Ni2+ &gt; Ti3+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Fe3+ &gt; Cr3+ &gt; Ti3+ &gt; Ni2+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Q83.  In a neutral or faintly alkaline medium, KMnO4 oxidizes iodide ions into iodate. The change in oxidation state of manganese in this reaction is from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+7 to +2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+7 to +4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+6 to +4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+7 to +6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Q84.  In aqueous solution, copper (I) ions undergo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Oxidation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Reduction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Disproportionation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Redox reaction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Q85.  Potassium permanganate oxidizes sulphurous acid (H2SO3) into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S2O72-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SO42-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SO32-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Q86.  The aqueous solution of a transition metal ion M+ is colorless. The ion M+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Mn2+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Cr3+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V4+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Ti4+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Q87.  The characteristic feature of transition metal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They show variable oxidation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They do not form complexes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They are not good catalysts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They exhibit only diamagnetism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Q88.  The correct order of magnetic moment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Sc3+ &lt; Ti3+ &lt; Ti2+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Ti3+ &lt; Ti2+ &lt; Sc3+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Ti2+ &lt; Sc3+ &lt; Ti3+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Sc3+ &lt; Ti2+ &lt; Ti3+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Q89.  The correct order of melting point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Cr &gt; Mn &gt; Fe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Fe &gt; Mn &gt; Cr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Cr &gt; Fe &gt; Mn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Mn &gt; Fe &gt; Cr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Q90.  The electronic configuration of Cu (II) is 3d9, whereas Cu(I) is 3d10. Which of the following is correct?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Cu (II) is less stable.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Cu (II) is more stable.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Stability of both depends upon the nature of their salts.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Cu(I) and Cu (II) are equally stable.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Q91.  The magnetic moment of an element is 1.73 BM. The number of unpaired electrons in it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Q92.  The most stable manganese compound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Mn2O7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MnF4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MnO2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Mn2SO4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Q93.  The number of moles of K2Cr2O7 reduced by one mole of Sn2+ ion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1/3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1/6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Q94.  The set of 3d series elements that show anomalous electronic configurations 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Cr and Mn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Cu and Zn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Cr and Cu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Mn and Zn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Q95.  The transition metal present in bronze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Zinc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Silver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Copper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Q96.  The transition metal present in the red pigment of blood haemoglobin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cobalt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Nickel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Iron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copper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Q97.  Which of the following actinoids show oxidation states up to +7?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Am (Americium)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Th (Thorium)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U (Uranium)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Np (Neptunium)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Q98.  Which of the following ions has the least magnetic moment?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Cu2+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Co3+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Ni2+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Fe2+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Q99.  Which of the following is a colorless 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V3+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Fe3+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Ti3+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Zn2+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Q100.  Which of the following pairs have the same paramagnetic moment? (Atomic numbers: Ti = 22, Mn = 25, Ni = 28, Cu = 29)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Ti3+, Ni2+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Cu2+, Ti3+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Ti2+, Cu2+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Mn2+, Cu2+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Q101.  Which of the following statements about transition elements is incorrect?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They show variable oxidation states.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All the ions are colored.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They exhibit diamagnetic and paramagnetic properties.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They exhibit catalytic properties.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D AND F BLOCK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Q102.  Which of the following transition metal ions is colorless?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V2+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Cr3+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Zn2+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Ti3+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2148840"/>
            <a:ext cx="64008" cy="2560320"/>
          </a:xfrm>
          <a:prstGeom prst="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148840"/>
            <a:ext cx="1143914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5C242"/>
                </a:solidFill>
              </a:rPr>
              <a:t>HALOALKANES AND HALOARENES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Q103.  A mixture of chloromethane and chlorobenzene are treated with sodium in dry ether, the product obtained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Ethane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Toluene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Diphenyl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All the above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Q104.  Among the following alkyl halides, which is more reactive towards SN2 reaction?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R-I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R-Cl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R-F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R-Br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Q105.  Assertion: SN2 reactions do not proceed with retention. Reason: SN2 reaction proceeds in single steps. Identify the correct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If both assertion and reason are correct and reason is correct explanation for assertion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If both assertion and reason are correct but reason is not correct explanation for assertion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If assertion is correct but reason is incorrect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If assertion is incorrect but reason is correct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Q106.  Chlorobenzene reacts with magnesium in dry ether to give a compound A, which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C6H5OH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C6H5MgCl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C2H5CH2MgCl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MgCl2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Q107.  Chloroform is stored completely filled in a closed dark-colored bottle. This is 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Prevent the oxidation of chloroform by air in the presence of sunlight.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Prevent the evaporation of chloroform.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Prevent the reaction of chloroform with nitrogen in the air.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Prevent the reaction of chloroform with CO2 to form extremely poisonous gas carbonyl chloride.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Q108.  Four haloalkane compounds represented by the letters M, N, O, and P having boiling points of 24.2°C, 38°C, 3.56°C, and 101.6°C respectively. Among the four compounds, N is most likely to be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CH3Cl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CH3Br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C2H5Br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C3H7I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Q109.  Freon can be prepared by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Finkelstein reaction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Wurtz reaction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Friedel-Crafts reaction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Swartz reaction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Q110.  In vinylic halides, the halogen atom is attached to a carbon atom with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sp3 hybridization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sp2 hybridization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sp hybridization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dsp2 hybridization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C242"/>
                </a:solidFill>
              </a:rPr>
              <a:t>Q111.  Match the organic compounds in Column I with their correct applications in Column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53312"/>
            <a:ext cx="57378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C3F7"/>
                </a:solidFill>
              </a:rPr>
              <a:t>COMPOUND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6772" y="1353312"/>
            <a:ext cx="57378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C3F7"/>
                </a:solidFill>
              </a:rPr>
              <a:t>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76188" y="1353312"/>
            <a:ext cx="18288" cy="2514600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64208"/>
            <a:ext cx="5737860" cy="560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8E8"/>
                </a:solidFill>
              </a:rPr>
              <a:t>(1)  Carbon tetrachloride (CCl4)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224278"/>
            <a:ext cx="5737860" cy="560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8E8"/>
                </a:solidFill>
              </a:rPr>
              <a:t>(2)  Iodoform (CHI3)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784348"/>
            <a:ext cx="5737860" cy="560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8E8"/>
                </a:solidFill>
              </a:rPr>
              <a:t>(3)  Chloroform (CHCl3)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344418"/>
            <a:ext cx="5737860" cy="560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8E8"/>
                </a:solidFill>
              </a:rPr>
              <a:t>(4)  Methylene chloride (CH2Cl2)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6772" y="1664208"/>
            <a:ext cx="5737860" cy="560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8E8"/>
                </a:solidFill>
              </a:rPr>
              <a:t>(A)  Fire extinguisher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6772" y="2224278"/>
            <a:ext cx="5737860" cy="560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8E8"/>
                </a:solidFill>
              </a:rPr>
              <a:t>(B)  Antiseptic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6772" y="2784348"/>
            <a:ext cx="5737860" cy="560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8E8"/>
                </a:solidFill>
              </a:rPr>
              <a:t>(C)  Solvent for fats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6772" y="3344418"/>
            <a:ext cx="5737860" cy="560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8E8"/>
                </a:solidFill>
              </a:rPr>
              <a:t>(D)  Paint remover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005072"/>
            <a:ext cx="11640312" cy="56692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400">
                <a:solidFill>
                  <a:srgbClr val="4FC3F7"/>
                </a:solidFill>
              </a:rPr>
              <a:t>A    </a:t>
            </a:r>
            <a:r>
              <a:rPr sz="1200">
                <a:solidFill>
                  <a:srgbClr val="E8E8E8"/>
                </a:solidFill>
              </a:rPr>
              <a:t>(1)-(A), (2)-(B), (3)-(C), (4)-(D)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626864"/>
            <a:ext cx="11640312" cy="56692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400">
                <a:solidFill>
                  <a:srgbClr val="4FC3F7"/>
                </a:solidFill>
              </a:rPr>
              <a:t>B    </a:t>
            </a:r>
            <a:r>
              <a:rPr sz="1200">
                <a:solidFill>
                  <a:srgbClr val="E8E8E8"/>
                </a:solidFill>
              </a:rPr>
              <a:t>(1)-(D), (2)-(C), (3)-(B), (4)-(A)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5248656"/>
            <a:ext cx="11640312" cy="56692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400">
                <a:solidFill>
                  <a:srgbClr val="4FC3F7"/>
                </a:solidFill>
              </a:rPr>
              <a:t>C    </a:t>
            </a:r>
            <a:r>
              <a:rPr sz="1200">
                <a:solidFill>
                  <a:srgbClr val="E8E8E8"/>
                </a:solidFill>
              </a:rPr>
              <a:t>(1)-(B), (2)-(A), (3)-(D), (4)-(C)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5870448"/>
            <a:ext cx="11640312" cy="56692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400">
                <a:solidFill>
                  <a:srgbClr val="4FC3F7"/>
                </a:solidFill>
              </a:rPr>
              <a:t>D    </a:t>
            </a:r>
            <a:r>
              <a:rPr sz="1200">
                <a:solidFill>
                  <a:srgbClr val="E8E8E8"/>
                </a:solidFill>
              </a:rPr>
              <a:t>(1)-(C), (2)-(D), (3)-(A), (4)-(B)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Q112.  R - X + NaI (dry acetone) → RI + NaX, name the reaction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Wurtz reaction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Fittig reaction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Swarts reaction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Finkelstein reaction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Q113.  Select the incorrect match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Swartz reaction - CoF2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Finkelstein reaction - NaI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Sandmeyer's reaction - CuCl2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Wurtz reaction - Na / dry ether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Q114.  Tertiary alkyl halides are least reactive towards SN2 reaction because 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Inductive effect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Steric effect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Resonance effect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Electrometric effect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Q115.  The best reagent used to produce pure alkyl halides from alcohol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Concentrated HCl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Concentrated HBr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SOCl2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NaBr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Q116.  The chemical formula of phosgene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SOCl2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CH2Cl2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COCl2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CCl4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Q117.  The chemical name of phosgene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Acetyl chloride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Methyl chloride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Carbonyl chloride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Chloroform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Q118.  The chiral molecule among the following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1-Bromo butane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2-Bromobutane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2-Bromo propane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2-Bromopropan-2-ol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Q119.  The compound H2C=CH-Cl is an example 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Allylic halides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Aryl halides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Benzylic halides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Vinylic halides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Q120.  The increasing order of boiling points of alkyl halides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RF &gt; RCl &gt; RBr &gt; 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RF &gt; RI &gt; RCl &gt; RBr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RI &gt; RBr &gt; RCl &gt; RF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RCl &gt; RBr &gt; RF &gt; RI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Q121.  The IUPAC name of ethylidene chloride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1-Chloroethene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1-Chloroethyne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1,2-Dichloroethane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1,1-Dichloroethane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Q122.  The reaction CH3Br + AgF → CH3F + AgBr is called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Swarts reaction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Wurtz reaction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Finkelstein reaction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Gattermann reaction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Q123.  When 2-Bromo pentane is treated with alcoholic potash, the major product produced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1-Pentene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2-Pentene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2-Pentane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3-Pentene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HALOALKANES AND HALOARENES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Q124.  Which of the following alkyl halides will undergo SN1 reaction most readily?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(CH3)3C-F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(CH3)3C-Cl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(CH3)3C-Br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(CH3)3C-I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2148840"/>
            <a:ext cx="64008" cy="2560320"/>
          </a:xfrm>
          <a:prstGeom prst="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148840"/>
            <a:ext cx="1143914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5C242"/>
                </a:solidFill>
              </a:rPr>
              <a:t>ALCOHOLS, PHENOLS AND ETHERS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Q125.  A compound P with formula C3H6 on reaction with H2O in presence of H2SO4 gives the compound Q. Compound Q on heating with Cu at 573K produces the compound R. Compounds P, Q, and R 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P = Propan-1-ol, Q = Propene, R = Propanone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P = Propene, Q = Propan-2-ol, R = Propene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P = Propene, Q = Propan-2-ol, R = Propanone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P = Propanone, Q = Propan-1-ol, R = Propane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Q126.  An organic compound ‘A' containing C, H, and O has a pleasant odor with a boiling point of 78°C. On boiling ‘A' with conc. H2SO4, a colorless gas is produced which decolorizes bromine water and alkaline KMnO4. The organic compound A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C2H5Cl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C2H5OH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C2H5COOCH3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C6H6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Q127.  By which test can 1°, 2°, and 3° alcohols be detected?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Hinsberg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Tollen's 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Lucas 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All of these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Q128.  Byproduct obtained during preparation of phenol from cumene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Ketone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Aldehyde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Alcohol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Cresol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Q129.  Enantiomers only differ with respect 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Melting 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Boiling 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Refractive index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The rotation of plane-polarized light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Q130.  Ethane-1,2-diol is an example 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Monohydric alcohol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Dihydric alcohol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Dihydric phenol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Monohydric phenol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Q131.  Find out the product of the following reaction: (Reaction involving NaOH, 623K, 300 atm)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Aromatic amine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Aromatic hydroxyl compound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Aromatic dihydroxy compound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Aromatic nitro compound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Q132.  Halogenation of benzene occurs in the presence of Lewis acid, but halogenation of phenol occurs even in the absence of Lewis acid due 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Highly deactivating effect of -OH group attached to the benzene 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Highly activating effect of -OH group attached to the benzene 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Highly deactivating effect of the benzene 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Highly activating effect of the benzene ring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Q133.  How many alcohols with molecular formula C4H10O are chiral in nature?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Q134.  Identify the simple ether from the following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CH3OC2H5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C2H5OC6H5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C6H5OC6H5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C6H5OCH3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Q135.  In Kolbe's reaction, phenol is converted into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Salicylic acid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Salicylaldehyde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Benzoic acid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Benzaldehyde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Q136.  In picric acid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Three -OH groups are present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Two -OH groups are present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Three -NO2 groups are present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One -NO2 group is present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Q137.  O-nitrophenol and p-nitrophenol are separated by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Sublimation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Fractional distillation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Crystallization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Steam distillation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Q138.  Phenol is less acidic than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o-Nitrophenol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Ethanol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o-Methylphenol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o-Methoxyphenol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Q139.  Phenol is more acidic than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Ethanol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o-Nitrophenol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m-Nitrophenol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p-Nitrophenol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Q140.  Phenol on oxidation with chromic acid gives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Benzoquinone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Catechol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Hydroquinone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Phthalic acid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Q141.  Salicylaldehyde can be prepared by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Finkelstein reaction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Dow's process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Reimer-Tiemann reaction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Kolbe's reaction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Q142.  The boiling points of alcohols increase with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Increase in the number of C-atoms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Decrease in van der Waals forces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Increase of branching in the C-chain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Decrease in the surface area of the C-chain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Q143.  The C-O bond angles of P, Q, and R are found to be 111.7°, 109°, and 108.9°, respectively. Compound P, Q, and R 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P = Phenol, Q = Methanol, R = Methoxy Methane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P = Methoxy Methane, Q = Methanol, R = Phenol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P = Methanol, Q = Phenol, R = Methoxy Methane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P = Methoxy Methane, Q = Phenol, R = Methanol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Q144.  The chemicals used to convert commercial alcohol into denatured alcohol 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CuSO4 and Pyrolidine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Cu2S and Pyrolidine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CuSO4 and Pyridine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Cu2S and Pyridine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Q145.  The compound that reacts fastest with Luca’s reagent at room temperature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2-Methylpropan-2-ol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Butan-2-ol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2-Methylpropan-1-ol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Butan-1-ol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Q146.  The correct order of acid strength of the following compounds is: (i) o-bromophenol (ii) p-bromophenol (iii) picric acid (2,4,6-trinitrophenol) (iv) 2,4,6-tribromophenol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(iii) &gt; (iv) &gt; (i) &gt; (ii)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(iii) &gt; (iv) &gt; (ii) &gt; (i)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(iv) &gt; (iii) &gt; (i) &gt; (ii)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(i) &gt; (ii) &gt; (iv) &gt; (iii)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Q147.  The decreasing order of boiling points of ethanol, propane, and dimethyl ether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Ethanol &gt; Dimethyl ether &gt; Propane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Ethanol &gt; Propane &gt; Dimethyl ether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Propane &gt; Dimethyl ether &gt; Ethanol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Propane &gt; Ethanol &gt; Dimethyl ether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Q148.  The high boiling point of ethanol [C2H5OH] compared to methoxy methane [CH3OCH3] and propane is due 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Intra-molecular hydrogen bonding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Inter-molecular hydrogen bonding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Both (A) and (B)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None of these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Q149.  The major byproduct during the preparation of phenol from cumene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Acetone.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Cresol.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Alcohol.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Acetaldehyde.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Q150.  The major product formed when phenol is treated with excess bromine water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o-Bromophenol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p-Bromophenol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Picric acid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2,4,6-Tribromophenol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Q151.  The role of CO2 in Kolbe's reaction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acts as catalyst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act as nucleophile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act as weak electrophile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act as strong electrophile.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Q152.  What is the correct order of boiling points of alcohols having the same number of carbon atoms?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1° &gt; 2° &gt; 3°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3° &gt; 2° &gt; 1°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3° &gt; 1° &gt; 2°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2° &gt; 1° &gt; 3°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Q153.  When an alcohol is treated with Luca’s reagent, if immediate turbidity appears, then it confirms the presence 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Primary alcohol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Secondary alcohol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Tertiary alcohol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All of these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Q154.  When phenol is heated with chloroform in sodium hydroxide followed by acidification, the product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Chlorobenzene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Benzyl chloride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Salicylaldehyde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Salicylic acid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Q155.  When phenol is heated with Zn dust, it gives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Benzyl alcohol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Ethanol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Methanol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Benzene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ALCOHOLS, PHENOLS AND ETHERS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Q156.  When phenol is treated with bromine water, a white precipitate of the product obtained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2-Bromophenol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4-Bromophenol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Both 2-Bromophenol and 4-Bromophenol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2,4,6-Tribromophenol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2148840"/>
            <a:ext cx="64008" cy="2560320"/>
          </a:xfrm>
          <a:prstGeom prst="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148840"/>
            <a:ext cx="1143914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5C242"/>
                </a:solidFill>
              </a:rPr>
              <a:t>COORDINATION COMPOUNDS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Q157.  According to the spectrochemical series, the strongest field ligand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F-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NH3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H2O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CO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Q158.  According to Werner's theory, the primary valencies of the central atom 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Satisfied by negative ions or neutral molecules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Satisfied by negative 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Are equal to coordination number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Decide the geometry of the complex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Q159.  Among the following statements, which statement is correct about metal carbonyls?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Metal carbonyls are s-bonded organometallic compounds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Metal carbonyls are p-bonded organometallic compounds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Metal carbonyls involve both s and p bonds between metal and oxygen of the carbonyl group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Metal carbonyls involve both s and p bonds between metal and carbon of the carbonyl group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Q160.  An ambidentate ligand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Cl-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CN-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OH-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NO2+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Q161.  An example of an ambidentate ligand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CN-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NO3-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SO42-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Q162.  Cobalt (III) chloride forms several octahedral complexes with ammonia. Which of the following will not give a test for chloride ion with silver nitrate solution?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CoCl3.4NH3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CoCl3.5NH3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CoCl3.6NH3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CoCl3.3NH3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Q163.  If Δo&lt;P (Pairing energy), for the d4 ion, an entry of the 4th electron gives the configuration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t2g2e2g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t2g4e0g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t42g e0g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t32g e1g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Q164.  In coordination compound [CoCl2(en)2]Br, the primary and secondary valencies of Co 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4 and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6 and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2 and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3 and 6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Q165.  In Fe(CO)5, Fe-C bond processes involve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π-character only.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Both σ- and π-characters.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Ionic character.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σ-character.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Q166.  In metal carbonyls, the M-C sigma bond is formed by the donation of a lone pair of electrons on the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Carbonyl carbon atom to filled orbital of metal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Carbonyl carbon atom to vacant orbital of metal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Filled d-orbital of metal to vacant antibonding π orbital of 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Filled d-orbital of metal to vacant bonding π orbital of CO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Q167.  IUPAC name of [CoCl(en)2ONO] Br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ChloridoethylenediaminenitroCobalt (III) Bromide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ChloridoethylenediaminenitroCobaltate (III) Bromide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Chloridobis(ethylenediamine)nitritoCobaltate(III) Bromide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Chloridobis(ethylenediamine)nitritoCobalt (III) Bromide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Q168.  Square planar complex of the type [MABXL] (where A, B, X, L are unidentate) shows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Two Cis and one Trans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Two Cis and Two Trans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One Cis and two Trans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One Cis and One Trans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Q169.  Square planar complex of the type MABXL (where A, B, X, L are unidentates) shows three isomers. Among them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Two cis and one trans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One cis and two trans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All three are cis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All three are trans only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Q170.  The bond between CO and metal in metal carbonyl is stronger due 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Synergic effect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Chelating effect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Only σ bond effect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Ambidentate nature of CO ligand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Q171.  The central metal atoms/ions in coordination compounds are also called 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Lewis bases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Brønsted acids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Brønsted bases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Lewis acids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Q172.  The complex [Pt (NH3)2Cl2] exhibits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Linkage isomerism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Fac-mer isomerism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Ionization isomerism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Cis-trans isomerism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Q173.  The complex [PtCl2.4NH3Br2] is treated with excess of AgNO3 solution, and two moles of AgBr is precipitated. The primary and secondary valency of this complex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6 and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6 and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4 and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3 and 6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Q174.  The complex PtCl2.4NH3Br2 is treated with excess of AgNO3 solution, two mole of AgBr is precipitated. The primary and secondary valence of this complex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6 and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6 and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4 and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3 and 6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Q175.  The complexes [Co (NH3)6] [Cr (CN)6] and [Cr (NH3)6] [Co (CN)6] are examples of which type of isomerism?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Geometrical isomerism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Ionization isomerism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Coordination isomerism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Linkage isomerism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Q176.  The electron configuration of an octahedral d4 coordination entity with Δ0 &gt; P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t2g2 e1g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t2g3 e1g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t2g4 e0g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t2g2 e2g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Q177.  The geometry of the complex Fe (CO)5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octahedral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tetrahedral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trigonal bipyramidal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square pyramidal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Q178.  The isomerism exhibited by complexes [Co (NH3)5SO4] Br and [Co (NH3)5Br]SO4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Linkage isomerism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Coordination isomerism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Ionisation isomerism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Solvate isomerism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Q179.  The IUPAC name of the complex ion [CoCl2(en)2] +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Di-chloridodiethylene diamine cobalt (III)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Dichlorido bis(ethane-1,2-diamine) cobalt (III)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Dichlorido bis(ethane-1,2-diamine) cobalt (IV)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Bis (ethane-1,2-diamine) dichlorido cobalt (III)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Q180.  The IUPAC name of the ionization isomer of [Co (NH3)5 SO4] Br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Penta-ammine sulphato cobalt (III) bromide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Penta-ammine bromido cobalt (III) sulphate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Penta-ammine sulphato cobalt (II) sulphate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Penta-ammine bromido sulphato cobaltate (III)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Q181.  The magnitude of CFSE (Crystal Field Splitting Energy) (Δ0) can be related to the configuration of d-orbitals in a coordination entity 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If Δ0 &lt; P, the configuration is t2g3 e1g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If Δ0 &gt; P, the configuration is t2g6 e0g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If Δ0 &gt; P, the configuration is t2g5 e0g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If Δ0 &lt; P, the configuration is t2g4 e1g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Q182.  The magnitude of CFSE (Crystal Field Splitting Energy, Δ0) can be related to the d4 configuration of the central metal in an octahedral coordination entity 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If Δ0 &lt; P, the configuration is t2g3 e1g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If Δ0 &gt; P, the configuration is t2g5 e0g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If Δ0 &gt; P, the configuration is t2g4 e2g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If Δ0 &lt; P, the configuration is t42g e0g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Q183.  The oxidation number of Cu in [Cu (CN)4]3-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+1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+4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+2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+3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Q184.  The oxidation state of metal in metal carbonyl complexes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0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Q185.  The primary and secondary valencies of [Fe(C2O4)3]3- complexes are 224[M(en)(CO)] Cl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3 and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3 and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6 and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0 and 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Q186.  The primary and secondary valencies of iron in the complex [Fe(C2O4)3]3- 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3 and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6 and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3 and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6 and 3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Q187.  The sum of coordination number and oxidation number of the metal M in the complex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Q188.  The terminal and bridged CO ligands in the compound [Co2(CO)8] are respectively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0, 2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6, 1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5, 2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6, 2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Q189.  Which of the following is an ambidentate ligand?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NH3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SCN-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Cl-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Q190.  Which of the following is the correct increasing order of strength in the spectrochemical series of ligands?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EDTA4- &lt; C2O42- &lt; Cl- &lt; OH- &lt; CN-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EDTA4- &lt; C2O42- &lt; CN- &lt; OH- &lt; Cl-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Cl- &lt; C2O42- &lt; Cl- &lt; OH- &lt; EDTA4-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Cl- &lt; OH- &lt; C2O42- &lt; EDTA4- &lt; CN-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Q191.  Which of the following ligands can exhibit linkage isomerism?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NO2-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NH3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H2O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CO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Q192.  Which of the following ligands produces a synergic effect in coordination complexes?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Oxalates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Carbon Monoxide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Sulphate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Nitrates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Q193.  Which of the following species is not a ligand?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NH4+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NO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H2N-CH2-CH2-NH2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Q194.  Which of the following statements regarding primary and secondary valencies is correct?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Primary Valencies are ionisable while Secondary Valencies are non-ionisable.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Primary Valencies are non-ionisable while Secondary Valencies are ionisable.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Both Primary and Secondary Valencies are non-ionisable.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Both Primary and Secondary Valencies are ionisable.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246888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1000" b="1">
                <a:solidFill>
                  <a:srgbClr val="F5C242"/>
                </a:solidFill>
              </a:rPr>
              <a:t>COORDINATION COMPOUNDS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43032" y="137160"/>
            <a:ext cx="1371600" cy="411480"/>
          </a:xfrm>
          <a:prstGeom prst="roundRect">
            <a:avLst/>
          </a:prstGeom>
          <a:solidFill>
            <a:srgbClr val="1C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AAAAA"/>
                </a:solidFill>
              </a:rPr>
              <a:t>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6403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</a:rPr>
              <a:t>Q195.  Which type of complexes doesn't show geometrical isomerism?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A    </a:t>
            </a:r>
            <a:r>
              <a:rPr sz="1600">
                <a:solidFill>
                  <a:srgbClr val="E8E8E8"/>
                </a:solidFill>
              </a:rPr>
              <a:t>[MX2L2] Tetrahedral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5916" y="324612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B    </a:t>
            </a:r>
            <a:r>
              <a:rPr sz="1600">
                <a:solidFill>
                  <a:srgbClr val="E8E8E8"/>
                </a:solidFill>
              </a:rPr>
              <a:t>[MABXL] Square planar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C    </a:t>
            </a:r>
            <a:r>
              <a:rPr sz="1600">
                <a:solidFill>
                  <a:srgbClr val="E8E8E8"/>
                </a:solidFill>
              </a:rPr>
              <a:t>[MX2L2] Square planar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5916" y="4480560"/>
            <a:ext cx="5728716" cy="1115568"/>
          </a:xfrm>
          <a:prstGeom prst="round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/>
            <a:r>
              <a:rPr b="1" sz="1800">
                <a:solidFill>
                  <a:srgbClr val="4FC3F7"/>
                </a:solidFill>
              </a:rPr>
              <a:t>D    </a:t>
            </a:r>
            <a:r>
              <a:rPr sz="1600">
                <a:solidFill>
                  <a:srgbClr val="E8E8E8"/>
                </a:solidFill>
              </a:rPr>
              <a:t>[MX4L2] Octahedral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