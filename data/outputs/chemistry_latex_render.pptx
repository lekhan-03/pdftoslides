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Relationship Id="rId5" Type="http://schemas.openxmlformats.org/officeDocument/2006/relationships/image" Target="../media/image2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Relationship Id="rId5" Type="http://schemas.openxmlformats.org/officeDocument/2006/relationships/image" Target="../media/image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Relationship Id="rId5" Type="http://schemas.openxmlformats.org/officeDocument/2006/relationships/image" Target="../media/image17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Relationship Id="rId6" Type="http://schemas.openxmlformats.org/officeDocument/2006/relationships/image" Target="../media/image40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Relationship Id="rId6" Type="http://schemas.openxmlformats.org/officeDocument/2006/relationships/image" Target="../media/image4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Relationship Id="rId6" Type="http://schemas.openxmlformats.org/officeDocument/2006/relationships/image" Target="../media/image4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Relationship Id="rId6" Type="http://schemas.openxmlformats.org/officeDocument/2006/relationships/image" Target="../media/image17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Relationship Id="rId6" Type="http://schemas.openxmlformats.org/officeDocument/2006/relationships/image" Target="../media/image4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Relationship Id="rId6" Type="http://schemas.openxmlformats.org/officeDocument/2006/relationships/image" Target="../media/image46.png"/><Relationship Id="rId7" Type="http://schemas.openxmlformats.org/officeDocument/2006/relationships/image" Target="../media/image2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31.png"/><Relationship Id="rId5" Type="http://schemas.openxmlformats.org/officeDocument/2006/relationships/image" Target="../media/image48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Relationship Id="rId6" Type="http://schemas.openxmlformats.org/officeDocument/2006/relationships/image" Target="../media/image5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Relationship Id="rId6" Type="http://schemas.openxmlformats.org/officeDocument/2006/relationships/image" Target="../media/image5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Relationship Id="rId6" Type="http://schemas.openxmlformats.org/officeDocument/2006/relationships/image" Target="../media/image5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Relationship Id="rId6" Type="http://schemas.openxmlformats.org/officeDocument/2006/relationships/image" Target="../media/image6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50.png"/><Relationship Id="rId5" Type="http://schemas.openxmlformats.org/officeDocument/2006/relationships/image" Target="../media/image1.png"/><Relationship Id="rId6" Type="http://schemas.openxmlformats.org/officeDocument/2006/relationships/image" Target="../media/image66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31.png"/><Relationship Id="rId6" Type="http://schemas.openxmlformats.org/officeDocument/2006/relationships/image" Target="../media/image69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Relationship Id="rId7" Type="http://schemas.openxmlformats.org/officeDocument/2006/relationships/image" Target="../media/image75.png"/><Relationship Id="rId8" Type="http://schemas.openxmlformats.org/officeDocument/2006/relationships/image" Target="../media/image40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Relationship Id="rId7" Type="http://schemas.openxmlformats.org/officeDocument/2006/relationships/image" Target="../media/image76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Relationship Id="rId7" Type="http://schemas.openxmlformats.org/officeDocument/2006/relationships/image" Target="../media/image77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Relationship Id="rId7" Type="http://schemas.openxmlformats.org/officeDocument/2006/relationships/image" Target="../media/image8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34.png"/><Relationship Id="rId5" Type="http://schemas.openxmlformats.org/officeDocument/2006/relationships/image" Target="../media/image72.png"/><Relationship Id="rId6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84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87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88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61.png"/><Relationship Id="rId6" Type="http://schemas.openxmlformats.org/officeDocument/2006/relationships/image" Target="../media/image89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90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90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88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9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65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65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91.png"/><Relationship Id="rId6" Type="http://schemas.openxmlformats.org/officeDocument/2006/relationships/image" Target="../media/image94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95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88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91.png"/><Relationship Id="rId6" Type="http://schemas.openxmlformats.org/officeDocument/2006/relationships/image" Target="../media/image9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61.png"/><Relationship Id="rId6" Type="http://schemas.openxmlformats.org/officeDocument/2006/relationships/image" Target="../media/image87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61.png"/><Relationship Id="rId6" Type="http://schemas.openxmlformats.org/officeDocument/2006/relationships/image" Target="../media/image91.png"/><Relationship Id="rId7" Type="http://schemas.openxmlformats.org/officeDocument/2006/relationships/image" Target="../media/image96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97.png"/><Relationship Id="rId6" Type="http://schemas.openxmlformats.org/officeDocument/2006/relationships/image" Target="../media/image95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97.png"/><Relationship Id="rId6" Type="http://schemas.openxmlformats.org/officeDocument/2006/relationships/image" Target="../media/image95.png"/><Relationship Id="rId7" Type="http://schemas.openxmlformats.org/officeDocument/2006/relationships/image" Target="../media/image86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94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98.png"/><Relationship Id="rId6" Type="http://schemas.openxmlformats.org/officeDocument/2006/relationships/image" Target="../media/image88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98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Relationship Id="rId5" Type="http://schemas.openxmlformats.org/officeDocument/2006/relationships/image" Target="../media/image88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 </a:t>
            </a:r>
            <a:r>
              <a:rPr sz="4400">
                <a:solidFill>
                  <a:srgbClr val="050505"/>
                </a:solidFill>
                <a:latin typeface="Arial"/>
              </a:rPr>
              <a:t>    </a:t>
            </a:r>
            <a:r>
              <a:rPr sz="4400" b="1">
                <a:solidFill>
                  <a:srgbClr val="FAD02C"/>
                </a:solidFill>
                <a:latin typeface="Arial"/>
              </a:rPr>
              <a:t> Practice</a:t>
            </a:r>
          </a:p>
        </p:txBody>
      </p:sp>
      <p:pic>
        <p:nvPicPr>
          <p:cNvPr id="5" name="Picture 4" descr="f0c942a86844ee4fa00b881da187d0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1640332"/>
            <a:ext cx="1499616" cy="737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8a5ccaf9eca36b0587bf2ae5083ab6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53158"/>
            <a:ext cx="3858768" cy="8168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Assuming complete dissociation, the value of van't Hoff factor for </a:t>
            </a:r>
            <a:r>
              <a:rPr sz="2800">
                <a:solidFill>
                  <a:srgbClr val="050505"/>
                </a:solidFill>
                <a:latin typeface="Arial"/>
              </a:rPr>
              <a:t>       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pic>
        <p:nvPicPr>
          <p:cNvPr id="8" name="Picture 7" descr="9411e90347e4527b4624c034efddd0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31036"/>
            <a:ext cx="1511808" cy="5364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Consider a blood cell placed in a 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 solution of concentration more than 0.9% (w/V). Which one of the following statements is true in this case?</a:t>
            </a:r>
          </a:p>
        </p:txBody>
      </p:sp>
      <p:pic>
        <p:nvPicPr>
          <p:cNvPr id="8" name="Picture 7" descr="35fc22310b7e50023c85d1f7ecab95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1440" y="965708"/>
            <a:ext cx="1018032" cy="5425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Osmosis takes place from the cell to the </a:t>
            </a:r>
            <a:r>
              <a:rPr sz="2000" b="0">
                <a:solidFill>
                  <a:srgbClr val="F0F0F0"/>
                </a:solidFill>
                <a:latin typeface="Arial"/>
              </a:rPr>
              <a:t>[NaCl]</a:t>
            </a:r>
            <a:r>
              <a:rPr sz="2000" b="0">
                <a:solidFill>
                  <a:srgbClr val="F0F0F0"/>
                </a:solidFill>
                <a:latin typeface="Arial"/>
              </a:rPr>
              <a:t> solution, and the cell shrinks.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Osmosis takes place from the </a:t>
            </a:r>
            <a:r>
              <a:rPr sz="2000" b="0">
                <a:solidFill>
                  <a:srgbClr val="F0F0F0"/>
                </a:solidFill>
                <a:latin typeface="Arial"/>
              </a:rPr>
              <a:t>[NaCl]</a:t>
            </a:r>
            <a:r>
              <a:rPr sz="2000" b="0">
                <a:solidFill>
                  <a:srgbClr val="F0F0F0"/>
                </a:solidFill>
                <a:latin typeface="Arial"/>
              </a:rPr>
              <a:t> solution to the cell, and the cell swells.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Osmosis takes place from the cell to the </a:t>
            </a:r>
            <a:r>
              <a:rPr sz="2000" b="0">
                <a:solidFill>
                  <a:srgbClr val="F0F0F0"/>
                </a:solidFill>
                <a:latin typeface="Arial"/>
              </a:rPr>
              <a:t>[NaCl]</a:t>
            </a:r>
            <a:r>
              <a:rPr sz="2000" b="0">
                <a:solidFill>
                  <a:srgbClr val="F0F0F0"/>
                </a:solidFill>
                <a:latin typeface="Arial"/>
              </a:rPr>
              <a:t> solution, and the cell swells.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Osmosis takes place from the </a:t>
            </a:r>
            <a:r>
              <a:rPr sz="2000" b="0">
                <a:solidFill>
                  <a:srgbClr val="F0F0F0"/>
                </a:solidFill>
                <a:latin typeface="Arial"/>
              </a:rPr>
              <a:t>[NaCl]</a:t>
            </a:r>
            <a:r>
              <a:rPr sz="2000" b="0">
                <a:solidFill>
                  <a:srgbClr val="F0F0F0"/>
                </a:solidFill>
                <a:latin typeface="Arial"/>
              </a:rPr>
              <a:t> solution to the cell, and the cell shrinks.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a 0.1M solution, the colligative property will follow the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[NaCl]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[Na_{2}SO_{4}]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[Na_{3}PO_{4}]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[NaCl]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[Na_{2}SO_{4}]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[Na_{3}PO_{4}]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[NaCl]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[Na_{2}SO_{4}]</a:t>
            </a:r>
            <a:r>
              <a:rPr sz="2000" b="0">
                <a:solidFill>
                  <a:srgbClr val="F0F0F0"/>
                </a:solidFill>
                <a:latin typeface="Arial"/>
              </a:rPr>
              <a:t> ≈ </a:t>
            </a:r>
            <a:r>
              <a:rPr sz="2000" b="0">
                <a:solidFill>
                  <a:srgbClr val="F0F0F0"/>
                </a:solidFill>
                <a:latin typeface="Arial"/>
              </a:rPr>
              <a:t>[Na_{3}PO_{4}]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[NaCl]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[Na_{2}SO_{4}]</a:t>
            </a:r>
            <a:r>
              <a:rPr sz="2000" b="0">
                <a:solidFill>
                  <a:srgbClr val="F0F0F0"/>
                </a:solidFill>
                <a:latin typeface="Arial"/>
              </a:rPr>
              <a:t> = </a:t>
            </a:r>
            <a:r>
              <a:rPr sz="2000" b="0">
                <a:solidFill>
                  <a:srgbClr val="F0F0F0"/>
                </a:solidFill>
                <a:latin typeface="Arial"/>
              </a:rPr>
              <a:t>[Na_{3}PO_{4}]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 values for Ar(g), 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 (aq), 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 (aq), and 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(aq) are 40.39, 1.67, 1.83 × 10-3, and 0.413 respectively. Arrange them in the order of their increasing solubility</a:t>
            </a:r>
          </a:p>
        </p:txBody>
      </p:sp>
      <p:pic>
        <p:nvPicPr>
          <p:cNvPr id="8" name="Picture 7" descr="2f0902e9477874cb5944ceb57f148b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640" y="968756"/>
            <a:ext cx="688848" cy="536448"/>
          </a:xfrm>
          <a:prstGeom prst="rect">
            <a:avLst/>
          </a:prstGeom>
        </p:spPr>
      </p:pic>
      <p:pic>
        <p:nvPicPr>
          <p:cNvPr id="9" name="Picture 8" descr="8dc18b689ef861e026925eec0680007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968756"/>
            <a:ext cx="883920" cy="536448"/>
          </a:xfrm>
          <a:prstGeom prst="rect">
            <a:avLst/>
          </a:prstGeom>
        </p:spPr>
      </p:pic>
      <p:pic>
        <p:nvPicPr>
          <p:cNvPr id="10" name="Picture 9" descr="1b66db253fbc078a45d0f68f8ee8eb3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968756"/>
            <a:ext cx="1249680" cy="536448"/>
          </a:xfrm>
          <a:prstGeom prst="rect">
            <a:avLst/>
          </a:prstGeom>
        </p:spPr>
      </p:pic>
      <p:pic>
        <p:nvPicPr>
          <p:cNvPr id="11" name="Picture 10" descr="aaf4d63ee5723dc6bcff54cc2c6eed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431036"/>
            <a:ext cx="871728" cy="5364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[HCHO]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[CH_{4}]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[CO_{2}]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[HCHO]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[CO_{2}]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[CH_{4}]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Ar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[CO_{2}]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[CH_{4}]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[HCHO]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Ar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[CH_{4}]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[CO_{2}]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[HCHO]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most diluted solution is (molar mass of 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 = 58.5 g mol-1)</a:t>
            </a:r>
          </a:p>
        </p:txBody>
      </p:sp>
      <p:pic>
        <p:nvPicPr>
          <p:cNvPr id="8" name="Picture 7" descr="35fc22310b7e50023c85d1f7ecab95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5040" y="965708"/>
            <a:ext cx="1018032" cy="5425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2% (w/w) </a:t>
            </a:r>
            <a:r>
              <a:rPr sz="2000" b="0">
                <a:solidFill>
                  <a:srgbClr val="F0F0F0"/>
                </a:solidFill>
                <a:latin typeface="Arial"/>
              </a:rPr>
              <a:t>[NaCl]</a:t>
            </a:r>
            <a:r>
              <a:rPr sz="2000" b="0">
                <a:solidFill>
                  <a:srgbClr val="F0F0F0"/>
                </a:solidFill>
                <a:latin typeface="Arial"/>
              </a:rPr>
              <a:t> in water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1M </a:t>
            </a:r>
            <a:r>
              <a:rPr sz="2000" b="0">
                <a:solidFill>
                  <a:srgbClr val="F0F0F0"/>
                </a:solidFill>
                <a:latin typeface="Arial"/>
              </a:rPr>
              <a:t>[NaCl]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 ppm of </a:t>
            </a:r>
            <a:r>
              <a:rPr sz="2000" b="0">
                <a:solidFill>
                  <a:srgbClr val="F0F0F0"/>
                </a:solidFill>
                <a:latin typeface="Arial"/>
              </a:rPr>
              <a:t>[NaCl]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 m </a:t>
            </a:r>
            <a:r>
              <a:rPr sz="2000" b="0">
                <a:solidFill>
                  <a:srgbClr val="F0F0F0"/>
                </a:solidFill>
                <a:latin typeface="Arial"/>
              </a:rPr>
              <a:t>[NaCl]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tanks used by most scuba divers are filled with air diluted with helium of around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value of Henry's constant 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pic>
        <p:nvPicPr>
          <p:cNvPr id="8" name="Picture 7" descr="2f0902e9477874cb5944ceb57f148b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968756"/>
            <a:ext cx="688848" cy="5364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Value of Henry's constant (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  <p:pic>
        <p:nvPicPr>
          <p:cNvPr id="8" name="Picture 7" descr="2f0902e9477874cb5944ceb57f148b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968756"/>
            <a:ext cx="688848" cy="5364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1.0 M </a:t>
            </a:r>
            <a:r>
              <a:rPr sz="2000" b="0">
                <a:solidFill>
                  <a:srgbClr val="F0F0F0"/>
                </a:solidFill>
                <a:latin typeface="Arial"/>
              </a:rPr>
              <a:t>[NaOH]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1.0 M </a:t>
            </a:r>
            <a:r>
              <a:rPr sz="2000" b="0">
                <a:solidFill>
                  <a:srgbClr val="F0F0F0"/>
                </a:solidFill>
                <a:latin typeface="Arial"/>
              </a:rPr>
              <a:t>[Na_{2}SO_{4}]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1.0 M </a:t>
            </a:r>
            <a:r>
              <a:rPr sz="2000" b="0">
                <a:solidFill>
                  <a:srgbClr val="F0F0F0"/>
                </a:solidFill>
                <a:latin typeface="Arial"/>
              </a:rPr>
              <a:t>[NH_{4}NO_{3}]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1.0 M </a:t>
            </a:r>
            <a:r>
              <a:rPr sz="2000" b="0">
                <a:solidFill>
                  <a:srgbClr val="F0F0F0"/>
                </a:solidFill>
                <a:latin typeface="Arial"/>
              </a:rPr>
              <a:t>[KNO_{3}]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c25ada2ee25c01b1878ce962239293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66800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>
                <a:solidFill>
                  <a:srgbClr val="050505"/>
                </a:solidFill>
                <a:latin typeface="Arial"/>
              </a:rPr>
              <a:t>                 </a:t>
            </a:r>
          </a:p>
        </p:txBody>
      </p:sp>
      <p:pic>
        <p:nvPicPr>
          <p:cNvPr id="5" name="Picture 4" descr="0f54ce14df78868e3a8ed187bb604d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53158"/>
            <a:ext cx="6790944" cy="8168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    </a:t>
            </a:r>
          </a:p>
        </p:txBody>
      </p:sp>
      <p:pic>
        <p:nvPicPr>
          <p:cNvPr id="5" name="Picture 4" descr="9aa2adb1256c37273c782218b8aac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773936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    </a:t>
            </a:r>
          </a:p>
        </p:txBody>
      </p:sp>
      <p:pic>
        <p:nvPicPr>
          <p:cNvPr id="5" name="Picture 4" descr="9aa2adb1256c37273c782218b8aac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773936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    </a:t>
            </a:r>
          </a:p>
        </p:txBody>
      </p:sp>
      <p:pic>
        <p:nvPicPr>
          <p:cNvPr id="5" name="Picture 4" descr="9aa2adb1256c37273c782218b8aac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773936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assertion and reason are true, and the reason is the correct explanation of the assertion.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assertion and reason are true, but the reason is not the correct explanation of the assertion.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    </a:t>
            </a:r>
          </a:p>
        </p:txBody>
      </p:sp>
      <p:pic>
        <p:nvPicPr>
          <p:cNvPr id="5" name="Picture 4" descr="9aa2adb1256c37273c782218b8aac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773936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E°cell - 0.0295 log (Cu2+/</a:t>
            </a:r>
            <a:r>
              <a:rPr sz="2000" b="0">
                <a:solidFill>
                  <a:srgbClr val="F0F0F0"/>
                </a:solidFill>
                <a:latin typeface="Arial"/>
              </a:rPr>
              <a:t>[Zn^{2+}]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E°cell - 0.0295 log (Cu/</a:t>
            </a:r>
            <a:r>
              <a:rPr sz="2000" b="0">
                <a:solidFill>
                  <a:srgbClr val="F0F0F0"/>
                </a:solidFill>
                <a:latin typeface="Arial"/>
              </a:rPr>
              <a:t>[Zn^{2+}]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E°cell - 0.0295 log (Zn2+/</a:t>
            </a:r>
            <a:r>
              <a:rPr sz="2000" b="0">
                <a:solidFill>
                  <a:srgbClr val="F0F0F0"/>
                </a:solidFill>
                <a:latin typeface="Arial"/>
              </a:rPr>
              <a:t>[Cu^{2+}]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Ecell = E°cell - 0.0295 log (Cu2+/Zn)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    </a:t>
            </a:r>
          </a:p>
        </p:txBody>
      </p:sp>
      <p:pic>
        <p:nvPicPr>
          <p:cNvPr id="5" name="Picture 4" descr="9aa2adb1256c37273c782218b8aac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773936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[SEP]</a:t>
            </a:r>
            <a:r>
              <a:rPr sz="2000" b="0">
                <a:solidFill>
                  <a:srgbClr val="F0F0F0"/>
                </a:solidFill>
                <a:latin typeface="Arial"/>
              </a:rPr>
              <a:t> value is zero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    </a:t>
            </a:r>
          </a:p>
        </p:txBody>
      </p:sp>
      <p:pic>
        <p:nvPicPr>
          <p:cNvPr id="5" name="Picture 4" descr="9aa2adb1256c37273c782218b8aac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773936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If the E0cell for a given reaction has a negative value, then which of the following is the correct relationship for the value of </a:t>
            </a:r>
            <a:r>
              <a:rPr sz="2800">
                <a:solidFill>
                  <a:srgbClr val="050505"/>
                </a:solidFill>
                <a:latin typeface="Arial"/>
              </a:rPr>
              <a:t>  </a:t>
            </a:r>
            <a:r>
              <a:rPr sz="2800" b="1">
                <a:solidFill>
                  <a:srgbClr val="FAD02C"/>
                </a:solidFill>
                <a:latin typeface="Arial"/>
              </a:rPr>
              <a:t>G0 and Keq?</a:t>
            </a:r>
          </a:p>
        </p:txBody>
      </p:sp>
      <p:pic>
        <p:nvPicPr>
          <p:cNvPr id="8" name="Picture 7" descr="a051dc002ca1713db78015984528ad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31036"/>
            <a:ext cx="426720" cy="5364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[\Delta]</a:t>
            </a:r>
            <a:r>
              <a:rPr sz="2000" b="0">
                <a:solidFill>
                  <a:srgbClr val="F0F0F0"/>
                </a:solidFill>
                <a:latin typeface="Arial"/>
              </a:rPr>
              <a:t>G0&gt;0 and Keq&gt;1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[\Delta]</a:t>
            </a:r>
            <a:r>
              <a:rPr sz="2000" b="0">
                <a:solidFill>
                  <a:srgbClr val="F0F0F0"/>
                </a:solidFill>
                <a:latin typeface="Arial"/>
              </a:rPr>
              <a:t>G0&lt;0 and Keq&lt;1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[\Delta]</a:t>
            </a:r>
            <a:r>
              <a:rPr sz="2000" b="0">
                <a:solidFill>
                  <a:srgbClr val="F0F0F0"/>
                </a:solidFill>
                <a:latin typeface="Arial"/>
              </a:rPr>
              <a:t>G0&gt;0 and Keq&lt;1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[\Delta]</a:t>
            </a:r>
            <a:r>
              <a:rPr sz="2000" b="0">
                <a:solidFill>
                  <a:srgbClr val="F0F0F0"/>
                </a:solidFill>
                <a:latin typeface="Arial"/>
              </a:rPr>
              <a:t>G0&lt;0 and Keq&gt;1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    </a:t>
            </a:r>
          </a:p>
        </p:txBody>
      </p:sp>
      <p:pic>
        <p:nvPicPr>
          <p:cNvPr id="5" name="Picture 4" descr="9aa2adb1256c37273c782218b8aac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773936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    </a:t>
            </a:r>
          </a:p>
        </p:txBody>
      </p:sp>
      <p:pic>
        <p:nvPicPr>
          <p:cNvPr id="5" name="Picture 4" descr="9aa2adb1256c37273c782218b8aac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773936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batteries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55458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>
                <a:solidFill>
                  <a:srgbClr val="050505"/>
                </a:solidFill>
                <a:latin typeface="Arial"/>
              </a:rPr>
              <a:t>        </a:t>
            </a:r>
            <a:r>
              <a:rPr sz="1600" b="1">
                <a:solidFill>
                  <a:srgbClr val="00B0F0"/>
                </a:solidFill>
                <a:latin typeface="Arial"/>
              </a:rPr>
              <a:t> I</a:t>
            </a:r>
          </a:p>
        </p:txBody>
      </p:sp>
      <p:pic>
        <p:nvPicPr>
          <p:cNvPr id="9" name="Picture 8" descr="62ed5d14e5ea597fb7c03535f7da1b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60296"/>
            <a:ext cx="1078992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85916" y="1920240"/>
            <a:ext cx="55458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>
                <a:solidFill>
                  <a:srgbClr val="050505"/>
                </a:solidFill>
                <a:latin typeface="Arial"/>
              </a:rPr>
              <a:t>        </a:t>
            </a:r>
            <a:r>
              <a:rPr sz="1600" b="1">
                <a:solidFill>
                  <a:srgbClr val="00B0F0"/>
                </a:solidFill>
                <a:latin typeface="Arial"/>
              </a:rPr>
              <a:t> </a:t>
            </a:r>
            <a:r>
              <a:rPr sz="1600">
                <a:solidFill>
                  <a:srgbClr val="050505"/>
                </a:solidFill>
                <a:latin typeface="Arial"/>
              </a:rPr>
              <a:t>  </a:t>
            </a:r>
          </a:p>
        </p:txBody>
      </p:sp>
      <p:pic>
        <p:nvPicPr>
          <p:cNvPr id="11" name="Picture 10" descr="62ed5d14e5ea597fb7c03535f7da1b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916" y="1860296"/>
            <a:ext cx="1078992" cy="384048"/>
          </a:xfrm>
          <a:prstGeom prst="rect">
            <a:avLst/>
          </a:prstGeom>
        </p:spPr>
      </p:pic>
      <p:pic>
        <p:nvPicPr>
          <p:cNvPr id="12" name="Picture 11" descr="9610b2256e2b1845675322fe3b4daa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6828" y="1860296"/>
            <a:ext cx="304800" cy="38404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(ii)  Mercury cell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(iii)  Lead storage battery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(iv)  H2-O2 fuel cell.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5916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(a)  Lead (Pb)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5916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(b)  Hydrogen(H2) gas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5916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(c)  Zinc (Zn)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5916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(d)  Zinc – Mercury amalgam(Zn(Hg))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i-a, ii-b, iii-c, iv-d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i-b, ii-a, iii-d, iv-c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i-c, ii-d, iii-a, iv-b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    </a:t>
            </a:r>
          </a:p>
        </p:txBody>
      </p:sp>
      <p:pic>
        <p:nvPicPr>
          <p:cNvPr id="5" name="Picture 4" descr="9aa2adb1256c37273c782218b8aac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773936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Saturated solution of 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 is used to make a salt bridge because</a:t>
            </a:r>
          </a:p>
        </p:txBody>
      </p:sp>
      <p:pic>
        <p:nvPicPr>
          <p:cNvPr id="8" name="Picture 7" descr="ab886b4a5b2c223df16825c87f981b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120" y="968756"/>
            <a:ext cx="1133856" cy="5364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Velocity of </a:t>
            </a:r>
            <a:r>
              <a:rPr sz="2000" b="0">
                <a:solidFill>
                  <a:srgbClr val="F0F0F0"/>
                </a:solidFill>
                <a:latin typeface="Arial"/>
              </a:rPr>
              <a:t>[K^{+}]</a:t>
            </a:r>
            <a:r>
              <a:rPr sz="2000" b="0">
                <a:solidFill>
                  <a:srgbClr val="F0F0F0"/>
                </a:solidFill>
                <a:latin typeface="Arial"/>
              </a:rPr>
              <a:t> is greater than that of </a:t>
            </a:r>
            <a:r>
              <a:rPr sz="2000" b="0">
                <a:solidFill>
                  <a:srgbClr val="F0F0F0"/>
                </a:solidFill>
                <a:latin typeface="Arial"/>
              </a:rPr>
              <a:t>[NO_{3}]</a:t>
            </a:r>
            <a:r>
              <a:rPr sz="2000" b="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Velocity of </a:t>
            </a:r>
            <a:r>
              <a:rPr sz="2000" b="0">
                <a:solidFill>
                  <a:srgbClr val="F0F0F0"/>
                </a:solidFill>
                <a:latin typeface="Arial"/>
              </a:rPr>
              <a:t>[NO_{3}]</a:t>
            </a:r>
            <a:r>
              <a:rPr sz="2000" b="0">
                <a:solidFill>
                  <a:srgbClr val="F0F0F0"/>
                </a:solidFill>
                <a:latin typeface="Arial"/>
              </a:rPr>
              <a:t>- is greater than that of </a:t>
            </a:r>
            <a:r>
              <a:rPr sz="2000" b="0">
                <a:solidFill>
                  <a:srgbClr val="F0F0F0"/>
                </a:solidFill>
                <a:latin typeface="Arial"/>
              </a:rPr>
              <a:t>[K^{+}]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Velocity of both </a:t>
            </a:r>
            <a:r>
              <a:rPr sz="2000" b="0">
                <a:solidFill>
                  <a:srgbClr val="F0F0F0"/>
                </a:solidFill>
                <a:latin typeface="Arial"/>
              </a:rPr>
              <a:t>[K^{+}]</a:t>
            </a:r>
            <a:r>
              <a:rPr sz="2000" b="0">
                <a:solidFill>
                  <a:srgbClr val="F0F0F0"/>
                </a:solidFill>
                <a:latin typeface="Arial"/>
              </a:rPr>
              <a:t> and </a:t>
            </a:r>
            <a:r>
              <a:rPr sz="2000" b="0">
                <a:solidFill>
                  <a:srgbClr val="F0F0F0"/>
                </a:solidFill>
                <a:latin typeface="Arial"/>
              </a:rPr>
              <a:t>[NO_{3}]</a:t>
            </a:r>
            <a:r>
              <a:rPr sz="2000" b="0">
                <a:solidFill>
                  <a:srgbClr val="F0F0F0"/>
                </a:solidFill>
                <a:latin typeface="Arial"/>
              </a:rPr>
              <a:t>- are nearly the same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[KNO_{3}]</a:t>
            </a:r>
            <a:r>
              <a:rPr sz="2000" b="0">
                <a:solidFill>
                  <a:srgbClr val="F0F0F0"/>
                </a:solidFill>
                <a:latin typeface="Arial"/>
              </a:rPr>
              <a:t> is highly soluble in water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    </a:t>
            </a:r>
          </a:p>
        </p:txBody>
      </p:sp>
      <p:pic>
        <p:nvPicPr>
          <p:cNvPr id="5" name="Picture 4" descr="9aa2adb1256c37273c782218b8aac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773936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Conductivity (κ) of a solution decreases with dilution. Statement </a:t>
            </a:r>
            <a:r>
              <a:rPr sz="2800">
                <a:solidFill>
                  <a:srgbClr val="050505"/>
                </a:solidFill>
                <a:latin typeface="Arial"/>
              </a:rPr>
              <a:t> </a:t>
            </a:r>
            <a:r>
              <a:rPr sz="2800" b="1">
                <a:solidFill>
                  <a:srgbClr val="FAD02C"/>
                </a:solidFill>
                <a:latin typeface="Arial"/>
              </a:rPr>
              <a:t>: Molar conductivity (</a:t>
            </a:r>
            <a:r>
              <a:rPr sz="2800">
                <a:solidFill>
                  <a:srgbClr val="050505"/>
                </a:solidFill>
                <a:latin typeface="Arial"/>
              </a:rPr>
              <a:t> </a:t>
            </a:r>
            <a:r>
              <a:rPr sz="2800" b="1">
                <a:solidFill>
                  <a:srgbClr val="FAD02C"/>
                </a:solidFill>
                <a:latin typeface="Arial"/>
              </a:rPr>
              <a:t>m) of solution increases with dilution. Identify the correct statement</a:t>
            </a:r>
          </a:p>
        </p:txBody>
      </p:sp>
      <p:pic>
        <p:nvPicPr>
          <p:cNvPr id="8" name="Picture 7" descr="3ee6d90f5d205a00d5147382c516d7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31036"/>
            <a:ext cx="396240" cy="536448"/>
          </a:xfrm>
          <a:prstGeom prst="rect">
            <a:avLst/>
          </a:prstGeom>
        </p:spPr>
      </p:pic>
      <p:pic>
        <p:nvPicPr>
          <p:cNvPr id="9" name="Picture 8" descr="ad610e79ff039ba129862c6d2576f59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7360" y="1427988"/>
            <a:ext cx="396240" cy="542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statements I and 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 are correct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statements I and 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 are incorrect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correct but statement 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 is incorrect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incorrect but statement 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 is correct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    </a:t>
            </a:r>
          </a:p>
        </p:txBody>
      </p:sp>
      <p:pic>
        <p:nvPicPr>
          <p:cNvPr id="5" name="Picture 4" descr="9aa2adb1256c37273c782218b8aac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773936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Cu displaces H2 gas from dilute acids. Statement </a:t>
            </a:r>
            <a:r>
              <a:rPr sz="2800">
                <a:solidFill>
                  <a:srgbClr val="050505"/>
                </a:solidFill>
                <a:latin typeface="Arial"/>
              </a:rPr>
              <a:t> </a:t>
            </a:r>
            <a:r>
              <a:rPr sz="2800" b="1">
                <a:solidFill>
                  <a:srgbClr val="FAD02C"/>
                </a:solidFill>
                <a:latin typeface="Arial"/>
              </a:rPr>
              <a:t>: ions 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 get reduced more easily than 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 ions</a:t>
            </a:r>
          </a:p>
        </p:txBody>
      </p:sp>
      <p:pic>
        <p:nvPicPr>
          <p:cNvPr id="8" name="Picture 7" descr="3ee6d90f5d205a00d5147382c516d7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31036"/>
            <a:ext cx="396240" cy="536448"/>
          </a:xfrm>
          <a:prstGeom prst="rect">
            <a:avLst/>
          </a:prstGeom>
        </p:spPr>
      </p:pic>
      <p:pic>
        <p:nvPicPr>
          <p:cNvPr id="9" name="Picture 8" descr="8acd4a0c5d8342925db929963c5177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6960" y="1397508"/>
            <a:ext cx="1146048" cy="603504"/>
          </a:xfrm>
          <a:prstGeom prst="rect">
            <a:avLst/>
          </a:prstGeom>
        </p:spPr>
      </p:pic>
      <p:pic>
        <p:nvPicPr>
          <p:cNvPr id="10" name="Picture 9" descr="1378413a6dd5d1b288b7c6d20dea363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3808" y="1412748"/>
            <a:ext cx="694944" cy="573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 are 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 are incorrect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correct and Statement 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 is incorrect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incorrect and Statement 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 is correct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    </a:t>
            </a:r>
          </a:p>
        </p:txBody>
      </p:sp>
      <p:pic>
        <p:nvPicPr>
          <p:cNvPr id="5" name="Picture 4" descr="9aa2adb1256c37273c782218b8aac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773936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E° values of 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 / Fe, 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 / Zn, and 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 / Sn are -0.44V, -0.76V, and -0.14V respectively. Which of these metals can displace iron from an 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 solution?</a:t>
            </a:r>
          </a:p>
        </p:txBody>
      </p:sp>
      <p:pic>
        <p:nvPicPr>
          <p:cNvPr id="8" name="Picture 7" descr="cf64cf7b18982d293bb7097b13dde0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320" y="935228"/>
            <a:ext cx="1097280" cy="603504"/>
          </a:xfrm>
          <a:prstGeom prst="rect">
            <a:avLst/>
          </a:prstGeom>
        </p:spPr>
      </p:pic>
      <p:pic>
        <p:nvPicPr>
          <p:cNvPr id="9" name="Picture 8" descr="22a5f617a2611d5323db988144ef3f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19" y="935228"/>
            <a:ext cx="1146048" cy="603504"/>
          </a:xfrm>
          <a:prstGeom prst="rect">
            <a:avLst/>
          </a:prstGeom>
        </p:spPr>
      </p:pic>
      <p:pic>
        <p:nvPicPr>
          <p:cNvPr id="10" name="Picture 9" descr="a460cd5e4974b6e3b63d3d3105835d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8128" y="935228"/>
            <a:ext cx="1127760" cy="603504"/>
          </a:xfrm>
          <a:prstGeom prst="rect">
            <a:avLst/>
          </a:prstGeom>
        </p:spPr>
      </p:pic>
      <p:pic>
        <p:nvPicPr>
          <p:cNvPr id="11" name="Picture 10" descr="cf64cf7b18982d293bb7097b13dde0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97508"/>
            <a:ext cx="1097280" cy="6035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    </a:t>
            </a:r>
          </a:p>
        </p:txBody>
      </p:sp>
      <p:pic>
        <p:nvPicPr>
          <p:cNvPr id="5" name="Picture 4" descr="9aa2adb1256c37273c782218b8aac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773936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    </a:t>
            </a:r>
          </a:p>
        </p:txBody>
      </p:sp>
      <p:pic>
        <p:nvPicPr>
          <p:cNvPr id="5" name="Picture 4" descr="9aa2adb1256c37273c782218b8aac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773936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product formed at the anode during the electrolysis of aqueous 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pic>
        <p:nvPicPr>
          <p:cNvPr id="8" name="Picture 7" descr="35fc22310b7e50023c85d1f7ecab95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27988"/>
            <a:ext cx="1018032" cy="5425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Cl2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    </a:t>
            </a:r>
          </a:p>
        </p:txBody>
      </p:sp>
      <p:pic>
        <p:nvPicPr>
          <p:cNvPr id="5" name="Picture 4" descr="9aa2adb1256c37273c782218b8aac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773936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quantity of electricity required for the reduction of one mole of 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 ions is</a:t>
            </a:r>
          </a:p>
        </p:txBody>
      </p:sp>
      <p:pic>
        <p:nvPicPr>
          <p:cNvPr id="8" name="Picture 7" descr="75603d64be1689474348976124a533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97508"/>
            <a:ext cx="1030224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    </a:t>
            </a:r>
          </a:p>
        </p:txBody>
      </p:sp>
      <p:pic>
        <p:nvPicPr>
          <p:cNvPr id="5" name="Picture 4" descr="9aa2adb1256c37273c782218b8aac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773936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    </a:t>
            </a:r>
          </a:p>
        </p:txBody>
      </p:sp>
      <p:pic>
        <p:nvPicPr>
          <p:cNvPr id="5" name="Picture 4" descr="9aa2adb1256c37273c782218b8aac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773936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[NaCl]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[ZnSO_{4}]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[AlCl_{3}]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[BaCl_{2}]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    </a:t>
            </a:r>
          </a:p>
        </p:txBody>
      </p:sp>
      <p:pic>
        <p:nvPicPr>
          <p:cNvPr id="5" name="Picture 4" descr="9aa2adb1256c37273c782218b8aac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773936" cy="335280"/>
          </a:xfrm>
          <a:prstGeom prst="rect">
            <a:avLst/>
          </a:prstGeom>
        </p:spPr>
      </p:pic>
      <p:pic>
        <p:nvPicPr>
          <p:cNvPr id="6" name="Picture 5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>
                <a:solidFill>
                  <a:srgbClr val="050505"/>
                </a:solidFill>
                <a:latin typeface="Arial"/>
              </a:rPr>
              <a:t>         </a:t>
            </a:r>
            <a:r>
              <a:rPr sz="5000" b="1">
                <a:solidFill>
                  <a:srgbClr val="FAD02C"/>
                </a:solidFill>
                <a:latin typeface="Arial"/>
              </a:rPr>
              <a:t> </a:t>
            </a:r>
            <a:r>
              <a:rPr sz="50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42d4fb55be700995cb2cef7a68f1a4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53158"/>
            <a:ext cx="3474720" cy="816864"/>
          </a:xfrm>
          <a:prstGeom prst="rect">
            <a:avLst/>
          </a:prstGeom>
        </p:spPr>
      </p:pic>
      <p:pic>
        <p:nvPicPr>
          <p:cNvPr id="6" name="Picture 5" descr="2d4913cfe94fb2f2d184bde967ae5c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088" y="2153158"/>
            <a:ext cx="3096768" cy="81686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2NO(g) + O2(g) → 2NO2(g), the following initial-rate data were obtained. Choose the rate equation.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k[</a:t>
            </a:r>
            <a:r>
              <a:rPr sz="2000" b="0">
                <a:solidFill>
                  <a:srgbClr val="F0F0F0"/>
                </a:solidFill>
                <a:latin typeface="Arial"/>
              </a:rPr>
              <a:t>[NO]</a:t>
            </a:r>
            <a:r>
              <a:rPr sz="2000" b="0">
                <a:solidFill>
                  <a:srgbClr val="F0F0F0"/>
                </a:solidFill>
                <a:latin typeface="Arial"/>
              </a:rPr>
              <a:t>]2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k[</a:t>
            </a:r>
            <a:r>
              <a:rPr sz="2000" b="0">
                <a:solidFill>
                  <a:srgbClr val="F0F0F0"/>
                </a:solidFill>
                <a:latin typeface="Arial"/>
              </a:rPr>
              <a:t>[NO]</a:t>
            </a:r>
            <a:r>
              <a:rPr sz="2000" b="0">
                <a:solidFill>
                  <a:srgbClr val="F0F0F0"/>
                </a:solidFill>
                <a:latin typeface="Arial"/>
              </a:rPr>
              <a:t>]2 [O2]2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k[</a:t>
            </a:r>
            <a:r>
              <a:rPr sz="2000" b="0">
                <a:solidFill>
                  <a:srgbClr val="F0F0F0"/>
                </a:solidFill>
                <a:latin typeface="Arial"/>
              </a:rPr>
              <a:t>[NO]</a:t>
            </a:r>
            <a:r>
              <a:rPr sz="2000" b="0">
                <a:solidFill>
                  <a:srgbClr val="F0F0F0"/>
                </a:solidFill>
                <a:latin typeface="Arial"/>
              </a:rPr>
              <a:t>] [O2]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k[</a:t>
            </a:r>
            <a:r>
              <a:rPr sz="2000" b="0">
                <a:solidFill>
                  <a:srgbClr val="F0F0F0"/>
                </a:solidFill>
                <a:latin typeface="Arial"/>
              </a:rPr>
              <a:t>[NO]</a:t>
            </a:r>
            <a:r>
              <a:rPr sz="2000" b="0">
                <a:solidFill>
                  <a:srgbClr val="F0F0F0"/>
                </a:solidFill>
                <a:latin typeface="Arial"/>
              </a:rPr>
              <a:t>]2 [O2]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Consider the Arrhenius equation k=e−Ea/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 and mark the correct option</a:t>
            </a:r>
          </a:p>
        </p:txBody>
      </p:sp>
      <p:pic>
        <p:nvPicPr>
          <p:cNvPr id="9" name="Picture 8" descr="bb5c677f2936aba6fcc754fe9091bdf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968756"/>
            <a:ext cx="652272" cy="5364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constant increases exponentially with increasing activation energy and decreasing temperature.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constant decreases exponentially with increasing activation energy and decreasing temperature.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constant increases exponentially with increasing activation energy and increasing temperature.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constant increases exponentially with decreasing activation energy and decreasing temperature.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 concentration of A is doubled. The order of the reaction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[R0]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log [R0]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reaction A + B → products, rate is doubled when the concentration of B is doubled, and rate increases by a factor of 8 when the concentrations of both the reactants (A and B. are doubled. The rate law for the reaction can be written as: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 [A][B]2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 [A]2[B]2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K [A]2[B]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= 𝐾 [A] [B]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reaction Hg + Cl2 → 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, the rate of disappearance of Hg is equal to</a:t>
            </a:r>
          </a:p>
        </p:txBody>
      </p:sp>
      <p:pic>
        <p:nvPicPr>
          <p:cNvPr id="9" name="Picture 8" descr="6ffb4cb6ce68d1a8b4df11b0cca671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965708"/>
            <a:ext cx="1194816" cy="542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of disappearance of Cl2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of appearance of </a:t>
            </a:r>
            <a:r>
              <a:rPr sz="2000" b="0">
                <a:solidFill>
                  <a:srgbClr val="F0F0F0"/>
                </a:solidFill>
                <a:latin typeface="Arial"/>
              </a:rPr>
              <a:t>[HgCl_{2}]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Rate of appearance of Cl2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A catalyst does not alter Gibb’s energy (</a:t>
            </a:r>
            <a:r>
              <a:rPr sz="2800">
                <a:solidFill>
                  <a:srgbClr val="050505"/>
                </a:solidFill>
                <a:latin typeface="Arial"/>
              </a:rPr>
              <a:t>  </a:t>
            </a:r>
            <a:r>
              <a:rPr sz="2800" b="1">
                <a:solidFill>
                  <a:srgbClr val="FAD02C"/>
                </a:solidFill>
                <a:latin typeface="Arial"/>
              </a:rPr>
              <a:t>G) of a reaction. Statement </a:t>
            </a:r>
            <a:r>
              <a:rPr sz="2800">
                <a:solidFill>
                  <a:srgbClr val="050505"/>
                </a:solidFill>
                <a:latin typeface="Arial"/>
              </a:rPr>
              <a:t> </a:t>
            </a:r>
            <a:r>
              <a:rPr sz="2800" b="1">
                <a:solidFill>
                  <a:srgbClr val="FAD02C"/>
                </a:solidFill>
                <a:latin typeface="Arial"/>
              </a:rPr>
              <a:t>: A catalyst alters the activation energy (Ea) of a reaction by providing an alternate pathway.</a:t>
            </a:r>
          </a:p>
        </p:txBody>
      </p:sp>
      <p:pic>
        <p:nvPicPr>
          <p:cNvPr id="9" name="Picture 8" descr="a051dc002ca1713db78015984528ad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31036"/>
            <a:ext cx="426720" cy="536448"/>
          </a:xfrm>
          <a:prstGeom prst="rect">
            <a:avLst/>
          </a:prstGeom>
        </p:spPr>
      </p:pic>
      <p:pic>
        <p:nvPicPr>
          <p:cNvPr id="10" name="Picture 9" descr="3ee6d90f5d205a00d5147382c516d7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1431036"/>
            <a:ext cx="396240" cy="5364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 are 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 are incorrect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correct, but Statement 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 is incorrect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incorrect, but Statement 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 is correct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Statement I: If in a zero-order reaction, the concentration of the reactant is doubled, the half-life period is also doubled. Statement </a:t>
            </a:r>
            <a:r>
              <a:rPr sz="2800">
                <a:solidFill>
                  <a:srgbClr val="050505"/>
                </a:solidFill>
                <a:latin typeface="Arial"/>
              </a:rPr>
              <a:t> </a:t>
            </a:r>
            <a:r>
              <a:rPr sz="2800" b="1">
                <a:solidFill>
                  <a:srgbClr val="FAD02C"/>
                </a:solidFill>
                <a:latin typeface="Arial"/>
              </a:rPr>
              <a:t>: For a first-order reaction, the half-life period is independent of the initial concentration of the reactant.</a:t>
            </a:r>
          </a:p>
        </p:txBody>
      </p:sp>
      <p:pic>
        <p:nvPicPr>
          <p:cNvPr id="9" name="Picture 8" descr="3ee6d90f5d205a00d5147382c516d7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31036"/>
            <a:ext cx="396240" cy="5364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 are correct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Statement I and 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 are incorrect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correct but Statement 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 is incorrect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Statement I is incorrect but Statement 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 is correct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 one hour will 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number of collisions per second per unit volume of the reaction is known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order of a chemical reaction having the rate expression, Rate = k[A] [B]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overall order of a reaction which has the rate expression Rate = K[A]1/2[B]3/2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order for a reaction with the rate law Rate=𝑘[𝐴]1[𝐵]1 is: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rate constant of a reaction is k = 2.3 × 10-5 L mol-1 s-1. The order of the reaction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mol dm-3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mol dm-3 s-1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mol-1 dm3 s-1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slope of the Arrhenius plot (log k versus 1/T) for a given reaction is found to be −2000 K. What is the activation energy (Ea) of the reaction in J mol−1? (Given R = 8.314 J K−1mol−1)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38,314.5 J mol−1 (or 38.3 kJ mol−1)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19,157.2 J mol−1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76,629.0 J mol−1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8,314.0 J mol−1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2k / [R]0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[R]0 / 2k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[R]0 /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[R]0 k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What is the value of ‘x' if the total order of the reaction, which has the rate expression: Rate = k [A]ˣ [B]2ˣ is 3/2?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80360266e8596f3e98d8446085f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975360" cy="335280"/>
          </a:xfrm>
          <a:prstGeom prst="rect">
            <a:avLst/>
          </a:prstGeom>
        </p:spPr>
      </p:pic>
      <p:pic>
        <p:nvPicPr>
          <p:cNvPr id="6" name="Picture 5" descr="777fef8317a7f8f16fadff1cc423d4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" y="278892"/>
            <a:ext cx="883920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t½ ∝ [R0]0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t½ ∝ [R0]2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t½ ∝ [R0]-1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t½ ∝ [R0]1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1">
                <a:solidFill>
                  <a:srgbClr val="FAD02C"/>
                </a:solidFill>
                <a:latin typeface="Arial"/>
              </a:rPr>
              <a:t>D </a:t>
            </a:r>
            <a:r>
              <a:rPr sz="5000">
                <a:solidFill>
                  <a:srgbClr val="050505"/>
                </a:solidFill>
                <a:latin typeface="Arial"/>
              </a:rPr>
              <a:t>    </a:t>
            </a:r>
            <a:r>
              <a:rPr sz="5000" b="1">
                <a:solidFill>
                  <a:srgbClr val="FAD02C"/>
                </a:solidFill>
                <a:latin typeface="Arial"/>
              </a:rPr>
              <a:t> F </a:t>
            </a:r>
            <a:r>
              <a:rPr sz="5000">
                <a:solidFill>
                  <a:srgbClr val="050505"/>
                </a:solidFill>
                <a:latin typeface="Arial"/>
              </a:rPr>
              <a:t>      </a:t>
            </a:r>
            <a:r>
              <a:rPr sz="5000" b="1">
                <a:solidFill>
                  <a:srgbClr val="FAD02C"/>
                </a:solidFill>
                <a:latin typeface="Arial"/>
              </a:rPr>
              <a:t> </a:t>
            </a:r>
            <a:r>
              <a:rPr sz="5000">
                <a:solidFill>
                  <a:srgbClr val="050505"/>
                </a:solidFill>
                <a:latin typeface="Arial"/>
              </a:rPr>
              <a:t>         </a:t>
            </a:r>
          </a:p>
        </p:txBody>
      </p:sp>
      <p:pic>
        <p:nvPicPr>
          <p:cNvPr id="5" name="Picture 4" descr="75407e984b3c6ad57c1e28c7824918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368" y="2153158"/>
            <a:ext cx="1584960" cy="816864"/>
          </a:xfrm>
          <a:prstGeom prst="rect">
            <a:avLst/>
          </a:prstGeom>
        </p:spPr>
      </p:pic>
      <p:pic>
        <p:nvPicPr>
          <p:cNvPr id="6" name="Picture 5" descr="2949b4333d1832f28655427a872a6c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328" y="2153158"/>
            <a:ext cx="2316480" cy="816864"/>
          </a:xfrm>
          <a:prstGeom prst="rect">
            <a:avLst/>
          </a:prstGeom>
        </p:spPr>
      </p:pic>
      <p:pic>
        <p:nvPicPr>
          <p:cNvPr id="7" name="Picture 6" descr="b232026b06ffb458a75fffd2d28e2af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5808" y="2153158"/>
            <a:ext cx="3560064" cy="816864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Among 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, 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, and 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, the colored compound is</a:t>
            </a:r>
          </a:p>
        </p:txBody>
      </p:sp>
      <p:pic>
        <p:nvPicPr>
          <p:cNvPr id="10" name="Picture 9" descr="301ff8233b4ff888025a70f66d102ef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360" y="965708"/>
            <a:ext cx="1121664" cy="542544"/>
          </a:xfrm>
          <a:prstGeom prst="rect">
            <a:avLst/>
          </a:prstGeom>
        </p:spPr>
      </p:pic>
      <p:pic>
        <p:nvPicPr>
          <p:cNvPr id="11" name="Picture 10" descr="02455d229e8c832914ba972c3a9f81a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5744" y="965708"/>
            <a:ext cx="1018032" cy="542544"/>
          </a:xfrm>
          <a:prstGeom prst="rect">
            <a:avLst/>
          </a:prstGeom>
        </p:spPr>
      </p:pic>
      <p:pic>
        <p:nvPicPr>
          <p:cNvPr id="12" name="Picture 11" descr="bd4d23779a2e9f3e434b0d901f3d70f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3936" y="965708"/>
            <a:ext cx="1170432" cy="5425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[ScCl_{3}]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[TiCl_{3}]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[ZnCl_{2}]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[Cu_{2}O]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[MnO_{2}]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[V_{2}O_{3}]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[FeO]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[Ti^{3+}]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[Cr^{3+}]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[Fe^{3+}]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[Ni^{2+}]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[Fe^{3+}]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[Ni^{2+}]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[Ti^{2+}]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[Cr^{3+}]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[Fe^{3+}]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[Cr^{3+}]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[Ni^{2+}]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[Ti^{3+}]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[Fe^{3+}]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[Cr^{3+}]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[Ti^{3+}]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[Ni^{2+}]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 neutral or faintly alkaline medium, </a:t>
            </a:r>
            <a:r>
              <a:rPr sz="2800">
                <a:solidFill>
                  <a:srgbClr val="050505"/>
                </a:solidFill>
                <a:latin typeface="Arial"/>
              </a:rPr>
              <a:t>      </a:t>
            </a:r>
            <a:r>
              <a:rPr sz="2800" b="1">
                <a:solidFill>
                  <a:srgbClr val="FAD02C"/>
                </a:solidFill>
                <a:latin typeface="Arial"/>
              </a:rPr>
              <a:t> oxidizes iodide ions into iodate. The change in oxidation state of manganese in this reaction is from</a:t>
            </a:r>
          </a:p>
        </p:txBody>
      </p:sp>
      <p:pic>
        <p:nvPicPr>
          <p:cNvPr id="10" name="Picture 9" descr="8e176fec96a58230ab303319f683aab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4960" y="968756"/>
            <a:ext cx="1402080" cy="5364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aqueous solution, copper (I) ions undergo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Potassium permanganate oxidizes sulphurous acid (</a:t>
            </a:r>
            <a:r>
              <a:rPr sz="2800">
                <a:solidFill>
                  <a:srgbClr val="050505"/>
                </a:solidFill>
                <a:latin typeface="Arial"/>
              </a:rPr>
              <a:t>      </a:t>
            </a:r>
            <a:r>
              <a:rPr sz="2800" b="1">
                <a:solidFill>
                  <a:srgbClr val="FAD02C"/>
                </a:solidFill>
                <a:latin typeface="Arial"/>
              </a:rPr>
              <a:t>) into</a:t>
            </a:r>
          </a:p>
        </p:txBody>
      </p:sp>
      <p:pic>
        <p:nvPicPr>
          <p:cNvPr id="10" name="Picture 9" descr="718c2d320b213fb17e81567b0b7662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31036"/>
            <a:ext cx="1292352" cy="5364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[S_{2}O_{72}]</a:t>
            </a:r>
            <a:r>
              <a:rPr sz="2000" b="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[SO_{42}]</a:t>
            </a:r>
            <a:r>
              <a:rPr sz="2000" b="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[SO_{32}]</a:t>
            </a:r>
            <a:r>
              <a:rPr sz="2000" b="0">
                <a:solidFill>
                  <a:srgbClr val="F0F0F0"/>
                </a:solidFill>
                <a:latin typeface="Arial"/>
              </a:rPr>
              <a:t>-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aqueous solution of a transition metal ion 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 is colorless. The ion 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pic>
        <p:nvPicPr>
          <p:cNvPr id="10" name="Picture 9" descr="c4563261e7185f9a1c6474e62189b19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5120" y="950468"/>
            <a:ext cx="737616" cy="573024"/>
          </a:xfrm>
          <a:prstGeom prst="rect">
            <a:avLst/>
          </a:prstGeom>
        </p:spPr>
      </p:pic>
      <p:pic>
        <p:nvPicPr>
          <p:cNvPr id="11" name="Picture 10" descr="c4563261e7185f9a1c6474e62189b19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12748"/>
            <a:ext cx="737616" cy="5730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[Mn^{2+}]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[Cr^{3+}]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[V^{4+}]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[Ti^{4+}]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[Sc^{3+}]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[Ti^{3+}]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[Ti^{2+}]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[Ti^{3+}]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[Ti^{2+}]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[Sc^{3+}]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[Ti^{2+}]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[Sc^{3+}]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[Ti^{3+}]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[Sc^{3+}]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[Ti^{2+}]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[Ti^{3+}]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electronic configuration of Cu (</a:t>
            </a:r>
            <a:r>
              <a:rPr sz="2800">
                <a:solidFill>
                  <a:srgbClr val="050505"/>
                </a:solidFill>
                <a:latin typeface="Arial"/>
              </a:rPr>
              <a:t> </a:t>
            </a:r>
            <a:r>
              <a:rPr sz="2800" b="1">
                <a:solidFill>
                  <a:srgbClr val="FAD02C"/>
                </a:solidFill>
                <a:latin typeface="Arial"/>
              </a:rPr>
              <a:t>) is 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, whereas Cu(I) is 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. Which of the following is correct?</a:t>
            </a:r>
          </a:p>
        </p:txBody>
      </p:sp>
      <p:pic>
        <p:nvPicPr>
          <p:cNvPr id="10" name="Picture 9" descr="3ee6d90f5d205a00d5147382c516d7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59" y="968756"/>
            <a:ext cx="396240" cy="536448"/>
          </a:xfrm>
          <a:prstGeom prst="rect">
            <a:avLst/>
          </a:prstGeom>
        </p:spPr>
      </p:pic>
      <p:pic>
        <p:nvPicPr>
          <p:cNvPr id="11" name="Picture 10" descr="0fcb02af3780a7872545a3880df6c76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199" y="935228"/>
            <a:ext cx="835152" cy="603504"/>
          </a:xfrm>
          <a:prstGeom prst="rect">
            <a:avLst/>
          </a:prstGeom>
        </p:spPr>
      </p:pic>
      <p:pic>
        <p:nvPicPr>
          <p:cNvPr id="12" name="Picture 11" descr="9ae38b86d683fa93d715f7c63fcae47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397508"/>
            <a:ext cx="993648" cy="603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Cu (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) is less stable.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Cu (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) is more stable.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Cu(I) and Cu (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) are equally stable.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magnetic moment of an element is 1.73 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. The number of unpaired electrons in it is</a:t>
            </a:r>
          </a:p>
        </p:txBody>
      </p:sp>
      <p:pic>
        <p:nvPicPr>
          <p:cNvPr id="10" name="Picture 9" descr="387606a2a5066d63ea31683ef76e1fc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968756"/>
            <a:ext cx="737616" cy="5364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[Mn_{2}O_{7}]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[MnF_{4}]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[MnO_{2}]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[Mn_{2}SO_{4}]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number of moles of </a:t>
            </a:r>
            <a:r>
              <a:rPr sz="2800">
                <a:solidFill>
                  <a:srgbClr val="050505"/>
                </a:solidFill>
                <a:latin typeface="Arial"/>
              </a:rPr>
              <a:t>       </a:t>
            </a:r>
            <a:r>
              <a:rPr sz="2800" b="1">
                <a:solidFill>
                  <a:srgbClr val="FAD02C"/>
                </a:solidFill>
                <a:latin typeface="Arial"/>
              </a:rPr>
              <a:t> reduced by one mole of 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 ion is</a:t>
            </a:r>
          </a:p>
        </p:txBody>
      </p:sp>
      <p:pic>
        <p:nvPicPr>
          <p:cNvPr id="10" name="Picture 9" descr="5cf833ab50beb02f90c7c06e97a754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480" y="968756"/>
            <a:ext cx="1597152" cy="536448"/>
          </a:xfrm>
          <a:prstGeom prst="rect">
            <a:avLst/>
          </a:prstGeom>
        </p:spPr>
      </p:pic>
      <p:pic>
        <p:nvPicPr>
          <p:cNvPr id="11" name="Picture 10" descr="a460cd5e4974b6e3b63d3d3105835d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397508"/>
            <a:ext cx="1127760" cy="6035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[Cu^{2+}]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[Co^{3+}]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[Ni^{2+}]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[Fe^{2+}]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[V^{3+}]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[Fe^{3+}]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[Ti^{3+}]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[Zn^{2+}]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pairs have the same paramagnetic moment? (Atomic numbers: Ti = 22, Mn = 25, Ni = 28, Cu = 29)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[Ti^{3+}]</a:t>
            </a:r>
            <a:r>
              <a:rPr sz="2000" b="0">
                <a:solidFill>
                  <a:srgbClr val="F0F0F0"/>
                </a:solidFill>
                <a:latin typeface="Arial"/>
              </a:rPr>
              <a:t>, </a:t>
            </a:r>
            <a:r>
              <a:rPr sz="2000" b="0">
                <a:solidFill>
                  <a:srgbClr val="F0F0F0"/>
                </a:solidFill>
                <a:latin typeface="Arial"/>
              </a:rPr>
              <a:t>[Ni^{2+}]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[Cu^{2+}]</a:t>
            </a:r>
            <a:r>
              <a:rPr sz="2000" b="0">
                <a:solidFill>
                  <a:srgbClr val="F0F0F0"/>
                </a:solidFill>
                <a:latin typeface="Arial"/>
              </a:rPr>
              <a:t>, </a:t>
            </a:r>
            <a:r>
              <a:rPr sz="2000" b="0">
                <a:solidFill>
                  <a:srgbClr val="F0F0F0"/>
                </a:solidFill>
                <a:latin typeface="Arial"/>
              </a:rPr>
              <a:t>[Ti^{3+}]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[Ti^{2+}]</a:t>
            </a:r>
            <a:r>
              <a:rPr sz="2000" b="0">
                <a:solidFill>
                  <a:srgbClr val="F0F0F0"/>
                </a:solidFill>
                <a:latin typeface="Arial"/>
              </a:rPr>
              <a:t>, </a:t>
            </a:r>
            <a:r>
              <a:rPr sz="2000" b="0">
                <a:solidFill>
                  <a:srgbClr val="F0F0F0"/>
                </a:solidFill>
                <a:latin typeface="Arial"/>
              </a:rPr>
              <a:t>[Cu^{2+}]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[Mn^{2+}]</a:t>
            </a:r>
            <a:r>
              <a:rPr sz="2000" b="0">
                <a:solidFill>
                  <a:srgbClr val="F0F0F0"/>
                </a:solidFill>
                <a:latin typeface="Arial"/>
              </a:rPr>
              <a:t>, </a:t>
            </a:r>
            <a:r>
              <a:rPr sz="2000" b="0">
                <a:solidFill>
                  <a:srgbClr val="F0F0F0"/>
                </a:solidFill>
                <a:latin typeface="Arial"/>
              </a:rPr>
              <a:t>[Cu^{2+}]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F </a:t>
            </a:r>
            <a:r>
              <a:rPr sz="1200">
                <a:solidFill>
                  <a:srgbClr val="050505"/>
                </a:solidFill>
                <a:latin typeface="Arial"/>
              </a:rPr>
              <a:t>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</a:t>
            </a:r>
          </a:p>
        </p:txBody>
      </p:sp>
      <p:pic>
        <p:nvPicPr>
          <p:cNvPr id="5" name="Picture 4" descr="3bb3dde520953f135910249acede1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8892"/>
            <a:ext cx="524256" cy="335280"/>
          </a:xfrm>
          <a:prstGeom prst="rect">
            <a:avLst/>
          </a:prstGeom>
        </p:spPr>
      </p:pic>
      <p:pic>
        <p:nvPicPr>
          <p:cNvPr id="6" name="Picture 5" descr="b876aca0e6acf00837e2bfde5de42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815" y="278892"/>
            <a:ext cx="694944" cy="335280"/>
          </a:xfrm>
          <a:prstGeom prst="rect">
            <a:avLst/>
          </a:prstGeom>
        </p:spPr>
      </p:pic>
      <p:pic>
        <p:nvPicPr>
          <p:cNvPr id="7" name="Picture 6" descr="a55c8d5d25a24077eb1ac9ab445733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993648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[V^{2+}]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[Cr^{3+}]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[Zn^{2+}]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[Ti^{3+}]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>
                <a:solidFill>
                  <a:srgbClr val="050505"/>
                </a:solidFill>
                <a:latin typeface="Arial"/>
              </a:rPr>
              <a:t>            </a:t>
            </a:r>
            <a:r>
              <a:rPr sz="5000" b="1">
                <a:solidFill>
                  <a:srgbClr val="FAD02C"/>
                </a:solidFill>
                <a:latin typeface="Arial"/>
              </a:rPr>
              <a:t> </a:t>
            </a:r>
            <a:r>
              <a:rPr sz="5000">
                <a:solidFill>
                  <a:srgbClr val="050505"/>
                </a:solidFill>
                <a:latin typeface="Arial"/>
              </a:rPr>
              <a:t>    </a:t>
            </a:r>
            <a:r>
              <a:rPr sz="5000" b="1">
                <a:solidFill>
                  <a:srgbClr val="FAD02C"/>
                </a:solidFill>
                <a:latin typeface="Arial"/>
              </a:rPr>
              <a:t> </a:t>
            </a:r>
            <a:r>
              <a:rPr sz="50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1e30ec5d19eaa39cc222e2a19363f3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53158"/>
            <a:ext cx="4852416" cy="816864"/>
          </a:xfrm>
          <a:prstGeom prst="rect">
            <a:avLst/>
          </a:prstGeom>
        </p:spPr>
      </p:pic>
      <p:pic>
        <p:nvPicPr>
          <p:cNvPr id="6" name="Picture 5" descr="75407e984b3c6ad57c1e28c78249181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784" y="2153158"/>
            <a:ext cx="1584960" cy="816864"/>
          </a:xfrm>
          <a:prstGeom prst="rect">
            <a:avLst/>
          </a:prstGeom>
        </p:spPr>
      </p:pic>
      <p:pic>
        <p:nvPicPr>
          <p:cNvPr id="7" name="Picture 6" descr="fdd01812028583f0f3b3dd4976bf51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978658"/>
            <a:ext cx="4486656" cy="816864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Among the following alkyl halides, which is more reactive towards 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reaction?</a:t>
            </a:r>
          </a:p>
        </p:txBody>
      </p:sp>
      <p:pic>
        <p:nvPicPr>
          <p:cNvPr id="10" name="Picture 9" descr="ec70525e2be5d56997008ed141e17d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31036"/>
            <a:ext cx="847344" cy="5364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Assertion: 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reactions do not proceed with retention. Reason: 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 proceeds in single steps. Identify the correct statement</a:t>
            </a:r>
          </a:p>
        </p:txBody>
      </p:sp>
      <p:pic>
        <p:nvPicPr>
          <p:cNvPr id="10" name="Picture 9" descr="ec70525e2be5d56997008ed141e17d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4160" y="968756"/>
            <a:ext cx="847344" cy="536448"/>
          </a:xfrm>
          <a:prstGeom prst="rect">
            <a:avLst/>
          </a:prstGeom>
        </p:spPr>
      </p:pic>
      <p:pic>
        <p:nvPicPr>
          <p:cNvPr id="11" name="Picture 10" descr="ec70525e2be5d56997008ed141e17d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31036"/>
            <a:ext cx="847344" cy="5364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If both assertion and reason are correct and reason is correct explanation for assertion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If both assertion and reason are correct but reason is not correct explanation for assertion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[C_{6}H_{5}OH]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[C_{6}H_{5}MgCl]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[C_{2}H_{5}CH_{2}MgCl]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[MgCl_{2}]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Prevent the reaction of chloroform with </a:t>
            </a:r>
            <a:r>
              <a:rPr sz="2000" b="0">
                <a:solidFill>
                  <a:srgbClr val="F0F0F0"/>
                </a:solidFill>
                <a:latin typeface="Arial"/>
              </a:rPr>
              <a:t>[CO_{2}]</a:t>
            </a:r>
            <a:r>
              <a:rPr sz="2000" b="0">
                <a:solidFill>
                  <a:srgbClr val="F0F0F0"/>
                </a:solidFill>
                <a:latin typeface="Arial"/>
              </a:rPr>
              <a:t> to form extremely poisonous gas carbonyl chloride.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 points of 24.2°C, 38°C, 3.56°C, and 101.6°C respectively. Among the four compounds, N is most likely to 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[CH_{3}Cl]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[CH_{3}Br]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[C_{2}H_{5}Br]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[C_{3}H_{7}I]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5458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>
                <a:solidFill>
                  <a:srgbClr val="050505"/>
                </a:solidFill>
                <a:latin typeface="Arial"/>
              </a:rPr>
              <a:t>        </a:t>
            </a:r>
            <a:r>
              <a:rPr sz="1600" b="1">
                <a:solidFill>
                  <a:srgbClr val="00B0F0"/>
                </a:solidFill>
                <a:latin typeface="Arial"/>
              </a:rPr>
              <a:t> I</a:t>
            </a:r>
          </a:p>
        </p:txBody>
      </p:sp>
      <p:pic>
        <p:nvPicPr>
          <p:cNvPr id="11" name="Picture 10" descr="62ed5d14e5ea597fb7c03535f7da1bb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860296"/>
            <a:ext cx="1078992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85916" y="1920240"/>
            <a:ext cx="55458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>
                <a:solidFill>
                  <a:srgbClr val="050505"/>
                </a:solidFill>
                <a:latin typeface="Arial"/>
              </a:rPr>
              <a:t>        </a:t>
            </a:r>
            <a:r>
              <a:rPr sz="1600" b="1">
                <a:solidFill>
                  <a:srgbClr val="00B0F0"/>
                </a:solidFill>
                <a:latin typeface="Arial"/>
              </a:rPr>
              <a:t> </a:t>
            </a:r>
            <a:r>
              <a:rPr sz="1600">
                <a:solidFill>
                  <a:srgbClr val="050505"/>
                </a:solidFill>
                <a:latin typeface="Arial"/>
              </a:rPr>
              <a:t>  </a:t>
            </a:r>
          </a:p>
        </p:txBody>
      </p:sp>
      <p:pic>
        <p:nvPicPr>
          <p:cNvPr id="13" name="Picture 12" descr="62ed5d14e5ea597fb7c03535f7da1bb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5916" y="1860296"/>
            <a:ext cx="1078992" cy="384048"/>
          </a:xfrm>
          <a:prstGeom prst="rect">
            <a:avLst/>
          </a:prstGeom>
        </p:spPr>
      </p:pic>
      <p:pic>
        <p:nvPicPr>
          <p:cNvPr id="14" name="Picture 13" descr="9610b2256e2b1845675322fe3b4daaa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6828" y="1860296"/>
            <a:ext cx="304800" cy="38404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(1)  Carbon tetrachloride (</a:t>
            </a:r>
            <a:r>
              <a:rPr sz="1600">
                <a:solidFill>
                  <a:srgbClr val="050505"/>
                </a:solidFill>
                <a:latin typeface="Arial"/>
              </a:rPr>
              <a:t>     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pic>
        <p:nvPicPr>
          <p:cNvPr id="17" name="Picture 16" descr="e8b724e0626e7604ea46d7746d077f6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039" y="2131568"/>
            <a:ext cx="621792" cy="3901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(2)  Iodoform (</a:t>
            </a:r>
            <a:r>
              <a:rPr sz="1600">
                <a:solidFill>
                  <a:srgbClr val="050505"/>
                </a:solidFill>
                <a:latin typeface="Arial"/>
              </a:rPr>
              <a:t>     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pic>
        <p:nvPicPr>
          <p:cNvPr id="19" name="Picture 18" descr="a34cf7159acf854f9d6086d80a67a89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0" y="2591816"/>
            <a:ext cx="633984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(3)  Chloroform (</a:t>
            </a:r>
            <a:r>
              <a:rPr sz="1600">
                <a:solidFill>
                  <a:srgbClr val="050505"/>
                </a:solidFill>
                <a:latin typeface="Arial"/>
              </a:rPr>
              <a:t>      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pic>
        <p:nvPicPr>
          <p:cNvPr id="21" name="Picture 20" descr="55b757e10b064b1e988c0d0a759ba4b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9840" y="3045968"/>
            <a:ext cx="774192" cy="3901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(4)  Methylene chloride (</a:t>
            </a:r>
            <a:r>
              <a:rPr sz="1600">
                <a:solidFill>
                  <a:srgbClr val="050505"/>
                </a:solidFill>
                <a:latin typeface="Arial"/>
              </a:rPr>
              <a:t>       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pic>
        <p:nvPicPr>
          <p:cNvPr id="23" name="Picture 22" descr="56d9f253840327f7de0f4fc0abaece3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05200" y="3503168"/>
            <a:ext cx="871728" cy="3901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185916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(A)  Fire extinguisher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5916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(B)  Antiseptic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5916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(C)  Solvent for fats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5916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(D)  Paint remover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(1)-(A), (2)-(B), (3)-(C), (4)-(D)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(1)-(D), (2)-(C), (3)-(B), (4)-(A)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(1)-(B), (2)-(A), (3)-(D), (4)-(C)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(1)-(C), (2)-(D), (3)-(A), (4)-(B)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R - X + 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 (dry acetone) → </a:t>
            </a:r>
            <a:r>
              <a:rPr sz="2800">
                <a:solidFill>
                  <a:srgbClr val="050505"/>
                </a:solidFill>
                <a:latin typeface="Arial"/>
              </a:rPr>
              <a:t>  </a:t>
            </a:r>
            <a:r>
              <a:rPr sz="2800" b="1">
                <a:solidFill>
                  <a:srgbClr val="FAD02C"/>
                </a:solidFill>
                <a:latin typeface="Arial"/>
              </a:rPr>
              <a:t> + 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, name the reaction</a:t>
            </a:r>
          </a:p>
        </p:txBody>
      </p:sp>
      <p:pic>
        <p:nvPicPr>
          <p:cNvPr id="10" name="Picture 9" descr="b334b0e3eb2ee563afcf196ad752823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4080" y="968756"/>
            <a:ext cx="774192" cy="536448"/>
          </a:xfrm>
          <a:prstGeom prst="rect">
            <a:avLst/>
          </a:prstGeom>
        </p:spPr>
      </p:pic>
      <p:pic>
        <p:nvPicPr>
          <p:cNvPr id="11" name="Picture 10" descr="0f3bfcf1241213ead23690f1b25f14a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5392" y="968756"/>
            <a:ext cx="536448" cy="536448"/>
          </a:xfrm>
          <a:prstGeom prst="rect">
            <a:avLst/>
          </a:prstGeom>
        </p:spPr>
      </p:pic>
      <p:pic>
        <p:nvPicPr>
          <p:cNvPr id="12" name="Picture 11" descr="1d06aba3c73dc877a0994a7eccfb8fa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1920" y="968756"/>
            <a:ext cx="914400" cy="5364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Swartz reaction - </a:t>
            </a:r>
            <a:r>
              <a:rPr sz="2000" b="0">
                <a:solidFill>
                  <a:srgbClr val="F0F0F0"/>
                </a:solidFill>
                <a:latin typeface="Arial"/>
              </a:rPr>
              <a:t>[CoF_{2}]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 - </a:t>
            </a:r>
            <a:r>
              <a:rPr sz="2000" b="0">
                <a:solidFill>
                  <a:srgbClr val="F0F0F0"/>
                </a:solidFill>
                <a:latin typeface="Arial"/>
              </a:rPr>
              <a:t>[NaI]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Sandmeyer's reaction - </a:t>
            </a:r>
            <a:r>
              <a:rPr sz="2000" b="0">
                <a:solidFill>
                  <a:srgbClr val="F0F0F0"/>
                </a:solidFill>
                <a:latin typeface="Arial"/>
              </a:rPr>
              <a:t>[CuCl_{2}]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Tertiary alkyl halides are least reactive towards 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 because of</a:t>
            </a:r>
          </a:p>
        </p:txBody>
      </p:sp>
      <p:pic>
        <p:nvPicPr>
          <p:cNvPr id="10" name="Picture 9" descr="ec70525e2be5d56997008ed141e17d5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31036"/>
            <a:ext cx="847344" cy="5364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Concentrated </a:t>
            </a:r>
            <a:r>
              <a:rPr sz="2000" b="0">
                <a:solidFill>
                  <a:srgbClr val="F0F0F0"/>
                </a:solidFill>
                <a:latin typeface="Arial"/>
              </a:rPr>
              <a:t>[HCl]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Concentrated </a:t>
            </a:r>
            <a:r>
              <a:rPr sz="2000" b="0">
                <a:solidFill>
                  <a:srgbClr val="F0F0F0"/>
                </a:solidFill>
                <a:latin typeface="Arial"/>
              </a:rPr>
              <a:t>[HBr]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[SOCl_{2}]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[NaBr]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[SOCl_{2}]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[CH_{2}Cl_{2}]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[COCl_{2}]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[CCl_{4}]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compound 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=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-Cl is an example of</a:t>
            </a:r>
          </a:p>
        </p:txBody>
      </p:sp>
      <p:pic>
        <p:nvPicPr>
          <p:cNvPr id="10" name="Picture 9" descr="1495a7bcc670aafd6efe90e53a432f2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0880" y="968756"/>
            <a:ext cx="871728" cy="536448"/>
          </a:xfrm>
          <a:prstGeom prst="rect">
            <a:avLst/>
          </a:prstGeom>
        </p:spPr>
      </p:pic>
      <p:pic>
        <p:nvPicPr>
          <p:cNvPr id="11" name="Picture 10" descr="917ddb27e64e835fea77bca3c6648d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5968" y="968756"/>
            <a:ext cx="701040" cy="5364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[RF]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[RCl]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[RBr]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[RI]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[RF]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[RI]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[RCl]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[RBr]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[RI]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[RBr]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[RCl]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[RF]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[RCl]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[RBr]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[RF]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</a:t>
            </a:r>
            <a:r>
              <a:rPr sz="2000" b="0">
                <a:solidFill>
                  <a:srgbClr val="F0F0F0"/>
                </a:solidFill>
                <a:latin typeface="Arial"/>
              </a:rPr>
              <a:t>[RI]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 name of ethylidene chloride is</a:t>
            </a:r>
          </a:p>
        </p:txBody>
      </p:sp>
      <p:pic>
        <p:nvPicPr>
          <p:cNvPr id="10" name="Picture 9" descr="f3e8001aa9eabce88ce8fa28334825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0640" y="968756"/>
            <a:ext cx="1237488" cy="5364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reaction 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 + 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 → 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 + 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 is called</a:t>
            </a:r>
          </a:p>
        </p:txBody>
      </p:sp>
      <p:pic>
        <p:nvPicPr>
          <p:cNvPr id="10" name="Picture 9" descr="7c45218cfddd292776ab6f184d7e6e4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0880" y="968756"/>
            <a:ext cx="1261872" cy="536448"/>
          </a:xfrm>
          <a:prstGeom prst="rect">
            <a:avLst/>
          </a:prstGeom>
        </p:spPr>
      </p:pic>
      <p:pic>
        <p:nvPicPr>
          <p:cNvPr id="11" name="Picture 10" descr="a98031219cb162eb160727f037b305b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2832" y="968756"/>
            <a:ext cx="859536" cy="536448"/>
          </a:xfrm>
          <a:prstGeom prst="rect">
            <a:avLst/>
          </a:prstGeom>
        </p:spPr>
      </p:pic>
      <p:pic>
        <p:nvPicPr>
          <p:cNvPr id="12" name="Picture 11" descr="8181ef3caf61f5a6fb3e597c7ebafe1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2448" y="968756"/>
            <a:ext cx="1072896" cy="536448"/>
          </a:xfrm>
          <a:prstGeom prst="rect">
            <a:avLst/>
          </a:prstGeom>
        </p:spPr>
      </p:pic>
      <p:pic>
        <p:nvPicPr>
          <p:cNvPr id="13" name="Picture 12" descr="7be0040648e07cb859c00ea753a5b1c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5423" y="968756"/>
            <a:ext cx="1042415" cy="5364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ddda12a4293809d29b9d61ae5a533d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04544" cy="335280"/>
          </a:xfrm>
          <a:prstGeom prst="rect">
            <a:avLst/>
          </a:prstGeom>
        </p:spPr>
      </p:pic>
      <p:pic>
        <p:nvPicPr>
          <p:cNvPr id="6" name="Picture 5" descr="3bb3dde520953f135910249acede1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44" y="278892"/>
            <a:ext cx="524256" cy="335280"/>
          </a:xfrm>
          <a:prstGeom prst="rect">
            <a:avLst/>
          </a:prstGeom>
        </p:spPr>
      </p:pic>
      <p:pic>
        <p:nvPicPr>
          <p:cNvPr id="7" name="Picture 6" descr="a001c97e155f6aad9f661c96717dc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77012"/>
            <a:ext cx="1219200" cy="335280"/>
          </a:xfrm>
          <a:prstGeom prst="rect">
            <a:avLst/>
          </a:prstGeom>
        </p:spPr>
      </p:pic>
      <p:pic>
        <p:nvPicPr>
          <p:cNvPr id="8" name="Picture 7" descr="simplified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alkyl halides will undergo 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 reaction most readily?</a:t>
            </a:r>
          </a:p>
        </p:txBody>
      </p:sp>
      <p:pic>
        <p:nvPicPr>
          <p:cNvPr id="10" name="Picture 9" descr="faccf7caadeaacb66d515dd7d8c911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31036"/>
            <a:ext cx="847344" cy="5364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(</a:t>
            </a:r>
            <a:r>
              <a:rPr sz="2000" b="0">
                <a:solidFill>
                  <a:srgbClr val="F0F0F0"/>
                </a:solidFill>
                <a:latin typeface="Arial"/>
              </a:rPr>
              <a:t>[CH_{3}]</a:t>
            </a:r>
            <a:r>
              <a:rPr sz="2000" b="0">
                <a:solidFill>
                  <a:srgbClr val="F0F0F0"/>
                </a:solidFill>
                <a:latin typeface="Arial"/>
              </a:rPr>
              <a:t>)3C-F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(</a:t>
            </a:r>
            <a:r>
              <a:rPr sz="2000" b="0">
                <a:solidFill>
                  <a:srgbClr val="F0F0F0"/>
                </a:solidFill>
                <a:latin typeface="Arial"/>
              </a:rPr>
              <a:t>[CH_{3}]</a:t>
            </a:r>
            <a:r>
              <a:rPr sz="2000" b="0">
                <a:solidFill>
                  <a:srgbClr val="F0F0F0"/>
                </a:solidFill>
                <a:latin typeface="Arial"/>
              </a:rPr>
              <a:t>)3C-Cl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(</a:t>
            </a:r>
            <a:r>
              <a:rPr sz="2000" b="0">
                <a:solidFill>
                  <a:srgbClr val="F0F0F0"/>
                </a:solidFill>
                <a:latin typeface="Arial"/>
              </a:rPr>
              <a:t>[CH_{3}]</a:t>
            </a:r>
            <a:r>
              <a:rPr sz="2000" b="0">
                <a:solidFill>
                  <a:srgbClr val="F0F0F0"/>
                </a:solidFill>
                <a:latin typeface="Arial"/>
              </a:rPr>
              <a:t>)3C-Br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(</a:t>
            </a:r>
            <a:r>
              <a:rPr sz="2000" b="0">
                <a:solidFill>
                  <a:srgbClr val="F0F0F0"/>
                </a:solidFill>
                <a:latin typeface="Arial"/>
              </a:rPr>
              <a:t>[CH_{3}]</a:t>
            </a:r>
            <a:r>
              <a:rPr sz="2000" b="0">
                <a:solidFill>
                  <a:srgbClr val="F0F0F0"/>
                </a:solidFill>
                <a:latin typeface="Arial"/>
              </a:rPr>
              <a:t>)3C-I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>
                <a:solidFill>
                  <a:srgbClr val="050505"/>
                </a:solidFill>
                <a:latin typeface="Arial"/>
              </a:rPr>
              <a:t>         </a:t>
            </a:r>
            <a:r>
              <a:rPr sz="5000" b="1">
                <a:solidFill>
                  <a:srgbClr val="FAD02C"/>
                </a:solidFill>
                <a:latin typeface="Arial"/>
              </a:rPr>
              <a:t>, </a:t>
            </a:r>
            <a:r>
              <a:rPr sz="5000">
                <a:solidFill>
                  <a:srgbClr val="050505"/>
                </a:solidFill>
                <a:latin typeface="Arial"/>
              </a:rPr>
              <a:t>        </a:t>
            </a:r>
            <a:r>
              <a:rPr sz="5000" b="1">
                <a:solidFill>
                  <a:srgbClr val="FAD02C"/>
                </a:solidFill>
                <a:latin typeface="Arial"/>
              </a:rPr>
              <a:t> </a:t>
            </a:r>
            <a:r>
              <a:rPr sz="5000">
                <a:solidFill>
                  <a:srgbClr val="050505"/>
                </a:solidFill>
                <a:latin typeface="Arial"/>
              </a:rPr>
              <a:t>    </a:t>
            </a:r>
            <a:r>
              <a:rPr sz="5000" b="1">
                <a:solidFill>
                  <a:srgbClr val="FAD02C"/>
                </a:solidFill>
                <a:latin typeface="Arial"/>
              </a:rPr>
              <a:t> </a:t>
            </a:r>
            <a:r>
              <a:rPr sz="5000">
                <a:solidFill>
                  <a:srgbClr val="050505"/>
                </a:solidFill>
                <a:latin typeface="Arial"/>
              </a:rPr>
              <a:t>       </a:t>
            </a:r>
          </a:p>
        </p:txBody>
      </p:sp>
      <p:pic>
        <p:nvPicPr>
          <p:cNvPr id="5" name="Picture 4" descr="cc907162277c0b25421a79fe82b059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53158"/>
            <a:ext cx="3651504" cy="816864"/>
          </a:xfrm>
          <a:prstGeom prst="rect">
            <a:avLst/>
          </a:prstGeom>
        </p:spPr>
      </p:pic>
      <p:pic>
        <p:nvPicPr>
          <p:cNvPr id="6" name="Picture 5" descr="8c9b765c0c8894ab89f6bbfb9db3bb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871" y="2153158"/>
            <a:ext cx="3182112" cy="816864"/>
          </a:xfrm>
          <a:prstGeom prst="rect">
            <a:avLst/>
          </a:prstGeom>
        </p:spPr>
      </p:pic>
      <p:pic>
        <p:nvPicPr>
          <p:cNvPr id="7" name="Picture 6" descr="75407e984b3c6ad57c1e28c7824918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984" y="2153158"/>
            <a:ext cx="1584960" cy="816864"/>
          </a:xfrm>
          <a:prstGeom prst="rect">
            <a:avLst/>
          </a:prstGeom>
        </p:spPr>
      </p:pic>
      <p:pic>
        <p:nvPicPr>
          <p:cNvPr id="8" name="Picture 7" descr="3c9b38d730cb4d83a6d71b5c4d8236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978658"/>
            <a:ext cx="2700528" cy="816864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 compound P with formula 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 on reaction with 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 in presence of </a:t>
            </a:r>
            <a:r>
              <a:rPr sz="2800">
                <a:solidFill>
                  <a:srgbClr val="050505"/>
                </a:solidFill>
                <a:latin typeface="Arial"/>
              </a:rPr>
              <a:t>      </a:t>
            </a:r>
            <a:r>
              <a:rPr sz="2800" b="1">
                <a:solidFill>
                  <a:srgbClr val="FAD02C"/>
                </a:solidFill>
                <a:latin typeface="Arial"/>
              </a:rPr>
              <a:t> gives the compound Q. Compound Q on heating with Cu at 573K produces the compound R. Compounds P, Q, and R are</a:t>
            </a:r>
          </a:p>
        </p:txBody>
      </p:sp>
      <p:pic>
        <p:nvPicPr>
          <p:cNvPr id="11" name="Picture 10" descr="1ec1429dd3ad7c46d9c7109a1704a95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560" y="968756"/>
            <a:ext cx="1036320" cy="536448"/>
          </a:xfrm>
          <a:prstGeom prst="rect">
            <a:avLst/>
          </a:prstGeom>
        </p:spPr>
      </p:pic>
      <p:pic>
        <p:nvPicPr>
          <p:cNvPr id="12" name="Picture 11" descr="7f4a5a95b67a4b3c0fe2578e2bee04f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431036"/>
            <a:ext cx="902208" cy="536448"/>
          </a:xfrm>
          <a:prstGeom prst="rect">
            <a:avLst/>
          </a:prstGeom>
        </p:spPr>
      </p:pic>
      <p:pic>
        <p:nvPicPr>
          <p:cNvPr id="13" name="Picture 12" descr="b8f017aef34f6fe76f55792db059c0d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3168" y="1431036"/>
            <a:ext cx="1292352" cy="5364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organic compound ‘A' containing C, H, and O has a pleasant odor with a boiling point of 78°C. On boiling ‘A' with conc. </a:t>
            </a:r>
            <a:r>
              <a:rPr sz="2800">
                <a:solidFill>
                  <a:srgbClr val="050505"/>
                </a:solidFill>
                <a:latin typeface="Arial"/>
              </a:rPr>
              <a:t>      </a:t>
            </a:r>
            <a:r>
              <a:rPr sz="2800" b="1">
                <a:solidFill>
                  <a:srgbClr val="FAD02C"/>
                </a:solidFill>
                <a:latin typeface="Arial"/>
              </a:rPr>
              <a:t>, a colorless gas is produced which decolorizes bromine water and alkaline </a:t>
            </a:r>
            <a:r>
              <a:rPr sz="2800">
                <a:solidFill>
                  <a:srgbClr val="050505"/>
                </a:solidFill>
                <a:latin typeface="Arial"/>
              </a:rPr>
              <a:t>      </a:t>
            </a:r>
            <a:r>
              <a:rPr sz="2800" b="1">
                <a:solidFill>
                  <a:srgbClr val="FAD02C"/>
                </a:solidFill>
                <a:latin typeface="Arial"/>
              </a:rPr>
              <a:t>. The organic compound A is</a:t>
            </a:r>
          </a:p>
        </p:txBody>
      </p:sp>
      <p:pic>
        <p:nvPicPr>
          <p:cNvPr id="11" name="Picture 10" descr="b8f017aef34f6fe76f55792db059c0d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431036"/>
            <a:ext cx="1292352" cy="536448"/>
          </a:xfrm>
          <a:prstGeom prst="rect">
            <a:avLst/>
          </a:prstGeom>
        </p:spPr>
      </p:pic>
      <p:pic>
        <p:nvPicPr>
          <p:cNvPr id="12" name="Picture 11" descr="8e176fec96a58230ab303319f683aab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893316"/>
            <a:ext cx="1402080" cy="5364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[C_{2}H_{5}Cl]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[C_{2}H_{5}OH]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[C_{2}H_{5}COOCH_{3}]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[C_{6}H_{6}]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Find out the product of the following reaction: (Reaction involving 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, 623K, 300 atm)</a:t>
            </a:r>
          </a:p>
        </p:txBody>
      </p:sp>
      <p:pic>
        <p:nvPicPr>
          <p:cNvPr id="11" name="Picture 10" descr="50c3b95e46ec2ac60bf5290ecd01784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431036"/>
            <a:ext cx="1219200" cy="5364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Highly deactivating effect of -</a:t>
            </a:r>
            <a:r>
              <a:rPr sz="2000" b="0">
                <a:solidFill>
                  <a:srgbClr val="F0F0F0"/>
                </a:solidFill>
                <a:latin typeface="Arial"/>
              </a:rPr>
              <a:t>[OH]</a:t>
            </a:r>
            <a:r>
              <a:rPr sz="2000" b="0">
                <a:solidFill>
                  <a:srgbClr val="F0F0F0"/>
                </a:solidFill>
                <a:latin typeface="Arial"/>
              </a:rPr>
              <a:t> group attached to the benzene 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Highly activating effect of -</a:t>
            </a:r>
            <a:r>
              <a:rPr sz="2000" b="0">
                <a:solidFill>
                  <a:srgbClr val="F0F0F0"/>
                </a:solidFill>
                <a:latin typeface="Arial"/>
              </a:rPr>
              <a:t>[OH]</a:t>
            </a:r>
            <a:r>
              <a:rPr sz="2000" b="0">
                <a:solidFill>
                  <a:srgbClr val="F0F0F0"/>
                </a:solidFill>
                <a:latin typeface="Arial"/>
              </a:rPr>
              <a:t> group attached to the benzene 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How many alcohols with molecular formula </a:t>
            </a:r>
            <a:r>
              <a:rPr sz="2800">
                <a:solidFill>
                  <a:srgbClr val="050505"/>
                </a:solidFill>
                <a:latin typeface="Arial"/>
              </a:rPr>
              <a:t>      </a:t>
            </a:r>
            <a:r>
              <a:rPr sz="2800" b="1">
                <a:solidFill>
                  <a:srgbClr val="FAD02C"/>
                </a:solidFill>
                <a:latin typeface="Arial"/>
              </a:rPr>
              <a:t> are chiral in nature?</a:t>
            </a:r>
          </a:p>
        </p:txBody>
      </p:sp>
      <p:pic>
        <p:nvPicPr>
          <p:cNvPr id="11" name="Picture 10" descr="43e210ceccad0e04ed9010d7816eaf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4960" y="968756"/>
            <a:ext cx="1475232" cy="5364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[CH_{3}OC_{2}H_{5}]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[C_{2}H_{5}OC_{6}H_{5}]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[C_{6}H_{5}OC_{6}H_{5}]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[C_{6}H_{5}OCH_{3}]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Three -</a:t>
            </a:r>
            <a:r>
              <a:rPr sz="2000" b="0">
                <a:solidFill>
                  <a:srgbClr val="F0F0F0"/>
                </a:solidFill>
                <a:latin typeface="Arial"/>
              </a:rPr>
              <a:t>[OH]</a:t>
            </a:r>
            <a:r>
              <a:rPr sz="2000" b="0">
                <a:solidFill>
                  <a:srgbClr val="F0F0F0"/>
                </a:solidFill>
                <a:latin typeface="Arial"/>
              </a:rPr>
              <a:t> groups are present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Two -</a:t>
            </a:r>
            <a:r>
              <a:rPr sz="2000" b="0">
                <a:solidFill>
                  <a:srgbClr val="F0F0F0"/>
                </a:solidFill>
                <a:latin typeface="Arial"/>
              </a:rPr>
              <a:t>[OH]</a:t>
            </a:r>
            <a:r>
              <a:rPr sz="2000" b="0">
                <a:solidFill>
                  <a:srgbClr val="F0F0F0"/>
                </a:solidFill>
                <a:latin typeface="Arial"/>
              </a:rPr>
              <a:t> groups are present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Three -</a:t>
            </a:r>
            <a:r>
              <a:rPr sz="2000" b="0">
                <a:solidFill>
                  <a:srgbClr val="F0F0F0"/>
                </a:solidFill>
                <a:latin typeface="Arial"/>
              </a:rPr>
              <a:t>[NO_{2}]</a:t>
            </a:r>
            <a:r>
              <a:rPr sz="2000" b="0">
                <a:solidFill>
                  <a:srgbClr val="F0F0F0"/>
                </a:solidFill>
                <a:latin typeface="Arial"/>
              </a:rPr>
              <a:t> groups are present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One -</a:t>
            </a:r>
            <a:r>
              <a:rPr sz="2000" b="0">
                <a:solidFill>
                  <a:srgbClr val="F0F0F0"/>
                </a:solidFill>
                <a:latin typeface="Arial"/>
              </a:rPr>
              <a:t>[NO_{2}]</a:t>
            </a:r>
            <a:r>
              <a:rPr sz="2000" b="0">
                <a:solidFill>
                  <a:srgbClr val="F0F0F0"/>
                </a:solidFill>
                <a:latin typeface="Arial"/>
              </a:rPr>
              <a:t> group is present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 respectively. Compound P, Q, and R 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[CuSO_{4}]</a:t>
            </a:r>
            <a:r>
              <a:rPr sz="2000" b="0">
                <a:solidFill>
                  <a:srgbClr val="F0F0F0"/>
                </a:solidFill>
                <a:latin typeface="Arial"/>
              </a:rPr>
              <a:t> and Pyrolidine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[Cu_{2}S]</a:t>
            </a:r>
            <a:r>
              <a:rPr sz="2000" b="0">
                <a:solidFill>
                  <a:srgbClr val="F0F0F0"/>
                </a:solidFill>
                <a:latin typeface="Arial"/>
              </a:rPr>
              <a:t> and Pyrolidine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[CuSO_{4}]</a:t>
            </a:r>
            <a:r>
              <a:rPr sz="2000" b="0">
                <a:solidFill>
                  <a:srgbClr val="F0F0F0"/>
                </a:solidFill>
                <a:latin typeface="Arial"/>
              </a:rPr>
              <a:t> and Pyridine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[Cu_{2}S]</a:t>
            </a:r>
            <a:r>
              <a:rPr sz="2000" b="0">
                <a:solidFill>
                  <a:srgbClr val="F0F0F0"/>
                </a:solidFill>
                <a:latin typeface="Arial"/>
              </a:rPr>
              <a:t> and Pyridine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correct order of acid strength of the following compounds is: (i) o-bromophenol (ii) p-bromophenol (iii) picric acid (2,4,6-trinitrophenol) (iv) 2,4,6-tribromophenol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high boiling point of ethanol [</a:t>
            </a:r>
            <a:r>
              <a:rPr sz="2800">
                <a:solidFill>
                  <a:srgbClr val="050505"/>
                </a:solidFill>
                <a:latin typeface="Arial"/>
              </a:rPr>
              <a:t>       </a:t>
            </a:r>
            <a:r>
              <a:rPr sz="2800" b="1">
                <a:solidFill>
                  <a:srgbClr val="FAD02C"/>
                </a:solidFill>
                <a:latin typeface="Arial"/>
              </a:rPr>
              <a:t>] compared to methoxy methane [</a:t>
            </a:r>
            <a:r>
              <a:rPr sz="2800">
                <a:solidFill>
                  <a:srgbClr val="050505"/>
                </a:solidFill>
                <a:latin typeface="Arial"/>
              </a:rPr>
              <a:t>        </a:t>
            </a:r>
            <a:r>
              <a:rPr sz="2800" b="1">
                <a:solidFill>
                  <a:srgbClr val="FAD02C"/>
                </a:solidFill>
                <a:latin typeface="Arial"/>
              </a:rPr>
              <a:t>] and propane is due to</a:t>
            </a:r>
          </a:p>
        </p:txBody>
      </p:sp>
      <p:pic>
        <p:nvPicPr>
          <p:cNvPr id="11" name="Picture 10" descr="2755e13638df11e4865f75b23f087a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4799" y="968756"/>
            <a:ext cx="1584960" cy="536448"/>
          </a:xfrm>
          <a:prstGeom prst="rect">
            <a:avLst/>
          </a:prstGeom>
        </p:spPr>
      </p:pic>
      <p:pic>
        <p:nvPicPr>
          <p:cNvPr id="12" name="Picture 11" descr="24c2dfca4348770e37f3cbef2ac0637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431036"/>
            <a:ext cx="1834896" cy="5364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role of 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 in Kolbe's reaction is</a:t>
            </a:r>
          </a:p>
        </p:txBody>
      </p:sp>
      <p:pic>
        <p:nvPicPr>
          <p:cNvPr id="11" name="Picture 10" descr="8dc18b689ef861e026925eec0680007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7520" y="968756"/>
            <a:ext cx="883920" cy="5364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, </a:t>
            </a:r>
            <a:r>
              <a:rPr sz="1200">
                <a:solidFill>
                  <a:srgbClr val="050505"/>
                </a:solidFill>
                <a:latin typeface="Arial"/>
              </a:rPr>
              <a:t>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</a:t>
            </a:r>
          </a:p>
        </p:txBody>
      </p:sp>
      <p:pic>
        <p:nvPicPr>
          <p:cNvPr id="5" name="Picture 4" descr="2187887ece793458688573f9d284a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018032" cy="335280"/>
          </a:xfrm>
          <a:prstGeom prst="rect">
            <a:avLst/>
          </a:prstGeom>
        </p:spPr>
      </p:pic>
      <p:pic>
        <p:nvPicPr>
          <p:cNvPr id="6" name="Picture 5" descr="320cb32079fd77152de7bfe26670eb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272" y="278892"/>
            <a:ext cx="902208" cy="335280"/>
          </a:xfrm>
          <a:prstGeom prst="rect">
            <a:avLst/>
          </a:prstGeom>
        </p:spPr>
      </p:pic>
      <p:pic>
        <p:nvPicPr>
          <p:cNvPr id="7" name="Picture 6" descr="3bb3dde520953f135910249acede11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278892"/>
            <a:ext cx="524256" cy="335280"/>
          </a:xfrm>
          <a:prstGeom prst="rect">
            <a:avLst/>
          </a:prstGeom>
        </p:spPr>
      </p:pic>
      <p:pic>
        <p:nvPicPr>
          <p:cNvPr id="8" name="Picture 7" descr="47ab8936f5c857e50074682f99a56d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7012"/>
            <a:ext cx="786384" cy="335280"/>
          </a:xfrm>
          <a:prstGeom prst="rect">
            <a:avLst/>
          </a:prstGeom>
        </p:spPr>
      </p:pic>
      <p:pic>
        <p:nvPicPr>
          <p:cNvPr id="9" name="Picture 8" descr="simplified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>
                <a:solidFill>
                  <a:srgbClr val="050505"/>
                </a:solidFill>
                <a:latin typeface="Arial"/>
              </a:rPr>
              <a:t>             </a:t>
            </a:r>
            <a:r>
              <a:rPr sz="5000" b="1">
                <a:solidFill>
                  <a:srgbClr val="FAD02C"/>
                </a:solidFill>
                <a:latin typeface="Arial"/>
              </a:rPr>
              <a:t> </a:t>
            </a:r>
            <a:r>
              <a:rPr sz="5000">
                <a:solidFill>
                  <a:srgbClr val="050505"/>
                </a:solidFill>
                <a:latin typeface="Arial"/>
              </a:rPr>
              <a:t>           </a:t>
            </a:r>
          </a:p>
        </p:txBody>
      </p:sp>
      <p:pic>
        <p:nvPicPr>
          <p:cNvPr id="5" name="Picture 4" descr="a88bed4219d06f69dcac4e258123cf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53158"/>
            <a:ext cx="5157216" cy="816864"/>
          </a:xfrm>
          <a:prstGeom prst="rect">
            <a:avLst/>
          </a:prstGeom>
        </p:spPr>
      </p:pic>
      <p:pic>
        <p:nvPicPr>
          <p:cNvPr id="6" name="Picture 5" descr="78951bc3fb5049af6c51836404bfbc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584" y="2153158"/>
            <a:ext cx="4389120" cy="816864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[F^{-}]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[NH_{3}]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[H_{2}O]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[CO]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[Cl^{-}]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[CN]</a:t>
            </a:r>
            <a:r>
              <a:rPr sz="2000" b="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[OH]</a:t>
            </a:r>
            <a:r>
              <a:rPr sz="2000" b="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[NO_{2}]</a:t>
            </a:r>
            <a:r>
              <a:rPr sz="2000" b="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[CO]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[CN]</a:t>
            </a:r>
            <a:r>
              <a:rPr sz="2000" b="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[NO_{3}]</a:t>
            </a:r>
            <a:r>
              <a:rPr sz="2000" b="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[SO_{42}]</a:t>
            </a:r>
            <a:r>
              <a:rPr sz="2000" b="0">
                <a:solidFill>
                  <a:srgbClr val="F0F0F0"/>
                </a:solidFill>
                <a:latin typeface="Arial"/>
              </a:rPr>
              <a:t>-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Cobalt (</a:t>
            </a:r>
            <a:r>
              <a:rPr sz="2800">
                <a:solidFill>
                  <a:srgbClr val="050505"/>
                </a:solidFill>
                <a:latin typeface="Arial"/>
              </a:rPr>
              <a:t>  </a:t>
            </a:r>
            <a:r>
              <a:rPr sz="2800" b="1">
                <a:solidFill>
                  <a:srgbClr val="FAD02C"/>
                </a:solidFill>
                <a:latin typeface="Arial"/>
              </a:rPr>
              <a:t>) chloride forms several octahedral complexes with ammonia. Which of the following will not give a test for chloride ion with silver nitrate solution?</a:t>
            </a:r>
          </a:p>
        </p:txBody>
      </p:sp>
      <p:pic>
        <p:nvPicPr>
          <p:cNvPr id="9" name="Picture 8" descr="61074ea98e884e4f6412d3fbc5f5cb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4080" y="968756"/>
            <a:ext cx="499871" cy="5364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[CoCl_{3}]</a:t>
            </a:r>
            <a:r>
              <a:rPr sz="2000" b="0">
                <a:solidFill>
                  <a:srgbClr val="F0F0F0"/>
                </a:solidFill>
                <a:latin typeface="Arial"/>
              </a:rPr>
              <a:t>.4NH3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[CoCl_{3}]</a:t>
            </a:r>
            <a:r>
              <a:rPr sz="2000" b="0">
                <a:solidFill>
                  <a:srgbClr val="F0F0F0"/>
                </a:solidFill>
                <a:latin typeface="Arial"/>
              </a:rPr>
              <a:t>.5NH3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[CoCl_{3}]</a:t>
            </a:r>
            <a:r>
              <a:rPr sz="2000" b="0">
                <a:solidFill>
                  <a:srgbClr val="F0F0F0"/>
                </a:solidFill>
                <a:latin typeface="Arial"/>
              </a:rPr>
              <a:t>.6NH3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[CoCl_{3}]</a:t>
            </a:r>
            <a:r>
              <a:rPr sz="2000" b="0">
                <a:solidFill>
                  <a:srgbClr val="F0F0F0"/>
                </a:solidFill>
                <a:latin typeface="Arial"/>
              </a:rPr>
              <a:t>.3NH3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If </a:t>
            </a:r>
            <a:r>
              <a:rPr sz="2800">
                <a:solidFill>
                  <a:srgbClr val="050505"/>
                </a:solidFill>
                <a:latin typeface="Arial"/>
              </a:rPr>
              <a:t>  </a:t>
            </a:r>
            <a:r>
              <a:rPr sz="2800" b="1">
                <a:solidFill>
                  <a:srgbClr val="FAD02C"/>
                </a:solidFill>
                <a:latin typeface="Arial"/>
              </a:rPr>
              <a:t>&lt;P (Pairing energy), for the </a:t>
            </a:r>
            <a:r>
              <a:rPr sz="2800">
                <a:solidFill>
                  <a:srgbClr val="050505"/>
                </a:solidFill>
                <a:latin typeface="Arial"/>
              </a:rPr>
              <a:t>  </a:t>
            </a:r>
            <a:r>
              <a:rPr sz="2800" b="1">
                <a:solidFill>
                  <a:srgbClr val="FAD02C"/>
                </a:solidFill>
                <a:latin typeface="Arial"/>
              </a:rPr>
              <a:t> ion, an entry of the 4th electron gives the configuration</a:t>
            </a:r>
          </a:p>
        </p:txBody>
      </p:sp>
      <p:pic>
        <p:nvPicPr>
          <p:cNvPr id="9" name="Picture 8" descr="568483403351303e20b0d6ab3619cf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968756"/>
            <a:ext cx="597408" cy="536448"/>
          </a:xfrm>
          <a:prstGeom prst="rect">
            <a:avLst/>
          </a:prstGeom>
        </p:spPr>
      </p:pic>
      <p:pic>
        <p:nvPicPr>
          <p:cNvPr id="10" name="Picture 9" descr="4b9bb79908f6daae58f7a3c96e394d7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27" y="938276"/>
            <a:ext cx="603504" cy="597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[t_{2g}^{2}]</a:t>
            </a:r>
            <a:r>
              <a:rPr sz="2000" b="0">
                <a:solidFill>
                  <a:srgbClr val="F0F0F0"/>
                </a:solidFill>
                <a:latin typeface="Arial"/>
              </a:rPr>
              <a:t>e2g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[t_{2g}^{4}]</a:t>
            </a:r>
            <a:r>
              <a:rPr sz="2000" b="0">
                <a:solidFill>
                  <a:srgbClr val="F0F0F0"/>
                </a:solidFill>
                <a:latin typeface="Arial"/>
              </a:rPr>
              <a:t>e0g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[t_{2g}^{4}]</a:t>
            </a:r>
            <a:r>
              <a:rPr sz="2000" b="0">
                <a:solidFill>
                  <a:srgbClr val="F0F0F0"/>
                </a:solidFill>
                <a:latin typeface="Arial"/>
              </a:rPr>
              <a:t> </a:t>
            </a:r>
            <a:r>
              <a:rPr sz="2000" b="0">
                <a:solidFill>
                  <a:srgbClr val="F0F0F0"/>
                </a:solidFill>
                <a:latin typeface="Arial"/>
              </a:rPr>
              <a:t>[e_g^{0}]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[t_{2g}^{3}]</a:t>
            </a:r>
            <a:r>
              <a:rPr sz="2000" b="0">
                <a:solidFill>
                  <a:srgbClr val="F0F0F0"/>
                </a:solidFill>
                <a:latin typeface="Arial"/>
              </a:rPr>
              <a:t> </a:t>
            </a:r>
            <a:r>
              <a:rPr sz="2000" b="0">
                <a:solidFill>
                  <a:srgbClr val="F0F0F0"/>
                </a:solidFill>
                <a:latin typeface="Arial"/>
              </a:rPr>
              <a:t>[e_g^{1}]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coordination compound [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(en)2]Br, the primary and secondary valencies of Co are</a:t>
            </a:r>
          </a:p>
        </p:txBody>
      </p:sp>
      <p:pic>
        <p:nvPicPr>
          <p:cNvPr id="9" name="Picture 8" descr="8953eccd0c0abe531eb0ba891e33a6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4560" y="965708"/>
            <a:ext cx="1164336" cy="542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Fe(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)5, Fe-C bond processes involve</a:t>
            </a:r>
          </a:p>
        </p:txBody>
      </p:sp>
      <p:pic>
        <p:nvPicPr>
          <p:cNvPr id="9" name="Picture 8" descr="9bf72d4eaba51a6a359c5b13041860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968756"/>
            <a:ext cx="713232" cy="5364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[\pi]</a:t>
            </a:r>
            <a:r>
              <a:rPr sz="2000" b="0">
                <a:solidFill>
                  <a:srgbClr val="F0F0F0"/>
                </a:solidFill>
                <a:latin typeface="Arial"/>
              </a:rPr>
              <a:t>-character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</a:t>
            </a:r>
            <a:r>
              <a:rPr sz="2000" b="0">
                <a:solidFill>
                  <a:srgbClr val="F0F0F0"/>
                </a:solidFill>
                <a:latin typeface="Arial"/>
              </a:rPr>
              <a:t>[\sigma]</a:t>
            </a:r>
            <a:r>
              <a:rPr sz="2000" b="0">
                <a:solidFill>
                  <a:srgbClr val="F0F0F0"/>
                </a:solidFill>
                <a:latin typeface="Arial"/>
              </a:rPr>
              <a:t>- and </a:t>
            </a:r>
            <a:r>
              <a:rPr sz="2000" b="0">
                <a:solidFill>
                  <a:srgbClr val="F0F0F0"/>
                </a:solidFill>
                <a:latin typeface="Arial"/>
              </a:rPr>
              <a:t>[\pi]</a:t>
            </a:r>
            <a:r>
              <a:rPr sz="2000" b="0">
                <a:solidFill>
                  <a:srgbClr val="F0F0F0"/>
                </a:solidFill>
                <a:latin typeface="Arial"/>
              </a:rPr>
              <a:t>-characters.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[\sigma]</a:t>
            </a:r>
            <a:r>
              <a:rPr sz="2000" b="0">
                <a:solidFill>
                  <a:srgbClr val="F0F0F0"/>
                </a:solidFill>
                <a:latin typeface="Arial"/>
              </a:rPr>
              <a:t>-character.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Filled d-orbital of metal to vacant antibonding </a:t>
            </a:r>
            <a:r>
              <a:rPr sz="2000" b="0">
                <a:solidFill>
                  <a:srgbClr val="F0F0F0"/>
                </a:solidFill>
                <a:latin typeface="Arial"/>
              </a:rPr>
              <a:t>[\pi]</a:t>
            </a:r>
            <a:r>
              <a:rPr sz="2000" b="0">
                <a:solidFill>
                  <a:srgbClr val="F0F0F0"/>
                </a:solidFill>
                <a:latin typeface="Arial"/>
              </a:rPr>
              <a:t> orbital of </a:t>
            </a:r>
            <a:r>
              <a:rPr sz="2000" b="0">
                <a:solidFill>
                  <a:srgbClr val="F0F0F0"/>
                </a:solidFill>
                <a:latin typeface="Arial"/>
              </a:rPr>
              <a:t>[CO]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Filled d-orbital of metal to vacant bonding </a:t>
            </a:r>
            <a:r>
              <a:rPr sz="2000" b="0">
                <a:solidFill>
                  <a:srgbClr val="F0F0F0"/>
                </a:solidFill>
                <a:latin typeface="Arial"/>
              </a:rPr>
              <a:t>[\pi]</a:t>
            </a:r>
            <a:r>
              <a:rPr sz="2000" b="0">
                <a:solidFill>
                  <a:srgbClr val="F0F0F0"/>
                </a:solidFill>
                <a:latin typeface="Arial"/>
              </a:rPr>
              <a:t> orbital of </a:t>
            </a:r>
            <a:r>
              <a:rPr sz="2000" b="0">
                <a:solidFill>
                  <a:srgbClr val="F0F0F0"/>
                </a:solidFill>
                <a:latin typeface="Arial"/>
              </a:rPr>
              <a:t>[CO]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 name of [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(en)2ONO] Br is</a:t>
            </a:r>
          </a:p>
        </p:txBody>
      </p:sp>
      <p:pic>
        <p:nvPicPr>
          <p:cNvPr id="9" name="Picture 8" descr="f3e8001aa9eabce88ce8fa28334825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68756"/>
            <a:ext cx="1237488" cy="536448"/>
          </a:xfrm>
          <a:prstGeom prst="rect">
            <a:avLst/>
          </a:prstGeom>
        </p:spPr>
      </p:pic>
      <p:pic>
        <p:nvPicPr>
          <p:cNvPr id="10" name="Picture 9" descr="4d291c1e896100433b1fea503f36bee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8288" y="965708"/>
            <a:ext cx="999743" cy="5425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ChloridoethylenediaminenitroCobalt (</a:t>
            </a:r>
            <a:r>
              <a:rPr sz="2000" b="0">
                <a:solidFill>
                  <a:srgbClr val="F0F0F0"/>
                </a:solidFill>
                <a:latin typeface="Arial"/>
              </a:rPr>
              <a:t>[III]</a:t>
            </a:r>
            <a:r>
              <a:rPr sz="2000" b="0">
                <a:solidFill>
                  <a:srgbClr val="F0F0F0"/>
                </a:solidFill>
                <a:latin typeface="Arial"/>
              </a:rPr>
              <a:t>) Bromide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ChloridoethylenediaminenitroCobaltate (</a:t>
            </a:r>
            <a:r>
              <a:rPr sz="2000" b="0">
                <a:solidFill>
                  <a:srgbClr val="F0F0F0"/>
                </a:solidFill>
                <a:latin typeface="Arial"/>
              </a:rPr>
              <a:t>[III]</a:t>
            </a:r>
            <a:r>
              <a:rPr sz="2000" b="0">
                <a:solidFill>
                  <a:srgbClr val="F0F0F0"/>
                </a:solidFill>
                <a:latin typeface="Arial"/>
              </a:rPr>
              <a:t>) Bromide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Chloridobis(ethylenediamine)nitritoCobaltate(</a:t>
            </a:r>
            <a:r>
              <a:rPr sz="2000" b="0">
                <a:solidFill>
                  <a:srgbClr val="F0F0F0"/>
                </a:solidFill>
                <a:latin typeface="Arial"/>
              </a:rPr>
              <a:t>[III]</a:t>
            </a:r>
            <a:r>
              <a:rPr sz="2000" b="0">
                <a:solidFill>
                  <a:srgbClr val="F0F0F0"/>
                </a:solidFill>
                <a:latin typeface="Arial"/>
              </a:rPr>
              <a:t>) Bromide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Chloridobis(ethylenediamine)nitritoCobalt (</a:t>
            </a:r>
            <a:r>
              <a:rPr sz="2000" b="0">
                <a:solidFill>
                  <a:srgbClr val="F0F0F0"/>
                </a:solidFill>
                <a:latin typeface="Arial"/>
              </a:rPr>
              <a:t>[III]</a:t>
            </a:r>
            <a:r>
              <a:rPr sz="2000" b="0">
                <a:solidFill>
                  <a:srgbClr val="F0F0F0"/>
                </a:solidFill>
                <a:latin typeface="Arial"/>
              </a:rPr>
              <a:t>) Bromide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Square planar complex of the type [</a:t>
            </a:r>
            <a:r>
              <a:rPr sz="2800">
                <a:solidFill>
                  <a:srgbClr val="050505"/>
                </a:solidFill>
                <a:latin typeface="Arial"/>
              </a:rPr>
              <a:t>      </a:t>
            </a:r>
            <a:r>
              <a:rPr sz="2800" b="1">
                <a:solidFill>
                  <a:srgbClr val="FAD02C"/>
                </a:solidFill>
                <a:latin typeface="Arial"/>
              </a:rPr>
              <a:t>] (where A, B, X, L are unidentate) shows</a:t>
            </a:r>
          </a:p>
        </p:txBody>
      </p:sp>
      <p:pic>
        <p:nvPicPr>
          <p:cNvPr id="9" name="Picture 8" descr="74305aac48d7d7b015a14e642895c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799" y="968756"/>
            <a:ext cx="1420368" cy="5364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Square planar complex of the type </a:t>
            </a:r>
            <a:r>
              <a:rPr sz="2800">
                <a:solidFill>
                  <a:srgbClr val="050505"/>
                </a:solidFill>
                <a:latin typeface="Arial"/>
              </a:rPr>
              <a:t>      </a:t>
            </a:r>
            <a:r>
              <a:rPr sz="2800" b="1">
                <a:solidFill>
                  <a:srgbClr val="FAD02C"/>
                </a:solidFill>
                <a:latin typeface="Arial"/>
              </a:rPr>
              <a:t> (where A, B, X, L are unidentates) shows three isomers. Among them</a:t>
            </a:r>
          </a:p>
        </p:txBody>
      </p:sp>
      <p:pic>
        <p:nvPicPr>
          <p:cNvPr id="9" name="Picture 8" descr="74305aac48d7d7b015a14e642895c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1440" y="968756"/>
            <a:ext cx="1420368" cy="5364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bond between 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 and metal in metal carbonyl is stronger due to</a:t>
            </a:r>
          </a:p>
        </p:txBody>
      </p:sp>
      <p:pic>
        <p:nvPicPr>
          <p:cNvPr id="9" name="Picture 8" descr="9bf72d4eaba51a6a359c5b13041860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4320" y="968756"/>
            <a:ext cx="713232" cy="5364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Only </a:t>
            </a:r>
            <a:r>
              <a:rPr sz="2000" b="0">
                <a:solidFill>
                  <a:srgbClr val="F0F0F0"/>
                </a:solidFill>
                <a:latin typeface="Arial"/>
              </a:rPr>
              <a:t>[\sigma]</a:t>
            </a:r>
            <a:r>
              <a:rPr sz="2000" b="0">
                <a:solidFill>
                  <a:srgbClr val="F0F0F0"/>
                </a:solidFill>
                <a:latin typeface="Arial"/>
              </a:rPr>
              <a:t> bond 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Ambidentate nature of </a:t>
            </a:r>
            <a:r>
              <a:rPr sz="2000" b="0">
                <a:solidFill>
                  <a:srgbClr val="F0F0F0"/>
                </a:solidFill>
                <a:latin typeface="Arial"/>
              </a:rPr>
              <a:t>[CO]</a:t>
            </a:r>
            <a:r>
              <a:rPr sz="2000" b="0">
                <a:solidFill>
                  <a:srgbClr val="F0F0F0"/>
                </a:solidFill>
                <a:latin typeface="Arial"/>
              </a:rPr>
              <a:t> ligand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 [Pt (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)2Cl2] exhibits</a:t>
            </a:r>
          </a:p>
        </p:txBody>
      </p:sp>
      <p:pic>
        <p:nvPicPr>
          <p:cNvPr id="9" name="Picture 8" descr="43de2dbf77e9c5dda09a4b4825cab5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4320" y="968756"/>
            <a:ext cx="890016" cy="5364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 [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.4NH3Br2] is treated with excess of </a:t>
            </a:r>
            <a:r>
              <a:rPr sz="2800">
                <a:solidFill>
                  <a:srgbClr val="050505"/>
                </a:solidFill>
                <a:latin typeface="Arial"/>
              </a:rPr>
              <a:t>      </a:t>
            </a:r>
            <a:r>
              <a:rPr sz="2800" b="1">
                <a:solidFill>
                  <a:srgbClr val="FAD02C"/>
                </a:solidFill>
                <a:latin typeface="Arial"/>
              </a:rPr>
              <a:t> solution, and two moles of 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 is precipitated. The primary and secondary valency of this complex is</a:t>
            </a:r>
          </a:p>
        </p:txBody>
      </p:sp>
      <p:pic>
        <p:nvPicPr>
          <p:cNvPr id="9" name="Picture 8" descr="dc174b33fe0f93003cbc04267139426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0880" y="965708"/>
            <a:ext cx="1054608" cy="542544"/>
          </a:xfrm>
          <a:prstGeom prst="rect">
            <a:avLst/>
          </a:prstGeom>
        </p:spPr>
      </p:pic>
      <p:pic>
        <p:nvPicPr>
          <p:cNvPr id="10" name="Picture 9" descr="90171d57b0cff9e424a8f88c5e641b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31036"/>
            <a:ext cx="1371600" cy="536448"/>
          </a:xfrm>
          <a:prstGeom prst="rect">
            <a:avLst/>
          </a:prstGeom>
        </p:spPr>
      </p:pic>
      <p:pic>
        <p:nvPicPr>
          <p:cNvPr id="11" name="Picture 10" descr="7be0040648e07cb859c00ea753a5b1c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2880" y="1431036"/>
            <a:ext cx="1042415" cy="5364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 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.4NH3Br2 is treated with excess of </a:t>
            </a:r>
            <a:r>
              <a:rPr sz="2800">
                <a:solidFill>
                  <a:srgbClr val="050505"/>
                </a:solidFill>
                <a:latin typeface="Arial"/>
              </a:rPr>
              <a:t>      </a:t>
            </a:r>
            <a:r>
              <a:rPr sz="2800" b="1">
                <a:solidFill>
                  <a:srgbClr val="FAD02C"/>
                </a:solidFill>
                <a:latin typeface="Arial"/>
              </a:rPr>
              <a:t> solution, two mole of 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 is precipitated. The primary and secondary valence of this complex is</a:t>
            </a:r>
          </a:p>
        </p:txBody>
      </p:sp>
      <p:pic>
        <p:nvPicPr>
          <p:cNvPr id="9" name="Picture 8" descr="dc174b33fe0f93003cbc04267139426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965708"/>
            <a:ext cx="1054608" cy="542544"/>
          </a:xfrm>
          <a:prstGeom prst="rect">
            <a:avLst/>
          </a:prstGeom>
        </p:spPr>
      </p:pic>
      <p:pic>
        <p:nvPicPr>
          <p:cNvPr id="10" name="Picture 9" descr="90171d57b0cff9e424a8f88c5e641b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31036"/>
            <a:ext cx="1371600" cy="536448"/>
          </a:xfrm>
          <a:prstGeom prst="rect">
            <a:avLst/>
          </a:prstGeom>
        </p:spPr>
      </p:pic>
      <p:pic>
        <p:nvPicPr>
          <p:cNvPr id="11" name="Picture 10" descr="7be0040648e07cb859c00ea753a5b1c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6080" y="1431036"/>
            <a:ext cx="1042415" cy="5364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complexes [Co (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)6] [Cr (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)6] and [Cr (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)6] [Co (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)6] are examples of which type of isomerism?</a:t>
            </a:r>
          </a:p>
        </p:txBody>
      </p:sp>
      <p:pic>
        <p:nvPicPr>
          <p:cNvPr id="9" name="Picture 8" descr="43de2dbf77e9c5dda09a4b4825cab5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040" y="968756"/>
            <a:ext cx="890016" cy="536448"/>
          </a:xfrm>
          <a:prstGeom prst="rect">
            <a:avLst/>
          </a:prstGeom>
        </p:spPr>
      </p:pic>
      <p:pic>
        <p:nvPicPr>
          <p:cNvPr id="10" name="Picture 9" descr="344e06950008aec932572e72ed24174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296" y="968756"/>
            <a:ext cx="701040" cy="536448"/>
          </a:xfrm>
          <a:prstGeom prst="rect">
            <a:avLst/>
          </a:prstGeom>
        </p:spPr>
      </p:pic>
      <p:pic>
        <p:nvPicPr>
          <p:cNvPr id="11" name="Picture 10" descr="43de2dbf77e9c5dda09a4b4825cab5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6016" y="968756"/>
            <a:ext cx="890016" cy="536448"/>
          </a:xfrm>
          <a:prstGeom prst="rect">
            <a:avLst/>
          </a:prstGeom>
        </p:spPr>
      </p:pic>
      <p:pic>
        <p:nvPicPr>
          <p:cNvPr id="12" name="Picture 11" descr="344e06950008aec932572e72ed24174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31036"/>
            <a:ext cx="701040" cy="5364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electron configuration of an octahedral d4 coordination entity with </a:t>
            </a:r>
            <a:r>
              <a:rPr sz="2800">
                <a:solidFill>
                  <a:srgbClr val="050505"/>
                </a:solidFill>
                <a:latin typeface="Arial"/>
              </a:rPr>
              <a:t>  </a:t>
            </a:r>
            <a:r>
              <a:rPr sz="2800" b="1">
                <a:solidFill>
                  <a:srgbClr val="FAD02C"/>
                </a:solidFill>
                <a:latin typeface="Arial"/>
              </a:rPr>
              <a:t> &gt; P is</a:t>
            </a:r>
          </a:p>
        </p:txBody>
      </p:sp>
      <p:pic>
        <p:nvPicPr>
          <p:cNvPr id="9" name="Picture 8" descr="4e7da422094ea878fb19ce06a3391c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31036"/>
            <a:ext cx="603504" cy="5364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[t_{2g}^{2}]</a:t>
            </a:r>
            <a:r>
              <a:rPr sz="2000" b="0">
                <a:solidFill>
                  <a:srgbClr val="F0F0F0"/>
                </a:solidFill>
                <a:latin typeface="Arial"/>
              </a:rPr>
              <a:t> </a:t>
            </a:r>
            <a:r>
              <a:rPr sz="2000" b="0">
                <a:solidFill>
                  <a:srgbClr val="F0F0F0"/>
                </a:solidFill>
                <a:latin typeface="Arial"/>
              </a:rPr>
              <a:t>[e_g^{1}]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[t_{2g}^{3}]</a:t>
            </a:r>
            <a:r>
              <a:rPr sz="2000" b="0">
                <a:solidFill>
                  <a:srgbClr val="F0F0F0"/>
                </a:solidFill>
                <a:latin typeface="Arial"/>
              </a:rPr>
              <a:t> </a:t>
            </a:r>
            <a:r>
              <a:rPr sz="2000" b="0">
                <a:solidFill>
                  <a:srgbClr val="F0F0F0"/>
                </a:solidFill>
                <a:latin typeface="Arial"/>
              </a:rPr>
              <a:t>[e_g^{1}]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[t_{2g}^{4}]</a:t>
            </a:r>
            <a:r>
              <a:rPr sz="2000" b="0">
                <a:solidFill>
                  <a:srgbClr val="F0F0F0"/>
                </a:solidFill>
                <a:latin typeface="Arial"/>
              </a:rPr>
              <a:t> </a:t>
            </a:r>
            <a:r>
              <a:rPr sz="2000" b="0">
                <a:solidFill>
                  <a:srgbClr val="F0F0F0"/>
                </a:solidFill>
                <a:latin typeface="Arial"/>
              </a:rPr>
              <a:t>[e_g^{0}]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[t_{2g}^{2}]</a:t>
            </a:r>
            <a:r>
              <a:rPr sz="2000" b="0">
                <a:solidFill>
                  <a:srgbClr val="F0F0F0"/>
                </a:solidFill>
                <a:latin typeface="Arial"/>
              </a:rPr>
              <a:t> </a:t>
            </a:r>
            <a:r>
              <a:rPr sz="2000" b="0">
                <a:solidFill>
                  <a:srgbClr val="F0F0F0"/>
                </a:solidFill>
                <a:latin typeface="Arial"/>
              </a:rPr>
              <a:t>[e_g^{2}]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geometry of the complex Fe (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)5 is</a:t>
            </a:r>
          </a:p>
        </p:txBody>
      </p:sp>
      <p:pic>
        <p:nvPicPr>
          <p:cNvPr id="9" name="Picture 8" descr="9bf72d4eaba51a6a359c5b13041860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4720" y="968756"/>
            <a:ext cx="713232" cy="5364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isomerism exhibited by complexes [Co (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)5SO4] Br and [Co (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)5Br]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pic>
        <p:nvPicPr>
          <p:cNvPr id="9" name="Picture 8" descr="43de2dbf77e9c5dda09a4b4825cab5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968756"/>
            <a:ext cx="890016" cy="536448"/>
          </a:xfrm>
          <a:prstGeom prst="rect">
            <a:avLst/>
          </a:prstGeom>
        </p:spPr>
      </p:pic>
      <p:pic>
        <p:nvPicPr>
          <p:cNvPr id="10" name="Picture 9" descr="43de2dbf77e9c5dda09a4b4825cab5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31036"/>
            <a:ext cx="890016" cy="536448"/>
          </a:xfrm>
          <a:prstGeom prst="rect">
            <a:avLst/>
          </a:prstGeom>
        </p:spPr>
      </p:pic>
      <p:pic>
        <p:nvPicPr>
          <p:cNvPr id="11" name="Picture 10" descr="34ba0092b606877cecce031e3715a9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016" y="1431036"/>
            <a:ext cx="859536" cy="5364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 name of the complex ion [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(en)2] + is</a:t>
            </a:r>
          </a:p>
        </p:txBody>
      </p:sp>
      <p:pic>
        <p:nvPicPr>
          <p:cNvPr id="9" name="Picture 8" descr="f3e8001aa9eabce88ce8fa28334825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640" y="968756"/>
            <a:ext cx="1237488" cy="536448"/>
          </a:xfrm>
          <a:prstGeom prst="rect">
            <a:avLst/>
          </a:prstGeom>
        </p:spPr>
      </p:pic>
      <p:pic>
        <p:nvPicPr>
          <p:cNvPr id="10" name="Picture 9" descr="8953eccd0c0abe531eb0ba891e33a6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5488" y="965708"/>
            <a:ext cx="1164336" cy="5425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Di-chloridodiethylene diamine cobalt (</a:t>
            </a:r>
            <a:r>
              <a:rPr sz="2000" b="0">
                <a:solidFill>
                  <a:srgbClr val="F0F0F0"/>
                </a:solidFill>
                <a:latin typeface="Arial"/>
              </a:rPr>
              <a:t>[III]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Dichlorido bis(ethane-1,2-diamine) cobalt (</a:t>
            </a:r>
            <a:r>
              <a:rPr sz="2000" b="0">
                <a:solidFill>
                  <a:srgbClr val="F0F0F0"/>
                </a:solidFill>
                <a:latin typeface="Arial"/>
              </a:rPr>
              <a:t>[III]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Dichlorido bis(ethane-1,2-diamine) cobalt (</a:t>
            </a:r>
            <a:r>
              <a:rPr sz="2000" b="0">
                <a:solidFill>
                  <a:srgbClr val="F0F0F0"/>
                </a:solidFill>
                <a:latin typeface="Arial"/>
              </a:rPr>
              <a:t>[IV]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Bis (ethane-1,2-diamine) dichlorido cobalt (</a:t>
            </a:r>
            <a:r>
              <a:rPr sz="2000" b="0">
                <a:solidFill>
                  <a:srgbClr val="F0F0F0"/>
                </a:solidFill>
                <a:latin typeface="Arial"/>
              </a:rPr>
              <a:t>[III]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 name of the ionization isomer of [Co (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)5 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] Br is</a:t>
            </a:r>
          </a:p>
        </p:txBody>
      </p:sp>
      <p:pic>
        <p:nvPicPr>
          <p:cNvPr id="9" name="Picture 8" descr="f3e8001aa9eabce88ce8fa28334825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640" y="968756"/>
            <a:ext cx="1237488" cy="536448"/>
          </a:xfrm>
          <a:prstGeom prst="rect">
            <a:avLst/>
          </a:prstGeom>
        </p:spPr>
      </p:pic>
      <p:pic>
        <p:nvPicPr>
          <p:cNvPr id="10" name="Picture 9" descr="43de2dbf77e9c5dda09a4b4825cab58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31036"/>
            <a:ext cx="890016" cy="536448"/>
          </a:xfrm>
          <a:prstGeom prst="rect">
            <a:avLst/>
          </a:prstGeom>
        </p:spPr>
      </p:pic>
      <p:pic>
        <p:nvPicPr>
          <p:cNvPr id="11" name="Picture 10" descr="34ba0092b606877cecce031e3715a9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7296" y="1431036"/>
            <a:ext cx="859536" cy="5364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Penta-ammine sulphato cobalt (</a:t>
            </a:r>
            <a:r>
              <a:rPr sz="2000" b="0">
                <a:solidFill>
                  <a:srgbClr val="F0F0F0"/>
                </a:solidFill>
                <a:latin typeface="Arial"/>
              </a:rPr>
              <a:t>[III]</a:t>
            </a:r>
            <a:r>
              <a:rPr sz="2000" b="0">
                <a:solidFill>
                  <a:srgbClr val="F0F0F0"/>
                </a:solidFill>
                <a:latin typeface="Arial"/>
              </a:rPr>
              <a:t>) bromide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Penta-ammine bromido cobalt (</a:t>
            </a:r>
            <a:r>
              <a:rPr sz="2000" b="0">
                <a:solidFill>
                  <a:srgbClr val="F0F0F0"/>
                </a:solidFill>
                <a:latin typeface="Arial"/>
              </a:rPr>
              <a:t>[III]</a:t>
            </a:r>
            <a:r>
              <a:rPr sz="2000" b="0">
                <a:solidFill>
                  <a:srgbClr val="F0F0F0"/>
                </a:solidFill>
                <a:latin typeface="Arial"/>
              </a:rPr>
              <a:t>) sulphate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Penta-ammine sulphato cobalt (</a:t>
            </a:r>
            <a:r>
              <a:rPr sz="2000" b="0">
                <a:solidFill>
                  <a:srgbClr val="F0F0F0"/>
                </a:solidFill>
                <a:latin typeface="Arial"/>
              </a:rPr>
              <a:t>[II]</a:t>
            </a:r>
            <a:r>
              <a:rPr sz="2000" b="0">
                <a:solidFill>
                  <a:srgbClr val="F0F0F0"/>
                </a:solidFill>
                <a:latin typeface="Arial"/>
              </a:rPr>
              <a:t>) sulphate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Penta-ammine bromido sulphato cobaltate (</a:t>
            </a:r>
            <a:r>
              <a:rPr sz="2000" b="0">
                <a:solidFill>
                  <a:srgbClr val="F0F0F0"/>
                </a:solidFill>
                <a:latin typeface="Arial"/>
              </a:rPr>
              <a:t>[III]</a:t>
            </a:r>
            <a:r>
              <a:rPr sz="20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magnitude of 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 (Crystal Field Splitting Energy) (</a:t>
            </a:r>
            <a:r>
              <a:rPr sz="2800">
                <a:solidFill>
                  <a:srgbClr val="050505"/>
                </a:solidFill>
                <a:latin typeface="Arial"/>
              </a:rPr>
              <a:t>  </a:t>
            </a:r>
            <a:r>
              <a:rPr sz="2800" b="1">
                <a:solidFill>
                  <a:srgbClr val="FAD02C"/>
                </a:solidFill>
                <a:latin typeface="Arial"/>
              </a:rPr>
              <a:t>) can be related to the configuration of d-orbitals in a coordination entity as</a:t>
            </a:r>
          </a:p>
        </p:txBody>
      </p:sp>
      <p:pic>
        <p:nvPicPr>
          <p:cNvPr id="9" name="Picture 8" descr="4f268fd4763561a33842fc79f387d3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4320" y="968756"/>
            <a:ext cx="1091184" cy="536448"/>
          </a:xfrm>
          <a:prstGeom prst="rect">
            <a:avLst/>
          </a:prstGeom>
        </p:spPr>
      </p:pic>
      <p:pic>
        <p:nvPicPr>
          <p:cNvPr id="10" name="Picture 9" descr="4e7da422094ea878fb19ce06a3391c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31036"/>
            <a:ext cx="603504" cy="5364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If </a:t>
            </a:r>
            <a:r>
              <a:rPr sz="2000" b="0">
                <a:solidFill>
                  <a:srgbClr val="F0F0F0"/>
                </a:solidFill>
                <a:latin typeface="Arial"/>
              </a:rPr>
              <a:t>[\Delta_{0}]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P, the configuration is </a:t>
            </a:r>
            <a:r>
              <a:rPr sz="2000" b="0">
                <a:solidFill>
                  <a:srgbClr val="F0F0F0"/>
                </a:solidFill>
                <a:latin typeface="Arial"/>
              </a:rPr>
              <a:t>[t_{2g}^{3}]</a:t>
            </a:r>
            <a:r>
              <a:rPr sz="2000" b="0">
                <a:solidFill>
                  <a:srgbClr val="F0F0F0"/>
                </a:solidFill>
                <a:latin typeface="Arial"/>
              </a:rPr>
              <a:t> </a:t>
            </a:r>
            <a:r>
              <a:rPr sz="2000" b="0">
                <a:solidFill>
                  <a:srgbClr val="F0F0F0"/>
                </a:solidFill>
                <a:latin typeface="Arial"/>
              </a:rPr>
              <a:t>[e_g^{1}]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If </a:t>
            </a:r>
            <a:r>
              <a:rPr sz="2000" b="0">
                <a:solidFill>
                  <a:srgbClr val="F0F0F0"/>
                </a:solidFill>
                <a:latin typeface="Arial"/>
              </a:rPr>
              <a:t>[\Delta_{0}]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P, the configuration is </a:t>
            </a:r>
            <a:r>
              <a:rPr sz="2000" b="0">
                <a:solidFill>
                  <a:srgbClr val="F0F0F0"/>
                </a:solidFill>
                <a:latin typeface="Arial"/>
              </a:rPr>
              <a:t>[t_{2g}^{6}]</a:t>
            </a:r>
            <a:r>
              <a:rPr sz="2000" b="0">
                <a:solidFill>
                  <a:srgbClr val="F0F0F0"/>
                </a:solidFill>
                <a:latin typeface="Arial"/>
              </a:rPr>
              <a:t> </a:t>
            </a:r>
            <a:r>
              <a:rPr sz="2000" b="0">
                <a:solidFill>
                  <a:srgbClr val="F0F0F0"/>
                </a:solidFill>
                <a:latin typeface="Arial"/>
              </a:rPr>
              <a:t>[e_g^{0}]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If </a:t>
            </a:r>
            <a:r>
              <a:rPr sz="2000" b="0">
                <a:solidFill>
                  <a:srgbClr val="F0F0F0"/>
                </a:solidFill>
                <a:latin typeface="Arial"/>
              </a:rPr>
              <a:t>[\Delta_{0}]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P, the configuration is </a:t>
            </a:r>
            <a:r>
              <a:rPr sz="2000" b="0">
                <a:solidFill>
                  <a:srgbClr val="F0F0F0"/>
                </a:solidFill>
                <a:latin typeface="Arial"/>
              </a:rPr>
              <a:t>[t_{2g}^{5}]</a:t>
            </a:r>
            <a:r>
              <a:rPr sz="2000" b="0">
                <a:solidFill>
                  <a:srgbClr val="F0F0F0"/>
                </a:solidFill>
                <a:latin typeface="Arial"/>
              </a:rPr>
              <a:t> </a:t>
            </a:r>
            <a:r>
              <a:rPr sz="2000" b="0">
                <a:solidFill>
                  <a:srgbClr val="F0F0F0"/>
                </a:solidFill>
                <a:latin typeface="Arial"/>
              </a:rPr>
              <a:t>[e_g^{0}]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If </a:t>
            </a:r>
            <a:r>
              <a:rPr sz="2000" b="0">
                <a:solidFill>
                  <a:srgbClr val="F0F0F0"/>
                </a:solidFill>
                <a:latin typeface="Arial"/>
              </a:rPr>
              <a:t>[\Delta_{0}]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P, the configuration is </a:t>
            </a:r>
            <a:r>
              <a:rPr sz="2000" b="0">
                <a:solidFill>
                  <a:srgbClr val="F0F0F0"/>
                </a:solidFill>
                <a:latin typeface="Arial"/>
              </a:rPr>
              <a:t>[t_{2g}^{4}]</a:t>
            </a:r>
            <a:r>
              <a:rPr sz="2000" b="0">
                <a:solidFill>
                  <a:srgbClr val="F0F0F0"/>
                </a:solidFill>
                <a:latin typeface="Arial"/>
              </a:rPr>
              <a:t> </a:t>
            </a:r>
            <a:r>
              <a:rPr sz="2000" b="0">
                <a:solidFill>
                  <a:srgbClr val="F0F0F0"/>
                </a:solidFill>
                <a:latin typeface="Arial"/>
              </a:rPr>
              <a:t>[e_g^{1}]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magnitude of </a:t>
            </a:r>
            <a:r>
              <a:rPr sz="2800">
                <a:solidFill>
                  <a:srgbClr val="050505"/>
                </a:solidFill>
                <a:latin typeface="Arial"/>
              </a:rPr>
              <a:t>     </a:t>
            </a:r>
            <a:r>
              <a:rPr sz="2800" b="1">
                <a:solidFill>
                  <a:srgbClr val="FAD02C"/>
                </a:solidFill>
                <a:latin typeface="Arial"/>
              </a:rPr>
              <a:t> (Crystal Field Splitting Energy, </a:t>
            </a:r>
            <a:r>
              <a:rPr sz="2800">
                <a:solidFill>
                  <a:srgbClr val="050505"/>
                </a:solidFill>
                <a:latin typeface="Arial"/>
              </a:rPr>
              <a:t>  </a:t>
            </a:r>
            <a:r>
              <a:rPr sz="2800" b="1">
                <a:solidFill>
                  <a:srgbClr val="FAD02C"/>
                </a:solidFill>
                <a:latin typeface="Arial"/>
              </a:rPr>
              <a:t>) can be related to the </a:t>
            </a:r>
            <a:r>
              <a:rPr sz="2800">
                <a:solidFill>
                  <a:srgbClr val="050505"/>
                </a:solidFill>
                <a:latin typeface="Arial"/>
              </a:rPr>
              <a:t>  </a:t>
            </a:r>
            <a:r>
              <a:rPr sz="2800" b="1">
                <a:solidFill>
                  <a:srgbClr val="FAD02C"/>
                </a:solidFill>
                <a:latin typeface="Arial"/>
              </a:rPr>
              <a:t> configuration of the central metal in an octahedral coordination entity as</a:t>
            </a:r>
          </a:p>
        </p:txBody>
      </p:sp>
      <p:pic>
        <p:nvPicPr>
          <p:cNvPr id="9" name="Picture 8" descr="4f268fd4763561a33842fc79f387d3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4320" y="968756"/>
            <a:ext cx="1091184" cy="536448"/>
          </a:xfrm>
          <a:prstGeom prst="rect">
            <a:avLst/>
          </a:prstGeom>
        </p:spPr>
      </p:pic>
      <p:pic>
        <p:nvPicPr>
          <p:cNvPr id="10" name="Picture 9" descr="4e7da422094ea878fb19ce06a3391c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31036"/>
            <a:ext cx="603504" cy="536448"/>
          </a:xfrm>
          <a:prstGeom prst="rect">
            <a:avLst/>
          </a:prstGeom>
        </p:spPr>
      </p:pic>
      <p:pic>
        <p:nvPicPr>
          <p:cNvPr id="11" name="Picture 10" descr="4b9bb79908f6daae58f7a3c96e394d7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344" y="1400556"/>
            <a:ext cx="603504" cy="5974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If </a:t>
            </a:r>
            <a:r>
              <a:rPr sz="2000" b="0">
                <a:solidFill>
                  <a:srgbClr val="F0F0F0"/>
                </a:solidFill>
                <a:latin typeface="Arial"/>
              </a:rPr>
              <a:t>[\Delta_{0}]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P, the configuration is </a:t>
            </a:r>
            <a:r>
              <a:rPr sz="2000" b="0">
                <a:solidFill>
                  <a:srgbClr val="F0F0F0"/>
                </a:solidFill>
                <a:latin typeface="Arial"/>
              </a:rPr>
              <a:t>[t_{2g}^{3}]</a:t>
            </a:r>
            <a:r>
              <a:rPr sz="2000" b="0">
                <a:solidFill>
                  <a:srgbClr val="F0F0F0"/>
                </a:solidFill>
                <a:latin typeface="Arial"/>
              </a:rPr>
              <a:t> </a:t>
            </a:r>
            <a:r>
              <a:rPr sz="2000" b="0">
                <a:solidFill>
                  <a:srgbClr val="F0F0F0"/>
                </a:solidFill>
                <a:latin typeface="Arial"/>
              </a:rPr>
              <a:t>[e_g^{1}]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If </a:t>
            </a:r>
            <a:r>
              <a:rPr sz="2000" b="0">
                <a:solidFill>
                  <a:srgbClr val="F0F0F0"/>
                </a:solidFill>
                <a:latin typeface="Arial"/>
              </a:rPr>
              <a:t>[\Delta_{0}]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P, the configuration is </a:t>
            </a:r>
            <a:r>
              <a:rPr sz="2000" b="0">
                <a:solidFill>
                  <a:srgbClr val="F0F0F0"/>
                </a:solidFill>
                <a:latin typeface="Arial"/>
              </a:rPr>
              <a:t>[t_{2g}^{5}]</a:t>
            </a:r>
            <a:r>
              <a:rPr sz="2000" b="0">
                <a:solidFill>
                  <a:srgbClr val="F0F0F0"/>
                </a:solidFill>
                <a:latin typeface="Arial"/>
              </a:rPr>
              <a:t> </a:t>
            </a:r>
            <a:r>
              <a:rPr sz="2000" b="0">
                <a:solidFill>
                  <a:srgbClr val="F0F0F0"/>
                </a:solidFill>
                <a:latin typeface="Arial"/>
              </a:rPr>
              <a:t>[e_g^{0}]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If </a:t>
            </a:r>
            <a:r>
              <a:rPr sz="2000" b="0">
                <a:solidFill>
                  <a:srgbClr val="F0F0F0"/>
                </a:solidFill>
                <a:latin typeface="Arial"/>
              </a:rPr>
              <a:t>[\Delta_{0}]</a:t>
            </a:r>
            <a:r>
              <a:rPr sz="2000" b="0">
                <a:solidFill>
                  <a:srgbClr val="F0F0F0"/>
                </a:solidFill>
                <a:latin typeface="Arial"/>
              </a:rPr>
              <a:t> &gt; P, the configuration is </a:t>
            </a:r>
            <a:r>
              <a:rPr sz="2000" b="0">
                <a:solidFill>
                  <a:srgbClr val="F0F0F0"/>
                </a:solidFill>
                <a:latin typeface="Arial"/>
              </a:rPr>
              <a:t>[t_{2g}^{4}]</a:t>
            </a:r>
            <a:r>
              <a:rPr sz="2000" b="0">
                <a:solidFill>
                  <a:srgbClr val="F0F0F0"/>
                </a:solidFill>
                <a:latin typeface="Arial"/>
              </a:rPr>
              <a:t> </a:t>
            </a:r>
            <a:r>
              <a:rPr sz="2000" b="0">
                <a:solidFill>
                  <a:srgbClr val="F0F0F0"/>
                </a:solidFill>
                <a:latin typeface="Arial"/>
              </a:rPr>
              <a:t>[e_g^{2}]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If </a:t>
            </a:r>
            <a:r>
              <a:rPr sz="2000" b="0">
                <a:solidFill>
                  <a:srgbClr val="F0F0F0"/>
                </a:solidFill>
                <a:latin typeface="Arial"/>
              </a:rPr>
              <a:t>[\Delta_{0}]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P, the configuration is </a:t>
            </a:r>
            <a:r>
              <a:rPr sz="2000" b="0">
                <a:solidFill>
                  <a:srgbClr val="F0F0F0"/>
                </a:solidFill>
                <a:latin typeface="Arial"/>
              </a:rPr>
              <a:t>[t_{2g}^{4}]</a:t>
            </a:r>
            <a:r>
              <a:rPr sz="2000" b="0">
                <a:solidFill>
                  <a:srgbClr val="F0F0F0"/>
                </a:solidFill>
                <a:latin typeface="Arial"/>
              </a:rPr>
              <a:t> </a:t>
            </a:r>
            <a:r>
              <a:rPr sz="2000" b="0">
                <a:solidFill>
                  <a:srgbClr val="F0F0F0"/>
                </a:solidFill>
                <a:latin typeface="Arial"/>
              </a:rPr>
              <a:t>[e_g^{0}]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oxidation number of Cu in [Cu (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)4]3- is</a:t>
            </a:r>
          </a:p>
        </p:txBody>
      </p:sp>
      <p:pic>
        <p:nvPicPr>
          <p:cNvPr id="9" name="Picture 8" descr="344e06950008aec932572e72ed24174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799" y="968756"/>
            <a:ext cx="701040" cy="5364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primary and secondary valencies of [Fe(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)3]3- complexes are 224[M(en)(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)] Cl is</a:t>
            </a:r>
          </a:p>
        </p:txBody>
      </p:sp>
      <p:pic>
        <p:nvPicPr>
          <p:cNvPr id="9" name="Picture 8" descr="58a11f925b17a9945ccc32a9a90d94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1680" y="968756"/>
            <a:ext cx="1048512" cy="536448"/>
          </a:xfrm>
          <a:prstGeom prst="rect">
            <a:avLst/>
          </a:prstGeom>
        </p:spPr>
      </p:pic>
      <p:pic>
        <p:nvPicPr>
          <p:cNvPr id="10" name="Picture 9" descr="9bf72d4eaba51a6a359c5b13041860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431036"/>
            <a:ext cx="713232" cy="5364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primary and secondary valencies of iron in the complex [Fe(</a:t>
            </a:r>
            <a:r>
              <a:rPr sz="2800">
                <a:solidFill>
                  <a:srgbClr val="050505"/>
                </a:solidFill>
                <a:latin typeface="Arial"/>
              </a:rPr>
              <a:t>    </a:t>
            </a:r>
            <a:r>
              <a:rPr sz="2800" b="1">
                <a:solidFill>
                  <a:srgbClr val="FAD02C"/>
                </a:solidFill>
                <a:latin typeface="Arial"/>
              </a:rPr>
              <a:t>)3]3- are</a:t>
            </a:r>
          </a:p>
        </p:txBody>
      </p:sp>
      <p:pic>
        <p:nvPicPr>
          <p:cNvPr id="9" name="Picture 8" descr="58a11f925b17a9945ccc32a9a90d94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31036"/>
            <a:ext cx="1048512" cy="5364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The terminal and bridged 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 ligands in the compound [Co2(</a:t>
            </a:r>
            <a:r>
              <a:rPr sz="2800">
                <a:solidFill>
                  <a:srgbClr val="050505"/>
                </a:solidFill>
                <a:latin typeface="Arial"/>
              </a:rPr>
              <a:t>   </a:t>
            </a:r>
            <a:r>
              <a:rPr sz="2800" b="1">
                <a:solidFill>
                  <a:srgbClr val="FAD02C"/>
                </a:solidFill>
                <a:latin typeface="Arial"/>
              </a:rPr>
              <a:t>)8] are respectively</a:t>
            </a:r>
          </a:p>
        </p:txBody>
      </p:sp>
      <p:pic>
        <p:nvPicPr>
          <p:cNvPr id="9" name="Picture 8" descr="9bf72d4eaba51a6a359c5b13041860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968756"/>
            <a:ext cx="713232" cy="536448"/>
          </a:xfrm>
          <a:prstGeom prst="rect">
            <a:avLst/>
          </a:prstGeom>
        </p:spPr>
      </p:pic>
      <p:pic>
        <p:nvPicPr>
          <p:cNvPr id="10" name="Picture 9" descr="9bf72d4eaba51a6a359c5b13041860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31036"/>
            <a:ext cx="713232" cy="5364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[CO]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[NH_{3}]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[SCN]</a:t>
            </a:r>
            <a:r>
              <a:rPr sz="2000" b="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[Cl^{-}]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[EDTA_{4}]</a:t>
            </a:r>
            <a:r>
              <a:rPr sz="2000" b="0">
                <a:solidFill>
                  <a:srgbClr val="F0F0F0"/>
                </a:solidFill>
                <a:latin typeface="Arial"/>
              </a:rPr>
              <a:t>-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[C_{2}O_{42}]</a:t>
            </a:r>
            <a:r>
              <a:rPr sz="2000" b="0">
                <a:solidFill>
                  <a:srgbClr val="F0F0F0"/>
                </a:solidFill>
                <a:latin typeface="Arial"/>
              </a:rPr>
              <a:t>-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[Cl^{-}]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[OH]</a:t>
            </a:r>
            <a:r>
              <a:rPr sz="2000" b="0">
                <a:solidFill>
                  <a:srgbClr val="F0F0F0"/>
                </a:solidFill>
                <a:latin typeface="Arial"/>
              </a:rPr>
              <a:t>-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[CN]</a:t>
            </a:r>
            <a:r>
              <a:rPr sz="2000" b="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[EDTA_{4}]</a:t>
            </a:r>
            <a:r>
              <a:rPr sz="2000" b="0">
                <a:solidFill>
                  <a:srgbClr val="F0F0F0"/>
                </a:solidFill>
                <a:latin typeface="Arial"/>
              </a:rPr>
              <a:t>-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[C_{2}O_{42}]</a:t>
            </a:r>
            <a:r>
              <a:rPr sz="2000" b="0">
                <a:solidFill>
                  <a:srgbClr val="F0F0F0"/>
                </a:solidFill>
                <a:latin typeface="Arial"/>
              </a:rPr>
              <a:t>-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[CN]</a:t>
            </a:r>
            <a:r>
              <a:rPr sz="2000" b="0">
                <a:solidFill>
                  <a:srgbClr val="F0F0F0"/>
                </a:solidFill>
                <a:latin typeface="Arial"/>
              </a:rPr>
              <a:t>-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[OH]</a:t>
            </a:r>
            <a:r>
              <a:rPr sz="2000" b="0">
                <a:solidFill>
                  <a:srgbClr val="F0F0F0"/>
                </a:solidFill>
                <a:latin typeface="Arial"/>
              </a:rPr>
              <a:t>-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[Cl^{-}]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[Cl^{-}]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[C_{2}O_{42}]</a:t>
            </a:r>
            <a:r>
              <a:rPr sz="2000" b="0">
                <a:solidFill>
                  <a:srgbClr val="F0F0F0"/>
                </a:solidFill>
                <a:latin typeface="Arial"/>
              </a:rPr>
              <a:t>-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[Cl^{-}]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[OH]</a:t>
            </a:r>
            <a:r>
              <a:rPr sz="2000" b="0">
                <a:solidFill>
                  <a:srgbClr val="F0F0F0"/>
                </a:solidFill>
                <a:latin typeface="Arial"/>
              </a:rPr>
              <a:t>-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[EDTA_{4}]</a:t>
            </a:r>
            <a:r>
              <a:rPr sz="2000" b="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[Cl^{-}]</a:t>
            </a:r>
            <a:r>
              <a:rPr sz="2000" b="0">
                <a:solidFill>
                  <a:srgbClr val="F0F0F0"/>
                </a:solidFill>
                <a:latin typeface="Arial"/>
              </a:rPr>
              <a:t>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[OH]</a:t>
            </a:r>
            <a:r>
              <a:rPr sz="2000" b="0">
                <a:solidFill>
                  <a:srgbClr val="F0F0F0"/>
                </a:solidFill>
                <a:latin typeface="Arial"/>
              </a:rPr>
              <a:t>-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[C_{2}O_{42}]</a:t>
            </a:r>
            <a:r>
              <a:rPr sz="2000" b="0">
                <a:solidFill>
                  <a:srgbClr val="F0F0F0"/>
                </a:solidFill>
                <a:latin typeface="Arial"/>
              </a:rPr>
              <a:t>-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[EDTA_{4}]</a:t>
            </a:r>
            <a:r>
              <a:rPr sz="2000" b="0">
                <a:solidFill>
                  <a:srgbClr val="F0F0F0"/>
                </a:solidFill>
                <a:latin typeface="Arial"/>
              </a:rPr>
              <a:t>- &lt; </a:t>
            </a:r>
            <a:r>
              <a:rPr sz="2000" b="0">
                <a:solidFill>
                  <a:srgbClr val="F0F0F0"/>
                </a:solidFill>
                <a:latin typeface="Arial"/>
              </a:rPr>
              <a:t>[CN]</a:t>
            </a:r>
            <a:r>
              <a:rPr sz="2000" b="0">
                <a:solidFill>
                  <a:srgbClr val="F0F0F0"/>
                </a:solidFill>
                <a:latin typeface="Arial"/>
              </a:rPr>
              <a:t>-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[NO_{2}]</a:t>
            </a:r>
            <a:r>
              <a:rPr sz="2000" b="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[NH_{3}]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[H_{2}O]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[CO]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[NH_{4}]</a:t>
            </a:r>
            <a:r>
              <a:rPr sz="2000" b="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[NO]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[CO]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[H_{2}N]</a:t>
            </a:r>
            <a:r>
              <a:rPr sz="2000" b="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[CH_{2}]</a:t>
            </a:r>
            <a:r>
              <a:rPr sz="2000" b="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[CH_{2}]</a:t>
            </a:r>
            <a:r>
              <a:rPr sz="2000" b="0">
                <a:solidFill>
                  <a:srgbClr val="F0F0F0"/>
                </a:solidFill>
                <a:latin typeface="Arial"/>
              </a:rPr>
              <a:t>-</a:t>
            </a:r>
            <a:r>
              <a:rPr sz="2000" b="0">
                <a:solidFill>
                  <a:srgbClr val="F0F0F0"/>
                </a:solidFill>
                <a:latin typeface="Arial"/>
              </a:rPr>
              <a:t>[NH_{2}]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of the following statements regarding primary and secondary valencies is correct?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050505"/>
                </a:solidFill>
                <a:latin typeface="Arial"/>
              </a:rPr>
              <a:t>               </a:t>
            </a:r>
            <a:r>
              <a:rPr sz="1200" b="1">
                <a:solidFill>
                  <a:srgbClr val="FAD02C"/>
                </a:solidFill>
                <a:latin typeface="Arial"/>
              </a:rPr>
              <a:t> </a:t>
            </a:r>
            <a:r>
              <a:rPr sz="1200">
                <a:solidFill>
                  <a:srgbClr val="050505"/>
                </a:solidFill>
                <a:latin typeface="Arial"/>
              </a:rPr>
              <a:t>             </a:t>
            </a:r>
          </a:p>
        </p:txBody>
      </p:sp>
      <p:pic>
        <p:nvPicPr>
          <p:cNvPr id="5" name="Picture 4" descr="cd243936848592aca6c80678674789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8892"/>
            <a:ext cx="1377696" cy="335280"/>
          </a:xfrm>
          <a:prstGeom prst="rect">
            <a:avLst/>
          </a:prstGeom>
        </p:spPr>
      </p:pic>
      <p:pic>
        <p:nvPicPr>
          <p:cNvPr id="6" name="Picture 5" descr="454f360e086eecb882465db0cae063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496" y="278892"/>
            <a:ext cx="1194816" cy="335280"/>
          </a:xfrm>
          <a:prstGeom prst="rect">
            <a:avLst/>
          </a:prstGeom>
        </p:spPr>
      </p:pic>
      <p:pic>
        <p:nvPicPr>
          <p:cNvPr id="7" name="Picture 6" descr="simplif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A. </a:t>
            </a:r>
            <a:r>
              <a:rPr sz="2000" b="0">
                <a:solidFill>
                  <a:srgbClr val="F0F0F0"/>
                </a:solidFill>
                <a:latin typeface="Arial"/>
              </a:rPr>
              <a:t>[</a:t>
            </a:r>
            <a:r>
              <a:rPr sz="2000" b="0">
                <a:solidFill>
                  <a:srgbClr val="F0F0F0"/>
                </a:solidFill>
                <a:latin typeface="Arial"/>
              </a:rPr>
              <a:t>[MX_{2}L_{2}]</a:t>
            </a:r>
            <a:r>
              <a:rPr sz="2000" b="0">
                <a:solidFill>
                  <a:srgbClr val="F0F0F0"/>
                </a:solidFill>
                <a:latin typeface="Arial"/>
              </a:rPr>
              <a:t>] Tetrahedral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B. </a:t>
            </a:r>
            <a:r>
              <a:rPr sz="2000" b="0">
                <a:solidFill>
                  <a:srgbClr val="F0F0F0"/>
                </a:solidFill>
                <a:latin typeface="Arial"/>
              </a:rPr>
              <a:t>[</a:t>
            </a:r>
            <a:r>
              <a:rPr sz="2000" b="0">
                <a:solidFill>
                  <a:srgbClr val="F0F0F0"/>
                </a:solidFill>
                <a:latin typeface="Arial"/>
              </a:rPr>
              <a:t>[MABXL]</a:t>
            </a:r>
            <a:r>
              <a:rPr sz="2000" b="0">
                <a:solidFill>
                  <a:srgbClr val="F0F0F0"/>
                </a:solidFill>
                <a:latin typeface="Arial"/>
              </a:rPr>
              <a:t>] Square planar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C. </a:t>
            </a:r>
            <a:r>
              <a:rPr sz="2000" b="0">
                <a:solidFill>
                  <a:srgbClr val="F0F0F0"/>
                </a:solidFill>
                <a:latin typeface="Arial"/>
              </a:rPr>
              <a:t>[</a:t>
            </a:r>
            <a:r>
              <a:rPr sz="2000" b="0">
                <a:solidFill>
                  <a:srgbClr val="F0F0F0"/>
                </a:solidFill>
                <a:latin typeface="Arial"/>
              </a:rPr>
              <a:t>[MX_{2}L_{2}]</a:t>
            </a:r>
            <a:r>
              <a:rPr sz="2000" b="0">
                <a:solidFill>
                  <a:srgbClr val="F0F0F0"/>
                </a:solidFill>
                <a:latin typeface="Arial"/>
              </a:rPr>
              <a:t>] Square planar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2000">
                <a:solidFill>
                  <a:srgbClr val="00B0F0"/>
                </a:solidFill>
                <a:latin typeface="Arial"/>
              </a:rPr>
              <a:t>D. </a:t>
            </a:r>
            <a:r>
              <a:rPr sz="2000" b="0">
                <a:solidFill>
                  <a:srgbClr val="F0F0F0"/>
                </a:solidFill>
                <a:latin typeface="Arial"/>
              </a:rPr>
              <a:t>[</a:t>
            </a:r>
            <a:r>
              <a:rPr sz="2000" b="0">
                <a:solidFill>
                  <a:srgbClr val="F0F0F0"/>
                </a:solidFill>
                <a:latin typeface="Arial"/>
              </a:rPr>
              <a:t>[MX_{4}L_{2}]</a:t>
            </a:r>
            <a:r>
              <a:rPr sz="2000" b="0">
                <a:solidFill>
                  <a:srgbClr val="F0F0F0"/>
                </a:solidFill>
                <a:latin typeface="Arial"/>
              </a:rPr>
              <a:t>] 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