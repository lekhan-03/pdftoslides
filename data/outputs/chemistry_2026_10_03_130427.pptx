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4400" b="1">
                <a:solidFill>
                  <a:srgbClr val="FAD02C"/>
                </a:solidFill>
                <a:latin typeface="Arial"/>
              </a:defRPr>
            </a:pPr>
            <a:r>
              <a:rPr lang="en-US" sz="4400" b="1">
                <a:solidFill>
                  <a:srgbClr val="FAD02C"/>
                </a:solidFill>
                <a:latin typeface="Arial"/>
              </a:rPr>
              <a:t>Chemistry Midterm —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C</m:t>
                    </m:r>
                    <m:r>
                      <m:t>Q</m:t>
                    </m:r>
                  </m:oMath>
                </a14:m>
              </mc:Choice>
            </mc:AlternateContent>
            <a:r>
              <a:rPr lang="en-US" sz="4400" b="1">
                <a:solidFill>
                  <a:srgbClr val="FAD02C"/>
                </a:solidFill>
                <a:latin typeface="Arial"/>
              </a:rPr>
              <a:t>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AAAAAA"/>
                </a:solidFill>
                <a:latin typeface="Arial"/>
              </a:rPr>
              <a:t>196 Questions  ·  For: 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For: Boar d s
Solutions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1. 68% of nitric acid in water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Has zero enthalpy of mixing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Cannot be separated by distillation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Follows Raoult's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Has zero volume change of mixing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Assuming complete dissociation, the value of van’t Hoff factor for Na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r>
                      <m:t>S</m:t>
                    </m:r>
                    <m:r>
                      <m:t>O</m:t>
                    </m:r>
                    <m:r>
                      <m:t>4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Consider a blood cell placed in a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solution of concentration more than 0.9% (w/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V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Which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one of the following statements is true in this case?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Osmosis takes place from the cell to the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solution, and the cell shrinks.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Osmosis takes place from the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solution to the cell, and the cell swells.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Osmosis takes place from the cell to the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solution, and the cell swells.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Osmosis takes place from the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solution to the cell, and the cell shrinks.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4. De-salination of sea water can be done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Dialysis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Hypertonic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Evaporation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Reverse osmosis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5. During osmosis, the solvent molecules are moving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Hypertonic solution to isotonic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Hypertonic solution to hypotonic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Higher concentrated solution to lower concentrated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Hypotonic solution to hypertonic solution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For a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0.1</m:t>
                    </m:r>
                    <m:r>
                      <m:t>M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solution, the colligative property will follow the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 Na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r>
                      <m:t>S</m:t>
                    </m:r>
                    <m:r>
                      <m:t>O</m:t>
                    </m:r>
                    <m:r>
                      <m:t>4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 Na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3</m:t>
                    </m:r>
                    <m:r>
                      <m:t>P</m:t>
                    </m:r>
                    <m:r>
                      <m:t>O</m:t>
                    </m:r>
                    <m:r>
                      <m:t>4</m:t>
                    </m:r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 Na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r>
                      <m:t>S</m:t>
                    </m:r>
                    <m:r>
                      <m:t>O</m:t>
                    </m:r>
                    <m:r>
                      <m:t>4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 Na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3</m:t>
                    </m:r>
                    <m:r>
                      <m:t>P</m:t>
                    </m:r>
                    <m:r>
                      <m:t>O</m:t>
                    </m:r>
                    <m:r>
                      <m:t>4</m:t>
                    </m:r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 Na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r>
                      <m:t>S</m:t>
                    </m:r>
                    <m:r>
                      <m:t>O</m:t>
                    </m:r>
                    <m:r>
                      <m:t>4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≈ Na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3</m:t>
                    </m:r>
                    <m:r>
                      <m:t>P</m:t>
                    </m:r>
                    <m:r>
                      <m:t>O</m:t>
                    </m:r>
                    <m:r>
                      <m:t>4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 Na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r>
                      <m:t>S</m:t>
                    </m:r>
                    <m:r>
                      <m:t>O</m:t>
                    </m:r>
                    <m:r>
                      <m:t>4</m:t>
                    </m:r>
                    <m:r>
                      <m:rPr>
                        <m:sty m:val="p"/>
                      </m:rPr>
                      <m:t>=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Na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3</m:t>
                    </m:r>
                    <m:r>
                      <m:t>P</m:t>
                    </m:r>
                    <m:r>
                      <m:t>O</m:t>
                    </m:r>
                    <m:r>
                      <m:t>4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7. If abnormal molar mass is more than normal molar mass, the Van't Hoff factor (i)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 &gt;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 =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 &lt;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i ≥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8. In a solution containing a non-volatile solute, the mole fraction of solvent is 0.9. The relative
lowering of vapor pressure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0.1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0.9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1.1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9. Isotonic solutions have the same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Surface tension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Vapour pressure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Osmotic pressure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Viscosity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10. Pick out the ideal solution among the following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Phenol and Aniline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 and Acetone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Chloroform and Acetone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n-Hexane and n-Heptane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For: Boar d s
11. The concentration term depends on temperature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ppm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mole fraction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molality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molarity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12. The condition caused when scuba divers go into deep sea water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Anoxia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Hemophilia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None -3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K H values for Ar(g)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,</m:t>
                    </m:r>
                    <m:r>
                      <m:t>C</m:t>
                    </m:r>
                    <m:r>
                      <m:t>O</m:t>
                    </m:r>
                    <m:r>
                      <m:t>2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(aq)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,</m:t>
                    </m:r>
                    <m:r>
                      <m:t>H</m:t>
                    </m:r>
                    <m:r>
                      <m:t>C</m:t>
                    </m:r>
                    <m:r>
                      <m:t>H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(aq), and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H</m:t>
                    </m:r>
                    <m:r>
                      <m:t>4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(aq) are 40.39, 1.67, 1.83 × 10 ,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0.413 respectively. Arrange them in the order of their increasing solubility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H</m:t>
                    </m:r>
                    <m:r>
                      <m:t>C</m:t>
                    </m:r>
                    <m:r>
                      <m:t>H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H</m:t>
                    </m:r>
                    <m:r>
                      <m:t>4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2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 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H</m:t>
                    </m:r>
                    <m:r>
                      <m:t>C</m:t>
                    </m:r>
                    <m:r>
                      <m:t>H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2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H</m:t>
                    </m:r>
                    <m:r>
                      <m:t>4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 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 &lt;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2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H</m:t>
                    </m:r>
                    <m:r>
                      <m:t>4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H</m:t>
                    </m:r>
                    <m:r>
                      <m:t>C</m:t>
                    </m:r>
                    <m:r>
                      <m:t>H</m:t>
                    </m:r>
                    <m:r>
                      <m:t>O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 &lt;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H</m:t>
                    </m:r>
                    <m:r>
                      <m:t>4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2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H</m:t>
                    </m:r>
                    <m:r>
                      <m:t>C</m:t>
                    </m:r>
                    <m:r>
                      <m:t>H</m:t>
                    </m:r>
                    <m:r>
                      <m:t>O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14. The dissolution of a gas in a liquid is governed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Roult's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Henry's 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Dalton's law of Pressure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Boyle's law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15. The maximum amount of a solid solute that can be dissolved in a specific amount of a given
liquid solvent does not depend upon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Nature of solvent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Pressure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Nature of solute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16. The mixture which shows positive deviation from Raoult's law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 + Acetone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Benzene + Toluene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Acetone + Chloroform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Chlorobenzene + Bromoethane -1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most diluted solution is (molar mass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  <m:r>
                      <m:rPr>
                        <m:sty m:val="p"/>
                      </m:rPr>
                      <m:t>=</m:t>
                    </m:r>
                    <m:r>
                      <m:t>58.5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g mol 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2% (w/w)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in water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1</m:t>
                    </m:r>
                    <m:r>
                      <m:t>M</m:t>
                    </m:r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2 ppm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2 m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18. The pressure cooker reduces the cooking timing because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Heat is more evenly distributed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The boiling point of water inside the cooker is elevated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The boiling point of water inside the cooker is depressed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Higher pressure inside the cooker tenderizes food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19. The solubility of a gas in water depends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Nature of the gas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Pressure of the gas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of the above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20. The solubility of a solid gas does not depend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Nature of the solute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Nature of the solvent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Pressure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21. The solution which has lower osmotic pressure with respect to another is called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Isotonic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Hypertonic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Hypotonic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22. The solutions which show a large positive deviation from Raoult's law 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Minimum boiling point azeotrope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Maximum boiling point azeotrope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Minimum or maximum boiling point azeotrope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 azeotrope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For: Boar d 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23. The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tan</m:t>
                    </m:r>
                    <m:r>
                      <m:t>k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used by most scuba divers are filled with air diluted with helium of around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88.3%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56.2%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32.1%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11.7%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24. The value of Henry's constant K H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Greater for gases with higher solubility.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Greater for gases with lower solubility.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Constant for all gases.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Not related to the solubility of gases.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Value of Henry’s constant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K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H 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Increases with increase in temperature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Decreases with increase in temperature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Remains constant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First increases, then decreases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26. When a substance is dissolved in a solvent, the vapor pressure for the solvent is decreased. This
results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The solution having a lower osmotic pressure than the solvent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 decrease in the boiling point of the solvent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The solution having a higher freezing point than the solvent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An increase in the boiling point of the solution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27. Which of the following aqueous solutions should have the highest boiling point?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1.0 M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O</m:t>
                    </m:r>
                    <m:r>
                      <m:t>H</m:t>
                    </m:r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1.0 M Na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r>
                      <m:t>S</m:t>
                    </m:r>
                    <m:r>
                      <m:t>O</m:t>
                    </m:r>
                    <m:r>
                      <m:t>4</m:t>
                    </m:r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1.0 M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H</m:t>
                    </m:r>
                    <m:r>
                      <m:t>4</m:t>
                    </m:r>
                    <m:r>
                      <m:t>N</m:t>
                    </m:r>
                    <m:r>
                      <m:t>O</m:t>
                    </m:r>
                    <m:r>
                      <m:t>3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1.0 M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K</m:t>
                    </m:r>
                    <m:r>
                      <m:t>N</m:t>
                    </m:r>
                    <m:r>
                      <m:t>O</m:t>
                    </m:r>
                    <m:r>
                      <m:t>3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28. Which of the following liquid-liquid solutions show negative deviation from Raoult's law?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Benzene and Toluene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Water and Ethanol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Acetone and Chloroform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Chlorobenzene and Bromobenzene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29. Which of the following solutions is used as an antifreezing agent in car radiators to cool the
engine?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35% (v/v) solution of ethylene glycol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35% (m/m) solution of ethylene glycol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35% (m/v) solution of ethylene glycol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35% (v/m) solution of ethylene glycol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For: Boar d s
Electrochemistry:
30. Which one of the following is not a solid solution?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Hydrogen in palladium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Camphor in nitrogen gas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Amalgam of mercury &amp; sodium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Copper in gold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31. A galvanic cell has an electrical potential of 1.1 V. If an opposing potential of 1.1 V is applied
to this cell, what will happen to the cell reaction and current flowing through the cell?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The reaction stops and no current flows through the cell.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The reaction continues but current flows in the opposite direction.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The concentration of reactants becomes unity and current flows from cathode to anode.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The cell does not function as a galvanic cell and zinc is deposited on the zinc plate.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32. An electrochemical cell can behave like an electrolytic cell when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 cell =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 cell &gt; E 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E cell &lt; E 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E cell = E ext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33. Assertion: The specific conductivity decreases with dilution.
Reason: The number of ions per unit volume that carry the current in a solution decreases on
dilution.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Both assertion and reason are true, and the reason is the correct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n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of the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809597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Both assertion and reason are true, but the reason is not the correct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n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of the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065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Assertion is true, but the reason is false.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46065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assertion and reason are false.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34. E cell of Daniel cell is calculated by using the following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E cell = E° cell - 0.0295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u</m:t>
                    </m:r>
                    <m:r>
                      <m:t>2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/Zn 2+ 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E cell = E° cell - 0.0295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u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/Zn 2+ 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E cell = E° cell - 0.0295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Z</m:t>
                    </m:r>
                    <m:r>
                      <m:t>n</m:t>
                    </m:r>
                    <m:r>
                      <m:t>2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/Cu 2+ 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E cell = E° cell - 0.0295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u</m:t>
                    </m:r>
                    <m:r>
                      <m:t>2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/</m:t>
                    </m:r>
                    <m:r>
                      <m:t>Z</m:t>
                    </m:r>
                    <m:r>
                      <m:t>n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35. Fluorine has the highest standard electrode potential, indicating that fluorine gas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Strongest reducing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Strongest oxidizing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Weak oxidizing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r>
                      <m:t>E</m:t>
                    </m:r>
                    <m:r>
                      <m:t>P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value is zero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If the E relationship for the value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G cell for a given reaction has a negative value, then which of the following is the correct 0 and Keq?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G 0 &gt;0 and Keq&gt;1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G 0 &lt;0 and Keq&lt;1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G 0 &gt;0 and Keq&lt;1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G 0 &lt;0 and Keq&gt;1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37. In a galvanic cell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Chemical energy is converted into heat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Electrical energy is converted into heat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Chemical energy is converted into electrical energy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Electrical energy is converted into chemical energy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For: Boar d s
(i) Leclanché cell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Lead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P</m:t>
                    </m:r>
                    <m:r>
                      <m:t>b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Hydrogen(H 2 ) gas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Zinc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Z</m:t>
                    </m:r>
                    <m:r>
                      <m:t>n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Zinc – Mercury amalgam(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Z</m:t>
                    </m:r>
                    <m:r>
                      <m:t>n</m:t>
                    </m:r>
                    <m:r>
                      <m:rPr>
                        <m:sty m:val="p"/>
                      </m:rPr>
                      <m:t>(</m:t>
                    </m:r>
                    <m:r>
                      <m:t>H</m:t>
                    </m:r>
                    <m:r>
                      <m:t>g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Saturated solution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K</m:t>
                    </m:r>
                    <m:r>
                      <m:t>N</m:t>
                    </m:r>
                    <m:r>
                      <m:t>O</m:t>
                    </m:r>
                    <m:r>
                      <m:t>3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is used to make a salt bridge because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Velocity of K + is greater than that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O</m:t>
                    </m:r>
                    <m:r>
                      <m:t>3</m:t>
                    </m:r>
                    <m:r>
                      <m:rPr>
                        <m:sty m:val="p"/>
                      </m:rPr>
                      <m:t>−</m:t>
                    </m:r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Velocity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O</m:t>
                    </m:r>
                    <m:r>
                      <m:t>3</m:t>
                    </m:r>
                    <m:r>
                      <m:rPr>
                        <m:sty m:val="p"/>
                      </m:rPr>
                      <m:t>−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is greater than that of K 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Velocity of both K + and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O</m:t>
                    </m:r>
                    <m:r>
                      <m:t>3</m:t>
                    </m:r>
                    <m:r>
                      <m:rPr>
                        <m:sty m:val="p"/>
                      </m:rPr>
                      <m:t>−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are nearly the same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K</m:t>
                    </m:r>
                    <m:r>
                      <m:t>N</m:t>
                    </m:r>
                    <m:r>
                      <m:t>O</m:t>
                    </m:r>
                    <m:r>
                      <m:t>3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is highly soluble in water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Statement I: Conductivity 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κ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 of a solution decreases with dilution.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Statement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: Molar conductivity 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λ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m ) of solution increases with dilution.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Identify the correct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Both statements I and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are correct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809597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Both statements I and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are incorrect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652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Statement I is correct but statement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is incorrect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37652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Statement I is incorrect but statement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is correct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Statement I: Cu displaces H Statement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: ions Cu 2+ get reduced more easily than H 2 gas from dilute acids. + 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Both Statement I and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are correct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Both Statement I and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are incorrect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Statement I is correct and Statement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is incorrect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Statement I is incorrect and Statement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is correct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E° values of Fe / Fe, Zn / Zn, and Sn / Sn are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r>
                      <m:t>0.44</m:t>
                    </m:r>
                    <m:r>
                      <m:t>V</m:t>
                    </m:r>
                    <m:r>
                      <m:rPr>
                        <m:sty m:val="p"/>
                      </m:rPr>
                      <m:t>,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0.76</m:t>
                    </m:r>
                    <m:r>
                      <m:t>V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r>
                      <m:t>0.14</m:t>
                    </m:r>
                    <m:r>
                      <m:t>V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respectively. Which of these metals can displace iron from an Fe 2+ solution?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Zn and Sn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Zn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Sn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Neither Zn nor Sn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43. The molar conductivity is maximum for the solution of concentration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0.005 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0.001 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0.004 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0.002 M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3+ For: Boar d 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44. The product formed at the anode during the electrolysis of aqueous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Cl 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45. The quantity of electricity required for the reduction of one mole of Al ions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 Faraday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 Faraday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 Faraday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4 Faraday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46. What will happen in the Daniel cell, when Eext&lt;1.1 V?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Electrons flow from Zn rod to Cu rod; hence current flows from Cu to Zn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Electrons flow from Cu rod to Zn rod; hence current flows from Cu to Zn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Electrons flow from Zn rod to Cu rod; hence current flows from Zn to Cu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Electrons flow from Cu rod to Zn rod; hence current flows from Zn to Cu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47. When one Faraday current is passed, which of the following would deposit one-gram atomic
mass of the metal?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Z</m:t>
                    </m:r>
                    <m:r>
                      <m:t>n</m:t>
                    </m:r>
                    <m:r>
                      <m:t>S</m:t>
                    </m:r>
                    <m:r>
                      <m:t>O</m:t>
                    </m:r>
                    <m:r>
                      <m:t>4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t>l</m:t>
                    </m:r>
                    <m:r>
                      <m:t>C</m:t>
                    </m:r>
                    <m:r>
                      <m:t>l</m:t>
                    </m:r>
                    <m:r>
                      <m:t>3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B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  <m:r>
                      <m:t>2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1314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For: Boar d s
Chemical Kinetics:
48. Which of these statements about a galvanic cell are not true?
i) The cathode carries a positive sign.
ii) Oxidation occurs at the anode.
iii) Electrons flow from cathode to anode in the external circuit.
iv) The anode carries a negative 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2757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 and iii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302757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 and 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302757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ii and iii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302757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ii and iv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49. Acid hydrolysis of ethyl acetate is an example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Zero order reaction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First order reaction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Second order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Pseudo first order reaction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50. All natural and artificial radioactive decay of unstable nuclei take place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Zero order kinetics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Half-order kinetics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First-order kinetics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Second-order kinetics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For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r>
                      <m:t>N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(g) + O 2 (g) →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r>
                      <m:t>N</m:t>
                    </m:r>
                    <m:r>
                      <m:t>O</m:t>
                    </m:r>
                    <m:r>
                      <m:t>2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(g) , the following initial-rate data were obtained. Choose the rate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equation.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= k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N</m:t>
                    </m:r>
                    <m:r>
                      <m:t>O</m:t>
                    </m:r>
                    <m:r>
                      <m:rPr>
                        <m:sty m:val="p"/>
                      </m:rPr>
                      <m:t>]</m:t>
                    </m:r>
                    <m:r>
                      <m:t>2</m:t>
                    </m:r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= k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N</m:t>
                    </m:r>
                    <m:r>
                      <m:t>O</m:t>
                    </m:r>
                    <m:r>
                      <m:rPr>
                        <m:sty m:val="p"/>
                      </m:rPr>
                      <m:t>]</m:t>
                    </m:r>
                    <m:r>
                      <m:t>2</m:t>
                    </m:r>
                    <m:r>
                      <m:rPr>
                        <m:sty m:val="p"/>
                      </m:rPr>
                      <m:t>[</m:t>
                    </m:r>
                    <m:r>
                      <m:t>O</m:t>
                    </m:r>
                    <m:r>
                      <m:t>2</m:t>
                    </m:r>
                    <m:r>
                      <m:rPr>
                        <m:sty m:val="p"/>
                      </m:rPr>
                      <m:t>]</m:t>
                    </m:r>
                    <m:r>
                      <m:t>2</m:t>
                    </m:r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= k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N</m:t>
                    </m:r>
                    <m:r>
                      <m:t>O</m:t>
                    </m:r>
                    <m:r>
                      <m:rPr>
                        <m:sty m:val="p"/>
                      </m:rPr>
                      <m:t>]</m:t>
                    </m:r>
                    <m:r>
                      <m:rPr>
                        <m:sty m:val="p"/>
                      </m:rPr>
                      <m:t>[</m:t>
                    </m:r>
                    <m:r>
                      <m:t>O</m:t>
                    </m:r>
                    <m:r>
                      <m:t>2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= k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N</m:t>
                    </m:r>
                    <m:r>
                      <m:t>O</m:t>
                    </m:r>
                    <m:r>
                      <m:rPr>
                        <m:sty m:val="p"/>
                      </m:rPr>
                      <m:t>]</m:t>
                    </m:r>
                    <m:r>
                      <m:t>2</m:t>
                    </m:r>
                    <m:r>
                      <m:rPr>
                        <m:sty m:val="p"/>
                      </m:rPr>
                      <m:t>[</m:t>
                    </m:r>
                    <m:r>
                      <m:t>O</m:t>
                    </m:r>
                    <m:r>
                      <m:t>2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Consider the Arrhenius equation k=e−Ea/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T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mark the correct 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constant increases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o</m:t>
                    </m:r>
                    <m:r>
                      <m:t>n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i</m:t>
                    </m:r>
                    <m:r>
                      <m:t>a</m:t>
                    </m:r>
                    <m:r>
                      <m:t>l</m:t>
                    </m:r>
                    <m:r>
                      <m:t>l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with increasing activation energy and decreasing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constant decreases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o</m:t>
                    </m:r>
                    <m:r>
                      <m:t>n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i</m:t>
                    </m:r>
                    <m:r>
                      <m:t>a</m:t>
                    </m:r>
                    <m:r>
                      <m:t>l</m:t>
                    </m:r>
                    <m:r>
                      <m:t>l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with increasing activation energy and decreasing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constant increases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o</m:t>
                    </m:r>
                    <m:r>
                      <m:t>n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i</m:t>
                    </m:r>
                    <m:r>
                      <m:t>a</m:t>
                    </m:r>
                    <m:r>
                      <m:t>l</m:t>
                    </m:r>
                    <m:r>
                      <m:t>l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with increasing activation energy and increasing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constant increases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o</m:t>
                    </m:r>
                    <m:r>
                      <m:t>n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i</m:t>
                    </m:r>
                    <m:r>
                      <m:t>a</m:t>
                    </m:r>
                    <m:r>
                      <m:t>l</m:t>
                    </m:r>
                    <m:r>
                      <m:t>l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with decreasing activation energy and decreasing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53. For a chemical reaction A → B, it is found that the rate of a reaction doubles when the
concentration of A is doubled. The order of the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Three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54. For a zero-order reaction, the intercept for the plot of concentration of reactants vs. time is
equal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-k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R</m:t>
                    </m:r>
                    <m:r>
                      <m:t>0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R</m:t>
                    </m:r>
                    <m:r>
                      <m:t>0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For: Boar d s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Rate = K$[A] [B]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55</m:t>
                    </m:r>
                    <m:r>
                      <m:rPr>
                        <m:sty m:val="p"/>
                      </m:rPr>
                      <m:t>.</m:t>
                    </m:r>
                    <m:r>
                      <m:t>I</m:t>
                    </m:r>
                    <m:r>
                      <m:t>n</m:t>
                    </m:r>
                    <m:r>
                      <m:t>a</m:t>
                    </m:r>
                    <m:r>
                      <m:t>r</m:t>
                    </m:r>
                    <m:r>
                      <m:t>e</m:t>
                    </m:r>
                    <m:r>
                      <m:t>a</m:t>
                    </m:r>
                    <m:r>
                      <m:t>c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A</m:t>
                    </m:r>
                    <m:r>
                      <m:rPr>
                        <m:sty m:val="p"/>
                      </m:rPr>
                      <m:t>+</m:t>
                    </m:r>
                    <m:r>
                      <m:t>B</m:t>
                    </m:r>
                    <m:r>
                      <m:rPr>
                        <m:sty m:val="p"/>
                      </m:rPr>
                      <m:t>→</m:t>
                    </m:r>
                    <m:r>
                      <m:t>p</m:t>
                    </m:r>
                    <m:r>
                      <m:t>r</m:t>
                    </m:r>
                    <m:r>
                      <m:t>o</m:t>
                    </m:r>
                    <m:r>
                      <m:t>d</m:t>
                    </m:r>
                    <m:r>
                      <m:t>u</m:t>
                    </m:r>
                    <m:r>
                      <m:t>c</m:t>
                    </m:r>
                    <m:r>
                      <m:t>t</m:t>
                    </m:r>
                    <m:r>
                      <m:t>s</m:t>
                    </m:r>
                    <m:r>
                      <m:rPr>
                        <m:sty m:val="p"/>
                      </m:rPr>
                      <m:t>,</m:t>
                    </m:r>
                    <m:r>
                      <m:t>r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t>i</m:t>
                    </m:r>
                    <m:r>
                      <m:t>s</m:t>
                    </m:r>
                    <m:r>
                      <m:t>d</m:t>
                    </m:r>
                    <m:r>
                      <m:t>o</m:t>
                    </m:r>
                    <m:r>
                      <m:t>u</m:t>
                    </m:r>
                    <m:r>
                      <m:t>b</m:t>
                    </m:r>
                    <m:r>
                      <m:t>l</m:t>
                    </m:r>
                    <m:r>
                      <m:t>e</m:t>
                    </m:r>
                    <m:r>
                      <m:t>d</m:t>
                    </m:r>
                    <m:r>
                      <m:t>w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c</m:t>
                    </m:r>
                    <m:r>
                      <m:t>o</m:t>
                    </m:r>
                    <m:r>
                      <m:t>n</m:t>
                    </m:r>
                    <m:r>
                      <m:t>c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r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o</m:t>
                    </m:r>
                    <m:r>
                      <m:t>f</m:t>
                    </m:r>
                    <m:r>
                      <m:t>B</m:t>
                    </m:r>
                    <m:r>
                      <m:t>i</m:t>
                    </m:r>
                    <m:r>
                      <m:t>s</m:t>
                    </m:r>
                    <m:r>
                      <m:t>d</m:t>
                    </m:r>
                    <m:r>
                      <m:t>o</m:t>
                    </m:r>
                    <m:r>
                      <m:t>u</m:t>
                    </m:r>
                    <m:r>
                      <m:t>b</m:t>
                    </m:r>
                    <m:r>
                      <m:t>l</m:t>
                    </m:r>
                    <m:r>
                      <m:t>e</m:t>
                    </m:r>
                    <m:r>
                      <m:t>d</m:t>
                    </m:r>
                    <m:r>
                      <m:rPr>
                        <m:sty m:val="p"/>
                      </m:rPr>
                      <m:t>,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r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t>i</m:t>
                    </m:r>
                    <m:r>
                      <m:t>n</m:t>
                    </m:r>
                    <m:r>
                      <m:t>c</m:t>
                    </m:r>
                    <m:r>
                      <m:t>r</m:t>
                    </m:r>
                    <m:r>
                      <m:t>e</m:t>
                    </m:r>
                    <m:r>
                      <m:t>a</m:t>
                    </m:r>
                    <m:r>
                      <m:t>s</m:t>
                    </m:r>
                    <m:r>
                      <m:t>e</m:t>
                    </m:r>
                    <m:r>
                      <m:t>s</m:t>
                    </m:r>
                    <m:r>
                      <m:t>b</m:t>
                    </m:r>
                    <m:r>
                      <m:t>y</m:t>
                    </m:r>
                    <m:r>
                      <m:t>a</m:t>
                    </m:r>
                    <m:r>
                      <m:t>f</m:t>
                    </m:r>
                    <m:r>
                      <m:t>a</m:t>
                    </m:r>
                    <m:r>
                      <m:t>c</m:t>
                    </m:r>
                    <m:r>
                      <m:t>t</m:t>
                    </m:r>
                    <m:r>
                      <m:t>o</m:t>
                    </m:r>
                    <m:r>
                      <m:t>r</m:t>
                    </m:r>
                    <m:r>
                      <m:t>o</m:t>
                    </m:r>
                    <m:r>
                      <m:t>f</m:t>
                    </m:r>
                    <m:r>
                      <m:t>8</m:t>
                    </m:r>
                    <m:r>
                      <m:t>w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c</m:t>
                    </m:r>
                    <m:r>
                      <m:t>o</m:t>
                    </m:r>
                    <m:r>
                      <m:t>n</m:t>
                    </m:r>
                    <m:r>
                      <m:t>c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r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s</m:t>
                    </m:r>
                    <m:r>
                      <m:t>o</m:t>
                    </m:r>
                    <m:r>
                      <m:t>f</m:t>
                    </m:r>
                    <m:r>
                      <m:t>b</m:t>
                    </m:r>
                    <m:r>
                      <m:t>o</m:t>
                    </m:r>
                    <m:r>
                      <m:t>t</m:t>
                    </m:r>
                    <m:r>
                      <m:t>h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r</m:t>
                    </m:r>
                    <m:r>
                      <m:t>e</m:t>
                    </m:r>
                    <m:r>
                      <m:t>a</m:t>
                    </m:r>
                    <m:r>
                      <m:t>c</m:t>
                    </m:r>
                    <m:r>
                      <m:t>t</m:t>
                    </m:r>
                    <m:r>
                      <m:t>a</m:t>
                    </m:r>
                    <m:r>
                      <m:t>n</m:t>
                    </m:r>
                    <m:r>
                      <m:t>t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(A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B</m:t>
                    </m:r>
                    <m:r>
                      <m:rPr>
                        <m:sty m:val="p"/>
                      </m:rPr>
                      <m:t>.</m:t>
                    </m:r>
                    <m:r>
                      <m:t>a</m:t>
                    </m:r>
                    <m:r>
                      <m:t>r</m:t>
                    </m:r>
                    <m:r>
                      <m:t>e</m:t>
                    </m:r>
                    <m:r>
                      <m:t>d</m:t>
                    </m:r>
                    <m:r>
                      <m:t>o</m:t>
                    </m:r>
                    <m:r>
                      <m:t>u</m:t>
                    </m:r>
                    <m:r>
                      <m:t>b</m:t>
                    </m:r>
                    <m:r>
                      <m:t>l</m:t>
                    </m:r>
                    <m:r>
                      <m:t>e</m:t>
                    </m:r>
                    <m:r>
                      <m:t>d</m:t>
                    </m:r>
                    <m:r>
                      <m:rPr>
                        <m:sty m:val="p"/>
                      </m:rPr>
                      <m:t>.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r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t>l</m:t>
                    </m:r>
                    <m:r>
                      <m:t>a</m:t>
                    </m:r>
                    <m:r>
                      <m:t>w</m:t>
                    </m:r>
                    <m:r>
                      <m:t>f</m:t>
                    </m:r>
                    <m:r>
                      <m:t>o</m:t>
                    </m:r>
                    <m:r>
                      <m:t>r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r</m:t>
                    </m:r>
                    <m:r>
                      <m:t>e</m:t>
                    </m:r>
                    <m:r>
                      <m:t>a</m:t>
                    </m:r>
                    <m:r>
                      <m:t>c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c</m:t>
                    </m:r>
                    <m:r>
                      <m:t>a</m:t>
                    </m:r>
                    <m:r>
                      <m:t>n</m:t>
                    </m:r>
                    <m:r>
                      <m:t>b</m:t>
                    </m:r>
                    <m:r>
                      <m:t>e</m:t>
                    </m:r>
                    <m:r>
                      <m:t>w</m:t>
                    </m:r>
                    <m:r>
                      <m:t>r</m:t>
                    </m:r>
                    <m:r>
                      <m:t>i</m:t>
                    </m:r>
                    <m:r>
                      <m:t>t</m:t>
                    </m:r>
                    <m:r>
                      <m:t>t</m:t>
                    </m:r>
                    <m:r>
                      <m:t>e</m:t>
                    </m:r>
                    <m:r>
                      <m:t>n</m:t>
                    </m:r>
                    <m:r>
                      <m:t>a</m:t>
                    </m:r>
                    <m:r>
                      <m:t>s</m:t>
                    </m:r>
                    <m:r>
                      <m:rPr>
                        <m:sty m:val="p"/>
                      </m:rPr>
                      <m:t>: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(A)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=</m:t>
                    </m:r>
                    <m:r>
                      <m:t>K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[A][B] 2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$$(B)$Rate = K$[A] 2 [B] 2$$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(C)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=</m:t>
                    </m:r>
                    <m:r>
                      <m:t>K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[A] 2 [B]$✉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 a reaction Hg + Cl 2 →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H</m:t>
                    </m:r>
                    <m:r>
                      <m:t>g</m:t>
                    </m:r>
                    <m:r>
                      <m:t>C</m:t>
                    </m:r>
                    <m:r>
                      <m:t>l</m:t>
                    </m:r>
                    <m:r>
                      <m:t>2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the rate of disappearance of Hg is equal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Rate of disappearance of Cl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of appearance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H</m:t>
                    </m:r>
                    <m:r>
                      <m:t>g</m:t>
                    </m:r>
                    <m:r>
                      <m:t>C</m:t>
                    </m:r>
                    <m:r>
                      <m:t>l</m:t>
                    </m:r>
                    <m:r>
                      <m:t>2</m:t>
                    </m:r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Rate of appearance of Cl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(a) and (b)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57. In a reaction, when the concentration of a reactant is increased two times, the increase in the
rate of reaction was four times. The order of the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First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Zero order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Pseudo first 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Second order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58. In presence of a catalyst, the heat evolved or absorbed during the reaction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Increases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Decreases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Depends on the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Remains unchanged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59. Order of a reaction in which unit of rate of reaction and rate constant are the same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1 2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Statement I: A catalyst does not alter Gibb’s energy 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r>
                      <m:t>G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of a reaction.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Statement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: A catalyst alters the activation energy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E</m:t>
                    </m:r>
                    <m:r>
                      <m:t>a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of a reaction by providing an alternate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pathway.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Both Statement I and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are correct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809597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Both Statement I and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are incorrect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652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Statement I is correct, but Statement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is incorrect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37652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Statement I is incorrect, but Statement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is correct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1217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Statement I: If in a zero-order reaction, the concentration of the reactant is doubled, the half-life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period is also doubled.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Statement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: For a first-order reaction, the half-life period is independent of the initial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concentration of the reactant.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1409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Both Statement I and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are correct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211409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Both Statement I and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are incorrect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8102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Statement I is correct but Statement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is incorrect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68102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Statement I is incorrect but Statement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is correct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For: Boar d s
62. The collision frequency in a reaction depends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Number of moles of reactants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Proper orientation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Activated reactant molecules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(b) and (c)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63. The following factor which does not affect the rate of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Molecularity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Catalyst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Concentration of reactant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64. The half-life period of a first-order reaction is 15 minutes. The amount of substance left after
one hour will 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One-half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One-fourth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One-eighth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One-sixteenth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65. The molecularity of a reaction cannot 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(a) and (b)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Whole number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number of collisions per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o</m:t>
                    </m:r>
                    <m:r>
                      <m:t>n</m:t>
                    </m:r>
                    <m:r>
                      <m:t>d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per unit volume of the reaction is known 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Collision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Activation energy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Collision frequency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Kinetic energy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order of a chemical reaction having the rate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s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Rate = k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A</m:t>
                    </m:r>
                    <m:r>
                      <m:rPr>
                        <m:sty m:val="p"/>
                      </m:rPr>
                      <m:t>]</m:t>
                    </m:r>
                    <m:r>
                      <m:rPr>
                        <m:sty m:val="p"/>
                      </m:rPr>
                      <m:t>[</m:t>
                    </m:r>
                    <m:r>
                      <m:t>B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1 2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1 4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overall order of a reaction which has the rate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s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Rate = K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A</m:t>
                    </m:r>
                    <m:r>
                      <m:rPr>
                        <m:sty m:val="p"/>
                      </m:rPr>
                      <m:t>]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[</m:t>
                    </m:r>
                    <m:r>
                      <m:t>B</m:t>
                    </m:r>
                    <m:r>
                      <m:rPr>
                        <m:sty m:val="p"/>
                      </m:rPr>
                      <m:t>]</m:t>
                    </m:r>
                    <m:r>
                      <m:rPr>
                        <m:sty m:val="p"/>
                      </m:rPr>
                      <m:t>/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1 1 1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69. The order for a reaction with the rate law Rate= 𝑘 [ 𝐴 ] [ 𝐵 ] is: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Two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70. The rate constant of a reaction is k = 2.3 × 10 L mol s . The order of the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Two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Three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71. The S.I. unit of the rate constant of a first-order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 -1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mol dm -3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mol dm -3 s -1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mol -1 dm 3 s -1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slope of the Arrhenius plot (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k versus 1/T ) for a given reaction is found to be −2000 K . What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the activation energy (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38,314.5 J mol −1 (or E a ) of the reaction in 38.3 kJ mol −1 ) J mol −1 ? (Given R = 8.314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19,157.2 J K −1 mol J mol −1 ) −1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76,629.0 J mol −1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8,314.0 J mol −1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73. The time required for 100 percent completion of a zero-order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2k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[</m:t>
                    </m:r>
                    <m:r>
                      <m:t>R</m:t>
                    </m:r>
                    <m:r>
                      <m:rPr>
                        <m:sty m:val="p"/>
                      </m:rPr>
                      <m:t>]</m:t>
                    </m:r>
                    <m:r>
                      <m:t>0</m:t>
                    </m:r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$[R] 0 /$2k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R</m:t>
                    </m:r>
                    <m:r>
                      <m:rPr>
                        <m:sty m:val="p"/>
                      </m:rPr>
                      <m:t>]</m:t>
                    </m:r>
                    <m:r>
                      <m:t>0</m:t>
                    </m:r>
                    <m:r>
                      <m:rPr>
                        <m:sty m:val="p"/>
                      </m:rPr>
                      <m:t>/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R</m:t>
                    </m:r>
                    <m:r>
                      <m:rPr>
                        <m:sty m:val="p"/>
                      </m:rPr>
                      <m:t>]</m:t>
                    </m:r>
                    <m:r>
                      <m:t>0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k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74. The unit of the rate constant of a reaction is the same as that of its rate. The order of the
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Zero order.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First order.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Second order.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Pseudo order.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1217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For: Boar d 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Application Based Questions: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75. What is the value of ‘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’ if the total order of the reaction, which has the rate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s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: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Rate = k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A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[</m:t>
                    </m:r>
                    <m:r>
                      <m:t>B</m:t>
                    </m:r>
                    <m:r>
                      <m:rPr>
                        <m:sty m:val="p"/>
                      </m:rPr>
                      <m:t>]</m:t>
                    </m:r>
                    <m:sSup>
                      <m:e>
                        <m:r>
                          <m:t>2</m:t>
                        </m:r>
                      </m:e>
                      <m:sup>
                        <m:r>
                          <m:t>x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is 3/2?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1409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211409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3/2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211409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211409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76. When the initial concentration of the reactant is doubled, then the half-life of a zero-order
reaction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Is halved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Is doubled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Is tripled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Remains unchanged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77. Which of the following factors does not affect the rate of reaction?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Molecularity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Catalyst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Concentration of reactant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For: Boar d s
D and F Block elements:
78. Which of the following is correct for a zero-order reaction?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t½ ∝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R</m:t>
                    </m:r>
                    <m:r>
                      <m:t>0</m:t>
                    </m:r>
                    <m:r>
                      <m:rPr>
                        <m:sty m:val="p"/>
                      </m:rPr>
                      <m:t>]</m:t>
                    </m:r>
                    <m:r>
                      <m:t>0</m:t>
                    </m:r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t½ ∝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R</m:t>
                    </m:r>
                    <m:r>
                      <m:t>0</m:t>
                    </m:r>
                    <m:r>
                      <m:rPr>
                        <m:sty m:val="p"/>
                      </m:rPr>
                      <m:t>]</m:t>
                    </m:r>
                    <m:r>
                      <m:t>2</m:t>
                    </m:r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t½ ∝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R</m:t>
                    </m:r>
                    <m:r>
                      <m:t>0</m:t>
                    </m:r>
                    <m:r>
                      <m:rPr>
                        <m:sty m:val="p"/>
                      </m:rPr>
                      <m:t>]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t½ ∝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R</m:t>
                    </m:r>
                    <m:r>
                      <m:t>0</m:t>
                    </m:r>
                    <m:r>
                      <m:rPr>
                        <m:sty m:val="p"/>
                      </m:rPr>
                      <m:t>]</m:t>
                    </m:r>
                    <m:r>
                      <m:t>1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79. Actinoids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Radioactive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Prepared in nanograms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Having smaller half-lives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the above are correct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Among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r>
                      <m:t>c</m:t>
                    </m:r>
                    <m:r>
                      <m:t>C</m:t>
                    </m:r>
                    <m:r>
                      <m:t>l</m:t>
                    </m:r>
                    <m:r>
                      <m:t>3</m:t>
                    </m:r>
                    <m:r>
                      <m:rPr>
                        <m:sty m:val="p"/>
                      </m:rPr>
                      <m:t>,</m:t>
                    </m:r>
                    <m:r>
                      <m:t>T</m:t>
                    </m:r>
                    <m:r>
                      <m:t>i</m:t>
                    </m:r>
                    <m:r>
                      <m:t>C</m:t>
                    </m:r>
                    <m:r>
                      <m:t>l</m:t>
                    </m:r>
                    <m:r>
                      <m:t>3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Z</m:t>
                    </m:r>
                    <m:r>
                      <m:t>n</m:t>
                    </m:r>
                    <m:r>
                      <m:t>C</m:t>
                    </m:r>
                    <m:r>
                      <m:t>l</m:t>
                    </m:r>
                    <m:r>
                      <m:t>2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the colored compound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r>
                      <m:t>c</m:t>
                    </m:r>
                    <m:r>
                      <m:t>C</m:t>
                    </m:r>
                    <m:r>
                      <m:t>l</m:t>
                    </m:r>
                    <m:r>
                      <m:t>3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r>
                      <m:t>i</m:t>
                    </m:r>
                    <m:r>
                      <m:t>C</m:t>
                    </m:r>
                    <m:r>
                      <m:t>l</m:t>
                    </m:r>
                    <m:r>
                      <m:t>3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Z</m:t>
                    </m:r>
                    <m:r>
                      <m:t>n</m:t>
                    </m:r>
                    <m:r>
                      <m:t>C</m:t>
                    </m:r>
                    <m:r>
                      <m:t>l</m:t>
                    </m:r>
                    <m:r>
                      <m:t>2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the above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81. Diamagnetic compound among the following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Cu 2 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n</m:t>
                    </m:r>
                    <m:r>
                      <m:t>O</m:t>
                    </m:r>
                    <m:r>
                      <m:t>2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V 2 O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t>e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82. Identify the correct sequence of the number of unpaired electrons of the following 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Ti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&gt; Cr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&gt; Fe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&gt; Ni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Fe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&gt; Ni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&gt; Ti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&gt; Cr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Fe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&gt; Cr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&gt; Ni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&gt; Ti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Fe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&gt; Cr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&gt; Ti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&gt; Ni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 a neutral or faintly alkaline medium,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K</m:t>
                    </m:r>
                    <m:r>
                      <m:t>M</m:t>
                    </m:r>
                    <m:r>
                      <m:t>n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oxidizes iodide ions into iodate.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change in oxidation state of manganese in this reaction is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+7 to +2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+7 to +4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+6 to +4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+7 to +6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 aqueous solution, copper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ions undergo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Oxidation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Reduction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Disproportionation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Redox reaction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Potassium permanganate oxidizes sulphurous acid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H</m:t>
                    </m:r>
                    <m:r>
                      <m:t>2</m:t>
                    </m:r>
                    <m:r>
                      <m:t>S</m:t>
                    </m:r>
                    <m:r>
                      <m:t>O</m:t>
                    </m:r>
                    <m:r>
                      <m:t>3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 into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 2 O 7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r>
                      <m:t>O</m:t>
                    </m:r>
                    <m:r>
                      <m:t>4</m:t>
                    </m:r>
                    <m:r>
                      <m:t>2</m:t>
                    </m:r>
                    <m:r>
                      <m:rPr>
                        <m:sty m:val="p"/>
                      </m:rPr>
                      <m:t>−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r>
                      <m:t>O</m:t>
                    </m:r>
                    <m:r>
                      <m:t>3</m:t>
                    </m:r>
                    <m:r>
                      <m:t>2</m:t>
                    </m:r>
                    <m:r>
                      <m:rPr>
                        <m:sty m:val="p"/>
                      </m:rPr>
                      <m:t>−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86. The aqueous solution of a transition metal ion M is colorless. The ion M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Mn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Cr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V 4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Ti 4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87. The characteristic feature of transition metal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show variable oxidation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do not form complexes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are not good catalysts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exhibit only diamagnetism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88. The correct order of magnetic moment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Sc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&lt; Ti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&lt; Ti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Ti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&lt; Ti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&lt; Sc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Ti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&lt; Sc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&lt; Ti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Sc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&lt; Ti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&lt; Ti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For: Boar d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Cr &gt; Mn &gt; 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Fe &gt; Mn &gt; Cr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Cr &gt; Fe &gt; Mn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Mn &gt; Fe &gt; Cr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electronic configuration of Cu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is 3d , whereas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u</m:t>
                    </m:r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is 3d . Which of the following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correct?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Cu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is less stable.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Cu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is more stable.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Stability of both depends upon the nature of their salts.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u</m:t>
                    </m:r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and Cu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are equally stable.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magnetic moment of an element is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1.73</m:t>
                    </m:r>
                    <m:r>
                      <m:t>B</m:t>
                    </m:r>
                    <m:r>
                      <m:t>M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The number of unpaired electrons in it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92. The most stable manganese compound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Mn 2 O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n</m:t>
                    </m:r>
                    <m:r>
                      <m:t>F</m:t>
                    </m:r>
                    <m:r>
                      <m:t>4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n</m:t>
                    </m:r>
                    <m:r>
                      <m:t>O</m:t>
                    </m:r>
                    <m:r>
                      <m:t>2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Mn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r>
                      <m:t>S</m:t>
                    </m:r>
                    <m:r>
                      <m:t>O</m:t>
                    </m:r>
                    <m:r>
                      <m:t>4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93. The number of moles of K 2 Cr 2 O 7 reduced by one mole of Sn 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1/6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94. The set of 3d series elements that show anomalous electronic configurations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Cr and Mn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Cu and Zn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Cr and Cu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Mn and Zn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95. The transition metal present in bronze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Zinc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Silver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Copper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96. The transition metal present in the red pigment of blood haemoglobin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cobalt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Nickel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Iron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copper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97. Which of the following actinoids show oxidation states up to +7?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Am (Americium)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Th (Thorium)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U (Uranium)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Np (Neptunium)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98. Which of the following ions has the least magnetic moment?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Cu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Co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Ni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Fe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99. Which of the following is a colorless 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V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Fe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Ti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Zn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For: Boar d s
100. Which of the following pairs have the same paramagnetic moment?
(Atomic numbers: Ti = 22, Mn = 25, Ni = 28, Cu = 29)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Ti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, Ni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Cu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, Ti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Ti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, Cu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Mn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, Cu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101. Which of the following statements about transition elements is incorrect?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show variable oxidation states.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All the ions are colored.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exhibit diamagnetic and paramagnetic properties.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exhibit catalytic properties.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102. Which of the following transition metal ions is colorless?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V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Cr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Zn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Ti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103. A mixture of chloromethane and chlorobenzene are treated with sodium in dry ether,
the product obtained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Toluene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Diphenyl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the above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Among the following alkyl halides, which is more reactive towards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N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reaction?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R-I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R-Cl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R-F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R-Br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Assertion: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N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reactions do not proceed with retention.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Reason: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N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reaction proceeds in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sin</m:t>
                    </m:r>
                    <m:r>
                      <m:t>g</m:t>
                    </m:r>
                    <m:r>
                      <m:t>l</m:t>
                    </m:r>
                    <m:r>
                      <m:t>e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steps.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Identify the correct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If both assertion and reason are correct and reason is correct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n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for assertion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809597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If both assertion and reason are correct but reason is not correct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n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for assertion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065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If assertion is correct but reason is incorrect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46065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If assertion is incorrect but reason is correct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106. Chlorobenzene reacts with magnesium in dry ether to give a compound A, which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 6 H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5</m:t>
                    </m:r>
                    <m:r>
                      <m:t>O</m:t>
                    </m:r>
                    <m:r>
                      <m:t>H</m:t>
                    </m:r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 6 H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5</m:t>
                    </m:r>
                    <m:r>
                      <m:t>M</m:t>
                    </m:r>
                    <m:r>
                      <m:t>g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 2 H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5</m:t>
                    </m:r>
                    <m:r>
                      <m:t>C</m:t>
                    </m:r>
                    <m:r>
                      <m:t>H</m:t>
                    </m:r>
                    <m:r>
                      <m:t>2</m:t>
                    </m:r>
                    <m:r>
                      <m:t>M</m:t>
                    </m:r>
                    <m:r>
                      <m:t>g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g</m:t>
                    </m:r>
                    <m:r>
                      <m:t>C</m:t>
                    </m:r>
                    <m:r>
                      <m:t>l</m:t>
                    </m:r>
                    <m:r>
                      <m:t>2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107. Chloroform is stored completely filled in a closed dark-colored bottle. This is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Prevent the oxidation of chloroform by air in the presence of sunlight.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Prevent the evaporation of chloroform.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Prevent the reaction of chloroform with nitrogen in the air.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Prevent the reaction of chloroform with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2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to form extremely poisonous gas carbonyl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108. Four haloalkane compounds represented by the letters M, N, O, and P having boiling
points of 24.2°C, 38°C, 3.56°C, and 101.6°C respectively. Among the four compounds, N
is most likely to 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H</m:t>
                    </m:r>
                    <m:r>
                      <m:t>3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H</m:t>
                    </m:r>
                    <m:r>
                      <m:t>3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Br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 2 H 5 Br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 3 H 7 I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For: Boar d s
109. Freon can be prepared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Friedel-Crafts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Swartz reaction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110. In vinylic halides, the halogen atom is attached to a carbon atom with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sp 3 hybridization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sp 2 hybridization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sp hybridization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dsp 2 hybridization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111. Match the organic compounds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54583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00B0F0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L</m:t>
                    </m:r>
                    <m:r>
                      <m:t>U</m:t>
                    </m:r>
                    <m:r>
                      <m:t>M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400" b="1">
                <a:solidFill>
                  <a:srgbClr val="00B0F0"/>
                </a:solidFill>
                <a:latin typeface="Arial"/>
              </a:rPr>
              <a:t>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85916" y="1216151"/>
            <a:ext cx="554583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00B0F0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L</m:t>
                    </m:r>
                    <m:r>
                      <m:t>U</m:t>
                    </m:r>
                    <m:r>
                      <m:t>M</m:t>
                    </m:r>
                    <m:r>
                      <m:t>N</m:t>
                    </m:r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400" b="1">
                <a:solidFill>
                  <a:srgbClr val="00B0F0"/>
                </a:solidFill>
                <a:latin typeface="Arial"/>
              </a:rPr>
              <a:t>​</a:t>
            </a:r>
          </a:p>
        </p:txBody>
      </p:sp>
      <p:sp>
        <p:nvSpPr>
          <p:cNvPr id="6" name="Rectangle 5"/>
          <p:cNvSpPr/>
          <p:nvPr/>
        </p:nvSpPr>
        <p:spPr>
          <a:xfrm>
            <a:off x="6067044" y="1216151"/>
            <a:ext cx="18288" cy="167335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17904"/>
            <a:ext cx="5545836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>
                <a:solidFill>
                  <a:srgbClr val="F0F0F0"/>
                </a:solidFill>
                <a:latin typeface="Arial"/>
              </a:defRPr>
            </a:pPr>
            <a:r>
              <a:rPr lang="en-US" sz="1400">
                <a:solidFill>
                  <a:srgbClr val="F0F0F0"/>
                </a:solidFill>
                <a:latin typeface="Arial"/>
              </a:rPr>
              <a:t>Carbon tetrachloride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  <p:sp>
        <p:nvSpPr>
          <p:cNvPr id="8" name="TextBox 7"/>
          <p:cNvSpPr txBox="1"/>
          <p:nvPr/>
        </p:nvSpPr>
        <p:spPr>
          <a:xfrm>
            <a:off x="457200" y="305409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A. </a:t>
            </a:r>
            <a:r>
              <a:rPr sz="1400" b="0">
                <a:solidFill>
                  <a:srgbClr val="F0F0F0"/>
                </a:solidFill>
                <a:latin typeface="Arial"/>
              </a:rPr>
              <a:t>Fire extinguisher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6557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B. </a:t>
            </a:r>
            <a:r>
              <a:rPr sz="1400" b="0">
                <a:solidFill>
                  <a:srgbClr val="F0F0F0"/>
                </a:solidFill>
                <a:latin typeface="Arial"/>
              </a:rPr>
              <a:t>Antiseptic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7705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C. </a:t>
            </a:r>
            <a:r>
              <a:rPr sz="1400" b="0">
                <a:solidFill>
                  <a:srgbClr val="F0F0F0"/>
                </a:solidFill>
                <a:latin typeface="Arial"/>
              </a:rPr>
              <a:t>Solvent for fats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8853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D. </a:t>
            </a:r>
            <a:r>
              <a:rPr sz="1400" b="0">
                <a:solidFill>
                  <a:srgbClr val="F0F0F0"/>
                </a:solidFill>
                <a:latin typeface="Arial"/>
              </a:rPr>
              <a:t>Paint remover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R - X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+</m:t>
                    </m:r>
                    <m:r>
                      <m:t>N</m:t>
                    </m:r>
                    <m:r>
                      <m:t>a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(dry acetone) →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I</m:t>
                    </m:r>
                    <m:r>
                      <m:rPr>
                        <m:sty m:val="p"/>
                      </m:rPr>
                      <m:t>+</m:t>
                    </m:r>
                    <m:r>
                      <m:t>N</m:t>
                    </m:r>
                    <m:r>
                      <m:t>a</m:t>
                    </m:r>
                    <m:r>
                      <m:t>X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name the reaction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Fittig reaction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Swarts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113. Select the incorrect 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Swartz reaction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r>
                      <m:t>C</m:t>
                    </m:r>
                    <m:r>
                      <m:t>o</m:t>
                    </m:r>
                    <m:r>
                      <m:t>F</m:t>
                    </m:r>
                    <m:r>
                      <m:t>2</m:t>
                    </m:r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Finkelstein reaction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r>
                      <m:t>N</m:t>
                    </m:r>
                    <m:r>
                      <m:t>a</m:t>
                    </m:r>
                    <m:r>
                      <m:t>I</m:t>
                    </m:r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Sandmeyer’s reaction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r>
                      <m:t>C</m:t>
                    </m:r>
                    <m:r>
                      <m:t>u</m:t>
                    </m:r>
                    <m:r>
                      <m:t>C</m:t>
                    </m:r>
                    <m:r>
                      <m:t>l</m:t>
                    </m:r>
                    <m:r>
                      <m:t>2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Wurtz reaction - Na / dry ether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Tertiary alkyl halides are least reactive towards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N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reaction because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Inductive effect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Steric effect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Resonance effect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Electrometric effect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115. The best reagent used to produce pure alkyl halides from alcohol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Concentrated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H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Concentrated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H</m:t>
                    </m:r>
                    <m:r>
                      <m:t>B</m:t>
                    </m:r>
                    <m:r>
                      <m:t>r</m:t>
                    </m:r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r>
                      <m:t>O</m:t>
                    </m:r>
                    <m:r>
                      <m:t>C</m:t>
                    </m:r>
                    <m:r>
                      <m:t>l</m:t>
                    </m:r>
                    <m:r>
                      <m:t>2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B</m:t>
                    </m:r>
                    <m:r>
                      <m:t>r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116. The chemical formula of phosgene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r>
                      <m:t>O</m:t>
                    </m:r>
                    <m:r>
                      <m:t>C</m:t>
                    </m:r>
                    <m:r>
                      <m:t>l</m:t>
                    </m:r>
                    <m:r>
                      <m:t>2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H</m:t>
                    </m:r>
                    <m:r>
                      <m:t>2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Cl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C</m:t>
                    </m:r>
                    <m:r>
                      <m:t>l</m:t>
                    </m:r>
                    <m:r>
                      <m:t>2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C</m:t>
                    </m:r>
                    <m:r>
                      <m:t>l</m:t>
                    </m:r>
                    <m:r>
                      <m:t>4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117. The chemical name of phosgene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Acetyl chloride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Methyl chloride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Carbonyl chloride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Chloroform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For: Boar d s
C. 2-Bromo propane D. 2-Bromopropan-2-ol
118. The chiral molecule among the following is
A. 1-Bromo butane B. 2-Bromobutane
✉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compound H 2 C=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H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-Cl is an example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Allylic halides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Aryl halides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Benzylic halides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Vinylic halides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120. The increasing order of boiling points of alkyl halides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F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B</m:t>
                    </m:r>
                    <m:r>
                      <m:t>r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I</m:t>
                    </m:r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F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B</m:t>
                    </m:r>
                    <m:r>
                      <m:t>r</m:t>
                    </m:r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B</m:t>
                    </m:r>
                    <m:r>
                      <m:t>r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F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B</m:t>
                    </m:r>
                    <m:r>
                      <m:t>r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F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I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U</m:t>
                    </m:r>
                    <m:r>
                      <m:t>P</m:t>
                    </m:r>
                    <m:r>
                      <m:t>A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name of ethylidene chloride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1-Chloroethene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1-Chloroethyne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1,2-Dichloroethane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1,1-Dichloroethane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reaction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H</m:t>
                    </m:r>
                    <m:r>
                      <m:t>3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Br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+</m:t>
                    </m:r>
                    <m:r>
                      <m:t>A</m:t>
                    </m:r>
                    <m:r>
                      <m:t>g</m:t>
                    </m:r>
                    <m:r>
                      <m:t>F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→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H</m:t>
                    </m:r>
                    <m:r>
                      <m:t>3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+</m:t>
                    </m:r>
                    <m:r>
                      <m:t>A</m:t>
                    </m:r>
                    <m:r>
                      <m:t>g</m:t>
                    </m:r>
                    <m:r>
                      <m:t>B</m:t>
                    </m:r>
                    <m:r>
                      <m:t>r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is called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Swarts reaction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Gattermann reaction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123. When 2-Bromo pentane is treated with alcoholic potash, the major product produced
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1-Pentene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2-Pentene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2-Pentane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3-Pentene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Which of the following alkyl halides will undergo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N</m:t>
                        </m:r>
                      </m:e>
                      <m:sub>
                        <m:r>
                          <m:t>1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reaction most readily?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H</m:t>
                    </m:r>
                    <m:r>
                      <m:t>3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) 3 C-F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H</m:t>
                    </m:r>
                    <m:r>
                      <m:t>3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) 3 C-Cl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H</m:t>
                    </m:r>
                    <m:r>
                      <m:t>3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) 3 C-Br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H</m:t>
                    </m:r>
                    <m:r>
                      <m:t>3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) 3 C-I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A compound P with formula C 3 H 6 on reaction with H 2 O in presence of H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r>
                      <m:t>S</m:t>
                    </m:r>
                    <m:r>
                      <m:t>O</m:t>
                    </m:r>
                    <m:r>
                      <m:t>4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gives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the compound Q. Compound Q on heating with Cu 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573</m:t>
                    </m:r>
                    <m:r>
                      <m:t>K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produces the compound R.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Compounds P, Q, and R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 = Propan-1-ol, Q = Propene, R = Propanone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809597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 = Propene, Q = Propan-2-ol, R = Propene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652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 = Propene, Q = Propan-2-ol, R = Propanone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37652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 = Propanone, Q = Propan-1-ol, R = Propane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An organic compound ‘A’ containing C, H, and O has a pleasant odor with a boiling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point of 78°C. On boiling ‘A’ with conc. H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r>
                      <m:t>S</m:t>
                    </m:r>
                    <m:r>
                      <m:t>O</m:t>
                    </m:r>
                    <m:r>
                      <m:t>4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 colorless gas is produced which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decolorizes bromine water and alkaline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K</m:t>
                    </m:r>
                    <m:r>
                      <m:t>M</m:t>
                    </m:r>
                    <m:r>
                      <m:t>n</m:t>
                    </m:r>
                    <m:r>
                      <m:t>O</m:t>
                    </m:r>
                    <m:r>
                      <m:t>4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The organic compound A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 2 H 5 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 2 H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5</m:t>
                    </m:r>
                    <m:r>
                      <m:t>O</m:t>
                    </m:r>
                    <m:r>
                      <m:t>H</m:t>
                    </m:r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 2 H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5</m:t>
                    </m:r>
                    <m:r>
                      <m:t>C</m:t>
                    </m:r>
                    <m:r>
                      <m:t>O</m:t>
                    </m:r>
                    <m:r>
                      <m:t>O</m:t>
                    </m:r>
                    <m:r>
                      <m:t>C</m:t>
                    </m:r>
                    <m:r>
                      <m:t>H</m:t>
                    </m:r>
                    <m:r>
                      <m:t>3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 6 H 6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127. By which test can 1°, 2°, and 3° alcohols be detected?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Hinsberg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Tollen's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Lucas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of these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For: Boar d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Ketone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Aldehyde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Alcohol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Cresol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129. Enantiomers only differ with respect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Melting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Boiling 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Refractive index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The rotation of plane-polarized light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130. Ethane-1,2-diol is an example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Monohydric alcohol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Dihydric alcohol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Dihydric phenol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Monohydric phenol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out the product of the following reaction: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(Reaction involving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O</m:t>
                    </m:r>
                    <m:r>
                      <m:t>H</m:t>
                    </m:r>
                    <m:r>
                      <m:rPr>
                        <m:sty m:val="p"/>
                      </m:rPr>
                      <m:t>,</m:t>
                    </m:r>
                    <m:r>
                      <m:t>623</m:t>
                    </m:r>
                    <m:r>
                      <m:t>K</m:t>
                    </m:r>
                    <m:r>
                      <m:rPr>
                        <m:sty m:val="p"/>
                      </m:rPr>
                      <m:t>,</m:t>
                    </m:r>
                    <m:r>
                      <m:t>300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atm)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Aromatic amine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Aromatic hydroxyl compound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Aromatic dihydroxy compound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Aromatic nitro compound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132. Halogenation of benzene occurs in the presence of Lewis acid, but halogenation of
phenol occurs even in the absence of Lewis acid due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Highly deactivating effect of -OH group attached to the benzene 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Highly activating effect of -OH group attached to the benzene 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Highly deactivating effect of the benzene 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Highly activating effect of the benzene ring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133. How many alcohols with molecular formula C 4 H 10 O are chiral in nature?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134. Identify the simple ether from the following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H</m:t>
                    </m:r>
                    <m:r>
                      <m:t>3</m:t>
                    </m:r>
                    <m:r>
                      <m:t>O</m:t>
                    </m:r>
                    <m:r>
                      <m:t>C</m:t>
                    </m:r>
                    <m:r>
                      <m:t>2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H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 2 H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5</m:t>
                    </m:r>
                    <m:r>
                      <m:t>O</m:t>
                    </m:r>
                    <m:r>
                      <m:t>C</m:t>
                    </m:r>
                    <m:r>
                      <m:t>6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H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 6 H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5</m:t>
                    </m:r>
                    <m:r>
                      <m:t>O</m:t>
                    </m:r>
                    <m:r>
                      <m:t>C</m:t>
                    </m:r>
                    <m:r>
                      <m:t>6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H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 6 H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5</m:t>
                    </m:r>
                    <m:r>
                      <m:t>O</m:t>
                    </m:r>
                    <m:r>
                      <m:t>C</m:t>
                    </m:r>
                    <m:r>
                      <m:t>H</m:t>
                    </m:r>
                    <m:r>
                      <m:t>3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135. In Kolbe's reaction, phenol is converted into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Salicylic acid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Salicylaldehyde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Benzoic acid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Benzaldehyde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136. In picric acid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Three -OH groups are present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Two -OH groups are present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Three -NO 2 groups are present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One -NO 2 group is present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137. O-nitrophenol and p-nitrophenol are separated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Sublimation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Fractional distillation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Crystallization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Steam distillation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138. Phenol is less acidic than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o-Nitrophenol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o-Methylphenol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o-Methoxyphenol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For: Boar d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o-Nitrophenol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m-Nitrophenol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p-Nitrophenol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140. Phenol on oxidation with chromic acid gives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Benzoquinone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Catechol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Hydroquinone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Phthalic acid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141. Salicylaldehyde can be prepared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Dow's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Reimer-Tiemann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Kolbe's reaction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142. The boiling points of alcohols increase with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Increase in the number of C-atoms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Decrease in van der Waals forces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Increase of branching in the C-chain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Decrease in the surface area of the C-chain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143. The C-O bond angles of P, Q, and R are found to be 111.7°, 109°, and 108.9°,
respectively. Compound P, Q, and R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 = Phenol, Q = Methanol, R = Methoxy Methane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 = Methoxy Methane, Q = Methanol, R = Phenol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 = Methanol, Q = Phenol, R = Methoxy Methane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 = Methoxy Methane, Q = Phenol, R = Methanol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144. The chemicals used to convert commercial alcohol into denatured alcohol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u</m:t>
                    </m:r>
                    <m:r>
                      <m:t>S</m:t>
                    </m:r>
                    <m:r>
                      <m:t>O</m:t>
                    </m:r>
                    <m:r>
                      <m:t>4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and Pyrolidine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Cu 2 S and Pyrolidine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u</m:t>
                    </m:r>
                    <m:r>
                      <m:t>S</m:t>
                    </m:r>
                    <m:r>
                      <m:t>O</m:t>
                    </m:r>
                    <m:r>
                      <m:t>4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and Pyridine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Cu 2 S and Pyridine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145. The compound that reacts fastest with Luca’s reagent at room temperature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2-Methylpropan-2-ol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Butan-2-ol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2-Methylpropan-1-ol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Butan-1-ol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18269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For: Boar d s
146. The correct order of acid strength of the following compounds is:
(i) o -bromophenol
(ii) p -bromophenol
(iii) picric acid (2,4,6-trinitrophenol)
(iv) 2,4,6-tribromophenol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23083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(iii) &gt; (iv) &gt; (i) &gt; (ii)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2723083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(iii) &gt; (iv) &gt; (ii) &gt; (i)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2723083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(iv) &gt; (iii) &gt; (i) &gt; (ii)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2723083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(i) &gt; (ii) &gt; (iv) &gt; (iii)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147. The decreasing order of boiling points of ethanol, propane, and dimethyl ether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 &gt; Dimethyl ether &gt; Propane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 &gt; Propane &gt; Dimethyl ether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Propane &gt; Dimethyl ether &gt; Ethanol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Propane &gt; Ethanol &gt; Dimethyl ether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high boiling point of ethanol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2</m:t>
                    </m:r>
                    <m:r>
                      <m:t>H</m:t>
                    </m:r>
                    <m:r>
                      <m:t>5</m:t>
                    </m:r>
                    <m:r>
                      <m:t>O</m:t>
                    </m:r>
                    <m:r>
                      <m:t>H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compared to methoxy methane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H</m:t>
                    </m:r>
                    <m:r>
                      <m:t>3</m:t>
                    </m:r>
                    <m:r>
                      <m:t>O</m:t>
                    </m:r>
                    <m:r>
                      <m:t>C</m:t>
                    </m:r>
                    <m:r>
                      <m:t>H</m:t>
                    </m:r>
                    <m:r>
                      <m:t>3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propane is due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Intra-molecular hydrogen bonding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Inter-molecular hydrogen bonding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Both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and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B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149. The major byproduct during the preparation of phenol from cumene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Acetone.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Cresol.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Alcohol.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Acetaldehyde.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150. The major product formed when phenol is treated with excess bromine water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o-Bromophenol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p-Bromophenol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Picric acid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2,4,6-Tribromophenol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role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2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in Kolbe’s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acts as catalyst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act as nucleophile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act as weak electrophile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act as strong electrophile.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152. What is the correct order of boiling points of alcohols having the same number of
carbon atoms?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1° &gt; 2° &gt; 3°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3° &gt; 2° &gt; 1°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3° &gt; 1° &gt; 2°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2° &gt; 1° &gt; 3°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153. When an alcohol is treated with Luca’s reagent, if immediate turbidity appears, then it
confirms the presence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Primary alcohol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Secondary alcohol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Tertiary alcohol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of these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154. When phenol is heated with chloroform in sodium hydroxide followed by
acidification, the product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Chlorobenzene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Benzyl chloride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Salicylaldehyde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Salicylic acid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For: Boar d s
C. Methanol D. Benzene
155. When phenol is heated with Zn dust, it gives
A. Benzyl alcohol B. Ethanol
✉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156. When phenol is treated with bromine water, a white precipitate of the product
obtained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2-Bromophenol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4-Bromophenol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2-Bromophenol and 4-Bromophenol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2,4,6-Tribromophenol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157. According to the spectrochemical series, the strongest field ligand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F -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H</m:t>
                    </m:r>
                    <m:r>
                      <m:t>3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H 2 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158. According to Werner's theory, the primary valencies of the central atom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Satisfied by negative ions or neutral molecules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Satisfied by negative 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Are equal to coordination number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Decide the geometry of the complex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159. Among the following statements, which statement is correct about metal carbonyls?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Metal carbonyls are s-bonded organometallic compounds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Metal carbonyls are p-bonded organometallic compounds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Metal carbonyls involve both s and p bonds between metal and oxygen of the carbonyl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Metal carbonyls involve both s and p bonds between metal and carbon of the carbonyl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160. An ambidentate ligand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Cl -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N</m:t>
                    </m:r>
                    <m:r>
                      <m:rPr>
                        <m:sty m:val="p"/>
                      </m:rPr>
                      <m:t>−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O</m:t>
                    </m:r>
                    <m:r>
                      <m:t>H</m:t>
                    </m:r>
                    <m:r>
                      <m:rPr>
                        <m:sty m:val="p"/>
                      </m:rPr>
                      <m:t>−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O</m:t>
                    </m:r>
                    <m:r>
                      <m:t>2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161. An example of an ambidentate ligand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N</m:t>
                    </m:r>
                    <m:r>
                      <m:rPr>
                        <m:sty m:val="p"/>
                      </m:rPr>
                      <m:t>−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O</m:t>
                    </m:r>
                    <m:r>
                      <m:t>3</m:t>
                    </m:r>
                    <m:r>
                      <m:rPr>
                        <m:sty m:val="p"/>
                      </m:rPr>
                      <m:t>−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r>
                      <m:t>O</m:t>
                    </m:r>
                    <m:r>
                      <m:t>4</m:t>
                    </m:r>
                    <m:r>
                      <m:t>2</m:t>
                    </m:r>
                    <m:r>
                      <m:rPr>
                        <m:sty m:val="p"/>
                      </m:rPr>
                      <m:t>−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Cobalt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chloride forms several octahedral complexes with ammonia. Which of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following will not give a test for chloride ion with silver nitrate solution?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C</m:t>
                    </m:r>
                    <m:r>
                      <m:t>l</m:t>
                    </m:r>
                    <m:r>
                      <m:t>3</m:t>
                    </m:r>
                    <m:r>
                      <m:t>.4</m:t>
                    </m:r>
                    <m:r>
                      <m:t>N</m:t>
                    </m:r>
                    <m:r>
                      <m:t>H</m:t>
                    </m:r>
                    <m:r>
                      <m:t>3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C</m:t>
                    </m:r>
                    <m:r>
                      <m:t>l</m:t>
                    </m:r>
                    <m:r>
                      <m:t>3</m:t>
                    </m:r>
                    <m:r>
                      <m:t>.5</m:t>
                    </m:r>
                    <m:r>
                      <m:t>N</m:t>
                    </m:r>
                    <m:r>
                      <m:t>H</m:t>
                    </m:r>
                    <m:r>
                      <m:t>3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C</m:t>
                    </m:r>
                    <m:r>
                      <m:t>l</m:t>
                    </m:r>
                    <m:r>
                      <m:t>3</m:t>
                    </m:r>
                    <m:r>
                      <m:t>.6</m:t>
                    </m:r>
                    <m:r>
                      <m:t>N</m:t>
                    </m:r>
                    <m:r>
                      <m:t>H</m:t>
                    </m:r>
                    <m:r>
                      <m:t>3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C</m:t>
                    </m:r>
                    <m:r>
                      <m:t>l</m:t>
                    </m:r>
                    <m:r>
                      <m:t>3</m:t>
                    </m:r>
                    <m:r>
                      <m:t>.3</m:t>
                    </m:r>
                    <m:r>
                      <m:t>N</m:t>
                    </m:r>
                    <m:r>
                      <m:t>H</m:t>
                    </m:r>
                    <m:r>
                      <m:t>3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For: Boar d 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163. If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o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&lt;P (Pairing energy), for the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d</m:t>
                        </m:r>
                      </m:e>
                      <m:sup>
                        <m:r>
                          <m:t>4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ion, an entry of the 4th electron gives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 2 g 2 e 2 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 2 g 4 e 0 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 42 g e 0 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 32 g e 1 g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 coordination compound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o</m:t>
                    </m:r>
                    <m:r>
                      <m:t>C</m:t>
                    </m:r>
                    <m:r>
                      <m:t>l</m:t>
                    </m:r>
                    <m:r>
                      <m:t>2</m:t>
                    </m:r>
                    <m:r>
                      <m:rPr>
                        <m:sty m:val="p"/>
                      </m:rPr>
                      <m:t>(</m:t>
                    </m:r>
                    <m:r>
                      <m:t>e</m:t>
                    </m:r>
                    <m:r>
                      <m:t>n</m:t>
                    </m:r>
                    <m:r>
                      <m:rPr>
                        <m:sty m:val="p"/>
                      </m:rPr>
                      <m:t>)</m:t>
                    </m:r>
                    <m:r>
                      <m:t>2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Br, the primary and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o</m:t>
                    </m:r>
                    <m:r>
                      <m:t>n</m:t>
                    </m:r>
                    <m:r>
                      <m:t>d</m:t>
                    </m:r>
                    <m:r>
                      <m:t>a</m:t>
                    </m:r>
                    <m:r>
                      <m:t>r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valencies of Co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4 and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2 and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t>e</m:t>
                    </m:r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O</m:t>
                    </m:r>
                    <m:r>
                      <m:rPr>
                        <m:sty m:val="p"/>
                      </m:rPr>
                      <m:t>)</m:t>
                    </m:r>
                    <m:r>
                      <m:t>5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Fe-C bond processes involve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π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-character only.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Both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σ</m:t>
                    </m:r>
                    <m:r>
                      <m:rPr>
                        <m:sty m:val="p"/>
                      </m:rPr>
                      <m:t>−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and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π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-characters.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Ionic character.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σ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-character.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166. In metal carbonyls, the M-C sigma bond is formed by the donation of a lone pair of
electrons on the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Carbonyl carbon atom to filled orbital of metal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Carbonyl carbon atom to vacant orbital of metal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Filled d-orbital of metal to vacant antibonding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π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orbital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Filled d-orbital of metal to vacant bonding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π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orbital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167</m:t>
                    </m:r>
                    <m:r>
                      <m:rPr>
                        <m:sty m:val="p"/>
                      </m:rPr>
                      <m:t>.</m:t>
                    </m:r>
                    <m:r>
                      <m:t>I</m:t>
                    </m:r>
                    <m:r>
                      <m:t>U</m:t>
                    </m:r>
                    <m:r>
                      <m:t>P</m:t>
                    </m:r>
                    <m:r>
                      <m:t>A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name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o</m:t>
                    </m:r>
                    <m:r>
                      <m:t>C</m:t>
                    </m:r>
                    <m:r>
                      <m:t>l</m:t>
                    </m:r>
                    <m:r>
                      <m:rPr>
                        <m:sty m:val="p"/>
                      </m:rPr>
                      <m:t>(</m:t>
                    </m:r>
                    <m:r>
                      <m:t>e</m:t>
                    </m:r>
                    <m:r>
                      <m:t>n</m:t>
                    </m:r>
                    <m:r>
                      <m:rPr>
                        <m:sty m:val="p"/>
                      </m:rPr>
                      <m:t>)</m:t>
                    </m:r>
                    <m:r>
                      <m:t>2</m:t>
                    </m:r>
                    <m:r>
                      <m:t>O</m:t>
                    </m:r>
                    <m:r>
                      <m:t>N</m:t>
                    </m:r>
                    <m:r>
                      <m:t>O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Br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ChloridoethylenediaminenitroCobalt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Bromide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ChloridoethylenediaminenitroCobaltate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Bromide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Chloridobis(ethylenediamine)nitritoCobaltate(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Bromide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Chloridobis(ethylenediamine)nitritoCobalt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Bromide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Square planar complex of the type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M</m:t>
                    </m:r>
                    <m:r>
                      <m:t>A</m:t>
                    </m:r>
                    <m:r>
                      <m:t>B</m:t>
                    </m:r>
                    <m:r>
                      <m:t>X</m:t>
                    </m:r>
                    <m:r>
                      <m:t>L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(where A, B, X, L are unidentate)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shows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Two Cis and one Trans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Two Cis and Two Trans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One Cis and two Trans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One Cis and One Trans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Square planar complex of the type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A</m:t>
                    </m:r>
                    <m:r>
                      <m:t>B</m:t>
                    </m:r>
                    <m:r>
                      <m:t>X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(where A, B, X, L are unidentates) shows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three isomers. Among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Two cis and one trans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One cis and two trans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All three are cis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three are trans only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bond between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metal in metal carbonyl is stronger due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Synergic effect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Chelating effect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Only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σ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bond effect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Ambidentate nature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ligand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171. The central metal atoms/ions in coordination compounds are also called 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Lewis bases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Brønsted acids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Brønsted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Lewis acids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For: Boar d 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C. Ionization isomerism D. Cis-trans isomerism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172. The complex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P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r>
                      <m:t>N</m:t>
                    </m:r>
                    <m:r>
                      <m:t>H</m:t>
                    </m:r>
                    <m:r>
                      <m:t>3</m:t>
                    </m:r>
                    <m:r>
                      <m:rPr>
                        <m:sty m:val="p"/>
                      </m:rPr>
                      <m:t>)</m:t>
                    </m:r>
                    <m:r>
                      <m:t>2</m:t>
                    </m:r>
                    <m:r>
                      <m:t>C</m:t>
                    </m:r>
                    <m:r>
                      <m:t>l</m:t>
                    </m:r>
                    <m:r>
                      <m:t>2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exhibits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A. Linkage isomerism B. Fac-mer isomerism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✉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complex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P</m:t>
                    </m:r>
                    <m:r>
                      <m:t>t</m:t>
                    </m:r>
                    <m:r>
                      <m:t>C</m:t>
                    </m:r>
                    <m:r>
                      <m:t>l</m:t>
                    </m:r>
                    <m:r>
                      <m:t>2</m:t>
                    </m:r>
                    <m:r>
                      <m:t>.4</m:t>
                    </m:r>
                    <m:r>
                      <m:t>N</m:t>
                    </m:r>
                    <m:r>
                      <m:t>H</m:t>
                    </m:r>
                    <m:r>
                      <m:t>3</m:t>
                    </m:r>
                    <m:r>
                      <m:t>B</m:t>
                    </m:r>
                    <m:r>
                      <m:t>r</m:t>
                    </m:r>
                    <m:r>
                      <m:t>2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is treated with excess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t>g</m:t>
                    </m:r>
                    <m:r>
                      <m:t>N</m:t>
                    </m:r>
                    <m:r>
                      <m:t>O</m:t>
                    </m:r>
                    <m:r>
                      <m:t>3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solution, and two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moles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t>g</m:t>
                    </m:r>
                    <m:r>
                      <m:t>B</m:t>
                    </m:r>
                    <m:r>
                      <m:t>r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is precipitated. The primary and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o</m:t>
                    </m:r>
                    <m:r>
                      <m:t>n</m:t>
                    </m:r>
                    <m:r>
                      <m:t>d</m:t>
                    </m:r>
                    <m:r>
                      <m:t>a</m:t>
                    </m:r>
                    <m:r>
                      <m:t>r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valency of this complex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4 and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complex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P</m:t>
                    </m:r>
                    <m:r>
                      <m:t>t</m:t>
                    </m:r>
                    <m:r>
                      <m:t>C</m:t>
                    </m:r>
                    <m:r>
                      <m:t>l</m:t>
                    </m:r>
                    <m:r>
                      <m:t>2</m:t>
                    </m:r>
                    <m:r>
                      <m:t>.4</m:t>
                    </m:r>
                    <m:r>
                      <m:t>N</m:t>
                    </m:r>
                    <m:r>
                      <m:t>H</m:t>
                    </m:r>
                    <m:r>
                      <m:t>3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Br 2 is treated with excess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t>g</m:t>
                    </m:r>
                    <m:r>
                      <m:t>N</m:t>
                    </m:r>
                    <m:r>
                      <m:t>O</m:t>
                    </m:r>
                    <m:r>
                      <m:t>3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solution, two mole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t>g</m:t>
                    </m:r>
                    <m:r>
                      <m:t>B</m:t>
                    </m:r>
                    <m:r>
                      <m:t>r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is precipitated. The primary and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o</m:t>
                    </m:r>
                    <m:r>
                      <m:t>n</m:t>
                    </m:r>
                    <m:r>
                      <m:t>d</m:t>
                    </m:r>
                    <m:r>
                      <m:t>a</m:t>
                    </m:r>
                    <m:r>
                      <m:t>r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valence of this complex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4 and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complexes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o</m:t>
                    </m:r>
                    <m:r>
                      <m:rPr>
                        <m:sty m:val="p"/>
                      </m:rPr>
                      <m:t>(</m:t>
                    </m:r>
                    <m:r>
                      <m:t>N</m:t>
                    </m:r>
                    <m:r>
                      <m:t>H</m:t>
                    </m:r>
                    <m:r>
                      <m:t>3</m:t>
                    </m:r>
                    <m:r>
                      <m:rPr>
                        <m:sty m:val="p"/>
                      </m:rPr>
                      <m:t>)</m:t>
                    </m:r>
                    <m:r>
                      <m:t>6</m:t>
                    </m:r>
                    <m:r>
                      <m:rPr>
                        <m:sty m:val="p"/>
                      </m:rPr>
                      <m:t>]</m:t>
                    </m:r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r</m:t>
                    </m:r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N</m:t>
                    </m:r>
                    <m:r>
                      <m:rPr>
                        <m:sty m:val="p"/>
                      </m:rPr>
                      <m:t>)</m:t>
                    </m:r>
                    <m:r>
                      <m:t>6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r</m:t>
                    </m:r>
                    <m:r>
                      <m:rPr>
                        <m:sty m:val="p"/>
                      </m:rPr>
                      <m:t>(</m:t>
                    </m:r>
                    <m:r>
                      <m:t>N</m:t>
                    </m:r>
                    <m:r>
                      <m:t>H</m:t>
                    </m:r>
                    <m:r>
                      <m:t>3</m:t>
                    </m:r>
                    <m:r>
                      <m:rPr>
                        <m:sty m:val="p"/>
                      </m:rPr>
                      <m:t>)</m:t>
                    </m:r>
                    <m:r>
                      <m:t>6</m:t>
                    </m:r>
                    <m:r>
                      <m:rPr>
                        <m:sty m:val="p"/>
                      </m:rPr>
                      <m:t>]</m:t>
                    </m:r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o</m:t>
                    </m:r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N</m:t>
                    </m:r>
                    <m:r>
                      <m:rPr>
                        <m:sty m:val="p"/>
                      </m:rPr>
                      <m:t>)</m:t>
                    </m:r>
                    <m:r>
                      <m:t>6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are examples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which type of isomerism?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Geometrical isomerism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Ionization isomerism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Coordination isomerism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electron configuration of an octahedral d coordination entity with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r>
                      <m:t>0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&gt; P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 2 g 2 e 1 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 2 g 3 e 1 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 2 g 4 e 0 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 2 g 2 e 2 g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geometry of the complex Fe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O</m:t>
                    </m:r>
                    <m:r>
                      <m:rPr>
                        <m:sty m:val="p"/>
                      </m:rPr>
                      <m:t>)</m:t>
                    </m:r>
                    <m:r>
                      <m:t>5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octahedral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tetrahedral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trigonal bipyramidal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square pyramidal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isomerism exhibited by complexes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o</m:t>
                    </m:r>
                    <m:r>
                      <m:rPr>
                        <m:sty m:val="p"/>
                      </m:rPr>
                      <m:t>(</m:t>
                    </m:r>
                    <m:r>
                      <m:t>N</m:t>
                    </m:r>
                    <m:r>
                      <m:t>H</m:t>
                    </m:r>
                    <m:r>
                      <m:t>3</m:t>
                    </m:r>
                    <m:r>
                      <m:rPr>
                        <m:sty m:val="p"/>
                      </m:rPr>
                      <m:t>)</m:t>
                    </m:r>
                    <m:r>
                      <m:t>5</m:t>
                    </m:r>
                    <m:r>
                      <m:t>S</m:t>
                    </m:r>
                    <m:r>
                      <m:t>O</m:t>
                    </m:r>
                    <m:r>
                      <m:t>4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Br and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o</m:t>
                    </m:r>
                    <m:r>
                      <m:rPr>
                        <m:sty m:val="p"/>
                      </m:rPr>
                      <m:t>(</m:t>
                    </m:r>
                    <m:r>
                      <m:t>N</m:t>
                    </m:r>
                    <m:r>
                      <m:t>H</m:t>
                    </m:r>
                    <m:r>
                      <m:t>3</m:t>
                    </m:r>
                    <m:r>
                      <m:rPr>
                        <m:sty m:val="p"/>
                      </m:rPr>
                      <m:t>)</m:t>
                    </m:r>
                    <m:r>
                      <m:t>5</m:t>
                    </m:r>
                    <m:r>
                      <m:t>B</m:t>
                    </m:r>
                    <m:r>
                      <m:t>r</m:t>
                    </m:r>
                    <m:r>
                      <m:rPr>
                        <m:sty m:val="p"/>
                      </m:rPr>
                      <m:t>]</m:t>
                    </m:r>
                    <m:r>
                      <m:t>S</m:t>
                    </m:r>
                    <m:r>
                      <m:t>O</m:t>
                    </m:r>
                    <m:r>
                      <m:t>4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Coordination isomerism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Ionisation isomerism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Solvate isomerism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U</m:t>
                    </m:r>
                    <m:r>
                      <m:t>P</m:t>
                    </m:r>
                    <m:r>
                      <m:t>A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name of the complex ion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o</m:t>
                    </m:r>
                    <m:r>
                      <m:t>C</m:t>
                    </m:r>
                    <m:r>
                      <m:t>l</m:t>
                    </m:r>
                    <m:r>
                      <m:t>2</m:t>
                    </m:r>
                    <m:r>
                      <m:rPr>
                        <m:sty m:val="p"/>
                      </m:rPr>
                      <m:t>(</m:t>
                    </m:r>
                    <m:r>
                      <m:t>e</m:t>
                    </m:r>
                    <m:r>
                      <m:t>n</m:t>
                    </m:r>
                    <m:r>
                      <m:rPr>
                        <m:sty m:val="p"/>
                      </m:rPr>
                      <m:t>)</m:t>
                    </m:r>
                    <m:r>
                      <m:t>2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Di-chloridodiethylene diamine cobalt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Dichlorido bis(ethane-1,2-diamine) cobalt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Dichlorido bis(ethane-1,2-diamine) cobalt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V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Bis (ethane-1,2-diamine) dichlorido cobalt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U</m:t>
                    </m:r>
                    <m:r>
                      <m:t>P</m:t>
                    </m:r>
                    <m:r>
                      <m:t>A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name of the ionization isomer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o</m:t>
                    </m:r>
                    <m:r>
                      <m:rPr>
                        <m:sty m:val="p"/>
                      </m:rPr>
                      <m:t>(</m:t>
                    </m:r>
                    <m:r>
                      <m:t>N</m:t>
                    </m:r>
                    <m:r>
                      <m:t>H</m:t>
                    </m:r>
                    <m:r>
                      <m:t>3</m:t>
                    </m:r>
                    <m:r>
                      <m:rPr>
                        <m:sty m:val="p"/>
                      </m:rPr>
                      <m:t>)</m:t>
                    </m:r>
                    <m:r>
                      <m:t>5</m:t>
                    </m:r>
                    <m:r>
                      <m:t>S</m:t>
                    </m:r>
                    <m:r>
                      <m:t>O</m:t>
                    </m:r>
                    <m:r>
                      <m:t>4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Br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Penta-ammine sulphato cobalt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bromide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Penta-ammine bromido cobalt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sulphate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Penta-ammine sulphato cobalt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sulphate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Penta-ammine bromido sulphato cobaltate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magnitude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F</m:t>
                    </m:r>
                    <m:r>
                      <m:t>S</m:t>
                    </m:r>
                    <m:r>
                      <m:t>E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(Crystal Field Splitting Energy) 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r>
                      <m:t>0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 can be related to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configuration of d-orbitals in a coordination entity 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r>
                      <m:t>0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 P, the configuration is t 2 g 3 e 1 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r>
                      <m:t>0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 P, the configuration is t 2 g 6 e 0 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r>
                      <m:t>0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 P, the configuration is t 2 g 5 e 0 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r>
                      <m:t>0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 P, the configuration is t 2 g 4 e 1 g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oxidation number of Cu in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u</m:t>
                    </m:r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N</m:t>
                    </m:r>
                    <m:r>
                      <m:rPr>
                        <m:sty m:val="p"/>
                      </m:rPr>
                      <m:t>)</m:t>
                    </m:r>
                    <m:r>
                      <m:t>4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+1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+4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+2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+3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184. The oxidation state of metal in metal carbonyl complexes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primary and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o</m:t>
                    </m:r>
                    <m:r>
                      <m:t>n</m:t>
                    </m:r>
                    <m:r>
                      <m:t>d</m:t>
                    </m:r>
                    <m:r>
                      <m:t>a</m:t>
                    </m:r>
                    <m:r>
                      <m:t>r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valencies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F</m:t>
                    </m:r>
                    <m:r>
                      <m:t>e</m:t>
                    </m:r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2</m:t>
                    </m:r>
                    <m:r>
                      <m:t>O</m:t>
                    </m:r>
                    <m:r>
                      <m:t>4</m:t>
                    </m:r>
                    <m:r>
                      <m:rPr>
                        <m:sty m:val="p"/>
                      </m:rPr>
                      <m:t>)</m:t>
                    </m:r>
                    <m:r>
                      <m:t>3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complexes are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224</m:t>
                    </m:r>
                    <m:r>
                      <m:rPr>
                        <m:sty m:val="p"/>
                      </m:rPr>
                      <m:t>[</m:t>
                    </m:r>
                    <m:r>
                      <m:t>M</m:t>
                    </m:r>
                    <m:r>
                      <m:rPr>
                        <m:sty m:val="p"/>
                      </m:rPr>
                      <m:t>(</m:t>
                    </m:r>
                    <m:r>
                      <m:t>e</m:t>
                    </m:r>
                    <m:r>
                      <m:t>n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O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Cl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0 and 3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primary and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o</m:t>
                    </m:r>
                    <m:r>
                      <m:t>n</m:t>
                    </m:r>
                    <m:r>
                      <m:t>d</m:t>
                    </m:r>
                    <m:r>
                      <m:t>a</m:t>
                    </m:r>
                    <m:r>
                      <m:t>r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valencies of iron in the complex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F</m:t>
                    </m:r>
                    <m:r>
                      <m:t>e</m:t>
                    </m:r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2</m:t>
                    </m:r>
                    <m:r>
                      <m:t>O</m:t>
                    </m:r>
                    <m:r>
                      <m:t>4</m:t>
                    </m:r>
                    <m:r>
                      <m:rPr>
                        <m:sty m:val="p"/>
                      </m:rPr>
                      <m:t>)</m:t>
                    </m:r>
                    <m:r>
                      <m:t>3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3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187. The sum of coordination number and oxidation number of the metal M in the complex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terminal and bridged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ligands in the compound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o</m:t>
                    </m:r>
                    <m:r>
                      <m:t>2</m:t>
                    </m:r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O</m:t>
                    </m:r>
                    <m:r>
                      <m:rPr>
                        <m:sty m:val="p"/>
                      </m:rPr>
                      <m:t>)</m:t>
                    </m:r>
                    <m:r>
                      <m:t>8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are respectively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0, 2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6, 1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5, 2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6, 2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189. Which of the following is an ambidentate ligand?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H</m:t>
                    </m:r>
                    <m:r>
                      <m:t>3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r>
                      <m:t>C</m:t>
                    </m:r>
                    <m:r>
                      <m:t>N</m:t>
                    </m:r>
                    <m:r>
                      <m:rPr>
                        <m:sty m:val="p"/>
                      </m:rPr>
                      <m:t>−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Cl -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190. Which of the following is the correct increasing order of strength in the
spectrochemical series of ligands?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D</m:t>
                    </m:r>
                    <m:r>
                      <m:t>T</m:t>
                    </m:r>
                    <m:r>
                      <m:t>A</m:t>
                    </m:r>
                    <m:r>
                      <m:t>4</m:t>
                    </m:r>
                    <m:r>
                      <m:rPr>
                        <m:sty m:val="p"/>
                      </m:rPr>
                      <m:t>−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 C 2 O 4 2- &lt; Cl - &lt;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O</m:t>
                    </m:r>
                    <m:r>
                      <m:t>H</m:t>
                    </m:r>
                    <m:r>
                      <m:rPr>
                        <m:sty m:val="p"/>
                      </m:rPr>
                      <m:t>−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N</m:t>
                    </m:r>
                    <m:r>
                      <m:rPr>
                        <m:sty m:val="p"/>
                      </m:rPr>
                      <m:t>−</m:t>
                    </m:r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D</m:t>
                    </m:r>
                    <m:r>
                      <m:t>T</m:t>
                    </m:r>
                    <m:r>
                      <m:t>A</m:t>
                    </m:r>
                    <m:r>
                      <m:t>4</m:t>
                    </m:r>
                    <m:r>
                      <m:rPr>
                        <m:sty m:val="p"/>
                      </m:rPr>
                      <m:t>−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 C 2 O 4 2- &lt;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N</m:t>
                    </m:r>
                    <m:r>
                      <m:rPr>
                        <m:sty m:val="p"/>
                      </m:rPr>
                      <m:t>−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O</m:t>
                    </m:r>
                    <m:r>
                      <m:t>H</m:t>
                    </m:r>
                    <m:r>
                      <m:rPr>
                        <m:sty m:val="p"/>
                      </m:rPr>
                      <m:t>−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 Cl 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Cl - &lt; C 2 O 4 2- &lt; Cl - &lt;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O</m:t>
                    </m:r>
                    <m:r>
                      <m:t>H</m:t>
                    </m:r>
                    <m:r>
                      <m:rPr>
                        <m:sty m:val="p"/>
                      </m:rPr>
                      <m:t>−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D</m:t>
                    </m:r>
                    <m:r>
                      <m:t>T</m:t>
                    </m:r>
                    <m:r>
                      <m:t>A</m:t>
                    </m:r>
                    <m:r>
                      <m:t>4</m:t>
                    </m:r>
                    <m:r>
                      <m:rPr>
                        <m:sty m:val="p"/>
                      </m:rPr>
                      <m:t>−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Cl - &lt;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O</m:t>
                    </m:r>
                    <m:r>
                      <m:t>H</m:t>
                    </m:r>
                    <m:r>
                      <m:rPr>
                        <m:sty m:val="p"/>
                      </m:rPr>
                      <m:t>−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 C 2 O 4 2- &lt;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D</m:t>
                    </m:r>
                    <m:r>
                      <m:t>T</m:t>
                    </m:r>
                    <m:r>
                      <m:t>A</m:t>
                    </m:r>
                    <m:r>
                      <m:t>4</m:t>
                    </m:r>
                    <m:r>
                      <m:rPr>
                        <m:sty m:val="p"/>
                      </m:rPr>
                      <m:t>−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N</m:t>
                    </m:r>
                    <m:r>
                      <m:rPr>
                        <m:sty m:val="p"/>
                      </m:rPr>
                      <m:t>−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191. Which of the following ligands can exhibit linkage isomerism?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O</m:t>
                    </m:r>
                    <m:r>
                      <m:t>2</m:t>
                    </m:r>
                    <m:r>
                      <m:rPr>
                        <m:sty m:val="p"/>
                      </m:rPr>
                      <m:t>−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H</m:t>
                    </m:r>
                    <m:r>
                      <m:t>3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H 2 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192. Which of the following ligands produces a synergic effect in coordination complexes?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Oxalates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Carbon Monoxide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Sulphate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Nitrates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193. Which of the following species is not a ligand?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H</m:t>
                    </m:r>
                    <m:r>
                      <m:t>4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H 2 N-CH 2 -CH 2 -NH 2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For: Boar d 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D. Both Primary and Secondary Valencies are ionisable.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Application Based Questions: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194. Which of the following statements regarding primary and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o</m:t>
                    </m:r>
                    <m:r>
                      <m:t>n</m:t>
                    </m:r>
                    <m:r>
                      <m:t>d</m:t>
                    </m:r>
                    <m:r>
                      <m:t>a</m:t>
                    </m:r>
                    <m:r>
                      <m:t>r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valencies is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correct?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A. Primary Valencies are ionisable while Secondary Valencies are non-ionisable.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B. Primary Valencies are non-ionisable while Secondary Valencies are ionisable.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C. Both Primary and Secondary Valencies are non-ionisable.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✉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195. Which type of complexes doesn't show geometrical isomerism?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M</m:t>
                    </m:r>
                    <m:r>
                      <m:t>X</m:t>
                    </m:r>
                    <m:r>
                      <m:t>2</m:t>
                    </m:r>
                    <m:r>
                      <m:t>L</m:t>
                    </m:r>
                    <m:r>
                      <m:t>2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Tetrahedral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M</m:t>
                    </m:r>
                    <m:r>
                      <m:t>A</m:t>
                    </m:r>
                    <m:r>
                      <m:t>B</m:t>
                    </m:r>
                    <m:r>
                      <m:t>X</m:t>
                    </m:r>
                    <m:r>
                      <m:t>L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Square planar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M</m:t>
                    </m:r>
                    <m:r>
                      <m:t>X</m:t>
                    </m:r>
                    <m:r>
                      <m:t>2</m:t>
                    </m:r>
                    <m:r>
                      <m:t>L</m:t>
                    </m:r>
                    <m:r>
                      <m:t>2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Square planar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M</m:t>
                    </m:r>
                    <m:r>
                      <m:t>X</m:t>
                    </m:r>
                    <m:r>
                      <m:t>4</m:t>
                    </m:r>
                    <m:r>
                      <m:t>L</m:t>
                    </m:r>
                    <m:r>
                      <m:t>2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Octahedral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