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defRPr sz="2600" b="1">
                <a:solidFill>
                  <a:srgbClr val="000000"/>
                </a:solidFill>
                <a:latin typeface="Cambria Math"/>
              </a:defRPr>
            </a:pPr>
            <a:r>
              <a:rPr lang="en-US" sz="4400" b="1">
                <a:solidFill>
                  <a:srgbClr val="FAD02C"/>
                </a:solidFill>
                <a:latin typeface="Arial"/>
              </a:rPr>
              <a:t>Chemistry Midterm —</a:t>
            </a:r>
            <a:r>
              <a:rPr lang="en-US" sz="44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C</m:t>
                    </m:r>
                    <m:r>
                      <m:t>Q</m:t>
                    </m:r>
                  </m:oMath>
                </a14:m>
              </mc:Choice>
            </mc:AlternateContent>
            <a:r>
              <a:rPr lang="en-US" sz="4400" b="1">
                <a:solidFill>
                  <a:srgbClr val="FAD02C"/>
                </a:solidFill>
                <a:latin typeface="Arial"/>
              </a:rPr>
              <a:t> </a:t>
            </a:r>
            <a:r>
              <a:rPr lang="en-US" sz="4400" b="1">
                <a:solidFill>
                  <a:srgbClr val="FAD02C"/>
                </a:solidFill>
                <a:latin typeface="Arial"/>
              </a:rPr>
              <a:t>Practice</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0">
                <a:solidFill>
                  <a:srgbClr val="AAAAAA"/>
                </a:solidFill>
                <a:latin typeface="Arial"/>
              </a:rPr>
              <a:t>129 Questions  ·  For: 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In photoelectric</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rPr>
                        <m:sty m:val="p"/>
                      </m:rPr>
                      <m:t>,</m:t>
                    </m:r>
                  </m:oMath>
                </a14:m>
              </mc:Choice>
            </mc:AlternateContent>
            <a:r>
              <a:rPr lang="en-US" sz="1800" b="1">
                <a:solidFill>
                  <a:srgbClr val="FAD02C"/>
                </a:solidFill>
                <a:latin typeface="Arial"/>
              </a:rPr>
              <a:t> </a:t>
            </a:r>
            <a:r>
              <a:rPr lang="en-US" sz="1800" b="1">
                <a:solidFill>
                  <a:srgbClr val="FAD02C"/>
                </a:solidFill>
                <a:latin typeface="Arial"/>
              </a:rPr>
              <a:t>increase in the intensity of light (</a:t>
            </a:r>
            <mc:AlternateContent xmlns:mc="http://schemas.openxmlformats.org/markup-compatibility/2006" xmlns:a14="http://schemas.microsoft.com/office/drawing/2010/main">
              <mc:Choice Requires="a14">
                <a14:m>
                  <m:oMath xmlns:m="http://schemas.openxmlformats.org/officeDocument/2006/math">
                    <m:r>
                      <m:t>ν</m:t>
                    </m:r>
                    <m:r>
                      <m:rPr>
                        <m:sty m:val="p"/>
                      </m:rPr>
                      <m:t>&gt;</m:t>
                    </m:r>
                    <m:r>
                      <m:t>ν</m:t>
                    </m:r>
                    <m:r>
                      <m:t>0</m:t>
                    </m:r>
                  </m:oMath>
                </a14:m>
              </mc:Choice>
            </mc:AlternateContent>
            <a:r>
              <a:rPr lang="en-US" sz="1800" b="1">
                <a:solidFill>
                  <a:srgbClr val="FAD02C"/>
                </a:solidFill>
                <a:latin typeface="Arial"/>
              </a:rPr>
              <a:t>)</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increases kinetic energy of photoelectrons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increases photoelectric current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decreases kinetic energy of photoelectrons</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photoelectric current remains constant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statements given below are related to the properties of photons: I. photons are electrically neutral.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undeflected by electric and magnetic fields.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light waves.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r>
                      <m:rPr>
                        <m:sty m:val="p"/>
                      </m:rPr>
                      <m:t>.</m:t>
                    </m:r>
                  </m:oMath>
                </a14:m>
              </mc:Choice>
            </mc:AlternateContent>
            <a:r>
              <a:rPr lang="en-US" sz="1800" b="1">
                <a:solidFill>
                  <a:srgbClr val="FAD02C"/>
                </a:solidFill>
                <a:latin typeface="Arial"/>
              </a:rPr>
              <a:t> </a:t>
            </a:r>
            <a:r>
              <a:rPr lang="en-US" sz="1800" b="1">
                <a:solidFill>
                  <a:srgbClr val="FAD02C"/>
                </a:solidFill>
                <a:latin typeface="Arial"/>
              </a:rPr>
              <a:t>In photon particle collision, total energy and momentum are not conserved.</a:t>
            </a:r>
          </a:p>
        </p:txBody>
      </p:sp>
      <p:sp>
        <p:nvSpPr>
          <p:cNvPr id="7" name="TextBox 6"/>
          <p:cNvSpPr txBox="1"/>
          <p:nvPr/>
        </p:nvSpPr>
        <p:spPr>
          <a:xfrm>
            <a:off x="457200" y="2114092"/>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a:r>
              <a:rPr lang="en-US" sz="1600" b="0">
                <a:solidFill>
                  <a:srgbClr val="F0F0F0"/>
                </a:solidFill>
                <a:latin typeface="Arial"/>
              </a:rPr>
              <a:t>Only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
        <p:nvSpPr>
          <p:cNvPr id="8" name="TextBox 7"/>
          <p:cNvSpPr txBox="1"/>
          <p:nvPr/>
        </p:nvSpPr>
        <p:spPr>
          <a:xfrm>
            <a:off x="6254496" y="2114092"/>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a:r>
              <a:rPr lang="en-US" sz="1600" b="0">
                <a:solidFill>
                  <a:srgbClr val="F0F0F0"/>
                </a:solidFill>
                <a:latin typeface="Arial"/>
              </a:rPr>
              <a:t>Only statements</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
        <p:nvSpPr>
          <p:cNvPr id="9" name="TextBox 8"/>
          <p:cNvSpPr txBox="1"/>
          <p:nvPr/>
        </p:nvSpPr>
        <p:spPr>
          <a:xfrm>
            <a:off x="457200" y="2681020"/>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Only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
        <p:nvSpPr>
          <p:cNvPr id="10" name="TextBox 9"/>
          <p:cNvSpPr txBox="1"/>
          <p:nvPr/>
        </p:nvSpPr>
        <p:spPr>
          <a:xfrm>
            <a:off x="6254496" y="2681020"/>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a:r>
              <a:rPr lang="en-US" sz="1600" b="0">
                <a:solidFill>
                  <a:srgbClr val="F0F0F0"/>
                </a:solidFill>
                <a:latin typeface="Arial"/>
              </a:rPr>
              <a:t>Only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b="0">
                <a:solidFill>
                  <a:srgbClr val="F0F0F0"/>
                </a:solidFill>
                <a:latin typeface="Arial"/>
              </a:rPr>
              <a:t> </a:t>
            </a:r>
            <a:r>
              <a:rPr lang="en-US" sz="1600" b="0">
                <a:solidFill>
                  <a:srgbClr val="F0F0F0"/>
                </a:solidFill>
                <a:latin typeface="Arial"/>
              </a:rPr>
              <a:t>are correct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Following particles are moving with same speed, which one of them has longest de Broglie wavelength?</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neutron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alpha particle</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electron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Macroscopic particles in our daily life do not show wave-like properties because</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they are not associated with waves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their wavelength is extremely high</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their wavelength is zero</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their wavelength is negligibly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913485"/>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If Planck’s constant and basic unit of electric charge are</a:t>
            </a:r>
            <a:r>
              <a:rPr lang="en-US" sz="1800" b="1">
                <a:solidFill>
                  <a:srgbClr val="FAD02C"/>
                </a:solidFill>
                <a:latin typeface="Arial"/>
              </a:rPr>
              <a:t> </a:t>
            </a:r>
            <a:r>
              <a:rPr lang="en-US" sz="1800" b="1">
                <a:solidFill>
                  <a:srgbClr val="FAD02C"/>
                </a:solidFill>
                <a:latin typeface="Arial"/>
              </a:rPr>
              <a:t>‘h’</a:t>
            </a:r>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a:r>
              <a:rPr lang="en-US" sz="1800" b="1">
                <a:solidFill>
                  <a:srgbClr val="FAD02C"/>
                </a:solidFill>
                <a:latin typeface="Arial"/>
              </a:rPr>
              <a:t>respectively, then in photoelectric effect, the graph between stopping potential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b>
                      <m:e>
                        <m:r>
                          <m:t>V</m:t>
                        </m:r>
                      </m:e>
                      <m:sub>
                        <m:r>
                          <m:t>0</m:t>
                        </m:r>
                      </m:sub>
                    </m:sSub>
                  </m:oMath>
                </a14:m>
              </mc:Choice>
            </mc:AlternateContent>
            <a:r>
              <a:rPr lang="en-US" sz="1800" b="1">
                <a:solidFill>
                  <a:srgbClr val="FAD02C"/>
                </a:solidFill>
                <a:latin typeface="Arial"/>
              </a:rPr>
              <a:t> </a:t>
            </a:r>
            <a:r>
              <a:rPr lang="en-US" sz="1800" b="1">
                <a:solidFill>
                  <a:srgbClr val="FAD02C"/>
                </a:solidFill>
                <a:latin typeface="Arial"/>
              </a:rPr>
              <a:t>) and frequency (</a:t>
            </a:r>
            <mc:AlternateContent xmlns:mc="http://schemas.openxmlformats.org/markup-compatibility/2006" xmlns:a14="http://schemas.microsoft.com/office/drawing/2010/main">
              <mc:Choice Requires="a14">
                <a14:m>
                  <m:oMath xmlns:m="http://schemas.openxmlformats.org/officeDocument/2006/math">
                    <m:r>
                      <m:t>γ</m:t>
                    </m:r>
                  </m:oMath>
                </a14:m>
              </mc:Choice>
            </mc:AlternateContent>
            <a:r>
              <a:rPr lang="en-US" sz="1800" b="1">
                <a:solidFill>
                  <a:srgbClr val="FAD02C"/>
                </a:solidFill>
                <a:latin typeface="Arial"/>
              </a:rPr>
              <a:t>) is a straight line with slope equal to _______.</a:t>
            </a:r>
          </a:p>
        </p:txBody>
      </p:sp>
      <p:sp>
        <p:nvSpPr>
          <p:cNvPr id="7" name="TextBox 6"/>
          <p:cNvSpPr txBox="1"/>
          <p:nvPr/>
        </p:nvSpPr>
        <p:spPr>
          <a:xfrm>
            <a:off x="457200"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h/e</a:t>
            </a:r>
          </a:p>
        </p:txBody>
      </p:sp>
      <p:sp>
        <p:nvSpPr>
          <p:cNvPr id="8" name="TextBox 7"/>
          <p:cNvSpPr txBox="1"/>
          <p:nvPr/>
        </p:nvSpPr>
        <p:spPr>
          <a:xfrm>
            <a:off x="3321558"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e/h</a:t>
            </a:r>
          </a:p>
        </p:txBody>
      </p:sp>
      <p:sp>
        <p:nvSpPr>
          <p:cNvPr id="9" name="TextBox 8"/>
          <p:cNvSpPr txBox="1"/>
          <p:nvPr/>
        </p:nvSpPr>
        <p:spPr>
          <a:xfrm>
            <a:off x="6185916"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a:t>
            </a:r>
          </a:p>
        </p:txBody>
      </p:sp>
      <p:sp>
        <p:nvSpPr>
          <p:cNvPr id="10" name="TextBox 9"/>
          <p:cNvSpPr txBox="1"/>
          <p:nvPr/>
        </p:nvSpPr>
        <p:spPr>
          <a:xfrm>
            <a:off x="9050274"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Emission of electrons from a metal surface by heating is called as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Photo-electric emission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Secondary emission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Field emission</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Thermionic emission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 ball is dropped from a certain height and it falls freely under gravity. During the fall, the de Broglie wavelength associated with it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keeps increasing</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keeps decreasing</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is zero</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may increase or decrease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velocity. Then the particle having longest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b="0">
                <a:solidFill>
                  <a:srgbClr val="F0F0F0"/>
                </a:solidFill>
                <a:latin typeface="Arial"/>
              </a:rPr>
              <a:t>-particle.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speed. Then the particle having shortest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b="0">
                <a:solidFill>
                  <a:srgbClr val="F0F0F0"/>
                </a:solidFill>
                <a:latin typeface="Arial"/>
              </a:rPr>
              <a:t>-particle.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In interaction of radiation with matter, radiation behaves as if it is made up of packet of energy called ______.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Photoelectric effect is a/an _____________ effect.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tiny packet of energy of light is called 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What is the conclusion of Davison and Germar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on the nature of electron?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any one type of electron emission.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rest mass of photon?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How does the stopping potential of a photosensitive material vary with intensity of incident radiation?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the de Broglie wavelength of a particle of mass m moving with a speed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two types of electron emission?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two applications of infrared radiation.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Photoelectric work function
Electron volt(ev)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De-Broglie Waves? How does the De-Broglie wavelength vary with momentum of moving particle?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 length of electrons in terms of electric potential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An alpha particle, a proton and an electron are moving with equal kinetic energy. Which one of these particles has the longest de Broglie wavelength? Give 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Give three characteristics of photon.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What are matter waves? 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wavelength of a particle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5511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386584" cy="402336"/>
          </a:xfrm>
          <a:prstGeom prst="rect">
            <a:avLst/>
          </a:prstGeom>
          <a:noFill/>
        </p:spPr>
        <p:txBody>
          <a:bodyPr wrap="none" anchor="ctr" lIns="0" rIns="0" tIns="0" bIns="0">
            <a:spAutoFit/>
          </a:bodyPr>
          <a:lstStyle/>
          <a:p>
            <a:pPr algn="l"/>
            <a:r>
              <a:rPr sz="1500" b="1">
                <a:solidFill>
                  <a:srgbClr val="FAD02C"/>
                </a:solidFill>
                <a:latin typeface="Arial"/>
              </a:rPr>
              <a:t>2016,2018S,2025-3,2026-1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the terms: a) Threshold frequency b) Work function c) Stopping potential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2018S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Calculate de Broglie wavelength associated with an electron moving with a speed of 2</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105</m:t>
                    </m:r>
                    <m:r>
                      <m:t>m</m:t>
                    </m:r>
                    <m:sSup>
                      <m:e>
                        <m:r>
                          <m:t>s</m:t>
                        </m:r>
                      </m:e>
                      <m:sup>
                        <m:r>
                          <m:rPr>
                            <m:sty m:val="p"/>
                          </m:rPr>
                          <m:t>−</m:t>
                        </m:r>
                        <m:r>
                          <m:t>1</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Given h = 6.625</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a:t>
            </a:r>
            <a:r>
              <a:rPr lang="en-US" sz="1800" b="1">
                <a:solidFill>
                  <a:srgbClr val="FAD02C"/>
                </a:solidFill>
                <a:latin typeface="Arial"/>
              </a:rPr>
              <a:t>m = 9.11</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2017,2019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Write any three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Name the three types of electron Emission.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Define work function. 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Deduce 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total energy of electron in an orbit of hydrogen atom in terms of radius of orbit.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3502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70432" cy="402336"/>
          </a:xfrm>
          <a:prstGeom prst="rect">
            <a:avLst/>
          </a:prstGeom>
          <a:noFill/>
        </p:spPr>
        <p:txBody>
          <a:bodyPr wrap="none" anchor="ctr" lIns="0" rIns="0" tIns="0" bIns="0">
            <a:spAutoFit/>
          </a:bodyPr>
          <a:lstStyle/>
          <a:p>
            <a:pPr algn="l"/>
            <a:r>
              <a:rPr sz="1500" b="1">
                <a:solidFill>
                  <a:srgbClr val="FAD02C"/>
                </a:solidFill>
                <a:latin typeface="Arial"/>
              </a:rPr>
              <a:t>2015,2024-1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Write Einstein’s equation of photoelectric effect. 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Explain Hallwach’s and Lenard’s observations on photoelectric effect.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Threshold frequency
Stopping potential.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2022,2024-3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What is photoelectric effect? Write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2023,2024-2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 (2023)</a:t>
            </a:r>
            <a:r>
              <a:rPr lang="en-US" sz="1800" b="1">
                <a:solidFill>
                  <a:srgbClr val="FAD02C"/>
                </a:solidFill>
                <a:latin typeface="Arial"/>
              </a:rPr>
              <a:t>Mention any two properties of photons.</a:t>
            </a:r>
            <a:r>
              <a:rPr lang="en-US" sz="1800" b="1">
                <a:solidFill>
                  <a:srgbClr val="FAD02C"/>
                </a:solidFill>
                <a:latin typeface="Arial"/>
              </a:rPr>
              <a:t>What is meant by photoelectric effect? (b) Mention any two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r>
              <a:rPr lang="en-US" sz="1800" b="1">
                <a:solidFill>
                  <a:srgbClr val="FAD02C"/>
                </a:solidFill>
                <a:latin typeface="Arial"/>
              </a:rPr>
              <a:t>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work function of cesium metal is 2.14 ev. When light of frequency 6 × 1014 Hz is incident on the metal surface, photoemission of electrons occurs. Find</a:t>
            </a:r>
            <a:r>
              <a:rPr lang="en-US" sz="1800" b="1">
                <a:solidFill>
                  <a:srgbClr val="FAD02C"/>
                </a:solidFill>
                <a:latin typeface="Arial"/>
              </a:rPr>
              <a:t> </a:t>
            </a:r>
            <a:r>
              <a:rPr lang="en-US" sz="1800" b="1">
                <a:solidFill>
                  <a:srgbClr val="FAD02C"/>
                </a:solidFill>
                <a:latin typeface="Arial"/>
              </a:rPr>
              <a:t>Energy of incident photons</a:t>
            </a:r>
            <a:r>
              <a:rPr lang="en-US" sz="1800" b="1">
                <a:solidFill>
                  <a:srgbClr val="FAD02C"/>
                </a:solidFill>
                <a:latin typeface="Arial"/>
              </a:rPr>
              <a:t> </a:t>
            </a:r>
            <a:r>
              <a:rPr lang="en-US" sz="1800" b="1">
                <a:solidFill>
                  <a:srgbClr val="FAD02C"/>
                </a:solidFill>
                <a:latin typeface="Arial"/>
              </a:rPr>
              <a:t>Maximum kinetic energy of photoelectrons.</a:t>
            </a:r>
            <a:r>
              <a:rPr lang="en-US" sz="1800" b="1">
                <a:solidFill>
                  <a:srgbClr val="FAD02C"/>
                </a:solidFill>
                <a:latin typeface="Arial"/>
              </a:rPr>
              <a:t> </a:t>
            </a:r>
            <a:r>
              <a:rPr lang="en-US" sz="1800" b="1">
                <a:solidFill>
                  <a:srgbClr val="FAD02C"/>
                </a:solidFill>
                <a:latin typeface="Arial"/>
              </a:rPr>
              <a:t>Given, Planck’s constant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1 ev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1.6</m:t>
                    </m:r>
                    <m:r>
                      <m:rPr>
                        <m:sty m:val="p"/>
                      </m:rPr>
                      <m:t>×</m:t>
                    </m:r>
                    <m:sSup>
                      <m:e>
                        <m:r>
                          <m:t>10</m:t>
                        </m:r>
                      </m:e>
                      <m:sup>
                        <m:r>
                          <m:rPr>
                            <m:sty m:val="p"/>
                          </m:rPr>
                          <m:t>−</m:t>
                        </m:r>
                        <m:r>
                          <m:t>19</m:t>
                        </m:r>
                      </m:sup>
                    </m:sSup>
                  </m:oMath>
                </a14:m>
              </mc:Choice>
            </mc:AlternateContent>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2018</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Light of frequency 8.41 × 1014 Hz is incident on a metal surface. Electrons with their maximum speed of 7.5 × 105</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sSup>
                      <m:e>
                        <m:r>
                          <m:t>s</m:t>
                        </m:r>
                      </m:e>
                      <m:sup>
                        <m:r>
                          <m:rPr>
                            <m:sty m:val="p"/>
                          </m:rPr>
                          <m:t>−</m:t>
                        </m:r>
                        <m:r>
                          <m:t>1</m:t>
                        </m:r>
                      </m:sup>
                    </m:sSup>
                  </m:oMath>
                </a14:m>
              </mc:Choice>
            </mc:AlternateContent>
            <a:r>
              <a:rPr lang="en-US" sz="1800" b="1">
                <a:solidFill>
                  <a:srgbClr val="FAD02C"/>
                </a:solidFill>
                <a:latin typeface="Arial"/>
              </a:rPr>
              <a:t> </a:t>
            </a:r>
            <a:r>
              <a:rPr lang="en-US" sz="1800" b="1">
                <a:solidFill>
                  <a:srgbClr val="FAD02C"/>
                </a:solidFill>
                <a:latin typeface="Arial"/>
              </a:rPr>
              <a:t>are ejected from the surface. Calculate the threshold frequency for photoemission of electrons. Also find the work function of the metal in electron volt (eV). Given Planck’s constant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6.625</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mass of the electron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9.1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Light of frequency 7.21 × 1014 Hz is incident on a metal surface. The cut-off wavelength for</a:t>
            </a:r>
            <a:r>
              <a:rPr lang="en-US" sz="1800" b="1">
                <a:solidFill>
                  <a:srgbClr val="FAD02C"/>
                </a:solidFill>
                <a:latin typeface="Arial"/>
              </a:rPr>
              <a:t> </a:t>
            </a:r>
            <a:r>
              <a:rPr lang="en-US" sz="1800" b="1">
                <a:solidFill>
                  <a:srgbClr val="FAD02C"/>
                </a:solidFill>
                <a:latin typeface="Arial"/>
              </a:rPr>
              <a:t>photoelectric emission from the metal surface is 540 nm.</a:t>
            </a:r>
            <a:r>
              <a:rPr lang="en-US" sz="1800" b="1">
                <a:solidFill>
                  <a:srgbClr val="FAD02C"/>
                </a:solidFill>
                <a:latin typeface="Arial"/>
              </a:rPr>
              <a:t> </a:t>
            </a:r>
            <a:r>
              <a:rPr lang="en-US" sz="1800" b="1">
                <a:solidFill>
                  <a:srgbClr val="FAD02C"/>
                </a:solidFill>
                <a:latin typeface="Arial"/>
              </a:rPr>
              <a:t>Determine the maximum speed of the photoelectrons emitted from the surface.</a:t>
            </a:r>
            <a:r>
              <a:rPr lang="en-US" sz="1800" b="1">
                <a:solidFill>
                  <a:srgbClr val="FAD02C"/>
                </a:solidFill>
                <a:latin typeface="Arial"/>
              </a:rPr>
              <a:t> </a:t>
            </a:r>
            <a:r>
              <a:rPr lang="en-US" sz="1800" b="1">
                <a:solidFill>
                  <a:srgbClr val="FAD02C"/>
                </a:solidFill>
                <a:latin typeface="Arial"/>
              </a:rPr>
              <a:t>(Given: h</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mass of an electron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9.1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work function of caesium is 2.14 eV. Find</a:t>
            </a:r>
            <a:r>
              <a:rPr lang="en-US" sz="1800" b="1">
                <a:solidFill>
                  <a:srgbClr val="FAD02C"/>
                </a:solidFill>
                <a:latin typeface="Arial"/>
              </a:rPr>
              <a:t> </a:t>
            </a:r>
            <a:r>
              <a:rPr lang="en-US" sz="1800" b="1">
                <a:solidFill>
                  <a:srgbClr val="FAD02C"/>
                </a:solidFill>
                <a:latin typeface="Arial"/>
              </a:rPr>
              <a:t>(a) the threshold frequency for cesium and</a:t>
            </a:r>
            <a:r>
              <a:rPr lang="en-US" sz="1800" b="1">
                <a:solidFill>
                  <a:srgbClr val="FAD02C"/>
                </a:solidFill>
                <a:latin typeface="Arial"/>
              </a:rPr>
              <a:t> </a:t>
            </a:r>
            <a:r>
              <a:rPr lang="en-US" sz="1800" b="1">
                <a:solidFill>
                  <a:srgbClr val="FAD02C"/>
                </a:solidFill>
                <a:latin typeface="Arial"/>
              </a:rPr>
              <a:t>(b) the wavelength of the incident light if the photocurrent is brought to zero by a stopping potential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0.60</m:t>
                    </m:r>
                    <m:r>
                      <m:t>V</m:t>
                    </m:r>
                    <m:r>
                      <m:rPr>
                        <m:sty m:val="p"/>
                      </m:rPr>
                      <m:t>.</m:t>
                    </m:r>
                  </m:oMath>
                </a14:m>
              </mc:Choice>
            </mc:AlternateContent>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work function of a metal is 2.20 eV when radiation of frequency 6.50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1014</m:t>
                    </m:r>
                    <m:r>
                      <m:t>H</m:t>
                    </m:r>
                    <m:r>
                      <m:t>z</m:t>
                    </m:r>
                  </m:oMath>
                </a14:m>
              </mc:Choice>
            </mc:AlternateContent>
            <a:r>
              <a:rPr lang="en-US" sz="1800" b="1">
                <a:solidFill>
                  <a:srgbClr val="FAD02C"/>
                </a:solidFill>
                <a:latin typeface="Arial"/>
              </a:rPr>
              <a:t> </a:t>
            </a:r>
            <a:r>
              <a:rPr lang="en-US" sz="1800" b="1">
                <a:solidFill>
                  <a:srgbClr val="FAD02C"/>
                </a:solidFill>
                <a:latin typeface="Arial"/>
              </a:rPr>
              <a:t>incident on the metal surface photo emission of electrons occurs. Calculate a) energy of incident photon and b) stopping potential of photoelectrons. (Given h = 6.63 × 10–34 Js and</a:t>
            </a:r>
            <a:r>
              <a:rPr lang="en-US" sz="1800" b="1">
                <a:solidFill>
                  <a:srgbClr val="FAD02C"/>
                </a:solidFill>
                <a:latin typeface="Arial"/>
              </a:rPr>
              <a:t> </a:t>
            </a:r>
            <a:r>
              <a:rPr lang="en-US" sz="1800" b="1">
                <a:solidFill>
                  <a:srgbClr val="FAD02C"/>
                </a:solidFill>
                <a:latin typeface="Arial"/>
              </a:rPr>
              <a:t>e = 1.6 ×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oMath>
                </a14:m>
              </mc:Choice>
            </mc:AlternateContent>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When a light radiation of energy 3 eV falls on metal surface, photoelectrons with a maximum kinetic energy 1eV are emitted from the surface. Find the threshold frequency for the metal surface. (Given: Planck’s constant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Charge on the electron e = 1.6×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oMath>
                </a14:m>
              </mc:Choice>
            </mc:AlternateContent>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work function of cesium metal is 2.14 ev. When light of frequency 6 × 1014 Hz is incident on cesium surface, find the maximum kinetic energy of photoelectrons emitted.</a:t>
            </a:r>
            <a:r>
              <a:rPr lang="en-US" sz="1800" b="1">
                <a:solidFill>
                  <a:srgbClr val="FAD02C"/>
                </a:solidFill>
                <a:latin typeface="Arial"/>
              </a:rPr>
              <a:t> </a:t>
            </a:r>
            <a:r>
              <a:rPr lang="en-US" sz="1800" b="1">
                <a:solidFill>
                  <a:srgbClr val="FAD02C"/>
                </a:solidFill>
                <a:latin typeface="Arial"/>
              </a:rPr>
              <a:t>(Given: Planck’s constant, h=</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e = 1.6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r>
                      <m:rPr>
                        <m:sty m:val="p"/>
                      </m:rPr>
                      <m:t>.</m:t>
                    </m:r>
                  </m:oMath>
                </a14:m>
              </mc:Choice>
            </mc:AlternateContent>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2024</m:t>
                    </m:r>
                    <m:r>
                      <m:t>M</m:t>
                    </m:r>
                  </m:oMath>
                </a14:m>
              </mc:Choice>
            </mc:AlternateContent>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(2, 8)</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(1, 1)</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01498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850392" cy="402336"/>
          </a:xfrm>
          <a:prstGeom prst="rect">
            <a:avLst/>
          </a:prstGeom>
          <a:noFill/>
        </p:spPr>
        <p:txBody>
          <a:bodyPr wrap="none" anchor="ctr" lIns="0" rIns="0" tIns="0" bIns="0">
            <a:spAutoFit/>
          </a:bodyPr>
          <a:lstStyle/>
          <a:p>
            <a:pPr algn="l"/>
            <a:r>
              <a:rPr sz="1500" b="1">
                <a:solidFill>
                  <a:srgbClr val="FAD02C"/>
                </a:solidFill>
                <a:latin typeface="Arial"/>
              </a:rPr>
              <a:t>2025M-1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2</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0</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8</m:t>
                    </m:r>
                  </m:oMath>
                </a14:m>
              </mc:Choice>
            </mc:AlternateContent>
            <a:r>
              <a:rPr lang="en-US" sz="1600" b="0">
                <a:solidFill>
                  <a:srgbClr val="F0F0F0"/>
                </a:solidFill>
                <a:latin typeface="Arial"/>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log</m:t>
                    </m:r>
                    <m:r>
                      <m:rPr>
                        <m:sty m:val="p"/>
                      </m:rPr>
                      <m:t>(</m:t>
                    </m:r>
                    <m:r>
                      <m:rPr>
                        <m:sty m:val="p"/>
                      </m:rPr>
                      <m:t>sin</m:t>
                    </m:r>
                    <m:r>
                      <m:t>x</m:t>
                    </m:r>
                    <m:r>
                      <m:rPr>
                        <m:sty m:val="p"/>
                      </m:rPr>
                      <m:t>)</m:t>
                    </m:r>
                  </m:oMath>
                </a14:m>
              </mc:Choice>
            </mc:AlternateContent>
            <a:r>
              <a:rPr lang="en-US" sz="1800" b="1">
                <a:solidFill>
                  <a:srgbClr val="FAD02C"/>
                </a:solidFill>
                <a:latin typeface="Arial"/>
              </a:rPr>
              <a:t>is increasing on</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π</m:t>
                    </m:r>
                    <m:r>
                      <m:rPr>
                        <m:sty m:val="p"/>
                      </m:rPr>
                      <m:t>)</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3</m:t>
                        </m:r>
                        <m:r>
                          <m:t>π</m:t>
                        </m:r>
                      </m:num>
                      <m:den>
                        <m:r>
                          <m:t>2</m:t>
                        </m:r>
                      </m:den>
                    </m:f>
                    <m:r>
                      <m:rPr>
                        <m:sty m:val="p"/>
                      </m:rPr>
                      <m:t>)</m:t>
                    </m:r>
                  </m:oMath>
                </a14:m>
              </mc:Choice>
            </mc:AlternateContent>
            <a:r>
              <a:rPr lang="en-US" sz="1600" b="0">
                <a:solidFill>
                  <a:srgbClr val="F0F0F0"/>
                </a:solidFill>
                <a:latin typeface="Arial"/>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Consider the following statements for the given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defined on an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oMath>
                </a14:m>
              </mc:Choice>
            </mc:AlternateContent>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r>
                      <m:rPr>
                        <m:sty m:val="p"/>
                      </m:rPr>
                      <m:t>∈</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c</m:t>
                    </m:r>
                  </m:oMath>
                </a14:m>
              </mc:Choice>
            </mc:AlternateContent>
            <a:r>
              <a:rPr lang="en-US" sz="1800" b="1">
                <a:solidFill>
                  <a:srgbClr val="FAD02C"/>
                </a:solidFill>
                <a:latin typeface="Arial"/>
              </a:rPr>
              <a:t> </a:t>
            </a:r>
            <a:r>
              <a:rPr lang="en-US" sz="1800" b="1">
                <a:solidFill>
                  <a:srgbClr val="FAD02C"/>
                </a:solidFill>
                <a:latin typeface="Arial"/>
              </a:rPr>
              <a:t>I.</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&lt;</m:t>
                    </m:r>
                    <m:r>
                      <m:t>0</m:t>
                    </m:r>
                    <m:r>
                      <m:rPr>
                        <m:sty m:val="p"/>
                      </m:rPr>
                      <m:t>⇒</m:t>
                    </m:r>
                    <m:r>
                      <m:t>f</m:t>
                    </m:r>
                  </m:oMath>
                </a14:m>
              </mc:Choice>
            </mc:AlternateContent>
            <a:r>
              <a:rPr lang="en-US" sz="1800" b="1">
                <a:solidFill>
                  <a:srgbClr val="FAD02C"/>
                </a:solidFill>
                <a:latin typeface="Arial"/>
              </a:rPr>
              <a:t>attains local maxima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&gt;</m:t>
                    </m:r>
                    <m:r>
                      <m:t>0</m:t>
                    </m:r>
                    <m:r>
                      <m:rPr>
                        <m:sty m:val="p"/>
                      </m:rPr>
                      <m:t>⇒</m:t>
                    </m:r>
                    <m:r>
                      <m:t>f</m:t>
                    </m:r>
                  </m:oMath>
                </a14:m>
              </mc:Choice>
            </mc:AlternateContent>
            <a:r>
              <a:rPr lang="en-US" sz="1800" b="1">
                <a:solidFill>
                  <a:srgbClr val="FAD02C"/>
                </a:solidFill>
                <a:latin typeface="Arial"/>
              </a:rPr>
              <a:t>attains local minima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r>
                      <m:rPr>
                        <m:sty m:val="p"/>
                      </m:rPr>
                      <m:t>⇒</m:t>
                    </m:r>
                    <m:r>
                      <m:t>f</m:t>
                    </m:r>
                  </m:oMath>
                </a14:m>
              </mc:Choice>
            </mc:AlternateContent>
            <a:r>
              <a:rPr lang="en-US" sz="1800" b="1">
                <a:solidFill>
                  <a:srgbClr val="FAD02C"/>
                </a:solidFill>
                <a:latin typeface="Arial"/>
              </a:rPr>
              <a:t>attains both maxima and minima</a:t>
            </a:r>
          </a:p>
        </p:txBody>
      </p:sp>
      <p:sp>
        <p:nvSpPr>
          <p:cNvPr id="7" name="TextBox 6"/>
          <p:cNvSpPr txBox="1"/>
          <p:nvPr/>
        </p:nvSpPr>
        <p:spPr>
          <a:xfrm>
            <a:off x="457200" y="211409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a:r>
              <a:rPr lang="en-US" sz="1600" b="0">
                <a:solidFill>
                  <a:srgbClr val="F0F0F0"/>
                </a:solidFill>
                <a:latin typeface="Arial"/>
              </a:rPr>
              <a:t>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8" name="TextBox 7"/>
          <p:cNvSpPr txBox="1"/>
          <p:nvPr/>
        </p:nvSpPr>
        <p:spPr>
          <a:xfrm>
            <a:off x="3321558" y="211409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a:r>
              <a:rPr lang="en-US" sz="1600" b="0">
                <a:solidFill>
                  <a:srgbClr val="F0F0F0"/>
                </a:solidFill>
                <a:latin typeface="Arial"/>
              </a:rPr>
              <a:t>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9" name="TextBox 8"/>
          <p:cNvSpPr txBox="1"/>
          <p:nvPr/>
        </p:nvSpPr>
        <p:spPr>
          <a:xfrm>
            <a:off x="6185916" y="211409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10" name="TextBox 9"/>
          <p:cNvSpPr txBox="1"/>
          <p:nvPr/>
        </p:nvSpPr>
        <p:spPr>
          <a:xfrm>
            <a:off x="9050274"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are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If each side of a cube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then the rate of change of its surface area with respect to side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12</m:t>
                    </m:r>
                    <m:r>
                      <m:t>x</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6</m:t>
                    </m:r>
                    <m:r>
                      <m:t>x</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sSup>
                      <m:e>
                        <m:r>
                          <m:t>x</m:t>
                        </m:r>
                      </m:e>
                      <m:sup>
                        <m:r>
                          <m:t>2</m:t>
                        </m:r>
                      </m:sup>
                    </m:sSup>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3</m:t>
                    </m:r>
                    <m:sSup>
                      <m:e>
                        <m:r>
                          <m:t>x</m:t>
                        </m:r>
                      </m:e>
                      <m:sup>
                        <m:r>
                          <m:t>2</m:t>
                        </m:r>
                      </m:sup>
                    </m:sSup>
                  </m:oMath>
                </a14:m>
              </mc:Choice>
            </mc:AlternateContent>
            <a:r>
              <a:rPr lang="en-US" sz="1600" b="0">
                <a:solidFill>
                  <a:srgbClr val="F0F0F0"/>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Let C be the circumference and A be the area of a circle.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1: The rate of change of the area with respective to radius is equal to C.
Statement 2: The rate of change of the area with respective to diameter is C/2.</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 1 is true</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 2 is true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Both statements are true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a</m:t>
                        </m:r>
                      </m:e>
                      <m:sup>
                        <m:r>
                          <m:t>x</m:t>
                        </m:r>
                      </m:sup>
                    </m:sSup>
                  </m:oMath>
                </a14:m>
              </mc:Choice>
            </mc:AlternateContent>
            <a:r>
              <a:rPr lang="en-US" sz="1800" b="1">
                <a:solidFill>
                  <a:srgbClr val="FAD02C"/>
                </a:solidFill>
                <a:latin typeface="Arial"/>
              </a:rPr>
              <a:t> </a:t>
            </a:r>
            <a:r>
              <a:rPr lang="en-US" sz="1800" b="1">
                <a:solidFill>
                  <a:srgbClr val="FAD02C"/>
                </a:solidFill>
                <a:latin typeface="Arial"/>
              </a:rPr>
              <a:t>is increasing on R, if</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a&gt;0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a&lt;0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0&lt;a&lt;1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a&gt;1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then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 …… Rupees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116</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90</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absolute maximum value of the function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minimum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m:t>
                    </m:r>
                  </m:oMath>
                </a14:m>
              </mc:Choice>
            </mc:AlternateContent>
            <a:r>
              <a:rPr lang="en-US" sz="1800" b="1">
                <a:solidFill>
                  <a:srgbClr val="FAD02C"/>
                </a:solidFill>
                <a:latin typeface="Arial"/>
              </a:rPr>
              <a:t>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rate of change of the area of a circle with respect to its radius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4</m:t>
                    </m:r>
                  </m:oMath>
                </a14:m>
              </mc:Choice>
            </mc:AlternateContent>
            <a:r>
              <a:rPr lang="en-US" sz="1800" b="1">
                <a:solidFill>
                  <a:srgbClr val="FAD02C"/>
                </a:solidFill>
                <a:latin typeface="Arial"/>
              </a:rPr>
              <a:t>cm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π</m:t>
                    </m:r>
                    <m:r>
                      <m:t>c</m:t>
                    </m:r>
                    <m:sSup>
                      <m:e>
                        <m:r>
                          <m:t>m</m:t>
                        </m:r>
                      </m:e>
                      <m:sup>
                        <m:r>
                          <m:t>2</m:t>
                        </m:r>
                      </m:sup>
                    </m:sSup>
                  </m:oMath>
                </a14:m>
              </mc:Choice>
            </mc:AlternateContent>
            <a:r>
              <a:rPr lang="en-US" sz="1800" b="1">
                <a:solidFill>
                  <a:srgbClr val="FAD02C"/>
                </a:solidFill>
                <a:latin typeface="Arial"/>
              </a:rPr>
              <a:t>/cm.</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rate of change of area of circle per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sec</m:t>
                    </m:r>
                    <m:r>
                      <m:t>o</m:t>
                    </m:r>
                    <m:r>
                      <m:t>n</m:t>
                    </m:r>
                    <m:r>
                      <m:t>d</m:t>
                    </m:r>
                  </m:oMath>
                </a14:m>
              </mc:Choice>
            </mc:AlternateContent>
            <a:r>
              <a:rPr lang="en-US" sz="1800" b="1">
                <a:solidFill>
                  <a:srgbClr val="FAD02C"/>
                </a:solidFill>
                <a:latin typeface="Arial"/>
              </a:rPr>
              <a:t> </a:t>
            </a:r>
            <a:r>
              <a:rPr lang="en-US" sz="1800" b="1">
                <a:solidFill>
                  <a:srgbClr val="FAD02C"/>
                </a:solidFill>
                <a:latin typeface="Arial"/>
              </a:rPr>
              <a:t>with respect to its radius r when r = 3 cm (in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p>
                      <m:e>
                        <m:r>
                          <m:t>m</m:t>
                        </m:r>
                      </m:e>
                      <m:sup>
                        <m:r>
                          <m:t>2</m:t>
                        </m:r>
                      </m:sup>
                    </m:sSup>
                  </m:oMath>
                </a14:m>
              </mc:Choice>
            </mc:AlternateContent>
            <a:r>
              <a:rPr lang="en-US" sz="1800" b="1">
                <a:solidFill>
                  <a:srgbClr val="FAD02C"/>
                </a:solidFill>
                <a:latin typeface="Arial"/>
              </a:rPr>
              <a:t>/s)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π</m:t>
                    </m:r>
                  </m:oMath>
                </a14:m>
              </mc:Choice>
            </mc:AlternateContent>
            <a:r>
              <a:rPr lang="en-US" sz="1600" b="0">
                <a:solidFill>
                  <a:srgbClr val="F0F0F0"/>
                </a:solidFill>
                <a:latin typeface="Arial"/>
              </a:rPr>
              <a:t>​</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3</m:t>
                    </m:r>
                    <m:r>
                      <m:t>π</m:t>
                    </m:r>
                  </m:oMath>
                </a14:m>
              </mc:Choice>
            </mc:AlternateContent>
            <a:r>
              <a:rPr lang="en-US" sz="1600" b="0">
                <a:solidFill>
                  <a:srgbClr val="F0F0F0"/>
                </a:solidFill>
                <a:latin typeface="Arial"/>
              </a:rPr>
              <a:t>​</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r>
                      <m:t>π</m:t>
                    </m:r>
                  </m:oMath>
                </a14:m>
              </mc:Choice>
            </mc:AlternateContent>
            <a:r>
              <a:rPr lang="en-US" sz="1600" b="0">
                <a:solidFill>
                  <a:srgbClr val="F0F0F0"/>
                </a:solidFill>
                <a:latin typeface="Arial"/>
              </a:rPr>
              <a:t>​</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9</m:t>
                    </m:r>
                    <m:r>
                      <m:t>π</m:t>
                    </m:r>
                  </m:oMath>
                </a14:m>
              </mc:Choice>
            </mc:AlternateContent>
            <a:r>
              <a:rPr lang="en-US" sz="1600" b="0">
                <a:solidFill>
                  <a:srgbClr val="F0F0F0"/>
                </a:solidFill>
                <a:latin typeface="Arial"/>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minimum values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r>
                      <m:rPr>
                        <m:sty m:val="p"/>
                      </m:rPr>
                      <m:t>∈</m:t>
                    </m:r>
                    <m:r>
                      <m:rPr>
                        <m:sty m:val="p"/>
                      </m:rPr>
                      <m:t>[</m:t>
                    </m:r>
                    <m:r>
                      <m:t>0</m:t>
                    </m:r>
                    <m:r>
                      <m:rPr>
                        <m:sty m:val="p"/>
                      </m:rPr>
                      <m:t>,</m:t>
                    </m:r>
                    <m:r>
                      <m:t>1</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with respect to its radius ‘r’ at r = 6 cm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10</m:t>
                    </m:r>
                    <m:r>
                      <m:t>π</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12</m:t>
                    </m:r>
                    <m:r>
                      <m:t>π</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8</m:t>
                    </m:r>
                    <m:r>
                      <m:t>π</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11</m:t>
                    </m:r>
                    <m:r>
                      <m:t>π</m:t>
                    </m:r>
                  </m:oMath>
                </a14:m>
              </mc:Choice>
            </mc:AlternateContent>
            <a:r>
              <a:rPr lang="en-US" sz="1600" b="0">
                <a:solidFill>
                  <a:srgbClr val="F0F0F0"/>
                </a:solidFill>
                <a:latin typeface="Arial"/>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following graph 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8.png"/>
          <p:cNvPicPr>
            <a:picLocks noChangeAspect="1"/>
          </p:cNvPicPr>
          <p:nvPr/>
        </p:nvPicPr>
        <p:blipFill>
          <a:blip r:embed="rId3"/>
          <a:stretch>
            <a:fillRect/>
          </a:stretch>
        </p:blipFill>
        <p:spPr>
          <a:xfrm>
            <a:off x="11914632" y="731520"/>
            <a:ext cx="2743200" cy="187340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b="0">
                <a:solidFill>
                  <a:srgbClr val="F0F0F0"/>
                </a:solidFill>
                <a:latin typeface="Arial"/>
              </a:rPr>
              <a:t>​</a:t>
            </a:r>
          </a:p>
        </p:txBody>
      </p:sp>
      <p:sp>
        <p:nvSpPr>
          <p:cNvPr id="6" name="TextBox 5"/>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b="0">
                <a:solidFill>
                  <a:srgbClr val="F0F0F0"/>
                </a:solidFill>
                <a:latin typeface="Arial"/>
              </a:rPr>
              <a:t>​</a:t>
            </a:r>
          </a:p>
        </p:txBody>
      </p:sp>
      <p:sp>
        <p:nvSpPr>
          <p:cNvPr id="7" name="TextBox 6"/>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8" name="TextBox 7"/>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b="0">
                <a:solidFill>
                  <a:srgbClr val="F0F0F0"/>
                </a:solidFill>
                <a:latin typeface="Arial"/>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point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2</m:t>
                        </m:r>
                      </m:sup>
                    </m:sSup>
                    <m:r>
                      <m:rPr>
                        <m:sty m:val="p"/>
                      </m:rPr>
                      <m:t>=</m:t>
                    </m:r>
                    <m:r>
                      <m:t>2</m:t>
                    </m:r>
                    <m:r>
                      <m:t>y</m:t>
                    </m:r>
                  </m:oMath>
                </a14:m>
              </mc:Choice>
            </mc:AlternateContent>
            <a:r>
              <a:rPr lang="en-US" sz="1800" b="1">
                <a:solidFill>
                  <a:srgbClr val="FAD02C"/>
                </a:solidFill>
                <a:latin typeface="Arial"/>
              </a:rPr>
              <a:t> </a:t>
            </a:r>
            <a:r>
              <a:rPr lang="en-US" sz="1800" b="1">
                <a:solidFill>
                  <a:srgbClr val="FAD02C"/>
                </a:solidFill>
                <a:latin typeface="Arial"/>
              </a:rPr>
              <a:t>which is nearest to the point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b="0">
                <a:solidFill>
                  <a:srgbClr val="F0F0F0"/>
                </a:solidFill>
                <a:latin typeface="Arial"/>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oMath>
                </a14:m>
              </mc:Choice>
            </mc:AlternateContent>
            <a:r>
              <a:rPr lang="en-US" sz="1800" b="1">
                <a:solidFill>
                  <a:srgbClr val="FAD02C"/>
                </a:solidFill>
                <a:latin typeface="Arial"/>
              </a:rPr>
              <a:t> </a:t>
            </a:r>
            <a:r>
              <a:rPr lang="en-US" sz="1800" b="1">
                <a:solidFill>
                  <a:srgbClr val="FAD02C"/>
                </a:solidFill>
                <a:latin typeface="Arial"/>
              </a:rPr>
              <a:t>∈ (1, 2)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do not have maximum value</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of a product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90</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116</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r>
                      <m:rPr>
                        <m:sty m:val="p"/>
                      </m:rPr>
                      <m:t>−</m:t>
                    </m:r>
                    <m:r>
                      <m:t>4</m:t>
                    </m:r>
                    <m:r>
                      <m:t>x</m:t>
                    </m:r>
                    <m:r>
                      <m:rPr>
                        <m:sty m:val="p"/>
                      </m:rPr>
                      <m:t>+</m:t>
                    </m:r>
                    <m:r>
                      <m:t>6</m:t>
                    </m:r>
                  </m:oMath>
                </a14:m>
              </mc:Choice>
            </mc:AlternateContent>
            <a:r>
              <a:rPr lang="en-US" sz="1800" b="1">
                <a:solidFill>
                  <a:srgbClr val="FAD02C"/>
                </a:solidFill>
                <a:latin typeface="Arial"/>
              </a:rPr>
              <a:t> </a:t>
            </a:r>
            <a:r>
              <a:rPr lang="en-US" sz="1800" b="1">
                <a:solidFill>
                  <a:srgbClr val="FAD02C"/>
                </a:solidFill>
                <a:latin typeface="Arial"/>
              </a:rPr>
              <a:t>is increasing in the interval</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t>2</m:t>
                    </m:r>
                    <m:r>
                      <m:rPr>
                        <m:sty m:val="p"/>
                      </m:rPr>
                      <m:t>)</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r>
                      <m:rPr>
                        <m:sty m:val="p"/>
                      </m:rPr>
                      <m:t>∞</m:t>
                    </m:r>
                    <m:r>
                      <m:rPr>
                        <m:sty m:val="p"/>
                      </m:rPr>
                      <m:t>)</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rPr>
                        <m:sty m:val="p"/>
                      </m:rPr>
                      <m:t>∞</m:t>
                    </m:r>
                    <m:r>
                      <m:rPr>
                        <m:sty m:val="p"/>
                      </m:rPr>
                      <m:t>)</m:t>
                    </m:r>
                  </m:oMath>
                </a14:m>
              </mc:Choice>
            </mc:AlternateContent>
            <a:r>
              <a:rPr lang="en-US" sz="1600" b="0">
                <a:solidFill>
                  <a:srgbClr val="F0F0F0"/>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A particle moving in a straight line covers a distance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oMath>
                </a14:m>
              </mc:Choice>
            </mc:AlternateContent>
            <a:r>
              <a:rPr lang="en-US" sz="1800" b="1">
                <a:solidFill>
                  <a:srgbClr val="FAD02C"/>
                </a:solidFill>
                <a:latin typeface="Arial"/>
              </a:rPr>
              <a:t>cm in time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t</m:t>
                    </m:r>
                  </m:oMath>
                </a14:m>
              </mc:Choice>
            </mc:AlternateContent>
            <a:r>
              <a:rPr lang="en-US" sz="1800" b="1">
                <a:solidFill>
                  <a:srgbClr val="FAD02C"/>
                </a:solidFill>
                <a:latin typeface="Arial"/>
              </a:rPr>
              <a:t>sec.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r>
                      <m:rPr>
                        <m:sty m:val="p"/>
                      </m:rPr>
                      <m:t>=</m:t>
                    </m:r>
                    <m:sSup>
                      <m:e>
                        <m:r>
                          <m:t>t</m:t>
                        </m:r>
                      </m:e>
                      <m:sup>
                        <m:r>
                          <m:t>3</m:t>
                        </m:r>
                      </m:sup>
                    </m:sSup>
                    <m:r>
                      <m:rPr>
                        <m:sty m:val="p"/>
                      </m:rPr>
                      <m:t>+</m:t>
                    </m:r>
                    <m:r>
                      <m:t>3</m:t>
                    </m:r>
                    <m:sSup>
                      <m:e>
                        <m:r>
                          <m:t>t</m:t>
                        </m:r>
                      </m:e>
                      <m:sup>
                        <m:r>
                          <m:t>2</m:t>
                        </m:r>
                      </m:sup>
                    </m:sSup>
                    <m:r>
                      <m:rPr>
                        <m:sty m:val="p"/>
                      </m:rPr>
                      <m:t>+</m:t>
                    </m:r>
                    <m:r>
                      <m:t>6</m:t>
                    </m:r>
                    <m:r>
                      <m:t>t</m:t>
                    </m:r>
                    <m:r>
                      <m:rPr>
                        <m:sty m:val="p"/>
                      </m:rPr>
                      <m:t>−</m:t>
                    </m:r>
                    <m:r>
                      <m:t>18</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initial velocity of a particle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3 cm/sec.</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18 cm/sec.</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 cm/sec.</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6 cm/sec.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Statement I: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is decreasing in the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r>
                      <m:rPr>
                        <m:sty m:val="p"/>
                      </m:rPr>
                      <m:t>∞</m:t>
                    </m:r>
                    <m:r>
                      <m:rPr>
                        <m:sty m:val="p"/>
                      </m:rPr>
                      <m:t>)</m:t>
                    </m:r>
                    <m:r>
                      <m:rPr>
                        <m:sty m:val="p"/>
                      </m:rPr>
                      <m:t>.</m:t>
                    </m:r>
                  </m:oMath>
                </a14:m>
              </mc:Choice>
            </mc:AlternateContent>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Statement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800" b="1">
                <a:solidFill>
                  <a:srgbClr val="FAD02C"/>
                </a:solidFill>
                <a:latin typeface="Arial"/>
              </a:rPr>
              <a:t>: Any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is decreasing if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d</m:t>
                        </m:r>
                        <m:r>
                          <m:t>y</m:t>
                        </m:r>
                      </m:num>
                      <m:den>
                        <m:r>
                          <m:t> </m:t>
                        </m:r>
                        <m:r>
                          <m:t>d</m:t>
                        </m:r>
                        <m:r>
                          <m:t>x</m:t>
                        </m:r>
                      </m:den>
                    </m:f>
                    <m:r>
                      <m:rPr>
                        <m:sty m:val="p"/>
                      </m:rPr>
                      <m:t>&lt;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Which of the following is correct?</a:t>
            </a:r>
          </a:p>
        </p:txBody>
      </p:sp>
      <p:sp>
        <p:nvSpPr>
          <p:cNvPr id="4" name="TextBox 3"/>
          <p:cNvSpPr txBox="1"/>
          <p:nvPr/>
        </p:nvSpPr>
        <p:spPr>
          <a:xfrm>
            <a:off x="457200" y="1505102"/>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a:r>
              <a:rPr lang="en-US" sz="1600" b="0">
                <a:solidFill>
                  <a:srgbClr val="F0F0F0"/>
                </a:solidFill>
                <a:latin typeface="Arial"/>
              </a:rPr>
              <a:t>Both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true</a:t>
            </a:r>
          </a:p>
        </p:txBody>
      </p:sp>
      <p:sp>
        <p:nvSpPr>
          <p:cNvPr id="5" name="TextBox 4"/>
          <p:cNvSpPr txBox="1"/>
          <p:nvPr/>
        </p:nvSpPr>
        <p:spPr>
          <a:xfrm>
            <a:off x="6254496" y="1505102"/>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a:r>
              <a:rPr lang="en-US" sz="1600" b="0">
                <a:solidFill>
                  <a:srgbClr val="F0F0F0"/>
                </a:solidFill>
                <a:latin typeface="Arial"/>
              </a:rPr>
              <a:t>Both Statements I and</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are false</a:t>
            </a:r>
          </a:p>
        </p:txBody>
      </p:sp>
      <p:sp>
        <p:nvSpPr>
          <p:cNvPr id="6" name="TextBox 5"/>
          <p:cNvSpPr txBox="1"/>
          <p:nvPr/>
        </p:nvSpPr>
        <p:spPr>
          <a:xfrm>
            <a:off x="457200" y="2072030"/>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Statement I is true and Statement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is false</a:t>
            </a:r>
          </a:p>
        </p:txBody>
      </p:sp>
      <p:sp>
        <p:nvSpPr>
          <p:cNvPr id="7" name="TextBox 6"/>
          <p:cNvSpPr txBox="1"/>
          <p:nvPr/>
        </p:nvSpPr>
        <p:spPr>
          <a:xfrm>
            <a:off x="6254496" y="2072030"/>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a:r>
              <a:rPr lang="en-US" sz="1600" b="0">
                <a:solidFill>
                  <a:srgbClr val="F0F0F0"/>
                </a:solidFill>
                <a:latin typeface="Arial"/>
              </a:rPr>
              <a:t>Statement I is false and Statement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b="0">
                <a:solidFill>
                  <a:srgbClr val="F0F0F0"/>
                </a:solidFill>
                <a:latin typeface="Arial"/>
              </a:rPr>
              <a:t> </a:t>
            </a:r>
            <a:r>
              <a:rPr lang="en-US" sz="1600" b="0">
                <a:solidFill>
                  <a:srgbClr val="F0F0F0"/>
                </a:solidFill>
                <a:latin typeface="Arial"/>
              </a:rPr>
              <a:t>is true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2023M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slope of the normal 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2</m:t>
                    </m:r>
                    <m:sSup>
                      <m:e>
                        <m:r>
                          <m:t>x</m:t>
                        </m:r>
                      </m:e>
                      <m:sup>
                        <m:r>
                          <m:t>2</m:t>
                        </m:r>
                      </m:sup>
                    </m:sSup>
                    <m:r>
                      <m:rPr>
                        <m:sty m:val="p"/>
                      </m:rPr>
                      <m:t>−</m:t>
                    </m:r>
                    <m:r>
                      <m:t>3</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0 is ____</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interval [-1,1] is _____</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2014,2019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Approximate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36.6</m:t>
                        </m:r>
                      </m:e>
                    </m:rad>
                  </m:oMath>
                </a14:m>
              </mc:Choice>
            </mc:AlternateContent>
            <a:r>
              <a:rPr lang="en-US" sz="1800" b="1">
                <a:solidFill>
                  <a:srgbClr val="FAD02C"/>
                </a:solidFill>
                <a:latin typeface="Arial"/>
              </a:rPr>
              <a:t>by using differential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f>
                      <m:fPr>
                        <m:type m:val="bar"/>
                      </m:fPr>
                      <m:num>
                        <m:sSup>
                          <m:e>
                            <m:r>
                              <m:t>x</m:t>
                            </m:r>
                          </m:e>
                          <m:sup>
                            <m:r>
                              <m:rPr>
                                <m:sty m:val="p"/>
                              </m:rPr>
                              <m:t>−</m:t>
                            </m:r>
                            <m:r>
                              <m:t>1</m:t>
                            </m:r>
                          </m:sup>
                        </m:sSup>
                      </m:num>
                      <m:den>
                        <m:sSup>
                          <m:e>
                            <m:r>
                              <m:t>x</m:t>
                            </m:r>
                          </m:e>
                          <m:sup>
                            <m:r>
                              <m:rPr>
                                <m:sty m:val="p"/>
                              </m:rPr>
                              <m:t>−</m:t>
                            </m:r>
                            <m:r>
                              <m:t>2</m:t>
                            </m:r>
                          </m:sup>
                        </m:sSup>
                      </m:den>
                    </m:f>
                    <m:r>
                      <m:rPr>
                        <m:sty m:val="p"/>
                      </m:rPr>
                      <m:t>,</m:t>
                    </m:r>
                    <m:r>
                      <m:t>x</m:t>
                    </m:r>
                    <m:r>
                      <m:rPr>
                        <m:sty m:val="p"/>
                      </m:rPr>
                      <m:t>≠</m:t>
                    </m:r>
                    <m:r>
                      <m:t>2</m:t>
                    </m:r>
                  </m:oMath>
                </a14:m>
              </mc:Choice>
            </mc:AlternateContent>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=10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49.5</m:t>
                        </m:r>
                      </m:e>
                    </m:rad>
                  </m:oMath>
                </a14:m>
              </mc:Choice>
            </mc:AlternateContent>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25</m:t>
                    </m:r>
                    <m:sSup>
                      <m:e>
                        <m:r>
                          <m:rPr>
                            <m:sty m:val="p"/>
                          </m:rPr>
                          <m:t>)</m:t>
                        </m:r>
                      </m:e>
                      <m:sup>
                        <m:f>
                          <m:fPr>
                            <m:type m:val="bar"/>
                          </m:fPr>
                          <m:num>
                            <m:r>
                              <m:t>1</m:t>
                            </m:r>
                          </m:num>
                          <m:den>
                            <m:r>
                              <m:t>3</m:t>
                            </m:r>
                          </m:den>
                        </m:f>
                      </m:sup>
                    </m:sSup>
                  </m:oMath>
                </a14:m>
              </mc:Choice>
            </mc:AlternateContent>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2016S,2019S,2025-2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interval in which the function of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2</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3</m:t>
                    </m:r>
                    <m:r>
                      <m:t>x</m:t>
                    </m:r>
                  </m:oMath>
                </a14:m>
              </mc:Choice>
            </mc:AlternateContent>
            <a:r>
              <a:rPr lang="en-US" sz="1800" b="1">
                <a:solidFill>
                  <a:srgbClr val="FAD02C"/>
                </a:solidFill>
                <a:latin typeface="Arial"/>
              </a:rPr>
              <a:t> </a:t>
            </a:r>
            <a:r>
              <a:rPr lang="en-US" sz="1800" b="1">
                <a:solidFill>
                  <a:srgbClr val="FAD02C"/>
                </a:solidFill>
                <a:latin typeface="Arial"/>
              </a:rPr>
              <a:t>is strictly increasing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2017</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29844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Arial"/>
              </a:rPr>
              <a:t>2018,2021M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points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sSup>
                          <m:e>
                            <m:r>
                              <m:t>x</m:t>
                            </m:r>
                          </m:e>
                          <m:sup>
                            <m:r>
                              <m:t>2</m:t>
                            </m:r>
                          </m:sup>
                        </m:sSup>
                      </m:num>
                      <m:den>
                        <m:r>
                          <m:t>4</m:t>
                        </m:r>
                      </m:den>
                    </m:f>
                    <m:r>
                      <m:rPr>
                        <m:sty m:val="p"/>
                      </m:rPr>
                      <m:t>+</m:t>
                    </m:r>
                    <m:f>
                      <m:fPr>
                        <m:type m:val="bar"/>
                      </m:fPr>
                      <m:num>
                        <m:sSup>
                          <m:e>
                            <m:r>
                              <m:t>y</m:t>
                            </m:r>
                          </m:e>
                          <m:sup>
                            <m:r>
                              <m:t>2</m:t>
                            </m:r>
                          </m:sup>
                        </m:sSup>
                      </m:num>
                      <m:den>
                        <m:r>
                          <m:t>25</m:t>
                        </m:r>
                      </m:den>
                    </m:f>
                  </m:oMath>
                </a14:m>
              </mc:Choice>
            </mc:AlternateContent>
            <a:r>
              <a:rPr lang="en-US" sz="1800" b="1">
                <a:solidFill>
                  <a:srgbClr val="FAD02C"/>
                </a:solidFill>
                <a:latin typeface="Arial"/>
              </a:rPr>
              <a:t> </a:t>
            </a:r>
            <a:r>
              <a:rPr lang="en-US" sz="1800" b="1">
                <a:solidFill>
                  <a:srgbClr val="FAD02C"/>
                </a:solidFill>
                <a:latin typeface="Arial"/>
              </a:rPr>
              <a:t>= 1 at which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r>
                      <m:t>s</m:t>
                    </m:r>
                  </m:oMath>
                </a14:m>
              </mc:Choice>
            </mc:AlternateContent>
            <a:r>
              <a:rPr lang="en-US" sz="1800" b="1">
                <a:solidFill>
                  <a:srgbClr val="FAD02C"/>
                </a:solidFill>
                <a:latin typeface="Arial"/>
              </a:rPr>
              <a:t> </a:t>
            </a:r>
            <a:r>
              <a:rPr lang="en-US" sz="1800" b="1">
                <a:solidFill>
                  <a:srgbClr val="FAD02C"/>
                </a:solidFill>
                <a:latin typeface="Arial"/>
              </a:rPr>
              <a:t>are parallel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axis.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4</m:t>
                    </m:r>
                    <m:r>
                      <m:t>x</m:t>
                    </m:r>
                  </m:oMath>
                </a14:m>
              </mc:Choice>
            </mc:AlternateContent>
            <a:r>
              <a:rPr lang="en-US" sz="1800" b="1">
                <a:solidFill>
                  <a:srgbClr val="FAD02C"/>
                </a:solidFill>
                <a:latin typeface="Arial"/>
              </a:rPr>
              <a:t> </a:t>
            </a:r>
            <a:r>
              <a:rPr lang="en-US" sz="1800" b="1">
                <a:solidFill>
                  <a:srgbClr val="FAD02C"/>
                </a:solidFill>
                <a:latin typeface="Arial"/>
              </a:rPr>
              <a:t>+ 6 is strictly</a:t>
            </a:r>
            <a:r>
              <a:rPr lang="en-US" sz="1800" b="1">
                <a:solidFill>
                  <a:srgbClr val="FAD02C"/>
                </a:solidFill>
                <a:latin typeface="Arial"/>
              </a:rPr>
              <a:t> </a:t>
            </a:r>
            <a:r>
              <a:rPr lang="en-US" sz="1800" b="1">
                <a:solidFill>
                  <a:srgbClr val="FAD02C"/>
                </a:solidFill>
                <a:latin typeface="Arial"/>
              </a:rPr>
              <a:t>decreasing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2</m:t>
                        </m:r>
                      </m:sup>
                    </m:sSup>
                    <m:r>
                      <m:rPr>
                        <m:sty m:val="p"/>
                      </m:rPr>
                      <m:t>+</m:t>
                    </m:r>
                    <m:r>
                      <m:t>3</m:t>
                    </m:r>
                    <m:r>
                      <m:t>x</m:t>
                    </m:r>
                    <m:r>
                      <m:rPr>
                        <m:sty m:val="p"/>
                      </m:rPr>
                      <m:t>.</m:t>
                    </m:r>
                  </m:oMath>
                </a14:m>
              </mc:Choice>
            </mc:AlternateContent>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25.3</m:t>
                        </m:r>
                      </m:e>
                    </m:rad>
                  </m:oMath>
                </a14:m>
              </mc:Choice>
            </mc:AlternateContent>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16712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002536" cy="402336"/>
          </a:xfrm>
          <a:prstGeom prst="rect">
            <a:avLst/>
          </a:prstGeom>
          <a:noFill/>
        </p:spPr>
        <p:txBody>
          <a:bodyPr wrap="none" anchor="ctr" lIns="0" rIns="0" tIns="0" bIns="0">
            <a:spAutoFit/>
          </a:bodyPr>
          <a:lstStyle/>
          <a:p>
            <a:pPr algn="l"/>
            <a:r>
              <a:rPr sz="1500" b="1">
                <a:solidFill>
                  <a:srgbClr val="FAD02C"/>
                </a:solidFill>
                <a:latin typeface="Arial"/>
              </a:rPr>
              <a:t>2022M,2024-2,2025M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3</m:t>
                        </m:r>
                      </m:sup>
                    </m:sSup>
                    <m:r>
                      <m:rPr>
                        <m:sty m:val="p"/>
                      </m:rPr>
                      <m:t>−</m:t>
                    </m:r>
                    <m:r>
                      <m:t>3</m:t>
                    </m:r>
                    <m:r>
                      <m:t>x</m:t>
                    </m:r>
                  </m:oMath>
                </a14:m>
              </mc:Choice>
            </mc:AlternateContent>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6733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508760" cy="402336"/>
          </a:xfrm>
          <a:prstGeom prst="rect">
            <a:avLst/>
          </a:prstGeom>
          <a:noFill/>
        </p:spPr>
        <p:txBody>
          <a:bodyPr wrap="none" anchor="ctr" lIns="0" rIns="0" tIns="0" bIns="0">
            <a:spAutoFit/>
          </a:bodyPr>
          <a:lstStyle/>
          <a:p>
            <a:pPr algn="l"/>
            <a:r>
              <a:rPr sz="1500" b="1">
                <a:solidFill>
                  <a:srgbClr val="FAD02C"/>
                </a:solidFill>
                <a:latin typeface="Arial"/>
              </a:rPr>
              <a:t>2024-1,3,2026-1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radius of circle is increasing at the rate of 0.7 cm/what is the rate of increase of its circumference?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Prove that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cos</m:t>
                    </m:r>
                    <m:r>
                      <m:t>x</m:t>
                    </m:r>
                  </m:oMath>
                </a14:m>
              </mc:Choice>
            </mc:AlternateContent>
            <a:r>
              <a:rPr lang="en-US" sz="1800" b="1">
                <a:solidFill>
                  <a:srgbClr val="FAD02C"/>
                </a:solidFill>
                <a:latin typeface="Arial"/>
              </a:rPr>
              <a:t> </a:t>
            </a:r>
            <a:r>
              <a:rPr lang="en-US" sz="1800" b="1">
                <a:solidFill>
                  <a:srgbClr val="FAD02C"/>
                </a:solidFill>
                <a:latin typeface="Arial"/>
              </a:rPr>
              <a:t>is decreasing in (</a:t>
            </a:r>
            <mc:AlternateContent xmlns:mc="http://schemas.openxmlformats.org/markup-compatibility/2006" xmlns:a14="http://schemas.microsoft.com/office/drawing/2010/main">
              <mc:Choice Requires="a14">
                <a14:m>
                  <m:oMath xmlns:m="http://schemas.openxmlformats.org/officeDocument/2006/math">
                    <m:r>
                      <m:t>0</m:t>
                    </m:r>
                    <m:r>
                      <m:rPr>
                        <m:sty m:val="p"/>
                      </m:rPr>
                      <m:t>,</m:t>
                    </m:r>
                    <m:r>
                      <m:t>π</m:t>
                    </m:r>
                  </m:oMath>
                </a14:m>
              </mc:Choice>
            </mc:AlternateContent>
            <a:r>
              <a:rPr lang="en-US" sz="1800" b="1">
                <a:solidFill>
                  <a:srgbClr val="FAD02C"/>
                </a:solidFill>
                <a:latin typeface="Arial"/>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 given by R(</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r>
                      <m:t>3</m:t>
                    </m:r>
                    <m:sSup>
                      <m:e>
                        <m:r>
                          <m:t>x</m:t>
                        </m:r>
                      </m:e>
                      <m:sup>
                        <m:r>
                          <m:t>2</m:t>
                        </m:r>
                      </m:sup>
                    </m:sSup>
                    <m:r>
                      <m:rPr>
                        <m:sty m:val="p"/>
                      </m:rPr>
                      <m:t>+</m:t>
                    </m:r>
                    <m:r>
                      <m:t>36</m:t>
                    </m:r>
                    <m:r>
                      <m:t>x</m:t>
                    </m:r>
                    <m:r>
                      <m:rPr>
                        <m:sty m:val="p"/>
                      </m:rPr>
                      <m:t>+</m:t>
                    </m:r>
                    <m:r>
                      <m:t>5</m:t>
                    </m:r>
                  </m:oMath>
                </a14:m>
              </mc:Choice>
            </mc:AlternateContent>
            <a:r>
              <a:rPr lang="en-US" sz="1800" b="1">
                <a:solidFill>
                  <a:srgbClr val="FAD02C"/>
                </a:solidFill>
                <a:latin typeface="Arial"/>
              </a:rPr>
              <a:t>.Find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4</m:t>
                    </m:r>
                    <m:sSup>
                      <m:e>
                        <m:r>
                          <m:t>x</m:t>
                        </m:r>
                      </m:e>
                      <m:sup>
                        <m:r>
                          <m:t>3</m:t>
                        </m:r>
                      </m:sup>
                    </m:sSup>
                    <m:r>
                      <m:rPr>
                        <m:sty m:val="p"/>
                      </m:rPr>
                      <m:t>−</m:t>
                    </m:r>
                    <m:r>
                      <m:t>6</m:t>
                    </m:r>
                    <m:r>
                      <m:t>x</m:t>
                    </m:r>
                    <m:r>
                      <m:rPr>
                        <m:sty m:val="p"/>
                      </m:rPr>
                      <m:t>−</m:t>
                    </m:r>
                    <m:r>
                      <m:t>72</m:t>
                    </m:r>
                    <m:r>
                      <m:t>x</m:t>
                    </m:r>
                    <m:r>
                      <m:rPr>
                        <m:sty m:val="p"/>
                      </m:rPr>
                      <m:t>+</m:t>
                    </m:r>
                    <m:r>
                      <m:t>30</m:t>
                    </m:r>
                  </m:oMath>
                </a14:m>
              </mc:Choice>
            </mc:AlternateContent>
            <a:r>
              <a:rPr lang="en-US" sz="1800" b="1">
                <a:solidFill>
                  <a:srgbClr val="FAD02C"/>
                </a:solidFill>
                <a:latin typeface="Arial"/>
              </a:rPr>
              <a:t> </a:t>
            </a:r>
            <a:r>
              <a:rPr lang="en-US" sz="1800" b="1">
                <a:solidFill>
                  <a:srgbClr val="FAD02C"/>
                </a:solidFill>
                <a:latin typeface="Arial"/>
              </a:rPr>
              <a:t>is decreasing.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 balloon which always remains spherical has a variable radius. Find the rate at which its volume is increasing with radius when the radius is 10 cms.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given interval [-2,2]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Differentiate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rPr>
                        <m:sty m:val="p"/>
                      </m:rPr>
                      <m:t>cos</m:t>
                    </m:r>
                    <m:r>
                      <m:t>2</m:t>
                    </m:r>
                    <m:r>
                      <m:t>y</m:t>
                    </m:r>
                  </m:oMath>
                </a14:m>
              </mc:Choice>
            </mc:AlternateContent>
            <a:r>
              <a:rPr lang="en-US" sz="1800" b="1">
                <a:solidFill>
                  <a:srgbClr val="FAD02C"/>
                </a:solidFill>
                <a:latin typeface="Arial"/>
              </a:rPr>
              <a:t> </a:t>
            </a:r>
            <a:r>
              <a:rPr lang="en-US" sz="1800" b="1">
                <a:solidFill>
                  <a:srgbClr val="FAD02C"/>
                </a:solidFill>
                <a:latin typeface="Arial"/>
              </a:rPr>
              <a:t>= 1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oMath>
                </a14:m>
              </mc:Choice>
            </mc:AlternateContent>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condition caused when scuba divers go into deep sea water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Anoxia</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Hemophilia</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Bends</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K</m:t>
                    </m:r>
                    <m:r>
                      <m:t>H</m:t>
                    </m:r>
                  </m:oMath>
                </a14:m>
              </mc:Choice>
            </mc:AlternateContent>
            <a:r>
              <a:rPr lang="en-US" sz="1800" b="1">
                <a:solidFill>
                  <a:srgbClr val="FAD02C"/>
                </a:solidFill>
                <a:latin typeface="Arial"/>
              </a:rPr>
              <a:t> </a:t>
            </a:r>
            <a:r>
              <a:rPr lang="en-US" sz="1800" b="1">
                <a:solidFill>
                  <a:srgbClr val="FAD02C"/>
                </a:solidFill>
                <a:latin typeface="Arial"/>
              </a:rPr>
              <a:t>values for Ar(g),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800" b="1">
                <a:solidFill>
                  <a:srgbClr val="FAD02C"/>
                </a:solidFill>
                <a:latin typeface="Arial"/>
              </a:rPr>
              <a:t> </a:t>
            </a:r>
            <a:r>
              <a:rPr lang="en-US" sz="1800" b="1">
                <a:solidFill>
                  <a:srgbClr val="FAD02C"/>
                </a:solidFill>
                <a:latin typeface="Arial"/>
              </a:rPr>
              <a:t>(aq),</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r>
              <a:rPr lang="en-US" sz="1800" b="1">
                <a:solidFill>
                  <a:srgbClr val="FAD02C"/>
                </a:solidFill>
                <a:latin typeface="Arial"/>
              </a:rPr>
              <a:t> </a:t>
            </a:r>
            <a:r>
              <a:rPr lang="en-US" sz="1800" b="1">
                <a:solidFill>
                  <a:srgbClr val="FAD02C"/>
                </a:solidFill>
                <a:latin typeface="Arial"/>
              </a:rPr>
              <a:t>(aq),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800" b="1">
                <a:solidFill>
                  <a:srgbClr val="FAD02C"/>
                </a:solidFill>
                <a:latin typeface="Arial"/>
              </a:rPr>
              <a:t>(aq) are 40.39, 1.67,</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1.83</m:t>
                    </m:r>
                    <m:r>
                      <m:rPr>
                        <m:sty m:val="p"/>
                      </m:rPr>
                      <m:t>×</m:t>
                    </m:r>
                    <m:sSup>
                      <m:e>
                        <m:r>
                          <m:t>10</m:t>
                        </m:r>
                      </m:e>
                      <m:sup>
                        <m:r>
                          <m:rPr>
                            <m:sty m:val="p"/>
                          </m:rPr>
                          <m:t>−</m:t>
                        </m:r>
                        <m:r>
                          <m:t>3</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and 0.413 respectively. Arrange them in the order of their increasing solubility</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H</m:t>
                    </m:r>
                    <m:r>
                      <m:t>C</m:t>
                    </m:r>
                    <m:r>
                      <m:t>H</m:t>
                    </m:r>
                    <m:r>
                      <m:t>O</m:t>
                    </m:r>
                    <m:r>
                      <m:rPr>
                        <m:sty m:val="p"/>
                      </m:rPr>
                      <m:t>&lt;</m:t>
                    </m:r>
                    <m:r>
                      <m:t>C</m:t>
                    </m:r>
                    <m:sSub>
                      <m:e>
                        <m:r>
                          <m:t>H</m:t>
                        </m:r>
                      </m:e>
                      <m:sub>
                        <m:r>
                          <m:t>4</m:t>
                        </m:r>
                      </m:sub>
                    </m:sSub>
                    <m:r>
                      <m:rPr>
                        <m:sty m:val="p"/>
                      </m:rPr>
                      <m:t>&lt;</m:t>
                    </m:r>
                    <m:r>
                      <m:t>C</m:t>
                    </m:r>
                    <m:sSub>
                      <m:e>
                        <m:r>
                          <m:t>O</m:t>
                        </m:r>
                      </m:e>
                      <m:sub>
                        <m:r>
                          <m:t>2</m:t>
                        </m:r>
                      </m:sub>
                    </m:sSub>
                  </m:oMath>
                </a14:m>
              </mc:Choice>
            </mc:AlternateContent>
            <a:r>
              <a:rPr lang="en-US" sz="1600" b="0">
                <a:solidFill>
                  <a:srgbClr val="F0F0F0"/>
                </a:solidFill>
                <a:latin typeface="Arial"/>
              </a:rPr>
              <a:t> </a:t>
            </a:r>
            <a:r>
              <a:rPr lang="en-US" sz="1600" b="0">
                <a:solidFill>
                  <a:srgbClr val="F0F0F0"/>
                </a:solidFill>
                <a:latin typeface="Arial"/>
              </a:rPr>
              <a:t>&lt; Ar</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H</m:t>
                    </m:r>
                    <m:r>
                      <m:t>C</m:t>
                    </m:r>
                    <m:r>
                      <m:t>H</m:t>
                    </m:r>
                    <m:r>
                      <m:t>O</m:t>
                    </m:r>
                    <m:r>
                      <m:rPr>
                        <m:sty m:val="p"/>
                      </m:rPr>
                      <m:t>&lt;</m:t>
                    </m:r>
                    <m:r>
                      <m:t>C</m:t>
                    </m:r>
                    <m:sSub>
                      <m:e>
                        <m:r>
                          <m:t>O</m:t>
                        </m:r>
                      </m:e>
                      <m:sub>
                        <m:r>
                          <m:t>2</m:t>
                        </m:r>
                      </m:sub>
                    </m:sSub>
                    <m:r>
                      <m:rPr>
                        <m:sty m:val="p"/>
                      </m:rPr>
                      <m:t>&lt;</m:t>
                    </m:r>
                    <m:r>
                      <m:t>C</m:t>
                    </m:r>
                    <m:sSub>
                      <m:e>
                        <m:r>
                          <m:t>H</m:t>
                        </m:r>
                      </m:e>
                      <m:sub>
                        <m:r>
                          <m:t>4</m:t>
                        </m:r>
                      </m:sub>
                    </m:sSub>
                  </m:oMath>
                </a14:m>
              </mc:Choice>
            </mc:AlternateContent>
            <a:r>
              <a:rPr lang="en-US" sz="1600" b="0">
                <a:solidFill>
                  <a:srgbClr val="F0F0F0"/>
                </a:solidFill>
                <a:latin typeface="Arial"/>
              </a:rPr>
              <a:t> </a:t>
            </a:r>
            <a:r>
              <a:rPr lang="en-US" sz="1600" b="0">
                <a:solidFill>
                  <a:srgbClr val="F0F0F0"/>
                </a:solidFill>
                <a:latin typeface="Arial"/>
              </a:rPr>
              <a:t>&lt; Ar</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Ar &lt;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r>
                      <m:rPr>
                        <m:sty m:val="p"/>
                      </m:rPr>
                      <m:t>&lt;</m:t>
                    </m:r>
                    <m:r>
                      <m:t>C</m:t>
                    </m:r>
                    <m:sSub>
                      <m:e>
                        <m:r>
                          <m:t>H</m:t>
                        </m:r>
                      </m:e>
                      <m:sub>
                        <m:r>
                          <m:t>4</m:t>
                        </m:r>
                      </m:sub>
                    </m:sSub>
                    <m:r>
                      <m:rPr>
                        <m:sty m:val="p"/>
                      </m:rPr>
                      <m:t>&lt;</m:t>
                    </m:r>
                    <m:r>
                      <m:t>H</m:t>
                    </m:r>
                    <m:r>
                      <m:t>C</m:t>
                    </m:r>
                    <m:r>
                      <m:t>H</m:t>
                    </m:r>
                    <m:r>
                      <m:t>O</m:t>
                    </m:r>
                  </m:oMath>
                </a14:m>
              </mc:Choice>
            </mc:AlternateContent>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a:r>
              <a:rPr lang="en-US" sz="1600" b="0">
                <a:solidFill>
                  <a:srgbClr val="F0F0F0"/>
                </a:solidFill>
                <a:latin typeface="Arial"/>
              </a:rPr>
              <a:t>Ar &lt;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r>
                      <m:rPr>
                        <m:sty m:val="p"/>
                      </m:rPr>
                      <m:t>&lt;</m:t>
                    </m:r>
                    <m:r>
                      <m:t>C</m:t>
                    </m:r>
                    <m:sSub>
                      <m:e>
                        <m:r>
                          <m:t>O</m:t>
                        </m:r>
                      </m:e>
                      <m:sub>
                        <m:r>
                          <m:t>2</m:t>
                        </m:r>
                      </m:sub>
                    </m:sSub>
                    <m:r>
                      <m:rPr>
                        <m:sty m:val="p"/>
                      </m:rPr>
                      <m:t>&lt;</m:t>
                    </m:r>
                    <m:r>
                      <m:t>H</m:t>
                    </m:r>
                    <m:r>
                      <m:t>C</m:t>
                    </m:r>
                    <m:r>
                      <m:t>H</m:t>
                    </m:r>
                    <m:r>
                      <m:t>O</m:t>
                    </m:r>
                  </m:oMath>
                </a14:m>
              </mc:Choice>
            </mc:AlternateContent>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dissolution of a gas in a liquid is governed by</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Roult's law</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Henry's law</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Dalton's law of 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Boyle's law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maximum amount of a solid solute that can be dissolved in a specific amount of a given liquid solvent does not depend upon</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solvent</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Pressure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Nature of solute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Temperature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mixture which shows positive deviation from Raoult's law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Ethanol + Acetone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Benzene + Toluene</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Acetone + Chloroform</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Chlorobenzene + Bromoethane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most diluted solution is (molar mass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800" b="1">
                <a:solidFill>
                  <a:srgbClr val="FAD02C"/>
                </a:solidFill>
                <a:latin typeface="Arial"/>
              </a:rPr>
              <a:t> </a:t>
            </a:r>
            <a:r>
              <a:rPr lang="en-US" sz="1800" b="1">
                <a:solidFill>
                  <a:srgbClr val="FAD02C"/>
                </a:solidFill>
                <a:latin typeface="Arial"/>
              </a:rPr>
              <a:t>= 58.5 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o</m:t>
                    </m:r>
                    <m:sSup>
                      <m:e>
                        <m:r>
                          <m:t>l</m:t>
                        </m:r>
                      </m:e>
                      <m:sup>
                        <m:r>
                          <m:rPr>
                            <m:sty m:val="p"/>
                          </m:rPr>
                          <m:t>−</m:t>
                        </m:r>
                        <m:r>
                          <m:t>1</m:t>
                        </m:r>
                      </m:sup>
                    </m:sSup>
                  </m:oMath>
                </a14:m>
              </mc:Choice>
            </mc:AlternateContent>
            <a:r>
              <a:rPr lang="en-US" sz="1800" b="1">
                <a:solidFill>
                  <a:srgbClr val="FAD02C"/>
                </a:solidFill>
                <a:latin typeface="Arial"/>
              </a:rPr>
              <a:t>)</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a:r>
              <a:rPr lang="en-US" sz="1600" b="0">
                <a:solidFill>
                  <a:srgbClr val="F0F0F0"/>
                </a:solidFill>
                <a:latin typeface="Arial"/>
              </a:rPr>
              <a:t>2% (w/w)</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600" b="0">
                <a:solidFill>
                  <a:srgbClr val="F0F0F0"/>
                </a:solidFill>
                <a:latin typeface="Arial"/>
              </a:rPr>
              <a:t> </a:t>
            </a:r>
            <a:r>
              <a:rPr lang="en-US" sz="1600" b="0">
                <a:solidFill>
                  <a:srgbClr val="F0F0F0"/>
                </a:solidFill>
                <a:latin typeface="Arial"/>
              </a:rPr>
              <a:t>in water</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m:t>
                    </m:r>
                    <m:r>
                      <m:t>M</m:t>
                    </m:r>
                    <m:r>
                      <m:t>N</m:t>
                    </m:r>
                    <m:r>
                      <m:t>a</m:t>
                    </m:r>
                    <m:r>
                      <m:t>C</m:t>
                    </m:r>
                    <m:r>
                      <m:t>l</m:t>
                    </m:r>
                  </m:oMath>
                </a14:m>
              </mc:Choice>
            </mc:AlternateContent>
            <a:r>
              <a:rPr lang="en-US" sz="1600" b="0">
                <a:solidFill>
                  <a:srgbClr val="F0F0F0"/>
                </a:solidFill>
                <a:latin typeface="Arial"/>
              </a:rPr>
              <a: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2 ppm of</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a:r>
              <a:rPr lang="en-US" sz="1600" b="0">
                <a:solidFill>
                  <a:srgbClr val="F0F0F0"/>
                </a:solidFill>
                <a:latin typeface="Arial"/>
              </a:rPr>
              <a:t>2 m</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pressure cooker reduces the cooking timing because
Heat is more evenly distributed
The boiling point of water inside the cooker is elevated
The boiling point of water inside the cooker is depressed
Higher pressure inside the cooker tenderizes food
The solubility of a gas in water depends on</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gas</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Temperature</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 of the gas</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of the above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solubility of a solid gas does not depend on</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solute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Nature of the solvent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solution which has lower osmotic pressure with respect to another is called</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Isotonic solution</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Hypertonic solution</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Hypotonic solution</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solutions which show a large positive deviation from Raoult’s law form</a:t>
            </a:r>
            <a:r>
              <a:rPr lang="en-US" sz="1800" b="1">
                <a:solidFill>
                  <a:srgbClr val="FAD02C"/>
                </a:solidFill>
                <a:latin typeface="Arial"/>
              </a:rPr>
              <a:t> </a:t>
            </a:r>
            <a:r>
              <a:rPr lang="en-US" sz="1800" b="1">
                <a:solidFill>
                  <a:srgbClr val="FAD02C"/>
                </a:solidFill>
                <a:latin typeface="Arial"/>
              </a:rPr>
              <a:t>Minimum boiling point azeotrope</a:t>
            </a:r>
            <a:r>
              <a:rPr lang="en-US" sz="1800" b="1">
                <a:solidFill>
                  <a:srgbClr val="FAD02C"/>
                </a:solidFill>
                <a:latin typeface="Arial"/>
              </a:rPr>
              <a:t> </a:t>
            </a:r>
            <a:r>
              <a:rPr lang="en-US" sz="1800" b="1">
                <a:solidFill>
                  <a:srgbClr val="FAD02C"/>
                </a:solidFill>
                <a:latin typeface="Arial"/>
              </a:rPr>
              <a:t>Maximum boiling point azeotrope</a:t>
            </a:r>
            <a:r>
              <a:rPr lang="en-US" sz="1800" b="1">
                <a:solidFill>
                  <a:srgbClr val="FAD02C"/>
                </a:solidFill>
                <a:latin typeface="Arial"/>
              </a:rPr>
              <a:t> </a:t>
            </a:r>
            <a:r>
              <a:rPr lang="en-US" sz="1800" b="1">
                <a:solidFill>
                  <a:srgbClr val="FAD02C"/>
                </a:solidFill>
                <a:latin typeface="Arial"/>
              </a:rPr>
              <a:t>Minimum or maximum boiling point azeotrope</a:t>
            </a:r>
            <a:r>
              <a:rPr lang="en-US" sz="1800" b="1">
                <a:solidFill>
                  <a:srgbClr val="FAD02C"/>
                </a:solidFill>
                <a:latin typeface="Arial"/>
              </a:rPr>
              <a:t> </a:t>
            </a:r>
            <a:r>
              <a:rPr lang="en-US" sz="1800" b="1">
                <a:solidFill>
                  <a:srgbClr val="FAD02C"/>
                </a:solidFill>
                <a:latin typeface="Arial"/>
              </a:rPr>
              <a:t>No azeotrope</a:t>
            </a:r>
            <a:r>
              <a:rPr lang="en-US" sz="1800" b="1">
                <a:solidFill>
                  <a:srgbClr val="FAD02C"/>
                </a:solidFill>
                <a:latin typeface="Arial"/>
              </a:rPr>
              <a:t> </a:t>
            </a: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k</m:t>
                    </m:r>
                    <m:r>
                      <m:t>s</m:t>
                    </m:r>
                  </m:oMath>
                </a14:m>
              </mc:Choice>
            </mc:AlternateContent>
            <a:r>
              <a:rPr lang="en-US" sz="1800" b="1">
                <a:solidFill>
                  <a:srgbClr val="FAD02C"/>
                </a:solidFill>
                <a:latin typeface="Arial"/>
              </a:rPr>
              <a:t> </a:t>
            </a:r>
            <a:r>
              <a:rPr lang="en-US" sz="1800" b="1">
                <a:solidFill>
                  <a:srgbClr val="FAD02C"/>
                </a:solidFill>
                <a:latin typeface="Arial"/>
              </a:rPr>
              <a:t>used by most scuba divers are filled with air diluted with helium of around</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88.3%</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56.2%</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32.1%</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sin</m:t>
                    </m:r>
                    <m:r>
                      <m:t>2</m:t>
                    </m:r>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sin</m:t>
                        </m:r>
                        <m:r>
                          <m:t>2</m:t>
                        </m:r>
                        <m:r>
                          <m:t>x</m:t>
                        </m:r>
                      </m:num>
                      <m:den>
                        <m:r>
                          <m:t>2</m:t>
                        </m:r>
                      </m:den>
                    </m:f>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num>
                      <m:den>
                        <m:r>
                          <m:t>2</m:t>
                        </m:r>
                      </m:den>
                    </m:f>
                  </m:oMath>
                </a14:m>
              </mc:Choice>
            </mc:AlternateContent>
            <a:r>
              <a:rPr lang="en-US" sz="1600" b="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cos</m:t>
                        </m:r>
                        <m:r>
                          <m:t>2</m:t>
                        </m:r>
                        <m:r>
                          <m:t>x</m:t>
                        </m:r>
                      </m:num>
                      <m:den>
                        <m:r>
                          <m:t>2</m:t>
                        </m:r>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sin</m:t>
                        </m:r>
                        <m:r>
                          <m:t>2</m:t>
                        </m:r>
                        <m:r>
                          <m:t>x</m:t>
                        </m:r>
                      </m:num>
                      <m:den>
                        <m:r>
                          <m:t>2</m:t>
                        </m:r>
                      </m:den>
                    </m:f>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2024M,2026,2025-2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oMath>
                </a14:m>
              </mc:Choice>
            </mc:AlternateContent>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m:t>
                        </m:r>
                      </m:e>
                      <m:sup>
                        <m:r>
                          <m:t>x</m:t>
                        </m:r>
                      </m:sup>
                    </m:sSup>
                    <m:r>
                      <m:rPr>
                        <m:sty m:val="p"/>
                      </m:rPr>
                      <m:t>(</m:t>
                    </m:r>
                    <m:f>
                      <m:fPr>
                        <m:type m:val="bar"/>
                      </m:fPr>
                      <m:num>
                        <m:r>
                          <m:t>1</m:t>
                        </m:r>
                      </m:num>
                      <m:den>
                        <m:r>
                          <m:t>x</m:t>
                        </m:r>
                      </m:den>
                    </m:f>
                    <m:r>
                      <m:rPr>
                        <m:sty m:val="p"/>
                      </m:rPr>
                      <m:t>−</m:t>
                    </m:r>
                    <m:f>
                      <m:fPr>
                        <m:type m:val="bar"/>
                      </m:fPr>
                      <m:num>
                        <m:r>
                          <m:t>1</m:t>
                        </m:r>
                      </m:num>
                      <m:den>
                        <m:sSup>
                          <m:e>
                            <m:r>
                              <m:t>x</m:t>
                            </m:r>
                          </m:e>
                          <m:sup>
                            <m:r>
                              <m:t>2</m:t>
                            </m:r>
                          </m:sup>
                        </m:sSup>
                      </m:den>
                    </m:f>
                    <m:r>
                      <m:rPr>
                        <m:sty m:val="p"/>
                      </m:rPr>
                      <m:t>)</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a:r>
              <a:rPr lang="en-US" sz="1600" b="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a:r>
              <a:rPr lang="en-US" sz="1600" b="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sSup>
                          <m:e>
                            <m:r>
                              <m:t>x</m:t>
                            </m:r>
                          </m:e>
                          <m:sup>
                            <m:r>
                              <m:t>2</m:t>
                            </m:r>
                          </m:sup>
                        </m:sSup>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e</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r>
                      <m:rPr>
                        <m:sty m:val="p"/>
                      </m:rPr>
                      <m:t>+</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a:r>
              <a:rPr lang="en-US" sz="1600" b="0">
                <a:solidFill>
                  <a:srgbClr val="F0F0F0"/>
                </a:solidFill>
                <a:latin typeface="Arial"/>
              </a:rPr>
              <a:t>ex</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sSup>
                          <m:e>
                            <m:r>
                              <m:t>x</m:t>
                            </m:r>
                          </m:e>
                          <m:sup>
                            <m:r>
                              <m:t>2</m:t>
                            </m:r>
                          </m:sup>
                        </m:sSup>
                      </m:den>
                    </m:f>
                    <m:r>
                      <m:rPr>
                        <m:sty m:val="p"/>
                      </m:rPr>
                      <m:t>)</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for the following graph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9.png"/>
          <p:cNvPicPr>
            <a:picLocks noChangeAspect="1"/>
          </p:cNvPicPr>
          <p:nvPr/>
        </p:nvPicPr>
        <p:blipFill>
          <a:blip r:embed="rId3"/>
          <a:stretch>
            <a:fillRect/>
          </a:stretch>
        </p:blipFill>
        <p:spPr>
          <a:xfrm>
            <a:off x="11914632" y="731520"/>
            <a:ext cx="2743200" cy="231457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6" name="TextBox 5"/>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point of inflection does not exist</a:t>
            </a:r>
          </a:p>
        </p:txBody>
      </p:sp>
      <p:sp>
        <p:nvSpPr>
          <p:cNvPr id="7" name="TextBox 6"/>
          <p:cNvSpPr txBox="1"/>
          <p:nvPr/>
        </p:nvSpPr>
        <p:spPr>
          <a:xfrm>
            <a:off x="457200" y="1783079"/>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oMath>
                </a14:m>
              </mc:Choice>
            </mc:AlternateContent>
            <a:r>
              <a:rPr lang="en-US" sz="1600" b="0">
                <a:solidFill>
                  <a:srgbClr val="F0F0F0"/>
                </a:solidFill>
                <a:latin typeface="Arial"/>
              </a:rPr>
              <a:t>​</a:t>
            </a:r>
          </a:p>
        </p:txBody>
      </p:sp>
      <p:sp>
        <p:nvSpPr>
          <p:cNvPr id="8" name="TextBox 7"/>
          <p:cNvSpPr txBox="1"/>
          <p:nvPr/>
        </p:nvSpPr>
        <p:spPr>
          <a:xfrm>
            <a:off x="6254496" y="1783079"/>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b="0">
                <a:solidFill>
                  <a:srgbClr val="F0F0F0"/>
                </a:solidFill>
                <a:latin typeface="Arial"/>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
                          <m:t>x</m:t>
                        </m:r>
                        <m:rad>
                          <m:radPr>
                            <m:degHide m:val="on"/>
                          </m:radPr>
                          <m:deg/>
                          <m:e>
                            <m:sSup>
                              <m:e>
                                <m:r>
                                  <m:t>x</m:t>
                                </m:r>
                              </m:e>
                              <m:sup>
                                <m:r>
                                  <m:t>2</m:t>
                                </m:r>
                              </m:sup>
                            </m:sSup>
                            <m:r>
                              <m:rPr>
                                <m:sty m:val="p"/>
                              </m:rPr>
                              <m:t>−</m:t>
                            </m:r>
                            <m:r>
                              <m:t>1</m:t>
                            </m:r>
                          </m:e>
                        </m:rad>
                      </m:den>
                    </m:f>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csc</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Statement 1: 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ad>
                          <m:radPr>
                            <m:degHide m:val="on"/>
                          </m:radPr>
                          <m:deg/>
                          <m:e>
                            <m:r>
                              <m:t>1</m:t>
                            </m:r>
                            <m:r>
                              <m:rPr>
                                <m:sty m:val="p"/>
                              </m:rPr>
                              <m:t>+</m:t>
                            </m:r>
                            <m:sSup>
                              <m:e>
                                <m:r>
                                  <m:t>X</m:t>
                                </m:r>
                              </m:e>
                              <m:sup>
                                <m:r>
                                  <m:t>2</m:t>
                                </m:r>
                              </m:sup>
                            </m:sSup>
                          </m:e>
                        </m:rad>
                      </m:den>
                    </m:f>
                    <m:r>
                      <m:rPr>
                        <m:sty m:val="p"/>
                      </m:rPr>
                      <m:t>)</m:t>
                    </m:r>
                  </m:oMath>
                </a14:m>
              </mc:Choice>
            </mc:AlternateContent>
            <a:r>
              <a:rPr lang="en-US" sz="1800" b="1">
                <a:solidFill>
                  <a:srgbClr val="FAD02C"/>
                </a:solidFill>
                <a:latin typeface="Arial"/>
              </a:rPr>
              <a:t>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a:t>
            </a:r>
            <a:r>
              <a:rPr lang="en-US" sz="1800" b="1">
                <a:solidFill>
                  <a:srgbClr val="FAD02C"/>
                </a:solidFill>
                <a:latin typeface="Arial"/>
              </a:rPr>
              <a:t> </a:t>
            </a:r>
            <a:r>
              <a:rPr lang="en-US" sz="1800" b="1">
                <a:solidFill>
                  <a:srgbClr val="FAD02C"/>
                </a:solidFill>
                <a:latin typeface="Arial"/>
              </a:rPr>
              <a:t>Statement 2: The 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ad>
                          <m:radPr>
                            <m:degHide m:val="on"/>
                          </m:radPr>
                          <m:deg/>
                          <m:e>
                            <m:r>
                              <m:t>1</m:t>
                            </m:r>
                            <m:r>
                              <m:rPr>
                                <m:sty m:val="p"/>
                              </m:rPr>
                              <m:t>+</m:t>
                            </m:r>
                            <m:sSup>
                              <m:e>
                                <m:r>
                                  <m:t>X</m:t>
                                </m:r>
                              </m:e>
                              <m:sup>
                                <m:r>
                                  <m:t>2</m:t>
                                </m:r>
                              </m:sup>
                            </m:sSup>
                          </m:e>
                        </m:rad>
                      </m:den>
                    </m:f>
                  </m:oMath>
                </a14:m>
              </mc:Choice>
            </mc:AlternateContent>
          </a:p>
        </p:txBody>
      </p:sp>
      <p:sp>
        <p:nvSpPr>
          <p:cNvPr id="7" name="TextBox 6"/>
          <p:cNvSpPr txBox="1"/>
          <p:nvPr/>
        </p:nvSpPr>
        <p:spPr>
          <a:xfrm>
            <a:off x="457200"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Statement 1 is true, and Statement 2 is false.</a:t>
            </a:r>
          </a:p>
        </p:txBody>
      </p:sp>
      <p:sp>
        <p:nvSpPr>
          <p:cNvPr id="8" name="TextBox 7"/>
          <p:cNvSpPr txBox="1"/>
          <p:nvPr/>
        </p:nvSpPr>
        <p:spPr>
          <a:xfrm>
            <a:off x="6254496" y="2114092"/>
            <a:ext cx="5477256" cy="541324"/>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a:r>
              <a:rPr lang="en-US" sz="1600" b="0">
                <a:solidFill>
                  <a:srgbClr val="F0F0F0"/>
                </a:solidFill>
                <a:latin typeface="Arial"/>
              </a:rPr>
              <a:t>Statement 1 is true, and Statement 2 is true, Statement 2 is correct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b="0">
                <a:solidFill>
                  <a:srgbClr val="F0F0F0"/>
                </a:solidFill>
                <a:latin typeface="Arial"/>
              </a:rPr>
              <a:t> </a:t>
            </a:r>
            <a:r>
              <a:rPr lang="en-US" sz="1600" b="0">
                <a:solidFill>
                  <a:srgbClr val="F0F0F0"/>
                </a:solidFill>
                <a:latin typeface="Arial"/>
              </a:rPr>
              <a:t>for Statement</a:t>
            </a:r>
          </a:p>
        </p:txBody>
      </p:sp>
      <p:sp>
        <p:nvSpPr>
          <p:cNvPr id="9" name="TextBox 8"/>
          <p:cNvSpPr txBox="1"/>
          <p:nvPr/>
        </p:nvSpPr>
        <p:spPr>
          <a:xfrm>
            <a:off x="457200" y="2765145"/>
            <a:ext cx="5477256" cy="541324"/>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Statement 1 is true, and Statement 2 is true, Statement 2 is not a correct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b="0">
                <a:solidFill>
                  <a:srgbClr val="F0F0F0"/>
                </a:solidFill>
                <a:latin typeface="Arial"/>
              </a:rPr>
              <a:t> </a:t>
            </a:r>
            <a:r>
              <a:rPr lang="en-US" sz="1600" b="0">
                <a:solidFill>
                  <a:srgbClr val="F0F0F0"/>
                </a:solidFill>
                <a:latin typeface="Arial"/>
              </a:rPr>
              <a:t>for Statement1</a:t>
            </a:r>
          </a:p>
        </p:txBody>
      </p:sp>
      <p:sp>
        <p:nvSpPr>
          <p:cNvPr id="10" name="TextBox 9"/>
          <p:cNvSpPr txBox="1"/>
          <p:nvPr/>
        </p:nvSpPr>
        <p:spPr>
          <a:xfrm>
            <a:off x="6254496"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Find 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r>
                          <m:t>1</m:t>
                        </m:r>
                      </m:sub>
                      <m:sup>
                        <m:r>
                          <m:t>1</m:t>
                        </m:r>
                      </m:sup>
                      <m:e>
                        <m:sSup>
                          <m:e>
                            <m:r>
                              <m:t>x</m:t>
                            </m:r>
                          </m:e>
                          <m:sup>
                            <m:r>
                              <m:t>99</m:t>
                            </m:r>
                          </m:sup>
                        </m:sSup>
                      </m:e>
                    </m:nary>
                    <m:r>
                      <m:t> </m:t>
                    </m:r>
                    <m:r>
                      <m:t>d</m:t>
                    </m:r>
                    <m:r>
                      <m:t>x</m:t>
                    </m:r>
                    <m:r>
                      <m:rPr>
                        <m:sty m:val="p"/>
                      </m:rPr>
                      <m:t>=</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x</m:t>
                        </m:r>
                        <m:rad>
                          <m:radPr>
                            <m:degHide m:val="on"/>
                          </m:radPr>
                          <m:deg/>
                          <m:e>
                            <m:sSup>
                              <m:e>
                                <m:r>
                                  <m:t>x</m:t>
                                </m:r>
                              </m:e>
                              <m:sup>
                                <m:r>
                                  <m:t>2</m:t>
                                </m:r>
                              </m:sup>
                            </m:sSup>
                            <m:r>
                              <m:rPr>
                                <m:sty m:val="p"/>
                              </m:rPr>
                              <m:t>−</m:t>
                            </m:r>
                            <m:r>
                              <m:t>1</m:t>
                            </m:r>
                          </m:e>
                        </m:rad>
                      </m:den>
                    </m:f>
                    <m:r>
                      <m:rPr>
                        <m:sty m:val="p"/>
                      </m:rPr>
                      <m:t>,</m:t>
                    </m:r>
                    <m:r>
                      <m:t>x</m:t>
                    </m:r>
                    <m:r>
                      <m:rPr>
                        <m:sty m:val="p"/>
                      </m:rPr>
                      <m:t>&gt;</m:t>
                    </m:r>
                    <m:r>
                      <m:t>1</m:t>
                    </m:r>
                  </m:oMath>
                </a14:m>
              </mc:Choice>
            </mc:AlternateContent>
            <a:r>
              <a:rPr lang="en-US" sz="1800" b="1">
                <a:solidFill>
                  <a:srgbClr val="FAD02C"/>
                </a:solidFill>
                <a:latin typeface="Arial"/>
              </a:rPr>
              <a:t> </a:t>
            </a:r>
            <a:r>
              <a:rPr lang="en-US" sz="1800" b="1">
                <a:solidFill>
                  <a:srgbClr val="FAD02C"/>
                </a:solidFill>
                <a:latin typeface="Arial"/>
              </a:rPr>
              <a:t>with respective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sin</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cos</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sSup>
                      <m:e>
                        <m:r>
                          <m:rPr>
                            <m:sty m:val="p"/>
                          </m:rPr>
                          <m:t>csc</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rPr>
                            <m:sty m:val="p"/>
                          </m:rPr>
                          <m:t>cot</m:t>
                        </m:r>
                      </m:e>
                      <m:sup>
                        <m:r>
                          <m:rPr>
                            <m:sty m:val="p"/>
                          </m:rPr>
                          <m:t>−</m:t>
                        </m:r>
                        <m:r>
                          <m:t>1</m:t>
                        </m:r>
                      </m:sup>
                    </m:sSup>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2</m:t>
                        </m:r>
                        <m:r>
                          <m:rPr>
                            <m:sty m:val="p"/>
                          </m:rPr>
                          <m:t>−</m:t>
                        </m:r>
                        <m:r>
                          <m:t>3</m:t>
                        </m:r>
                        <m:r>
                          <m:rPr>
                            <m:sty m:val="p"/>
                          </m:rPr>
                          <m:t>sin</m:t>
                        </m:r>
                        <m:r>
                          <m:t>x</m:t>
                        </m:r>
                      </m:num>
                      <m:den>
                        <m:sSup>
                          <m:e>
                            <m:r>
                              <m:rPr>
                                <m:sty m:val="p"/>
                              </m:rPr>
                              <m:t>cos</m:t>
                            </m:r>
                          </m:e>
                          <m:sup>
                            <m:r>
                              <m:t>2</m:t>
                            </m:r>
                          </m:sup>
                        </m:sSup>
                        <m:r>
                          <m:t>x</m:t>
                        </m:r>
                      </m:den>
                    </m:f>
                  </m:oMath>
                </a14:m>
              </mc:Choice>
            </mc:AlternateContent>
            <a:r>
              <a:rPr lang="en-US" sz="1800" b="1">
                <a:solidFill>
                  <a:srgbClr val="FAD02C"/>
                </a:solidFill>
                <a:latin typeface="Arial"/>
              </a:rPr>
              <a:t> </a:t>
            </a:r>
            <a:r>
              <a:rPr lang="en-US" sz="1800" b="1">
                <a:solidFill>
                  <a:srgbClr val="FAD02C"/>
                </a:solidFill>
                <a:latin typeface="Arial"/>
              </a:rPr>
              <a:t>dx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2</m:t>
                    </m:r>
                    <m:r>
                      <m:rPr>
                        <m:sty m:val="p"/>
                      </m:rPr>
                      <m:t>sec</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
                      <m:rPr>
                        <m:sty m:val="p"/>
                      </m:rPr>
                      <m:t>sec</m:t>
                    </m:r>
                    <m:r>
                      <m:t>x</m:t>
                    </m:r>
                    <m:r>
                      <m:rPr>
                        <m:sty m:val="p"/>
                      </m:rPr>
                      <m:t>−</m:t>
                    </m:r>
                    <m:r>
                      <m:t>3</m:t>
                    </m:r>
                    <m:r>
                      <m:rPr>
                        <m:sty m:val="p"/>
                      </m:rPr>
                      <m:t>tan</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1</m:t>
                        </m:r>
                      </m:sub>
                      <m:sup>
                        <m:rad>
                          <m:radPr>
                            <m:degHide m:val="on"/>
                          </m:radPr>
                          <m:deg/>
                          <m:e>
                            <m:r>
                              <m:t>3</m:t>
                            </m:r>
                          </m:e>
                        </m:rad>
                      </m:sup>
                      <m:e>
                        <m:r>
                          <m:t>3</m:t>
                        </m:r>
                      </m:e>
                    </m:nary>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r>
                          <m:t>π</m:t>
                        </m:r>
                      </m:num>
                      <m:den>
                        <m:r>
                          <m:t>3</m:t>
                        </m:r>
                      </m:den>
                    </m:f>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b="0">
                <a:solidFill>
                  <a:srgbClr val="F0F0F0"/>
                </a:solidFill>
                <a:latin typeface="Arial"/>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r>
                          <m:rPr>
                            <m:sty m:val="p"/>
                          </m:rPr>
                          <m:t>−</m:t>
                        </m:r>
                        <m:r>
                          <m:t>x</m:t>
                        </m:r>
                      </m:num>
                      <m:den>
                        <m:rad>
                          <m:radPr>
                            <m:degHide m:val="on"/>
                          </m:radPr>
                          <m:deg/>
                          <m:e>
                            <m:r>
                              <m:t>x</m:t>
                            </m:r>
                          </m:e>
                        </m:rad>
                      </m:den>
                    </m:f>
                    <m:r>
                      <m:t> </m:t>
                    </m:r>
                    <m:r>
                      <m:t>d</m:t>
                    </m:r>
                    <m:r>
                      <m:t>x</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sup>
                      <m:e>
                        <m:r>
                          <m:rPr>
                            <m:sty m:val="p"/>
                          </m:rPr>
                          <m:t>(</m:t>
                        </m:r>
                      </m:e>
                    </m:nary>
                    <m:sSup>
                      <m:e>
                        <m:r>
                          <m:rPr>
                            <m:sty m:val="p"/>
                          </m:rPr>
                          <m:t>sin</m:t>
                        </m:r>
                      </m:e>
                      <m:sup>
                        <m:r>
                          <m:t>2</m:t>
                        </m:r>
                      </m:sup>
                    </m:sSup>
                    <m:f>
                      <m:fPr>
                        <m:type m:val="bar"/>
                      </m:fPr>
                      <m:num>
                        <m:r>
                          <m:t>x</m:t>
                        </m:r>
                      </m:num>
                      <m:den>
                        <m:r>
                          <m:t>2</m:t>
                        </m:r>
                      </m:den>
                    </m:f>
                    <m:r>
                      <m:rPr>
                        <m:sty m:val="p"/>
                      </m:rPr>
                      <m:t>−</m:t>
                    </m:r>
                    <m:sSup>
                      <m:e>
                        <m:r>
                          <m:rPr>
                            <m:sty m:val="p"/>
                          </m:rPr>
                          <m:t>cos</m:t>
                        </m:r>
                      </m:e>
                      <m:sup>
                        <m:r>
                          <m:t>2</m:t>
                        </m:r>
                      </m:sup>
                    </m:sSup>
                    <m:f>
                      <m:fPr>
                        <m:type m:val="bar"/>
                      </m:fPr>
                      <m:num>
                        <m:r>
                          <m:t>x</m:t>
                        </m:r>
                      </m:num>
                      <m:den>
                        <m:r>
                          <m:t>2</m:t>
                        </m:r>
                      </m:den>
                    </m:f>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807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16152" cy="402336"/>
          </a:xfrm>
          <a:prstGeom prst="rect">
            <a:avLst/>
          </a:prstGeom>
          <a:noFill/>
        </p:spPr>
        <p:txBody>
          <a:bodyPr wrap="none" anchor="ctr" lIns="0" rIns="0" tIns="0" bIns="0">
            <a:spAutoFit/>
          </a:bodyPr>
          <a:lstStyle/>
          <a:p>
            <a:pPr algn="l"/>
            <a:r>
              <a:rPr sz="1500" b="1">
                <a:solidFill>
                  <a:srgbClr val="FAD02C"/>
                </a:solidFill>
                <a:latin typeface="Arial"/>
              </a:rPr>
              <a:t>2024,2026M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sec</m:t>
                    </m:r>
                    <m:r>
                      <m:t>x</m:t>
                    </m:r>
                    <m:r>
                      <m:rPr>
                        <m:sty m:val="p"/>
                      </m:rPr>
                      <m:t>(</m:t>
                    </m:r>
                    <m:r>
                      <m:t>1</m:t>
                    </m:r>
                    <m:r>
                      <m:rPr>
                        <m:sty m:val="p"/>
                      </m:rPr>
                      <m:t>+</m:t>
                    </m:r>
                    <m:r>
                      <m:rPr>
                        <m:sty m:val="p"/>
                      </m:rPr>
                      <m:t>tan</m:t>
                    </m:r>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sec</m:t>
                        </m:r>
                      </m:e>
                      <m:sup>
                        <m:r>
                          <m:t>2</m:t>
                        </m:r>
                      </m:sup>
                    </m:sSup>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m:t>
                    </m:r>
                    <m:r>
                      <m:t>1</m:t>
                    </m:r>
                    <m:r>
                      <m:rPr>
                        <m:sty m:val="p"/>
                      </m:rPr>
                      <m:t>+</m:t>
                    </m:r>
                    <m:r>
                      <m:rPr>
                        <m:sty m:val="p"/>
                      </m:rPr>
                      <m:t>tan</m:t>
                    </m:r>
                    <m:r>
                      <m:t>x</m:t>
                    </m:r>
                    <m:r>
                      <m:rPr>
                        <m:sty m:val="p"/>
                      </m:rPr>
                      <m:t>)</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r>
                      <m:rPr>
                        <m:sty m:val="p"/>
                      </m:rPr>
                      <m:t>+</m:t>
                    </m:r>
                    <m:r>
                      <m:rPr>
                        <m:sty m:val="p"/>
                      </m:rPr>
                      <m:t>cos</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r>
                          <m:rPr>
                            <m:sty m:val="p"/>
                          </m:rPr>
                          <m:t>/</m:t>
                        </m:r>
                        <m:r>
                          <m:t>3</m:t>
                        </m:r>
                      </m:sup>
                      <m:e>
                        <m:f>
                          <m:fPr>
                            <m:type m:val="bar"/>
                          </m:fPr>
                          <m:num>
                            <m:rad>
                              <m:radPr>
                                <m:degHide m:val="on"/>
                              </m:radPr>
                              <m:deg/>
                              <m:e>
                                <m:r>
                                  <m:t>3</m:t>
                                </m:r>
                              </m:e>
                            </m:rad>
                          </m:num>
                          <m:den>
                            <m:r>
                              <m:t>1</m:t>
                            </m:r>
                            <m:r>
                              <m:rPr>
                                <m:sty m:val="p"/>
                              </m:rPr>
                              <m:t>+</m:t>
                            </m:r>
                            <m:sSup>
                              <m:e>
                                <m:r>
                                  <m:t>x</m:t>
                                </m:r>
                              </m:e>
                              <m:sup>
                                <m:r>
                                  <m:t>2</m:t>
                                </m:r>
                              </m:sup>
                            </m:sSup>
                          </m:den>
                        </m:f>
                      </m:e>
                    </m:nary>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b="0">
                <a:solidFill>
                  <a:srgbClr val="F0F0F0"/>
                </a:solidFill>
                <a:latin typeface="Arial"/>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ad>
                      <m:radPr>
                        <m:degHide m:val="on"/>
                      </m:radPr>
                      <m:deg/>
                      <m:e>
                        <m:r>
                          <m:t>x</m:t>
                        </m:r>
                      </m:e>
                    </m:rad>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f>
                      <m:fPr>
                        <m:type m:val="bar"/>
                      </m:fPr>
                      <m:num>
                        <m:r>
                          <m:t>1</m:t>
                        </m:r>
                      </m:num>
                      <m:den>
                        <m:r>
                          <m:t>2</m:t>
                        </m:r>
                      </m:den>
                    </m:f>
                    <m:sSup>
                      <m:e>
                        <m:r>
                          <m:t>x</m:t>
                        </m:r>
                      </m:e>
                      <m:sup>
                        <m:r>
                          <m:t>2</m:t>
                        </m:r>
                      </m:sup>
                    </m:sSup>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3</m:t>
                        </m:r>
                      </m:num>
                      <m:den>
                        <m:r>
                          <m:t>2</m:t>
                        </m:r>
                      </m:den>
                    </m:f>
                    <m:sSup>
                      <m:e>
                        <m:r>
                          <m:t>x</m:t>
                        </m:r>
                      </m:e>
                      <m:sup>
                        <m:r>
                          <m:t>3</m:t>
                        </m:r>
                        <m:r>
                          <m:rPr>
                            <m:sty m:val="p"/>
                          </m:rPr>
                          <m:t>/</m:t>
                        </m:r>
                        <m:r>
                          <m:t>2</m:t>
                        </m:r>
                      </m:sup>
                    </m:sSup>
                    <m:r>
                      <m:rPr>
                        <m:sty m:val="p"/>
                      </m:rPr>
                      <m:t>+</m:t>
                    </m:r>
                    <m:f>
                      <m:fPr>
                        <m:type m:val="bar"/>
                      </m:fPr>
                      <m:num>
                        <m:r>
                          <m:t>1</m:t>
                        </m:r>
                      </m:num>
                      <m:den>
                        <m:r>
                          <m:t>2</m:t>
                        </m:r>
                      </m:den>
                    </m:f>
                    <m:sSup>
                      <m:e>
                        <m:r>
                          <m:t>x</m:t>
                        </m:r>
                      </m:e>
                      <m:sup>
                        <m:r>
                          <m:t>1</m:t>
                        </m:r>
                        <m:r>
                          <m:rPr>
                            <m:sty m:val="p"/>
                          </m:rPr>
                          <m:t>/</m:t>
                        </m:r>
                        <m:r>
                          <m:t>2</m:t>
                        </m:r>
                      </m:sup>
                    </m:sSup>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r>
                          <m:rPr>
                            <m:sty m:val="p"/>
                          </m:rPr>
                          <m:t>+</m:t>
                        </m:r>
                        <m:r>
                          <m:t>2</m:t>
                        </m:r>
                        <m:sSup>
                          <m:e>
                            <m:r>
                              <m:rPr>
                                <m:sty m:val="p"/>
                              </m:rPr>
                              <m:t>sin</m:t>
                            </m:r>
                          </m:e>
                          <m:sup>
                            <m:r>
                              <m:t>2</m:t>
                            </m:r>
                          </m:sup>
                        </m:sSup>
                        <m:r>
                          <m:t>x</m:t>
                        </m:r>
                      </m:num>
                      <m:den>
                        <m:sSup>
                          <m:e>
                            <m:r>
                              <m:rPr>
                                <m:sty m:val="p"/>
                              </m:rPr>
                              <m:t>cos</m:t>
                            </m:r>
                          </m:e>
                          <m:sup>
                            <m:r>
                              <m:t>2</m:t>
                            </m:r>
                          </m:sup>
                        </m:sSup>
                        <m:r>
                          <m:t>x</m:t>
                        </m:r>
                      </m:den>
                    </m:f>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cos</m:t>
                    </m:r>
                    <m:r>
                      <m:t>2</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2</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sin</m:t>
                    </m:r>
                    <m:r>
                      <m:t>x</m:t>
                    </m:r>
                    <m:r>
                      <m:rPr>
                        <m:sty m:val="p"/>
                      </m:rPr>
                      <m:t>+</m:t>
                    </m:r>
                    <m:r>
                      <m:rPr>
                        <m:sty m:val="p"/>
                      </m:rPr>
                      <m:t>cos</m:t>
                    </m:r>
                    <m:r>
                      <m:t>x</m:t>
                    </m:r>
                  </m:oMath>
                </a14:m>
              </mc:Choice>
            </mc:AlternateContent>
            <a:r>
              <a:rPr lang="en-US" sz="1800" b="1">
                <a:solidFill>
                  <a:srgbClr val="FAD02C"/>
                </a:solidFill>
                <a:latin typeface="Arial"/>
              </a:rPr>
              <a:t>)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a:r>
              <a:rPr lang="en-US" sz="1600" b="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sec</m:t>
                    </m:r>
                    <m:r>
                      <m:t>x</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t>2</m:t>
                        </m:r>
                      </m:sup>
                    </m:sSup>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rPr>
                        <m:sty m:val="p"/>
                      </m:rPr>
                      <m:t>sec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csc</m:t>
                    </m:r>
                    <m:r>
                      <m:t>x</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rPr>
                        <m:sty m:val="p"/>
                      </m:rPr>
                      <m:t>cot</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a:r>
              <a:rPr lang="en-US" sz="1600" b="0">
                <a:solidFill>
                  <a:srgbClr val="F0F0F0"/>
                </a:solidFill>
                <a:latin typeface="Arial"/>
              </a:rPr>
              <a: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a:r>
              <a:rPr lang="en-US" sz="1600" b="0">
                <a:solidFill>
                  <a:srgbClr val="F0F0F0"/>
                </a:solidFill>
                <a:latin typeface="Arial"/>
              </a:rPr>
              <a: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cot</m:t>
                    </m:r>
                    <m:r>
                      <m:t>x</m:t>
                    </m:r>
                  </m:oMath>
                </a14:m>
              </mc:Choice>
            </mc:AlternateContent>
            <a:r>
              <a:rPr lang="en-US" sz="1600" b="0">
                <a:solidFill>
                  <a:srgbClr val="F0F0F0"/>
                </a:solidFill>
                <a:latin typeface="Arial"/>
              </a:rPr>
              <a:t> </a:t>
            </a:r>
            <a:r>
              <a:rPr lang="en-US" sz="1600" b="0">
                <a:solidFill>
                  <a:srgbClr val="F0F0F0"/>
                </a:solidFill>
                <a:latin typeface="Arial"/>
              </a:rPr>
              <a: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cot</m:t>
                    </m:r>
                    <m:r>
                      <m:t>x</m:t>
                    </m:r>
                  </m:oMath>
                </a14:m>
              </mc:Choice>
            </mc:AlternateContent>
            <a:r>
              <a:rPr lang="en-US" sz="1600" b="0">
                <a:solidFill>
                  <a:srgbClr val="F0F0F0"/>
                </a:solidFill>
                <a:latin typeface="Arial"/>
              </a:rPr>
              <a:t> </a:t>
            </a:r>
            <a:r>
              <a:rPr lang="en-US" sz="1600" b="0">
                <a:solidFill>
                  <a:srgbClr val="F0F0F0"/>
                </a:solidFill>
                <a:latin typeface="Arial"/>
              </a:rPr>
              <a: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csc</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1</m:t>
                        </m:r>
                      </m:sup>
                      <m:e>
                        <m:f>
                          <m:fPr>
                            <m:type m:val="bar"/>
                          </m:fPr>
                          <m:num>
                            <m:r>
                              <m:t>1</m:t>
                            </m:r>
                          </m:num>
                          <m:den>
                            <m:r>
                              <m:rPr>
                                <m:sty m:val="p"/>
                              </m:rPr>
                              <m:t>(</m:t>
                            </m:r>
                            <m:r>
                              <m:t>1</m:t>
                            </m:r>
                            <m:r>
                              <m:rPr>
                                <m:sty m:val="p"/>
                              </m:rPr>
                              <m:t>+</m:t>
                            </m:r>
                            <m:sSup>
                              <m:e>
                                <m:r>
                                  <m:t>x</m:t>
                                </m:r>
                              </m:e>
                              <m:sup>
                                <m:r>
                                  <m:t>2</m:t>
                                </m:r>
                              </m:sup>
                            </m:sSup>
                            <m:r>
                              <m:rPr>
                                <m:sty m:val="p"/>
                              </m:rPr>
                              <m:t>)</m:t>
                            </m:r>
                          </m:den>
                        </m:f>
                      </m:e>
                    </m:nary>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b="0">
                <a:solidFill>
                  <a:srgbClr val="F0F0F0"/>
                </a:solidFill>
                <a:latin typeface="Arial"/>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tan</m:t>
                    </m:r>
                    <m:r>
                      <m:t>2</m:t>
                    </m:r>
                    <m:r>
                      <m:t>x</m:t>
                    </m:r>
                  </m:oMath>
                </a14:m>
              </mc:Choice>
            </mc:AlternateContent>
            <a:r>
              <a:rPr lang="en-US" sz="1800" b="1">
                <a:solidFill>
                  <a:srgbClr val="FAD02C"/>
                </a:solidFill>
                <a:latin typeface="Arial"/>
              </a:rPr>
              <a:t> </a:t>
            </a:r>
            <a:r>
              <a:rPr lang="en-US" sz="1800" b="1">
                <a:solidFill>
                  <a:srgbClr val="FAD02C"/>
                </a:solidFill>
                <a:latin typeface="Arial"/>
              </a:rPr>
              <a:t>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x</m:t>
                    </m:r>
                    <m:r>
                      <m:rPr>
                        <m:sty m:val="p"/>
                      </m:rPr>
                      <m:t>−</m:t>
                    </m:r>
                    <m:r>
                      <m:rPr>
                        <m:sty m:val="p"/>
                      </m:rPr>
                      <m:t>tan</m:t>
                    </m:r>
                    <m:r>
                      <m:t>x</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x</m:t>
                    </m:r>
                  </m:oMath>
                </a14:m>
              </mc:Choice>
            </mc:AlternateContent>
            <a:r>
              <a:rPr lang="en-US" sz="1600" b="0">
                <a:solidFill>
                  <a:srgbClr val="F0F0F0"/>
                </a:solidFill>
                <a:latin typeface="Arial"/>
              </a:rPr>
              <a:t> </a:t>
            </a:r>
            <a:r>
              <a:rPr lang="en-US" sz="1600" b="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r>
                      <m:rPr>
                        <m:sty m:val="p"/>
                      </m:rPr>
                      <m:t>−</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600" b="0">
                <a:solidFill>
                  <a:srgbClr val="F0F0F0"/>
                </a:solidFill>
                <a:latin typeface="Arial"/>
              </a:rPr>
              <a:t> </a:t>
            </a:r>
            <a:r>
              <a:rPr lang="en-US" sz="1600" b="0">
                <a:solidFill>
                  <a:srgbClr val="F0F0F0"/>
                </a:solidFill>
                <a:latin typeface="Arial"/>
              </a:rPr>
              <a:t>–</a:t>
            </a:r>
            <a:r>
              <a:rPr lang="en-US" sz="1600" b="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oMath>
                </a14:m>
              </mc:Choice>
            </mc:AlternateContent>
            <a:r>
              <a:rPr lang="en-US" sz="1600" b="0">
                <a:solidFill>
                  <a:srgbClr val="F0F0F0"/>
                </a:solidFill>
                <a:latin typeface="Arial"/>
              </a:rPr>
              <a:t> </a:t>
            </a:r>
            <a:r>
              <a:rPr lang="en-US" sz="1600" b="0">
                <a:solidFill>
                  <a:srgbClr val="F0F0F0"/>
                </a:solidFill>
                <a:latin typeface="Arial"/>
              </a:rPr>
              <a:t>+ 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rPr>
                        <m:sty m:val="p"/>
                      </m:rPr>
                      <m:t>sin</m:t>
                    </m:r>
                    <m:r>
                      <m:t>x</m:t>
                    </m:r>
                    <m:r>
                      <m:rPr>
                        <m:sty m:val="p"/>
                      </m:rPr>
                      <m:t>−</m:t>
                    </m:r>
                    <m:r>
                      <m:rPr>
                        <m:sty m:val="p"/>
                      </m:rPr>
                      <m:t>cos</m:t>
                    </m:r>
                    <m:r>
                      <m:t>x</m:t>
                    </m:r>
                    <m:r>
                      <m:rPr>
                        <m:sty m:val="p"/>
                      </m:rPr>
                      <m:t>)</m:t>
                    </m:r>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t>x</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sin</m:t>
                        </m:r>
                      </m:e>
                      <m:sup>
                        <m:r>
                          <m:t>2</m:t>
                        </m:r>
                      </m:sup>
                    </m:sSup>
                    <m:r>
                      <m:t>x</m:t>
                    </m:r>
                  </m:oMath>
                </a14:m>
              </mc:Choice>
            </mc:AlternateContent>
            <a:r>
              <a:rPr lang="en-US" sz="1600" b="0">
                <a:solidFill>
                  <a:srgbClr val="F0F0F0"/>
                </a:solidFill>
                <a:latin typeface="Arial"/>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t>1</m:t>
                    </m:r>
                    <m:r>
                      <m:rPr>
                        <m:sty m:val="p"/>
                      </m:rPr>
                      <m:t>+</m:t>
                    </m:r>
                    <m:r>
                      <m:rPr>
                        <m:sty m:val="p"/>
                      </m:rPr>
                      <m:t>tan</m:t>
                    </m:r>
                    <m:r>
                      <m:t>x</m:t>
                    </m:r>
                    <m:r>
                      <m:rPr>
                        <m:sty m:val="p"/>
                      </m:rPr>
                      <m:t>+</m:t>
                    </m:r>
                    <m:sSup>
                      <m:e>
                        <m:r>
                          <m:rPr>
                            <m:sty m:val="p"/>
                          </m:rPr>
                          <m:t>tan</m:t>
                        </m:r>
                      </m:e>
                      <m:sup>
                        <m:r>
                          <m:t>2</m:t>
                        </m:r>
                      </m:sup>
                    </m:sSup>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b="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b="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b="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2600" b="1">
                <a:solidFill>
                  <a:srgbClr val="000000"/>
                </a:solidFill>
                <a:latin typeface="Cambria Math"/>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b="0">
                <a:solidFill>
                  <a:srgbClr val="F0F0F0"/>
                </a:solidFill>
                <a:latin typeface="Arial"/>
              </a:rPr>
              <a: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2024-3,2026-1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2600" b="1">
                <a:solidFill>
                  <a:srgbClr val="000000"/>
                </a:solidFill>
                <a:latin typeface="Cambria Math"/>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f>
                          <m:fPr>
                            <m:type m:val="bar"/>
                          </m:fPr>
                          <m:num>
                            <m:r>
                              <m:t>π</m:t>
                            </m:r>
                          </m:num>
                          <m:den>
                            <m:r>
                              <m:t>2</m:t>
                            </m:r>
                          </m:den>
                        </m:f>
                      </m:sub>
                      <m:sup>
                        <m:f>
                          <m:fPr>
                            <m:type m:val="bar"/>
                          </m:fPr>
                          <m:num>
                            <m:r>
                              <m:t>π</m:t>
                            </m:r>
                          </m:num>
                          <m:den>
                            <m:r>
                              <m:t>2</m:t>
                            </m:r>
                          </m:den>
                        </m:f>
                      </m:sup>
                      <m:e>
                        <m:sSup>
                          <m:e>
                            <m:r>
                              <m:rPr>
                                <m:sty m:val="p"/>
                              </m:rPr>
                              <m:t>sin</m:t>
                            </m:r>
                          </m:e>
                          <m:sup>
                            <m:r>
                              <m:t>7</m:t>
                            </m:r>
                          </m:sup>
                        </m:sSup>
                      </m:e>
                    </m:nary>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7 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