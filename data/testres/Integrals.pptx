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880360"/>
            <a:ext cx="11274552" cy="3657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FAD02C"/>
                </a:solidFill>
                <a:latin typeface="Arial"/>
              </a:defRPr>
            </a:pPr>
            <a:r>
              <a:rPr lang="en-US" sz="4400" b="1">
                <a:solidFill>
                  <a:srgbClr val="FAD02C"/>
                </a:solidFill>
                <a:latin typeface="Arial"/>
              </a:rPr>
              <a:t>Chemistry Midterm —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M</m:t>
                    </m:r>
                    <m:r>
                      <m:t>C</m:t>
                    </m:r>
                    <m:r>
                      <m:t>Q</m:t>
                    </m:r>
                  </m:oMath>
                </a14:m>
              </mc:Choice>
            </mc:AlternateContent>
            <a:r>
              <a:rPr lang="en-US" sz="44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4400" b="1">
                <a:solidFill>
                  <a:srgbClr val="FAD02C"/>
                </a:solidFill>
                <a:latin typeface="Arial"/>
              </a:rPr>
              <a:t>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1127455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AAAAAA"/>
                </a:solidFill>
                <a:latin typeface="Arial"/>
              </a:rPr>
              <a:t>141 Questions  ·  For: Boards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2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+c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03911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87451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2024M,2026,2025-2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​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e-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e-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ex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pic>
        <p:nvPicPr>
          <p:cNvPr id="6" name="Picture 5" descr="img_rI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4632" y="731520"/>
            <a:ext cx="2743200" cy="2314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731520"/>
            <a:ext cx="11274552" cy="608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point of inflection for the following graph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4496" y="1505102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point of inflection does not exist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4496" y="2072030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csc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1217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Statement 1: The anti-derivative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log|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| + C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Statement 2: The derivative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log|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| + C. 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211409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Statement 1 is true, and Statement 2 is false.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2114092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1 is true, and Statement 2 is true, Statement 2 is correct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for Statement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6514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Statement 1 is true, and Statement 2 is true, Statement 2 is not a correct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r>
                      <m:t>l</m:t>
                    </m:r>
                    <m:r>
                      <m:t>a</m:t>
                    </m:r>
                    <m:r>
                      <m:t>n</m:t>
                    </m:r>
                    <m:r>
                      <m:t>a</m:t>
                    </m:r>
                    <m:r>
                      <m:t>t</m:t>
                    </m:r>
                    <m:r>
                      <m:t>i</m:t>
                    </m:r>
                    <m:r>
                      <m:t>o</m:t>
                    </m:r>
                    <m:r>
                      <m:t>n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for Statement1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2765145"/>
            <a:ext cx="5477256" cy="541324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Both statements are false.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value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99</m:t>
                            </m:r>
                          </m:sup>
                        </m:sSup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anti-derivative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e>
                        </m:rad>
                      </m:den>
                    </m:f>
                    <m:r>
                      <m:rPr>
                        <m:sty m:val="p"/>
                      </m:rPr>
                      <m:t>,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&gt;1 with respective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csc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cot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 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3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545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38074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2026M,2025-2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1</m:t>
                        </m:r>
                      </m:sub>
                      <m: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3</m:t>
                            </m:r>
                          </m:e>
                        </m:rad>
                      </m:sup>
                      <m:e>
                        <m:r>
                          <m:t>3</m:t>
                        </m:r>
                      </m:e>
                    </m:nary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π</m:t>
                        </m:r>
                      </m:num>
                      <m:den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6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12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3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3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–1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–2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807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161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2024,2026M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4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6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12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anti-derivative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3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4496" y="1216151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</m:num>
                      <m:den>
                        <m:r>
                          <m:t>3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</m:num>
                      <m:den>
                        <m:r>
                          <m:t>3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4496" y="1783079"/>
            <a:ext cx="5477256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3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sSup>
                      <m:e>
                        <m:r>
                          <m:t>x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</m:oMath>
                </a14:m>
              </mc:Choice>
            </mc:AlternateContent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cos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sin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dx is equal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se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−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)</m:t>
                            </m:r>
                          </m:den>
                        </m:f>
                      </m:e>
                    </m:nary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6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π</m:t>
                        </m:r>
                      </m:num>
                      <m:den>
                        <m:r>
                          <m:t>4</m:t>
                        </m:r>
                      </m:den>
                    </m:f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2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 is equal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+c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+c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–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 </a:t>
            </a:r>
            <a:r>
              <a:rPr lang="en-US" sz="1600">
                <a:solidFill>
                  <a:srgbClr val="F0F0F0"/>
                </a:solidFill>
                <a:latin typeface="Arial"/>
              </a:rPr>
              <a:t>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s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sSup>
                      <m:e>
                        <m:r>
                          <m:rPr>
                            <m:sty m:val="p"/>
                          </m:rPr>
                          <m:t>tan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>
              <a:defRPr sz="1600">
                <a:solidFill>
                  <a:srgbClr val="F0F0F0"/>
                </a:solidFill>
                <a:latin typeface="Arial"/>
              </a:defRPr>
            </a:pPr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C</m:t>
                    </m:r>
                  </m:oMath>
                </a14:m>
              </mc:Choice>
            </mc:AlternateContent>
            <a:r>
              <a:rPr lang="en-US" sz="1600">
                <a:solidFill>
                  <a:srgbClr val="F0F0F0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5453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38074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2024-3,2026-1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The value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7</m:t>
                            </m:r>
                          </m:sup>
                        </m:sSup>
                      </m:e>
                    </m:nary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 b="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1558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 b="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 b="0">
                <a:solidFill>
                  <a:srgbClr val="F0F0F0"/>
                </a:solidFill>
                <a:latin typeface="Arial"/>
              </a:rPr>
              <a:t>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0274" y="1216151"/>
            <a:ext cx="2681478" cy="45720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 b="0">
                <a:solidFill>
                  <a:srgbClr val="F0F0F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74519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0992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2015S,2017S,2022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csc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92807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282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2016S,2020,2021M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3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x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7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4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2</m:t>
                        </m:r>
                      </m:sub>
                      <m:sup>
                        <m:r>
                          <m:t>3</m:t>
                        </m:r>
                      </m:sup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sec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a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b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1</m:t>
                        </m:r>
                      </m:sub>
                      <m:sup>
                        <m:r>
                          <m:t>e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sin(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cos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) w.r.t.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0700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424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2</m:t>
                        </m:r>
                        <m: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α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6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sin</m:t>
                        </m:r>
                        <m:sSup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9844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3385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log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x</m:t>
                            </m:r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p>
                                  <m:e>
                                    <m:r>
                                      <m:t>x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tan</m:t>
                            </m:r>
                          </m:e>
                          <m:sup>
                            <m:r>
                              <m:t>4</m:t>
                            </m:r>
                          </m:sup>
                        </m:s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  <m:sSup>
                          <m:e>
                            <m:r>
                              <m:rPr>
                                <m:sty m:val="p"/>
                              </m:rPr>
                              <m:t>sec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x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2</m:t>
                            </m:r>
                          </m:num>
                          <m:den>
                            <m:r>
                              <m:t>3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4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9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rPr>
                                <m:sty m:val="p"/>
                              </m:rPr>
                              <m:t>tan</m:t>
                            </m:r>
                            <m:r>
                              <m:t>x</m:t>
                            </m:r>
                          </m:e>
                        </m:rad>
                      </m:num>
                      <m:den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3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</m:den>
                    </m:f>
                    <m:r>
                      <m:t>e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6</m:t>
                    </m:r>
                    <m:r>
                      <m:t>x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6</m:t>
                        </m:r>
                        <m:r>
                          <m:t>x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x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2</m:t>
                        </m:r>
                      </m:sub>
                      <m:sup>
                        <m:r>
                          <m:t>3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</m:rPr>
                          <m:t>tan</m:t>
                        </m:r>
                        <m:r>
                          <m:t>x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3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log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0515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8869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2024M,3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807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161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2023,2024-1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1</m:t>
                        </m:r>
                      </m:sub>
                      <m:sup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3</m:t>
                            </m:r>
                          </m:e>
                        </m:rad>
                      </m:sup>
                      <m:e>
                        <m:r>
                          <m:t>3</m:t>
                        </m:r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3502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7043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sec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.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t>2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x</m:t>
                            </m:r>
                          </m:num>
                          <m:den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cot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sSup>
                          <m:e>
                            <m:r>
                              <m:rPr>
                                <m:sty m:val="p"/>
                              </m:rPr>
                              <m:t>tan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4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8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0700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424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3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cos</m:t>
                    </m:r>
                    <m:r>
                      <m:t>4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w.r.t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0700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4241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2015,2024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801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155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2015,2015S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2</m:t>
                        </m:r>
                      </m:sup>
                      <m:e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as a limit of sum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21538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405079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2015S,2016S,2017S,2018,2021M,2023M,2026-1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sin</m:t>
                        </m:r>
                        <m:r>
                          <m:t>x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cos</m:t>
                        </m:r>
                        <m: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17043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00584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2017,2018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1673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5214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2018S,2023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Integrate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x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log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rPr>
                                <m:sty m:val="p"/>
                              </m:rPr>
                              <m:t>sin</m:t>
                            </m:r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2880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6642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2020,2021M,2023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)</m:t>
                        </m:r>
                        <m:sSup>
                          <m:e>
                            <m:r>
                              <m:t>e</m:t>
                            </m:r>
                          </m:e>
                          <m:sup>
                            <m:r>
                              <m:t>x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​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3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3502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7043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2021M,2022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4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</m:nary>
                    <m:r>
                      <m:t>2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3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  <m:r>
                          <m:rPr>
                            <m:sty m:val="p"/>
                          </m:rPr>
                          <m:t>.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tan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09728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93268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2024-2,3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x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</m:sup>
                        </m:sSup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Evaluate: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3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13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10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6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7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6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7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4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6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2880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6642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2016,2020,2024-1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3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5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t>x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8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7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7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6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6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13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2880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66420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2019,2022,2024M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16</m:t>
                        </m:r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229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583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,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2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5</m:t>
                        </m:r>
                      </m:e>
                    </m:rad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</m:e>
                        </m:rad>
                      </m:den>
                    </m:f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5087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3441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2021M,2025-2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4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9</m:t>
                        </m:r>
                      </m:den>
                    </m:f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5039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68580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9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25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x</m:t>
                                </m:r>
                              </m:e>
                            </m:rad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 </m:t>
                        </m:r>
                        <m:r>
                          <m:t>d</m:t>
                        </m:r>
                        <m:r>
                          <m:t>x</m:t>
                        </m:r>
                      </m:num>
                      <m:den>
                        <m:r>
                          <m:t>5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sSup>
                              <m:e>
                                <m:r>
                                  <m:t>a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6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13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3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</m:t>
                        </m:r>
                        <m:r>
                          <m:t>x</m:t>
                        </m:r>
                      </m:den>
                    </m:f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Find the integral of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r>
                              <m:t>a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with respect to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find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∫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25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p>
                          <m:e>
                            <m:r>
                              <m:t>x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4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log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3807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161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2014S,2019S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6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3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tan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80160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1556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2015,2017S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 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even function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odd function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5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231343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214883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2014,2015S,2019,2021M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6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3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tan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 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2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2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2</m:t>
                        </m:r>
                        <m:r>
                          <m:t>π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cos</m:t>
                            </m:r>
                          </m:e>
                          <m:sup>
                            <m:r>
                              <m:t>5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93852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7393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2016S,2022,2026-1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  <m:r>
                                  <m:t>x</m:t>
                                </m:r>
                              </m:e>
                            </m:rad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  <m:r>
                                  <m:t>x</m:t>
                                </m:r>
                              </m:e>
                            </m:rad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22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57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2017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r>
                      <m:t>2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log</m:t>
                    </m:r>
                    <m:r>
                      <m:rPr>
                        <m:sty m:val="p"/>
                      </m:rPr>
                      <m:t>sin</m:t>
                    </m:r>
                    <m:r>
                      <m:t>2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29844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13385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2018,2021M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x</m:t>
                                </m:r>
                              </m:e>
                            </m:rad>
                          </m:den>
                        </m:f>
                      </m:e>
                    </m:nary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4447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2801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2018S,2024M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a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 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even function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odd function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sin</m:t>
                        </m:r>
                      </m:e>
                    </m:nary>
                    <m:r>
                      <m:t>7</m:t>
                    </m:r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1865376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170078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2019,2023,2024-2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</m:e>
                              <m:sup>
                                <m:r>
                                  <m:t>5</m:t>
                                </m:r>
                              </m:sup>
                            </m:sSup>
                            <m:r>
                              <m:t>x</m:t>
                            </m:r>
                          </m:num>
                          <m:den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cos</m:t>
                                </m:r>
                              </m:e>
                              <m:sup>
                                <m:r>
                                  <m:t>5</m:t>
                                </m:r>
                              </m:sup>
                            </m:sSup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</m:e>
                              <m:sup>
                                <m:r>
                                  <m:t>5</m:t>
                                </m:r>
                              </m:sup>
                            </m:sSup>
                            <m:r>
                              <m:t>x</m:t>
                            </m:r>
                          </m:den>
                        </m:f>
                      </m:e>
                    </m:nary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dx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a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{"/>
                        <m:sepChr m:val=""/>
                        <m:endChr m:val=""/>
                        <m:grow/>
                      </m:dPr>
                      <m:e>
                        <m:m>
                          <m:mPr>
                            <m:baseJc m:val="center"/>
                            <m:plcHide m:val="on"/>
                            <m:mcs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  <m:mc>
                                <m:mcPr>
                                  <m:mcJc m:val="left"/>
                                  <m:count m:val="1"/>
                                </m:mcPr>
                              </m:mc>
                            </m:mcs>
                          </m:mPr>
                          <m:mr>
                            <m:e>
                              <m:r>
                                <m:t>2</m:t>
                              </m:r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0</m:t>
                                  </m:r>
                                </m:sub>
                                <m:sup>
                                  <m:r>
                                    <m:t>a</m:t>
                                  </m:r>
                                </m:sup>
                                <m:e>
                                  <m:r>
                                    <m:t>f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t> </m:t>
                              </m:r>
                              <m:r>
                                <m:t>d</m:t>
                              </m:r>
                              <m:r>
                                <m:t>x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even function</m:t>
                              </m:r>
                            </m:e>
                          </m:mr>
                          <m:mr>
                            <m:e>
                              <m: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if </m:t>
                              </m:r>
                              <m:r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nor/>
                                  <m:sty m:val="p"/>
                                </m:rPr>
                                <m:t> is an odd function</m:t>
                              </m:r>
                            </m:e>
                          </m:mr>
                        </m:m>
                      </m:e>
                    </m:d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sSup>
                          <m:e>
                            <m:r>
                              <m:rPr>
                                <m:sty m:val="p"/>
                              </m:rPr>
                              <m:t>sin</m:t>
                            </m:r>
                          </m:e>
                          <m:sup>
                            <m:r>
                              <m:t>5</m:t>
                            </m:r>
                          </m:sup>
                        </m:sSup>
                      </m:e>
                    </m:nary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cos</m:t>
                        </m:r>
                      </m:e>
                      <m:sup>
                        <m:r>
                          <m:t>4</m:t>
                        </m:r>
                      </m:sup>
                    </m:sSup>
                    <m:r>
                      <m:t>x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758952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594359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2020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a</m:t>
                        </m:r>
                      </m:sub>
                      <m:sup>
                        <m:r>
                          <m:t>c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c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  <m:sup>
                        <m:r>
                          <m:t>2</m:t>
                        </m:r>
                      </m:sup>
                      <m:e>
                        <m:r>
                          <m:t> </m:t>
                        </m:r>
                      </m:e>
                    </m:nary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rPr>
                                <m:sty m:val="p"/>
                              </m:rPr>
                              <m:t>sin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p"/>
                              </m:rPr>
                              <m:t>cos</m:t>
                            </m:r>
                            <m:r>
                              <m:t>x</m:t>
                            </m:r>
                          </m:num>
                          <m:den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rPr>
                                <m:sty m:val="p"/>
                              </m:rPr>
                              <m:t>sin</m:t>
                            </m:r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cos</m:t>
                            </m:r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2024-3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sup>
                      <m:e>
                        <m:f>
                          <m:fPr>
                            <m:type m:val="bar"/>
                          </m:fPr>
                          <m:num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sin</m:t>
                                </m:r>
                              </m:e>
                              <m:sup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3</m:t>
                                    </m:r>
                                  </m:num>
                                  <m:den>
                                    <m:r>
                                      <m:t>2</m:t>
                                    </m:r>
                                  </m:den>
                                </m:f>
                              </m:sup>
                            </m:sSup>
                            <m:r>
                              <m:t>x</m:t>
                            </m:r>
                          </m:num>
                          <m:den>
                            <m:r>
                              <m:t>2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886968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223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2025-1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m:t>π</m:t>
                            </m:r>
                          </m:num>
                          <m:den>
                            <m:r>
                              <m:t>4</m:t>
                            </m:r>
                          </m:den>
                        </m:f>
                      </m:sup>
                      <m:e>
                        <m:r>
                          <m:rPr>
                            <m:sty m:val="p"/>
                          </m:rPr>
                          <m:t>log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tan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2025-2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b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2</m:t>
                        </m:r>
                      </m:sub>
                      <m:sup>
                        <m:r>
                          <m:t>3</m:t>
                        </m:r>
                      </m:sup>
                      <m:e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x</m:t>
                                </m:r>
                              </m:e>
                            </m:rad>
                            <m:r>
                              <m:rPr>
                                <m:sty m:val="p"/>
                              </m:rPr>
                              <m:t>+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5</m:t>
                                </m:r>
                              </m:e>
                            </m:ra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x</m:t>
                            </m:r>
                          </m:den>
                        </m:f>
                      </m:e>
                    </m:nary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923544" cy="402336"/>
          </a:xfrm>
          <a:prstGeom prst="roundRect">
            <a:avLst/>
          </a:prstGeom>
          <a:solidFill>
            <a:srgbClr val="1A1608"/>
          </a:solidFill>
          <a:ln w="9525">
            <a:solidFill>
              <a:srgbClr val="FAD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" y="228600"/>
            <a:ext cx="54864" cy="31089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"/>
            <a:ext cx="75895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D02C"/>
                </a:solidFill>
                <a:latin typeface="Arial"/>
              </a:rPr>
              <a:t>2025-3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9144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31520"/>
            <a:ext cx="1127455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FAD02C"/>
                </a:solidFill>
                <a:latin typeface="Arial"/>
              </a:defRPr>
            </a:pPr>
            <a:r>
              <a:rPr lang="en-US" sz="1800" b="1">
                <a:solidFill>
                  <a:srgbClr val="FAD02C"/>
                </a:solidFill>
                <a:latin typeface="Arial"/>
              </a:rPr>
              <a:t>Prove that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a</m:t>
                        </m:r>
                      </m:sup>
                      <m:e>
                        <m:r>
                          <m:t>f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</m:oMath>
                </a14:m>
              </mc:Choice>
            </mc:AlternateContent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and hence evaluate</a:t>
            </a:r>
            <a:r>
              <a:rPr lang="en-US" sz="1800" b="1">
                <a:solidFill>
                  <a:srgbClr val="FAD02C"/>
                </a:solidFill>
                <a:latin typeface="Arial"/>
              </a:rPr>
              <a:t> </a:t>
            </a:r>
            <mc:AlternateContent xmlns:mc="http://schemas.openxmlformats.org/markup-compatibility/2006" xmlns:a14="http://schemas.microsoft.com/office/drawing/2010/main">
              <mc:Choice Requires="a14">
                <a14:m>
                  <m:oMath xmlns:m="http://schemas.openxmlformats.org/officeDocument/2006/math">
                    <m:nary>
                      <m:naryPr>
                        <m:chr m:val="∫"/>
                        <m:limLoc m:val="subSup"/>
                        <m:subHide m:val="off"/>
                        <m:supHide m:val="off"/>
                      </m:naryPr>
                      <m:sub>
                        <m:r>
                          <m:t>0</m:t>
                        </m:r>
                      </m:sub>
                      <m:sup>
                        <m:r>
                          <m:t>1</m:t>
                        </m:r>
                      </m:sup>
                      <m:e>
                        <m:r>
                          <m:t>x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n</m:t>
                        </m:r>
                      </m:sup>
                    </m:sSup>
                    <m:r>
                      <m:t> </m:t>
                    </m:r>
                    <m:r>
                      <m:t>d</m:t>
                    </m:r>
                    <m:r>
                      <m:t>x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mc:Choice>
            </mc:AlternateContent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