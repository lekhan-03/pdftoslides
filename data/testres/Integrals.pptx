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880360"/>
            <a:ext cx="11274552" cy="3657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400" b="1">
                <a:solidFill>
                  <a:srgbClr val="FAD02C"/>
                </a:solidFill>
                <a:latin typeface="Arial"/>
              </a:defRPr>
            </a:pPr>
            <a:r>
              <a:rPr lang="en-US" sz="4400" b="1">
                <a:solidFill>
                  <a:srgbClr val="FAD02C"/>
                </a:solidFill>
                <a:latin typeface="Arial"/>
              </a:rPr>
              <a:t>Chemistry Midterm —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M</m:t>
                    </m:r>
                    <m:r>
                      <m:t>C</m:t>
                    </m:r>
                    <m:r>
                      <m:t>Q</m:t>
                    </m:r>
                  </m:oMath>
                </a14:m>
              </mc:Choice>
            </mc:AlternateContent>
            <a:r>
              <a:rPr lang="en-US" sz="4400" b="1">
                <a:solidFill>
                  <a:srgbClr val="FAD02C"/>
                </a:solidFill>
                <a:latin typeface="Arial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63240"/>
            <a:ext cx="1127455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AAAAAA"/>
                </a:solidFill>
                <a:latin typeface="Arial"/>
              </a:rPr>
              <a:t>141 Questions  ·  For: Boards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sin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+c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03911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87451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2024M,2026,2025-2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e-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e-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ex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sin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dx=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img_rI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4632" y="731520"/>
            <a:ext cx="2743200" cy="2314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point of inflection for the following graph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point of inflection does not exist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72030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4496" y="2072030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2025</m:t>
                    </m:r>
                    <m:r>
                      <m:t>M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csc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sec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Statement 1: The anti-derivative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log|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| + C Statement 2: The derivative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log|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| + C. 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457200" y="1809597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Statement 1 is true, and Statement 2 is false.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809597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1 is true, and Statement 2 is true, Statement 2 is correct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l</m:t>
                    </m:r>
                    <m:r>
                      <m:t>a</m:t>
                    </m:r>
                    <m:r>
                      <m:t>n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for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0650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1 is true, and Statement 2 is true, Statement 2 is not a correct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l</m:t>
                    </m:r>
                    <m:r>
                      <m:t>a</m:t>
                    </m:r>
                    <m:r>
                      <m:t>n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for Statement1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2460650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Both statements are false.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value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99</m:t>
                            </m:r>
                          </m:sup>
                        </m:sSup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anti-derivative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e>
                        </m:rad>
                      </m:den>
                    </m:f>
                    <m:r>
                      <m:rPr>
                        <m:sty m:val="p"/>
                      </m:rPr>
                      <m:t>,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&gt;1 with respective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sin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rPr>
                            <m:sty m:val="p"/>
                          </m:rPr>
                          <m:t>csc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cot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3</m:t>
                        </m:r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dx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2026</m:t>
                    </m:r>
                    <m:r>
                      <m:t>M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1</m:t>
                        </m:r>
                      </m:sub>
                      <m:sup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3</m:t>
                            </m:r>
                          </m:e>
                        </m:rad>
                      </m:sup>
                      <m:e>
                        <m:r>
                          <m:t>3</m:t>
                        </m:r>
                      </m:e>
                    </m:nary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3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dx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3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t>π</m:t>
                        </m:r>
                      </m:num>
                      <m:den>
                        <m:r>
                          <m:t>3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6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12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π</m:t>
                        </m:r>
                      </m:sup>
                      <m:e>
                        <m:r>
                          <m:t>​</m:t>
                        </m:r>
                      </m:e>
                    </m:nary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sin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)dx=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3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3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3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3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–1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–2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807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2161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2024,2026M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sSup>
                      <m:e>
                        <m:r>
                          <m:rPr>
                            <m:sty m:val="p"/>
                          </m:rPr>
                          <m:t>sec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value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4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6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12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anti-derivative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3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</m:num>
                      <m:den>
                        <m:r>
                          <m:t>3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</m:num>
                      <m:den>
                        <m:r>
                          <m:t>3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3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value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2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cos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sin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tan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(sin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cos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 dx is equal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cos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tan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sin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cos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sec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(sec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tan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 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c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tan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sec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tan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sec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tan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tan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sec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value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e</m:t>
                    </m:r>
                    <m:r>
                      <m:t>c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cos</m:t>
                    </m:r>
                    <m:r>
                      <m:t>e</m:t>
                    </m:r>
                    <m:r>
                      <m:t>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cot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 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cot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e</m:t>
                    </m:r>
                    <m:r>
                      <m:t>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− cot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e</m:t>
                    </m:r>
                    <m:r>
                      <m:t>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− cot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cos</m:t>
                    </m:r>
                    <m:r>
                      <m:t>e</m:t>
                    </m:r>
                    <m:r>
                      <m:t>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cot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cos</m:t>
                    </m:r>
                    <m:r>
                      <m:t>e</m:t>
                    </m:r>
                    <m:r>
                      <m:t>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)</m:t>
                            </m:r>
                          </m:den>
                        </m:f>
                      </m:e>
                    </m:nary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3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6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4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2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dx is equal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-tan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+c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tan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+c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–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is (2025-1)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sSup>
                      <m:e>
                        <m:r>
                          <m:rPr>
                            <m:sty m:val="p"/>
                          </m:rPr>
                          <m:t>tan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)dx=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sSup>
                      <m:e>
                        <m:r>
                          <m:rPr>
                            <m:sty m:val="p"/>
                          </m:rPr>
                          <m:t>sin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545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38074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2024-3,2026-1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value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7</m:t>
                            </m:r>
                          </m:sup>
                        </m:sSup>
                      </m:e>
                    </m:nary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.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74519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70992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2015S,2017S,2022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.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92807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72821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2016S,2020,2021M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3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rPr>
                            <m:sty m:val="p"/>
                          </m:rPr>
                          <m:t>sec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7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4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2</m:t>
                        </m:r>
                      </m:sub>
                      <m:sup>
                        <m:r>
                          <m:t>3</m:t>
                        </m:r>
                      </m:sup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.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a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b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1</m:t>
                        </m:r>
                      </m:sub>
                      <m:sup>
                        <m:r>
                          <m:t>e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x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Integrate sin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sin(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 w.r.t.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0700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04241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2014,2022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2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c</m:t>
                        </m:r>
                        <m:r>
                          <m:t>o</m:t>
                        </m:r>
                        <m:r>
                          <m:t>s</m:t>
                        </m:r>
                        <m:r>
                          <m:t>2</m:t>
                        </m:r>
                        <m:r>
                          <m:t>α</m:t>
                        </m:r>
                      </m:num>
                      <m:den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α</m:t>
                        </m:r>
                      </m:den>
                    </m:f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6</m:t>
                            </m:r>
                          </m:sup>
                        </m:sSup>
                      </m:den>
                    </m:f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sin</m:t>
                        </m:r>
                        <m:sSup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9844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3385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2016,2021M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π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log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d</m:t>
                            </m:r>
                            <m:r>
                              <m:t>x</m:t>
                            </m:r>
                          </m:num>
                          <m:den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sSup>
                                  <m:e>
                                    <m:r>
                                      <m:t>x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</m:e>
                    </m:nary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Integrate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rPr>
                                <m:sty m:val="p"/>
                              </m:rPr>
                              <m:t>tan</m:t>
                            </m:r>
                          </m:e>
                          <m:sup>
                            <m:r>
                              <m:t>4</m:t>
                            </m:r>
                          </m:sup>
                        </m:sSup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  <m:sSup>
                          <m:e>
                            <m:r>
                              <m:rPr>
                                <m:sty m:val="p"/>
                              </m:rPr>
                              <m:t>sec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2</m:t>
                            </m:r>
                          </m:num>
                          <m:den>
                            <m:r>
                              <m:t>3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4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9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rPr>
                                <m:sty m:val="p"/>
                              </m:rPr>
                              <m:t>tan</m:t>
                            </m:r>
                            <m:r>
                              <m:t>x</m:t>
                            </m:r>
                          </m:e>
                        </m:rad>
                      </m:num>
                      <m:den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3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</m:den>
                    </m:f>
                    <m:r>
                      <m:t>e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6</m:t>
                    </m:r>
                    <m:r>
                      <m:t>x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6</m:t>
                        </m:r>
                        <m:r>
                          <m:t>x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  <m:sSup>
                          <m:e>
                            <m:r>
                              <m:t>e</m:t>
                            </m:r>
                          </m:e>
                          <m:sup>
                            <m:r>
                              <m:t>x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x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e</m:t>
                            </m:r>
                          </m:e>
                          <m:sup>
                            <m:r>
                              <m:t>x</m:t>
                            </m:r>
                          </m:sup>
                        </m:sSup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2</m:t>
                        </m:r>
                      </m:sub>
                      <m:sup>
                        <m:r>
                          <m:t>3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x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</m:rPr>
                          <m:t>tan</m:t>
                        </m:r>
                        <m:r>
                          <m:t>x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3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2020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log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0515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8869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2024M,3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Integrate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3</m:t>
                        </m:r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807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2161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2023,2024-1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1</m:t>
                        </m:r>
                      </m:sub>
                      <m:sup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3</m:t>
                            </m:r>
                          </m:e>
                        </m:rad>
                      </m:sup>
                      <m:e>
                        <m:r>
                          <m:t>3</m:t>
                        </m:r>
                      </m:e>
                    </m:nary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3502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7043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2020,2021M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sec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  <m:r>
                          <m:rPr>
                            <m:sty m:val="p"/>
                          </m:rPr>
                          <m:t>.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)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x</m:t>
                            </m:r>
                          </m:num>
                          <m:den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sSup>
                          <m:e>
                            <m:r>
                              <m:rPr>
                                <m:sty m:val="p"/>
                              </m:rPr>
                              <m:t>tan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4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8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0700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04241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2014,2022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  <m:sSup>
                          <m:e>
                            <m:r>
                              <m:t>e</m:t>
                            </m:r>
                          </m:e>
                          <m:sup>
                            <m:r>
                              <m:t>x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3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4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Integrate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w.r.t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0700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04241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2015,2024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801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155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2015,2015S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2</m:t>
                        </m:r>
                      </m:sup>
                      <m:e>
                        <m:sSup>
                          <m:e>
                            <m:r>
                              <m:t>e</m:t>
                            </m:r>
                          </m:e>
                          <m:sup>
                            <m:r>
                              <m:t>x</m:t>
                            </m:r>
                          </m:sup>
                        </m:sSup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as a limit of sum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21538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405079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2015S,2016S,2017S,2018,2021M,2023M,2026-1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)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x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3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</m:den>
                    </m:f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17043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00584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2017,2018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167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5214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2018S,2023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x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Integrate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>
                          <m:t>x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t>l</m:t>
                    </m:r>
                    <m:r>
                      <m:t>o</m:t>
                    </m:r>
                    <m:r>
                      <m:t>g</m:t>
                    </m:r>
                    <m:r>
                      <m:t>l</m:t>
                    </m:r>
                    <m:r>
                      <m:t>o</m:t>
                    </m:r>
                    <m:r>
                      <m:t>g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rPr>
                                <m:sty m:val="p"/>
                              </m:rPr>
                              <m:t>sin</m:t>
                            </m:r>
                            <m:r>
                              <m:t>x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cos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t>x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2880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6642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2020,2021M,2023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3</m:t>
                        </m:r>
                        <m:r>
                          <m:rPr>
                            <m:sty m:val="p"/>
                          </m:rPr>
                          <m:t>)</m:t>
                        </m:r>
                        <m:sSup>
                          <m:e>
                            <m:r>
                              <m:t>e</m:t>
                            </m:r>
                          </m:e>
                          <m:sup>
                            <m:r>
                              <m:t>x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2020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3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3502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7043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2021M,2022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4</m:t>
                            </m:r>
                          </m:den>
                        </m:f>
                      </m:sup>
                      <m:e>
                        <m:r>
                          <m:rPr>
                            <m:sty m:val="p"/>
                          </m:rPr>
                          <m:t>sin</m:t>
                        </m:r>
                      </m:e>
                    </m:nary>
                    <m:r>
                      <m:t>2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  <m:r>
                          <m:rPr>
                            <m:sty m:val="p"/>
                          </m:rPr>
                          <m:t>.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3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3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tan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09728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93268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2024-2,3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dx.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3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</m:den>
                    </m:f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>
                          <m:t>3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13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10</m:t>
                        </m:r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6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7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6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7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4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6</m:t>
                        </m:r>
                      </m:e>
                    </m:rad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2880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6642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2016,2020,2024-1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3</m:t>
                        </m:r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5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t>x</m:t>
                        </m:r>
                      </m:e>
                    </m:rad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8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7</m:t>
                        </m:r>
                      </m:e>
                    </m:rad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7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6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6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13</m:t>
                        </m:r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2880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6642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2019,2022,2024M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16</m:t>
                        </m:r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5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5087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344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2021M,2025-2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>
                          <m:t>4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9</m:t>
                        </m:r>
                      </m:den>
                    </m:f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9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25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/</m:t>
                    </m:r>
                    <m:r>
                      <m:rPr>
                        <m:sty m:val="p"/>
                      </m:rPr>
                      <m:t>(</m:t>
                    </m:r>
                    <m:sSup>
                      <m:e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2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x</m:t>
                            </m:r>
                          </m:e>
                        </m:rad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>
                          <m:t>5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6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13</m:t>
                        </m:r>
                      </m:den>
                    </m:f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3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</m:t>
                        </m:r>
                        <m:r>
                          <m:t>x</m:t>
                        </m:r>
                      </m:den>
                    </m:f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25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dx.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4</m:t>
                            </m:r>
                          </m:den>
                        </m:f>
                      </m:sup>
                      <m:e>
                        <m:r>
                          <m:rPr>
                            <m:sty m:val="p"/>
                          </m:rPr>
                          <m:t>log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807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2161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2014S,2019S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a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a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6</m:t>
                            </m:r>
                          </m:den>
                        </m:f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3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tan</m:t>
                                </m:r>
                                <m:r>
                                  <m:t>x</m:t>
                                </m:r>
                              </m:e>
                            </m:rad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801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155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2015,2017S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{"/>
                        <m:sepChr m:val=""/>
                        <m:endChr m:val="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t>2</m:t>
                              </m:r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0</m:t>
                                  </m:r>
                                </m:sub>
                                <m:sup>
                                  <m:r>
                                    <m:t>a</m:t>
                                  </m:r>
                                </m:sup>
                                <m:e>
                                  <m:r>
                                    <m:t>f</m:t>
                                  </m:r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t>d</m:t>
                              </m:r>
                              <m:r>
                                <m:t>x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even function</m:t>
                              </m:r>
                            </m:e>
                          </m:m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odd function</m:t>
                              </m:r>
                            </m:e>
                          </m:mr>
                        </m:m>
                      </m:e>
                    </m: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5</m:t>
                            </m:r>
                          </m:sup>
                        </m:sSup>
                      </m:e>
                    </m:nary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4</m:t>
                        </m:r>
                      </m:sup>
                    </m:sSup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1343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214883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2014,2015S,2019,2021M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a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a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6</m:t>
                            </m:r>
                          </m:den>
                        </m:f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3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tan</m:t>
                                </m:r>
                                <m:r>
                                  <m:t>x</m:t>
                                </m:r>
                              </m:e>
                            </m:rad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{"/>
                        <m:sepChr m:val=""/>
                        <m:endChr m:val="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t>2</m:t>
                              </m:r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0</m:t>
                                  </m:r>
                                </m:sub>
                                <m:sup>
                                  <m:r>
                                    <m:t>a</m:t>
                                  </m:r>
                                </m:sup>
                                <m:e>
                                  <m:r>
                                    <m:t>f</m:t>
                                  </m:r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t>d</m:t>
                              </m:r>
                              <m:r>
                                <m:t>x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2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2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</m:mr>
                        </m:m>
                      </m:e>
                    </m: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2</m:t>
                        </m:r>
                        <m:r>
                          <m:t>π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5</m:t>
                            </m:r>
                          </m:sup>
                        </m:sSup>
                      </m:e>
                    </m:nary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93852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77393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2016S,2022,2026-1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sin</m:t>
                                </m:r>
                                <m:r>
                                  <m:t>x</m:t>
                                </m:r>
                              </m:e>
                            </m:rad>
                          </m:num>
                          <m:den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sin</m:t>
                                </m:r>
                                <m:r>
                                  <m:t>x</m:t>
                                </m:r>
                              </m:e>
                            </m:rad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cos</m:t>
                                </m:r>
                                <m:r>
                                  <m:t>x</m:t>
                                </m:r>
                              </m:e>
                            </m:rad>
                          </m:den>
                        </m:f>
                      </m:e>
                    </m:nary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r>
                      <m:t>2</m:t>
                    </m:r>
                    <m:r>
                      <m:t>l</m:t>
                    </m:r>
                    <m:r>
                      <m:t>o</m:t>
                    </m:r>
                    <m:r>
                      <m:t>g</m:t>
                    </m:r>
                    <m:r>
                      <m:t>l</m:t>
                    </m:r>
                    <m:r>
                      <m:t>o</m:t>
                    </m:r>
                    <m:r>
                      <m:t>g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9844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3385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2018,2021M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x</m:t>
                                </m:r>
                              </m:e>
                            </m:rad>
                          </m:num>
                          <m:den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x</m:t>
                                </m:r>
                              </m:e>
                            </m:rad>
                            <m:r>
                              <m:rPr>
                                <m:sty m:val="p"/>
                              </m:rPr>
                              <m:t>+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x</m:t>
                                </m:r>
                              </m:e>
                            </m:rad>
                          </m:den>
                        </m:f>
                      </m:e>
                    </m:nary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4447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2801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2018S,2024M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a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{"/>
                        <m:sepChr m:val=""/>
                        <m:endChr m:val="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t>2</m:t>
                              </m:r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0</m:t>
                                  </m:r>
                                </m:sub>
                                <m:sup>
                                  <m:r>
                                    <m:t>a</m:t>
                                  </m:r>
                                </m:sup>
                                <m:e>
                                  <m:r>
                                    <m:t>f</m:t>
                                  </m:r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t>d</m:t>
                              </m:r>
                              <m:r>
                                <m:t>x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even function</m:t>
                              </m:r>
                            </m:e>
                          </m:m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odd function</m:t>
                              </m:r>
                            </m:e>
                          </m:mr>
                        </m:m>
                      </m:e>
                    </m: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r>
                          <m:rPr>
                            <m:sty m:val="p"/>
                          </m:rPr>
                          <m:t>sin</m:t>
                        </m:r>
                      </m:e>
                    </m:nary>
                    <m:r>
                      <m:t>7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65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700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2019,2023,2024-2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cos</m:t>
                                </m:r>
                              </m:e>
                              <m:sup>
                                <m:r>
                                  <m:t>5</m:t>
                                </m:r>
                              </m:sup>
                            </m:sSup>
                            <m:r>
                              <m:t>x</m:t>
                            </m:r>
                          </m:num>
                          <m:den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cos</m:t>
                                </m:r>
                              </m:e>
                              <m:sup>
                                <m:r>
                                  <m:t>5</m:t>
                                </m:r>
                              </m:sup>
                            </m:sSup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sin</m:t>
                                </m:r>
                              </m:e>
                              <m:sup>
                                <m:r>
                                  <m:t>5</m:t>
                                </m:r>
                              </m:sup>
                            </m:sSup>
                            <m:r>
                              <m:t>x</m:t>
                            </m:r>
                          </m:den>
                        </m:f>
                      </m:e>
                    </m:nary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dx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a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{"/>
                        <m:sepChr m:val=""/>
                        <m:endChr m:val="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t>2</m:t>
                              </m:r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0</m:t>
                                  </m:r>
                                </m:sub>
                                <m:sup>
                                  <m:r>
                                    <m:t>a</m:t>
                                  </m:r>
                                </m:sup>
                                <m:e>
                                  <m:r>
                                    <m:t>f</m:t>
                                  </m:r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t>d</m:t>
                              </m:r>
                              <m:r>
                                <m:t>x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even function</m:t>
                              </m:r>
                            </m:e>
                          </m:m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odd function</m:t>
                              </m:r>
                            </m:e>
                          </m:mr>
                        </m:m>
                      </m:e>
                    </m: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5</m:t>
                            </m:r>
                          </m:sup>
                        </m:sSup>
                      </m:e>
                    </m:nary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4</m:t>
                        </m:r>
                      </m:sup>
                    </m:sSup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2020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a</m:t>
                        </m:r>
                      </m:sub>
                      <m:sup>
                        <m:r>
                          <m:t>c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c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  <m:sup>
                        <m:r>
                          <m:t>2</m:t>
                        </m:r>
                      </m:sup>
                      <m:e>
                        <m:r>
                          <m:t> </m:t>
                        </m:r>
                      </m:e>
                    </m:nary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rPr>
                                <m:sty m:val="p"/>
                              </m:rPr>
                              <m:t>sin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p"/>
                              </m:rPr>
                              <m:t>cos</m:t>
                            </m:r>
                            <m:r>
                              <m:t>x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rPr>
                                <m:sty m:val="p"/>
                              </m:rPr>
                              <m:t>sin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cos</m:t>
                            </m:r>
                            <m:r>
                              <m:t>x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sin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3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  <m:r>
                                  <m:rPr>
                                    <m:sty m:val="p"/>
                                  </m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  <m:r>
                              <m:t>x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4</m:t>
                            </m:r>
                          </m:den>
                        </m:f>
                      </m:sup>
                      <m:e>
                        <m:r>
                          <m:rPr>
                            <m:sty m:val="p"/>
                          </m:rPr>
                          <m:t>log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2</m:t>
                        </m:r>
                      </m:sub>
                      <m:sup>
                        <m:r>
                          <m:t>3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x</m:t>
                                </m:r>
                              </m:e>
                            </m:rad>
                          </m:num>
                          <m:den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x</m:t>
                                </m:r>
                              </m:e>
                            </m:rad>
                            <m:r>
                              <m:rPr>
                                <m:sty m:val="p"/>
                              </m:rPr>
                              <m:t>+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5</m:t>
                                </m:r>
                              </m:e>
                            </m:rad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x</m:t>
                            </m:r>
                          </m:den>
                        </m:f>
                      </m:e>
                    </m:nary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r>
                          <m:t>x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n</m:t>
                        </m:r>
                      </m:sup>
                    </m:sSup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