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Rectangle 2"/>
          <p:cNvSpPr/>
          <p:nvPr/>
        </p:nvSpPr>
        <p:spPr>
          <a:xfrm>
            <a:off x="457200" y="2880360"/>
            <a:ext cx="11274552" cy="3657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0"/>
            <a:ext cx="11274552" cy="1097280"/>
          </a:xfrm>
          <a:prstGeom prst="rect">
            <a:avLst/>
          </a:prstGeom>
          <a:noFill/>
        </p:spPr>
        <p:txBody>
          <a:bodyPr wrap="square" lIns="0" rIns="0" tIns="0" bIns="0">
            <a:spAutoFit/>
          </a:bodyPr>
          <a:lstStyle/>
          <a:p>
            <a:pPr algn="ctr">
              <a:defRPr sz="4400" b="1">
                <a:solidFill>
                  <a:srgbClr val="FAD02C"/>
                </a:solidFill>
                <a:latin typeface="Arial"/>
              </a:defRPr>
            </a:pPr>
            <a:r>
              <a:rPr lang="en-US" sz="4400" b="1">
                <a:solidFill>
                  <a:srgbClr val="FAD02C"/>
                </a:solidFill>
                <a:latin typeface="Arial"/>
              </a:rPr>
              <a:t>Chemistry Midterm —</a:t>
            </a:r>
            <a:r>
              <a:rPr lang="en-US" sz="44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M</m:t>
                    </m:r>
                    <m:r>
                      <m:t>C</m:t>
                    </m:r>
                    <m:r>
                      <m:t>Q</m:t>
                    </m:r>
                  </m:oMath>
                </a14:m>
              </mc:Choice>
            </mc:AlternateContent>
            <a:r>
              <a:rPr lang="en-US" sz="4400" b="1">
                <a:solidFill>
                  <a:srgbClr val="FAD02C"/>
                </a:solidFill>
                <a:latin typeface="Arial"/>
              </a:rPr>
              <a:t> </a:t>
            </a:r>
            <a:r>
              <a:rPr lang="en-US" sz="4400" b="1">
                <a:solidFill>
                  <a:srgbClr val="FAD02C"/>
                </a:solidFill>
                <a:latin typeface="Arial"/>
              </a:rPr>
              <a:t>Practice</a:t>
            </a:r>
          </a:p>
        </p:txBody>
      </p:sp>
      <p:sp>
        <p:nvSpPr>
          <p:cNvPr id="5" name="TextBox 4"/>
          <p:cNvSpPr txBox="1"/>
          <p:nvPr/>
        </p:nvSpPr>
        <p:spPr>
          <a:xfrm>
            <a:off x="457200" y="3063240"/>
            <a:ext cx="11274552" cy="594360"/>
          </a:xfrm>
          <a:prstGeom prst="rect">
            <a:avLst/>
          </a:prstGeom>
          <a:noFill/>
        </p:spPr>
        <p:txBody>
          <a:bodyPr wrap="square" lIns="0" rIns="0" tIns="0" bIns="0">
            <a:spAutoFit/>
          </a:bodyPr>
          <a:lstStyle/>
          <a:p>
            <a:pPr algn="ctr"/>
            <a:r>
              <a:rPr sz="2400" b="0">
                <a:solidFill>
                  <a:srgbClr val="AAAAAA"/>
                </a:solidFill>
                <a:latin typeface="Arial"/>
              </a:rPr>
              <a:t>129 Questions  ·  For: Boards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758952"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594359" cy="402336"/>
          </a:xfrm>
          <a:prstGeom prst="rect">
            <a:avLst/>
          </a:prstGeom>
          <a:noFill/>
        </p:spPr>
        <p:txBody>
          <a:bodyPr wrap="none" anchor="ctr" lIns="0" rIns="0" tIns="0" bIns="0">
            <a:spAutoFit/>
          </a:bodyPr>
          <a:lstStyle/>
          <a:p>
            <a:pPr algn="l"/>
            <a:r>
              <a:rPr sz="1500" b="1">
                <a:solidFill>
                  <a:srgbClr val="FAD02C"/>
                </a:solidFill>
                <a:latin typeface="Arial"/>
              </a:rPr>
              <a:t>2023</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defRPr sz="1800" b="1">
                <a:solidFill>
                  <a:srgbClr val="FAD02C"/>
                </a:solidFill>
                <a:latin typeface="Arial"/>
              </a:defRPr>
            </a:pPr>
            <a:r>
              <a:rPr lang="en-US" sz="1800" b="1">
                <a:solidFill>
                  <a:srgbClr val="FAD02C"/>
                </a:solidFill>
                <a:latin typeface="Arial"/>
              </a:rPr>
              <a:t>In photoelectric</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rPr>
                        <m:sty m:val="p"/>
                      </m:rPr>
                      <m:t>exp</m:t>
                    </m:r>
                    <m:r>
                      <m:t>e</m:t>
                    </m:r>
                    <m:r>
                      <m:t>r</m:t>
                    </m:r>
                    <m:r>
                      <m:t>i</m:t>
                    </m:r>
                    <m:r>
                      <m:t>m</m:t>
                    </m:r>
                    <m:r>
                      <m:t>e</m:t>
                    </m:r>
                    <m:r>
                      <m:t>n</m:t>
                    </m:r>
                    <m:r>
                      <m:t>t</m:t>
                    </m:r>
                    <m:r>
                      <m:rPr>
                        <m:sty m:val="p"/>
                      </m:rPr>
                      <m:t>,</m:t>
                    </m:r>
                  </m:oMath>
                </a14:m>
              </mc:Choice>
            </mc:AlternateContent>
            <a:r>
              <a:rPr lang="en-US" sz="1800" b="1">
                <a:solidFill>
                  <a:srgbClr val="FAD02C"/>
                </a:solidFill>
                <a:latin typeface="Arial"/>
              </a:rPr>
              <a:t> </a:t>
            </a:r>
            <a:r>
              <a:rPr lang="en-US" sz="1800" b="1">
                <a:solidFill>
                  <a:srgbClr val="FAD02C"/>
                </a:solidFill>
                <a:latin typeface="Arial"/>
              </a:rPr>
              <a:t>increase in the intensity of light (</a:t>
            </a:r>
            <mc:AlternateContent xmlns:mc="http://schemas.openxmlformats.org/markup-compatibility/2006" xmlns:a14="http://schemas.microsoft.com/office/drawing/2010/main">
              <mc:Choice Requires="a14">
                <a14:m>
                  <m:oMath xmlns:m="http://schemas.openxmlformats.org/officeDocument/2006/math">
                    <m:r>
                      <m:t>ν</m:t>
                    </m:r>
                    <m:r>
                      <m:rPr>
                        <m:sty m:val="p"/>
                      </m:rPr>
                      <m:t>&gt;</m:t>
                    </m:r>
                    <m:r>
                      <m:t>ν</m:t>
                    </m:r>
                    <m:r>
                      <m:t>0</m:t>
                    </m:r>
                  </m:oMath>
                </a14:m>
              </mc:Choice>
            </mc:AlternateContent>
            <a:r>
              <a:rPr lang="en-US" sz="1800" b="1">
                <a:solidFill>
                  <a:srgbClr val="FAD02C"/>
                </a:solidFill>
                <a:latin typeface="Arial"/>
              </a:rPr>
              <a:t>)</a:t>
            </a:r>
          </a:p>
        </p:txBody>
      </p:sp>
      <p:sp>
        <p:nvSpPr>
          <p:cNvPr id="7" name="TextBox 6"/>
          <p:cNvSpPr txBox="1"/>
          <p:nvPr/>
        </p:nvSpPr>
        <p:spPr>
          <a:xfrm>
            <a:off x="457200" y="1216151"/>
            <a:ext cx="5477256"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increases kinetic energy of photoelectrons</a:t>
            </a:r>
          </a:p>
        </p:txBody>
      </p:sp>
      <p:sp>
        <p:nvSpPr>
          <p:cNvPr id="8" name="TextBox 7"/>
          <p:cNvSpPr txBox="1"/>
          <p:nvPr/>
        </p:nvSpPr>
        <p:spPr>
          <a:xfrm>
            <a:off x="6254496" y="1216151"/>
            <a:ext cx="5477256"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increases photoelectric current</a:t>
            </a:r>
          </a:p>
        </p:txBody>
      </p:sp>
      <p:sp>
        <p:nvSpPr>
          <p:cNvPr id="9" name="TextBox 8"/>
          <p:cNvSpPr txBox="1"/>
          <p:nvPr/>
        </p:nvSpPr>
        <p:spPr>
          <a:xfrm>
            <a:off x="457200" y="1783079"/>
            <a:ext cx="5477256"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decreases kinetic energy of photoelectrons</a:t>
            </a:r>
          </a:p>
        </p:txBody>
      </p:sp>
      <p:sp>
        <p:nvSpPr>
          <p:cNvPr id="10" name="TextBox 9"/>
          <p:cNvSpPr txBox="1"/>
          <p:nvPr/>
        </p:nvSpPr>
        <p:spPr>
          <a:xfrm>
            <a:off x="6254496" y="1783079"/>
            <a:ext cx="5477256"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photoelectric current remains constant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923544"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58952" cy="402336"/>
          </a:xfrm>
          <a:prstGeom prst="rect">
            <a:avLst/>
          </a:prstGeom>
          <a:noFill/>
        </p:spPr>
        <p:txBody>
          <a:bodyPr wrap="none" anchor="ctr" lIns="0" rIns="0" tIns="0" bIns="0">
            <a:spAutoFit/>
          </a:bodyPr>
          <a:lstStyle/>
          <a:p>
            <a:pPr algn="l"/>
            <a:r>
              <a:rPr sz="1500" b="1">
                <a:solidFill>
                  <a:srgbClr val="FAD02C"/>
                </a:solidFill>
                <a:latin typeface="Arial"/>
              </a:rPr>
              <a:t>2024-3</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1217980"/>
          </a:xfrm>
          <a:prstGeom prst="rect">
            <a:avLst/>
          </a:prstGeom>
          <a:noFill/>
        </p:spPr>
        <p:txBody>
          <a:bodyPr wrap="square" lIns="0" rIns="0" tIns="0" bIns="0">
            <a:spAutoFit/>
          </a:bodyPr>
          <a:lstStyle/>
          <a:p>
            <a:pPr algn="l">
              <a:defRPr sz="1800" b="1">
                <a:solidFill>
                  <a:srgbClr val="FAD02C"/>
                </a:solidFill>
                <a:latin typeface="Arial"/>
              </a:defRPr>
            </a:pPr>
            <a:r>
              <a:rPr lang="en-US" sz="1800" b="1">
                <a:solidFill>
                  <a:srgbClr val="FAD02C"/>
                </a:solidFill>
                <a:latin typeface="Arial"/>
              </a:rPr>
              <a:t>The statements given below are related to the properties of photons: I. photons are electrically neutral.</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I</m:t>
                    </m:r>
                    <m:r>
                      <m:t>I</m:t>
                    </m:r>
                    <m:r>
                      <m:rPr>
                        <m:sty m:val="p"/>
                      </m:rPr>
                      <m:t>.</m:t>
                    </m:r>
                  </m:oMath>
                </a14:m>
              </mc:Choice>
            </mc:AlternateContent>
            <a:r>
              <a:rPr lang="en-US" sz="1800" b="1">
                <a:solidFill>
                  <a:srgbClr val="FAD02C"/>
                </a:solidFill>
                <a:latin typeface="Arial"/>
              </a:rPr>
              <a:t> </a:t>
            </a:r>
            <a:r>
              <a:rPr lang="en-US" sz="1800" b="1">
                <a:solidFill>
                  <a:srgbClr val="FAD02C"/>
                </a:solidFill>
                <a:latin typeface="Arial"/>
              </a:rPr>
              <a:t>photons are undeflected by electric and magnetic fields.</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I</m:t>
                    </m:r>
                    <m:r>
                      <m:t>I</m:t>
                    </m:r>
                    <m:r>
                      <m:t>I</m:t>
                    </m:r>
                    <m:r>
                      <m:rPr>
                        <m:sty m:val="p"/>
                      </m:rPr>
                      <m:t>.</m:t>
                    </m:r>
                  </m:oMath>
                </a14:m>
              </mc:Choice>
            </mc:AlternateContent>
            <a:r>
              <a:rPr lang="en-US" sz="1800" b="1">
                <a:solidFill>
                  <a:srgbClr val="FAD02C"/>
                </a:solidFill>
                <a:latin typeface="Arial"/>
              </a:rPr>
              <a:t> </a:t>
            </a:r>
            <a:r>
              <a:rPr lang="en-US" sz="1800" b="1">
                <a:solidFill>
                  <a:srgbClr val="FAD02C"/>
                </a:solidFill>
                <a:latin typeface="Arial"/>
              </a:rPr>
              <a:t>photons are light waves.</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I</m:t>
                    </m:r>
                    <m:r>
                      <m:t>V</m:t>
                    </m:r>
                    <m:r>
                      <m:rPr>
                        <m:sty m:val="p"/>
                      </m:rPr>
                      <m:t>.</m:t>
                    </m:r>
                  </m:oMath>
                </a14:m>
              </mc:Choice>
            </mc:AlternateContent>
            <a:r>
              <a:rPr lang="en-US" sz="1800" b="1">
                <a:solidFill>
                  <a:srgbClr val="FAD02C"/>
                </a:solidFill>
                <a:latin typeface="Arial"/>
              </a:rPr>
              <a:t> </a:t>
            </a:r>
            <a:r>
              <a:rPr lang="en-US" sz="1800" b="1">
                <a:solidFill>
                  <a:srgbClr val="FAD02C"/>
                </a:solidFill>
                <a:latin typeface="Arial"/>
              </a:rPr>
              <a:t>In photon particle collision, total energy and momentum are not conserved.</a:t>
            </a:r>
          </a:p>
        </p:txBody>
      </p:sp>
      <p:sp>
        <p:nvSpPr>
          <p:cNvPr id="7" name="TextBox 6"/>
          <p:cNvSpPr txBox="1"/>
          <p:nvPr/>
        </p:nvSpPr>
        <p:spPr>
          <a:xfrm>
            <a:off x="457200" y="2114092"/>
            <a:ext cx="5477256"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A. </a:t>
            </a:r>
            <a:r>
              <a:rPr lang="en-US" sz="1600">
                <a:solidFill>
                  <a:srgbClr val="F0F0F0"/>
                </a:solidFill>
                <a:latin typeface="Arial"/>
              </a:rPr>
              <a:t>Only statements I and</a:t>
            </a:r>
            <a:r>
              <a:rPr lang="en-US" sz="1600">
                <a:solidFill>
                  <a:srgbClr val="F0F0F0"/>
                </a:solidFill>
                <a:latin typeface="Arial"/>
              </a:rPr>
              <a:t> </a:t>
            </a:r>
            <mc:AlternateContent xmlns:mc="http://schemas.openxmlformats.org/markup-compatibility/2006" xmlns:a14="http://schemas.microsoft.com/office/drawing/2010/main">
              <mc:Choice Requires="a14">
                <a14:m>
                  <m:oMath xmlns:m="http://schemas.openxmlformats.org/officeDocument/2006/math">
                    <m:r>
                      <m:t>I</m:t>
                    </m:r>
                    <m:r>
                      <m:t>I</m:t>
                    </m:r>
                    <m:r>
                      <m:t>I</m:t>
                    </m:r>
                  </m:oMath>
                </a14:m>
              </mc:Choice>
            </mc:AlternateContent>
            <a:r>
              <a:rPr lang="en-US" sz="1600">
                <a:solidFill>
                  <a:srgbClr val="F0F0F0"/>
                </a:solidFill>
                <a:latin typeface="Arial"/>
              </a:rPr>
              <a:t> </a:t>
            </a:r>
            <a:r>
              <a:rPr lang="en-US" sz="1600">
                <a:solidFill>
                  <a:srgbClr val="F0F0F0"/>
                </a:solidFill>
                <a:latin typeface="Arial"/>
              </a:rPr>
              <a:t>are correct</a:t>
            </a:r>
          </a:p>
        </p:txBody>
      </p:sp>
      <p:sp>
        <p:nvSpPr>
          <p:cNvPr id="8" name="TextBox 7"/>
          <p:cNvSpPr txBox="1"/>
          <p:nvPr/>
        </p:nvSpPr>
        <p:spPr>
          <a:xfrm>
            <a:off x="6254496" y="2114092"/>
            <a:ext cx="5477256"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B. </a:t>
            </a:r>
            <a:r>
              <a:rPr lang="en-US" sz="1600">
                <a:solidFill>
                  <a:srgbClr val="F0F0F0"/>
                </a:solidFill>
                <a:latin typeface="Arial"/>
              </a:rPr>
              <a:t>Only statements</a:t>
            </a:r>
            <a:r>
              <a:rPr lang="en-US" sz="1600">
                <a:solidFill>
                  <a:srgbClr val="F0F0F0"/>
                </a:solidFill>
                <a:latin typeface="Arial"/>
              </a:rPr>
              <a:t> </a:t>
            </a:r>
            <mc:AlternateContent xmlns:mc="http://schemas.openxmlformats.org/markup-compatibility/2006" xmlns:a14="http://schemas.microsoft.com/office/drawing/2010/main">
              <mc:Choice Requires="a14">
                <a14:m>
                  <m:oMath xmlns:m="http://schemas.openxmlformats.org/officeDocument/2006/math">
                    <m:r>
                      <m:t>I</m:t>
                    </m:r>
                    <m:r>
                      <m:t>I</m:t>
                    </m:r>
                  </m:oMath>
                </a14:m>
              </mc:Choice>
            </mc:AlternateContent>
            <a:r>
              <a:rPr lang="en-US" sz="1600">
                <a:solidFill>
                  <a:srgbClr val="F0F0F0"/>
                </a:solidFill>
                <a:latin typeface="Arial"/>
              </a:rPr>
              <a:t> </a:t>
            </a:r>
            <a:r>
              <a:rPr lang="en-US" sz="1600">
                <a:solidFill>
                  <a:srgbClr val="F0F0F0"/>
                </a:solidFill>
                <a:latin typeface="Arial"/>
              </a:rPr>
              <a:t>and</a:t>
            </a:r>
            <a:r>
              <a:rPr lang="en-US" sz="1600">
                <a:solidFill>
                  <a:srgbClr val="F0F0F0"/>
                </a:solidFill>
                <a:latin typeface="Arial"/>
              </a:rPr>
              <a:t> </a:t>
            </a:r>
            <mc:AlternateContent xmlns:mc="http://schemas.openxmlformats.org/markup-compatibility/2006" xmlns:a14="http://schemas.microsoft.com/office/drawing/2010/main">
              <mc:Choice Requires="a14">
                <a14:m>
                  <m:oMath xmlns:m="http://schemas.openxmlformats.org/officeDocument/2006/math">
                    <m:r>
                      <m:t>I</m:t>
                    </m:r>
                    <m:r>
                      <m:t>V</m:t>
                    </m:r>
                  </m:oMath>
                </a14:m>
              </mc:Choice>
            </mc:AlternateContent>
            <a:r>
              <a:rPr lang="en-US" sz="1600">
                <a:solidFill>
                  <a:srgbClr val="F0F0F0"/>
                </a:solidFill>
                <a:latin typeface="Arial"/>
              </a:rPr>
              <a:t> </a:t>
            </a:r>
            <a:r>
              <a:rPr lang="en-US" sz="1600">
                <a:solidFill>
                  <a:srgbClr val="F0F0F0"/>
                </a:solidFill>
                <a:latin typeface="Arial"/>
              </a:rPr>
              <a:t>are correct</a:t>
            </a:r>
          </a:p>
        </p:txBody>
      </p:sp>
      <p:sp>
        <p:nvSpPr>
          <p:cNvPr id="9" name="TextBox 8"/>
          <p:cNvSpPr txBox="1"/>
          <p:nvPr/>
        </p:nvSpPr>
        <p:spPr>
          <a:xfrm>
            <a:off x="457200" y="2681020"/>
            <a:ext cx="5477256"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C. </a:t>
            </a:r>
            <a:r>
              <a:rPr lang="en-US" sz="1600">
                <a:solidFill>
                  <a:srgbClr val="F0F0F0"/>
                </a:solidFill>
                <a:latin typeface="Arial"/>
              </a:rPr>
              <a:t>Only statements I and</a:t>
            </a:r>
            <a:r>
              <a:rPr lang="en-US" sz="1600">
                <a:solidFill>
                  <a:srgbClr val="F0F0F0"/>
                </a:solidFill>
                <a:latin typeface="Arial"/>
              </a:rPr>
              <a:t> </a:t>
            </a:r>
            <mc:AlternateContent xmlns:mc="http://schemas.openxmlformats.org/markup-compatibility/2006" xmlns:a14="http://schemas.microsoft.com/office/drawing/2010/main">
              <mc:Choice Requires="a14">
                <a14:m>
                  <m:oMath xmlns:m="http://schemas.openxmlformats.org/officeDocument/2006/math">
                    <m:r>
                      <m:t>I</m:t>
                    </m:r>
                    <m:r>
                      <m:t>I</m:t>
                    </m:r>
                  </m:oMath>
                </a14:m>
              </mc:Choice>
            </mc:AlternateContent>
            <a:r>
              <a:rPr lang="en-US" sz="1600">
                <a:solidFill>
                  <a:srgbClr val="F0F0F0"/>
                </a:solidFill>
                <a:latin typeface="Arial"/>
              </a:rPr>
              <a:t> </a:t>
            </a:r>
            <a:r>
              <a:rPr lang="en-US" sz="1600">
                <a:solidFill>
                  <a:srgbClr val="F0F0F0"/>
                </a:solidFill>
                <a:latin typeface="Arial"/>
              </a:rPr>
              <a:t>are correct</a:t>
            </a:r>
          </a:p>
        </p:txBody>
      </p:sp>
      <p:sp>
        <p:nvSpPr>
          <p:cNvPr id="10" name="TextBox 9"/>
          <p:cNvSpPr txBox="1"/>
          <p:nvPr/>
        </p:nvSpPr>
        <p:spPr>
          <a:xfrm>
            <a:off x="6254496" y="2681020"/>
            <a:ext cx="5477256"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D. </a:t>
            </a:r>
            <a:r>
              <a:rPr lang="en-US" sz="1600">
                <a:solidFill>
                  <a:srgbClr val="F0F0F0"/>
                </a:solidFill>
                <a:latin typeface="Arial"/>
              </a:rPr>
              <a:t>Only statements I and</a:t>
            </a:r>
            <a:r>
              <a:rPr lang="en-US" sz="1600">
                <a:solidFill>
                  <a:srgbClr val="F0F0F0"/>
                </a:solidFill>
                <a:latin typeface="Arial"/>
              </a:rPr>
              <a:t> </a:t>
            </a:r>
            <mc:AlternateContent xmlns:mc="http://schemas.openxmlformats.org/markup-compatibility/2006" xmlns:a14="http://schemas.microsoft.com/office/drawing/2010/main">
              <mc:Choice Requires="a14">
                <a14:m>
                  <m:oMath xmlns:m="http://schemas.openxmlformats.org/officeDocument/2006/math">
                    <m:r>
                      <m:t>I</m:t>
                    </m:r>
                    <m:r>
                      <m:t>V</m:t>
                    </m:r>
                  </m:oMath>
                </a14:m>
              </mc:Choice>
            </mc:AlternateContent>
            <a:r>
              <a:rPr lang="en-US" sz="1600">
                <a:solidFill>
                  <a:srgbClr val="F0F0F0"/>
                </a:solidFill>
                <a:latin typeface="Arial"/>
              </a:rPr>
              <a:t> </a:t>
            </a:r>
            <a:r>
              <a:rPr lang="en-US" sz="1600">
                <a:solidFill>
                  <a:srgbClr val="F0F0F0"/>
                </a:solidFill>
                <a:latin typeface="Arial"/>
              </a:rPr>
              <a:t>are correct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923544"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58952" cy="402336"/>
          </a:xfrm>
          <a:prstGeom prst="rect">
            <a:avLst/>
          </a:prstGeom>
          <a:noFill/>
        </p:spPr>
        <p:txBody>
          <a:bodyPr wrap="none" anchor="ctr" lIns="0" rIns="0" tIns="0" bIns="0">
            <a:spAutoFit/>
          </a:bodyPr>
          <a:lstStyle/>
          <a:p>
            <a:pPr algn="l"/>
            <a:r>
              <a:rPr sz="1500" b="1">
                <a:solidFill>
                  <a:srgbClr val="FAD02C"/>
                </a:solidFill>
                <a:latin typeface="Arial"/>
              </a:rPr>
              <a:t>2024-2</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r>
              <a:rPr sz="1800" b="1">
                <a:solidFill>
                  <a:srgbClr val="FAD02C"/>
                </a:solidFill>
                <a:latin typeface="Arial"/>
              </a:rPr>
              <a:t>Following particles are moving with same speed, which one of them has longest de Broglie wavelength?</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proton</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neutron</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alpha particle</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electron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2024-1</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r>
              <a:rPr sz="1800" b="1">
                <a:solidFill>
                  <a:srgbClr val="FAD02C"/>
                </a:solidFill>
                <a:latin typeface="Arial"/>
              </a:rPr>
              <a:t>Macroscopic particles in our daily life do not show wave-like properties because</a:t>
            </a:r>
          </a:p>
        </p:txBody>
      </p:sp>
      <p:sp>
        <p:nvSpPr>
          <p:cNvPr id="7" name="TextBox 6"/>
          <p:cNvSpPr txBox="1"/>
          <p:nvPr/>
        </p:nvSpPr>
        <p:spPr>
          <a:xfrm>
            <a:off x="457200" y="1216151"/>
            <a:ext cx="5477256"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they are not associated with waves</a:t>
            </a:r>
          </a:p>
        </p:txBody>
      </p:sp>
      <p:sp>
        <p:nvSpPr>
          <p:cNvPr id="8" name="TextBox 7"/>
          <p:cNvSpPr txBox="1"/>
          <p:nvPr/>
        </p:nvSpPr>
        <p:spPr>
          <a:xfrm>
            <a:off x="6254496" y="1216151"/>
            <a:ext cx="5477256"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their wavelength is extremely high</a:t>
            </a:r>
          </a:p>
        </p:txBody>
      </p:sp>
      <p:sp>
        <p:nvSpPr>
          <p:cNvPr id="9" name="TextBox 8"/>
          <p:cNvSpPr txBox="1"/>
          <p:nvPr/>
        </p:nvSpPr>
        <p:spPr>
          <a:xfrm>
            <a:off x="457200" y="1783079"/>
            <a:ext cx="5477256"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their wavelength is zero</a:t>
            </a:r>
          </a:p>
        </p:txBody>
      </p:sp>
      <p:sp>
        <p:nvSpPr>
          <p:cNvPr id="10" name="TextBox 9"/>
          <p:cNvSpPr txBox="1"/>
          <p:nvPr/>
        </p:nvSpPr>
        <p:spPr>
          <a:xfrm>
            <a:off x="6254496" y="1783079"/>
            <a:ext cx="5477256"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their wavelength is negligibly small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923544"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58952" cy="402336"/>
          </a:xfrm>
          <a:prstGeom prst="rect">
            <a:avLst/>
          </a:prstGeom>
          <a:noFill/>
        </p:spPr>
        <p:txBody>
          <a:bodyPr wrap="none" anchor="ctr" lIns="0" rIns="0" tIns="0" bIns="0">
            <a:spAutoFit/>
          </a:bodyPr>
          <a:lstStyle/>
          <a:p>
            <a:pPr algn="l"/>
            <a:r>
              <a:rPr sz="1500" b="1">
                <a:solidFill>
                  <a:srgbClr val="FAD02C"/>
                </a:solidFill>
                <a:latin typeface="Arial"/>
              </a:rPr>
              <a:t>2025-3</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913485"/>
          </a:xfrm>
          <a:prstGeom prst="rect">
            <a:avLst/>
          </a:prstGeom>
          <a:noFill/>
        </p:spPr>
        <p:txBody>
          <a:bodyPr wrap="square" lIns="0" rIns="0" tIns="0" bIns="0">
            <a:spAutoFit/>
          </a:bodyPr>
          <a:lstStyle/>
          <a:p>
            <a:pPr algn="l">
              <a:defRPr sz="1800" b="1">
                <a:solidFill>
                  <a:srgbClr val="FAD02C"/>
                </a:solidFill>
                <a:latin typeface="Arial"/>
              </a:defRPr>
            </a:pPr>
            <a:r>
              <a:rPr lang="en-US" sz="1800" b="1">
                <a:solidFill>
                  <a:srgbClr val="FAD02C"/>
                </a:solidFill>
                <a:latin typeface="Arial"/>
              </a:rPr>
              <a:t>If Planck’s constant and basic unit of electric charge are</a:t>
            </a:r>
            <a:r>
              <a:rPr lang="en-US" sz="1800" b="1">
                <a:solidFill>
                  <a:srgbClr val="FAD02C"/>
                </a:solidFill>
                <a:latin typeface="Arial"/>
              </a:rPr>
              <a:t> </a:t>
            </a:r>
            <a:r>
              <a:rPr lang="en-US" sz="1800" b="1">
                <a:solidFill>
                  <a:srgbClr val="FAD02C"/>
                </a:solidFill>
                <a:latin typeface="Arial"/>
              </a:rPr>
              <a:t>‘h’</a:t>
            </a:r>
            <a:r>
              <a:rPr lang="en-US" sz="1800" b="1">
                <a:solidFill>
                  <a:srgbClr val="FAD02C"/>
                </a:solidFill>
                <a:latin typeface="Arial"/>
              </a:rPr>
              <a:t> </a:t>
            </a:r>
            <a:r>
              <a:rPr lang="en-US" sz="1800" b="1">
                <a:solidFill>
                  <a:srgbClr val="FAD02C"/>
                </a:solidFill>
                <a:latin typeface="Arial"/>
              </a:rPr>
              <a:t>and</a:t>
            </a:r>
            <a:r>
              <a:rPr lang="en-US" sz="1800" b="1">
                <a:solidFill>
                  <a:srgbClr val="FAD02C"/>
                </a:solidFill>
                <a:latin typeface="Arial"/>
              </a:rPr>
              <a:t> </a:t>
            </a:r>
            <a:r>
              <a:rPr lang="en-US" sz="1800" b="1">
                <a:solidFill>
                  <a:srgbClr val="FAD02C"/>
                </a:solidFill>
                <a:latin typeface="Arial"/>
              </a:rPr>
              <a:t>‘e’</a:t>
            </a:r>
            <a:r>
              <a:rPr lang="en-US" sz="1800" b="1">
                <a:solidFill>
                  <a:srgbClr val="FAD02C"/>
                </a:solidFill>
                <a:latin typeface="Arial"/>
              </a:rPr>
              <a:t> </a:t>
            </a:r>
            <a:r>
              <a:rPr lang="en-US" sz="1800" b="1">
                <a:solidFill>
                  <a:srgbClr val="FAD02C"/>
                </a:solidFill>
                <a:latin typeface="Arial"/>
              </a:rPr>
              <a:t>respectively, then in photoelectric effect, the graph between stopping potential</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rPr>
                        <m:sty m:val="p"/>
                      </m:rPr>
                      <m:t>(</m:t>
                    </m:r>
                    <m:sSub>
                      <m:e>
                        <m:r>
                          <m:t>V</m:t>
                        </m:r>
                      </m:e>
                      <m:sub>
                        <m:r>
                          <m:t>0</m:t>
                        </m:r>
                      </m:sub>
                    </m:sSub>
                  </m:oMath>
                </a14:m>
              </mc:Choice>
            </mc:AlternateContent>
            <a:r>
              <a:rPr lang="en-US" sz="1800" b="1">
                <a:solidFill>
                  <a:srgbClr val="FAD02C"/>
                </a:solidFill>
                <a:latin typeface="Arial"/>
              </a:rPr>
              <a:t> </a:t>
            </a:r>
            <a:r>
              <a:rPr lang="en-US" sz="1800" b="1">
                <a:solidFill>
                  <a:srgbClr val="FAD02C"/>
                </a:solidFill>
                <a:latin typeface="Arial"/>
              </a:rPr>
              <a:t>) and frequency (</a:t>
            </a:r>
            <mc:AlternateContent xmlns:mc="http://schemas.openxmlformats.org/markup-compatibility/2006" xmlns:a14="http://schemas.microsoft.com/office/drawing/2010/main">
              <mc:Choice Requires="a14">
                <a14:m>
                  <m:oMath xmlns:m="http://schemas.openxmlformats.org/officeDocument/2006/math">
                    <m:r>
                      <m:t>γ</m:t>
                    </m:r>
                  </m:oMath>
                </a14:m>
              </mc:Choice>
            </mc:AlternateContent>
            <a:r>
              <a:rPr lang="en-US" sz="1800" b="1">
                <a:solidFill>
                  <a:srgbClr val="FAD02C"/>
                </a:solidFill>
                <a:latin typeface="Arial"/>
              </a:rPr>
              <a:t>) is a straight line with slope equal to _______.</a:t>
            </a:r>
          </a:p>
        </p:txBody>
      </p:sp>
      <p:sp>
        <p:nvSpPr>
          <p:cNvPr id="7" name="TextBox 6"/>
          <p:cNvSpPr txBox="1"/>
          <p:nvPr/>
        </p:nvSpPr>
        <p:spPr>
          <a:xfrm>
            <a:off x="457200" y="1809597"/>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h/e</a:t>
            </a:r>
          </a:p>
        </p:txBody>
      </p:sp>
      <p:sp>
        <p:nvSpPr>
          <p:cNvPr id="8" name="TextBox 7"/>
          <p:cNvSpPr txBox="1"/>
          <p:nvPr/>
        </p:nvSpPr>
        <p:spPr>
          <a:xfrm>
            <a:off x="3321558" y="1809597"/>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e/h</a:t>
            </a:r>
          </a:p>
        </p:txBody>
      </p:sp>
      <p:sp>
        <p:nvSpPr>
          <p:cNvPr id="9" name="TextBox 8"/>
          <p:cNvSpPr txBox="1"/>
          <p:nvPr/>
        </p:nvSpPr>
        <p:spPr>
          <a:xfrm>
            <a:off x="6185916" y="1809597"/>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e</a:t>
            </a:r>
          </a:p>
        </p:txBody>
      </p:sp>
      <p:sp>
        <p:nvSpPr>
          <p:cNvPr id="10" name="TextBox 9"/>
          <p:cNvSpPr txBox="1"/>
          <p:nvPr/>
        </p:nvSpPr>
        <p:spPr>
          <a:xfrm>
            <a:off x="9050274" y="1809597"/>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h</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923544"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58952" cy="402336"/>
          </a:xfrm>
          <a:prstGeom prst="rect">
            <a:avLst/>
          </a:prstGeom>
          <a:noFill/>
        </p:spPr>
        <p:txBody>
          <a:bodyPr wrap="none" anchor="ctr" lIns="0" rIns="0" tIns="0" bIns="0">
            <a:spAutoFit/>
          </a:bodyPr>
          <a:lstStyle/>
          <a:p>
            <a:pPr algn="l"/>
            <a:r>
              <a:rPr sz="1500" b="1">
                <a:solidFill>
                  <a:srgbClr val="FAD02C"/>
                </a:solidFill>
                <a:latin typeface="Arial"/>
              </a:rPr>
              <a:t>2025-2</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r>
              <a:rPr sz="1800" b="1">
                <a:solidFill>
                  <a:srgbClr val="FAD02C"/>
                </a:solidFill>
                <a:latin typeface="Arial"/>
              </a:rPr>
              <a:t>Emission of electrons from a metal surface by heating is called as</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Photo-electric emission</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Secondary emission</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Field emission</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Thermionic emission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2025-1</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608990"/>
          </a:xfrm>
          <a:prstGeom prst="rect">
            <a:avLst/>
          </a:prstGeom>
          <a:noFill/>
        </p:spPr>
        <p:txBody>
          <a:bodyPr wrap="square" lIns="0" rIns="0" tIns="0" bIns="0">
            <a:spAutoFit/>
          </a:bodyPr>
          <a:lstStyle/>
          <a:p>
            <a:pPr algn="l"/>
            <a:r>
              <a:rPr sz="1800" b="1">
                <a:solidFill>
                  <a:srgbClr val="FAD02C"/>
                </a:solidFill>
                <a:latin typeface="Arial"/>
              </a:rPr>
              <a:t>A ball is dropped from a certain height and it falls freely under gravity. During the fall, the de Broglie wavelength associated with it</a:t>
            </a:r>
          </a:p>
        </p:txBody>
      </p:sp>
      <p:sp>
        <p:nvSpPr>
          <p:cNvPr id="7" name="TextBox 6"/>
          <p:cNvSpPr txBox="1"/>
          <p:nvPr/>
        </p:nvSpPr>
        <p:spPr>
          <a:xfrm>
            <a:off x="457200" y="1505102"/>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keeps increasing</a:t>
            </a:r>
          </a:p>
        </p:txBody>
      </p:sp>
      <p:sp>
        <p:nvSpPr>
          <p:cNvPr id="8" name="TextBox 7"/>
          <p:cNvSpPr txBox="1"/>
          <p:nvPr/>
        </p:nvSpPr>
        <p:spPr>
          <a:xfrm>
            <a:off x="3321558" y="1505102"/>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keeps decreasing</a:t>
            </a:r>
          </a:p>
        </p:txBody>
      </p:sp>
      <p:sp>
        <p:nvSpPr>
          <p:cNvPr id="9" name="TextBox 8"/>
          <p:cNvSpPr txBox="1"/>
          <p:nvPr/>
        </p:nvSpPr>
        <p:spPr>
          <a:xfrm>
            <a:off x="6185916" y="1505102"/>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is zero</a:t>
            </a:r>
          </a:p>
        </p:txBody>
      </p:sp>
      <p:sp>
        <p:nvSpPr>
          <p:cNvPr id="10" name="TextBox 9"/>
          <p:cNvSpPr txBox="1"/>
          <p:nvPr/>
        </p:nvSpPr>
        <p:spPr>
          <a:xfrm>
            <a:off x="9050274" y="1505102"/>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may increase or decrease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2026-1</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608990"/>
          </a:xfrm>
          <a:prstGeom prst="rect">
            <a:avLst/>
          </a:prstGeom>
          <a:noFill/>
        </p:spPr>
        <p:txBody>
          <a:bodyPr wrap="square" lIns="0" rIns="0" tIns="0" bIns="0">
            <a:spAutoFit/>
          </a:bodyPr>
          <a:lstStyle/>
          <a:p>
            <a:pPr algn="l">
              <a:defRPr sz="1800" b="1">
                <a:solidFill>
                  <a:srgbClr val="FAD02C"/>
                </a:solidFill>
                <a:latin typeface="Arial"/>
              </a:defRPr>
            </a:pPr>
            <a:r>
              <a:rPr lang="en-US" sz="1800" b="1">
                <a:solidFill>
                  <a:srgbClr val="FAD02C"/>
                </a:solidFill>
                <a:latin typeface="Arial"/>
              </a:rPr>
              <a:t>An</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α</m:t>
                    </m:r>
                  </m:oMath>
                </a14:m>
              </mc:Choice>
            </mc:AlternateContent>
            <a:r>
              <a:rPr lang="en-US" sz="1800" b="1">
                <a:solidFill>
                  <a:srgbClr val="FAD02C"/>
                </a:solidFill>
                <a:latin typeface="Arial"/>
              </a:rPr>
              <a:t>-particle, a proton, an electron and a neutron are moving with the same velocity. Then the particle having longest de Broglie wavelength is</a:t>
            </a:r>
          </a:p>
        </p:txBody>
      </p:sp>
      <p:sp>
        <p:nvSpPr>
          <p:cNvPr id="7" name="TextBox 6"/>
          <p:cNvSpPr txBox="1"/>
          <p:nvPr/>
        </p:nvSpPr>
        <p:spPr>
          <a:xfrm>
            <a:off x="457200" y="1505102"/>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proton.</a:t>
            </a:r>
          </a:p>
        </p:txBody>
      </p:sp>
      <p:sp>
        <p:nvSpPr>
          <p:cNvPr id="8" name="TextBox 7"/>
          <p:cNvSpPr txBox="1"/>
          <p:nvPr/>
        </p:nvSpPr>
        <p:spPr>
          <a:xfrm>
            <a:off x="3321558" y="1505102"/>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electron.</a:t>
            </a:r>
          </a:p>
        </p:txBody>
      </p:sp>
      <p:sp>
        <p:nvSpPr>
          <p:cNvPr id="9" name="TextBox 8"/>
          <p:cNvSpPr txBox="1"/>
          <p:nvPr/>
        </p:nvSpPr>
        <p:spPr>
          <a:xfrm>
            <a:off x="6185916" y="1505102"/>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neutron.</a:t>
            </a:r>
          </a:p>
        </p:txBody>
      </p:sp>
      <p:sp>
        <p:nvSpPr>
          <p:cNvPr id="10" name="TextBox 9"/>
          <p:cNvSpPr txBox="1"/>
          <p:nvPr/>
        </p:nvSpPr>
        <p:spPr>
          <a:xfrm>
            <a:off x="9050274" y="1505102"/>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D. </a:t>
            </a:r>
            <mc:AlternateContent xmlns:mc="http://schemas.openxmlformats.org/markup-compatibility/2006" xmlns:a14="http://schemas.microsoft.com/office/drawing/2010/main">
              <mc:Choice Requires="a14">
                <a14:m>
                  <m:oMath xmlns:m="http://schemas.openxmlformats.org/officeDocument/2006/math">
                    <m:r>
                      <m:t>α</m:t>
                    </m:r>
                  </m:oMath>
                </a14:m>
              </mc:Choice>
            </mc:AlternateContent>
            <a:r>
              <a:rPr lang="en-US" sz="1600">
                <a:solidFill>
                  <a:srgbClr val="F0F0F0"/>
                </a:solidFill>
                <a:latin typeface="Arial"/>
              </a:rPr>
              <a:t>-particle.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923544"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58952" cy="402336"/>
          </a:xfrm>
          <a:prstGeom prst="rect">
            <a:avLst/>
          </a:prstGeom>
          <a:noFill/>
        </p:spPr>
        <p:txBody>
          <a:bodyPr wrap="none" anchor="ctr" lIns="0" rIns="0" tIns="0" bIns="0">
            <a:spAutoFit/>
          </a:bodyPr>
          <a:lstStyle/>
          <a:p>
            <a:pPr algn="l"/>
            <a:r>
              <a:rPr sz="1500" b="1">
                <a:solidFill>
                  <a:srgbClr val="FAD02C"/>
                </a:solidFill>
                <a:latin typeface="Arial"/>
              </a:rPr>
              <a:t>2026-2</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608990"/>
          </a:xfrm>
          <a:prstGeom prst="rect">
            <a:avLst/>
          </a:prstGeom>
          <a:noFill/>
        </p:spPr>
        <p:txBody>
          <a:bodyPr wrap="square" lIns="0" rIns="0" tIns="0" bIns="0">
            <a:spAutoFit/>
          </a:bodyPr>
          <a:lstStyle/>
          <a:p>
            <a:pPr algn="l">
              <a:defRPr sz="1800" b="1">
                <a:solidFill>
                  <a:srgbClr val="FAD02C"/>
                </a:solidFill>
                <a:latin typeface="Arial"/>
              </a:defRPr>
            </a:pPr>
            <a:r>
              <a:rPr lang="en-US" sz="1800" b="1">
                <a:solidFill>
                  <a:srgbClr val="FAD02C"/>
                </a:solidFill>
                <a:latin typeface="Arial"/>
              </a:rPr>
              <a:t>An</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α</m:t>
                    </m:r>
                  </m:oMath>
                </a14:m>
              </mc:Choice>
            </mc:AlternateContent>
            <a:r>
              <a:rPr lang="en-US" sz="1800" b="1">
                <a:solidFill>
                  <a:srgbClr val="FAD02C"/>
                </a:solidFill>
                <a:latin typeface="Arial"/>
              </a:rPr>
              <a:t>-particle, a proton, an electron and a neutron are moving with the same speed. Then the particle having shortest de Broglie wavelength is</a:t>
            </a:r>
          </a:p>
        </p:txBody>
      </p:sp>
      <p:sp>
        <p:nvSpPr>
          <p:cNvPr id="7" name="TextBox 6"/>
          <p:cNvSpPr txBox="1"/>
          <p:nvPr/>
        </p:nvSpPr>
        <p:spPr>
          <a:xfrm>
            <a:off x="457200" y="1505102"/>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proton.</a:t>
            </a:r>
          </a:p>
        </p:txBody>
      </p:sp>
      <p:sp>
        <p:nvSpPr>
          <p:cNvPr id="8" name="TextBox 7"/>
          <p:cNvSpPr txBox="1"/>
          <p:nvPr/>
        </p:nvSpPr>
        <p:spPr>
          <a:xfrm>
            <a:off x="3321558" y="1505102"/>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electron.</a:t>
            </a:r>
          </a:p>
        </p:txBody>
      </p:sp>
      <p:sp>
        <p:nvSpPr>
          <p:cNvPr id="9" name="TextBox 8"/>
          <p:cNvSpPr txBox="1"/>
          <p:nvPr/>
        </p:nvSpPr>
        <p:spPr>
          <a:xfrm>
            <a:off x="6185916" y="1505102"/>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neutron.</a:t>
            </a:r>
          </a:p>
        </p:txBody>
      </p:sp>
      <p:sp>
        <p:nvSpPr>
          <p:cNvPr id="10" name="TextBox 9"/>
          <p:cNvSpPr txBox="1"/>
          <p:nvPr/>
        </p:nvSpPr>
        <p:spPr>
          <a:xfrm>
            <a:off x="9050274" y="1505102"/>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D. </a:t>
            </a:r>
            <mc:AlternateContent xmlns:mc="http://schemas.openxmlformats.org/markup-compatibility/2006" xmlns:a14="http://schemas.microsoft.com/office/drawing/2010/main">
              <mc:Choice Requires="a14">
                <a14:m>
                  <m:oMath xmlns:m="http://schemas.openxmlformats.org/officeDocument/2006/math">
                    <m:r>
                      <m:t>α</m:t>
                    </m:r>
                  </m:oMath>
                </a14:m>
              </mc:Choice>
            </mc:AlternateContent>
            <a:r>
              <a:rPr lang="en-US" sz="1600">
                <a:solidFill>
                  <a:srgbClr val="F0F0F0"/>
                </a:solidFill>
                <a:latin typeface="Arial"/>
              </a:rPr>
              <a:t>-particle.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1545336"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1380744" cy="402336"/>
          </a:xfrm>
          <a:prstGeom prst="rect">
            <a:avLst/>
          </a:prstGeom>
          <a:noFill/>
        </p:spPr>
        <p:txBody>
          <a:bodyPr wrap="none" anchor="ctr" lIns="0" rIns="0" tIns="0" bIns="0">
            <a:spAutoFit/>
          </a:bodyPr>
          <a:lstStyle/>
          <a:p>
            <a:pPr algn="l"/>
            <a:r>
              <a:rPr sz="1500" b="1">
                <a:solidFill>
                  <a:srgbClr val="FAD02C"/>
                </a:solidFill>
                <a:latin typeface="Arial"/>
              </a:rPr>
              <a:t>2025-3,2026-1</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r>
              <a:rPr sz="1800" b="1">
                <a:solidFill>
                  <a:srgbClr val="FAD02C"/>
                </a:solidFill>
                <a:latin typeface="Arial"/>
              </a:rPr>
              <a:t>In interaction of radiation with matter, radiation behaves as if it is made up of packet of energy called ______.</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2025-1</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r>
              <a:rPr sz="1800" b="1">
                <a:solidFill>
                  <a:srgbClr val="FAD02C"/>
                </a:solidFill>
                <a:latin typeface="Arial"/>
              </a:rPr>
              <a:t>Photoelectric effect is a/an _____________ effect.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923544"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58952" cy="402336"/>
          </a:xfrm>
          <a:prstGeom prst="rect">
            <a:avLst/>
          </a:prstGeom>
          <a:noFill/>
        </p:spPr>
        <p:txBody>
          <a:bodyPr wrap="none" anchor="ctr" lIns="0" rIns="0" tIns="0" bIns="0">
            <a:spAutoFit/>
          </a:bodyPr>
          <a:lstStyle/>
          <a:p>
            <a:pPr algn="l"/>
            <a:r>
              <a:rPr sz="1500" b="1">
                <a:solidFill>
                  <a:srgbClr val="FAD02C"/>
                </a:solidFill>
                <a:latin typeface="Arial"/>
              </a:rPr>
              <a:t>2026-2</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r>
              <a:rPr sz="1800" b="1">
                <a:solidFill>
                  <a:srgbClr val="FAD02C"/>
                </a:solidFill>
                <a:latin typeface="Arial"/>
              </a:rPr>
              <a:t>The tiny packet of energy of light is called ________.</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722376"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557784" cy="402336"/>
          </a:xfrm>
          <a:prstGeom prst="rect">
            <a:avLst/>
          </a:prstGeom>
          <a:noFill/>
        </p:spPr>
        <p:txBody>
          <a:bodyPr wrap="none" anchor="ctr" lIns="0" rIns="0" tIns="0" bIns="0">
            <a:spAutoFit/>
          </a:bodyPr>
          <a:lstStyle/>
          <a:p>
            <a:pPr algn="l"/>
            <a:r>
              <a:rPr sz="1500" b="1">
                <a:solidFill>
                  <a:srgbClr val="FAD02C"/>
                </a:solidFill>
                <a:latin typeface="Arial"/>
              </a:rPr>
              <a:t>2015</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defRPr sz="1800" b="1">
                <a:solidFill>
                  <a:srgbClr val="FAD02C"/>
                </a:solidFill>
                <a:latin typeface="Arial"/>
              </a:defRPr>
            </a:pPr>
            <a:r>
              <a:rPr lang="en-US" sz="1800" b="1">
                <a:solidFill>
                  <a:srgbClr val="FAD02C"/>
                </a:solidFill>
                <a:latin typeface="Arial"/>
              </a:rPr>
              <a:t>What is the conclusion of Davison and Germar</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rPr>
                        <m:sty m:val="p"/>
                      </m:rPr>
                      <m:t>exp</m:t>
                    </m:r>
                    <m:r>
                      <m:t>e</m:t>
                    </m:r>
                    <m:r>
                      <m:t>r</m:t>
                    </m:r>
                    <m:r>
                      <m:t>i</m:t>
                    </m:r>
                    <m:r>
                      <m:t>m</m:t>
                    </m:r>
                    <m:r>
                      <m:t>e</m:t>
                    </m:r>
                    <m:r>
                      <m:t>n</m:t>
                    </m:r>
                    <m:r>
                      <m:t>t</m:t>
                    </m:r>
                  </m:oMath>
                </a14:m>
              </mc:Choice>
            </mc:AlternateContent>
            <a:r>
              <a:rPr lang="en-US" sz="1800" b="1">
                <a:solidFill>
                  <a:srgbClr val="FAD02C"/>
                </a:solidFill>
                <a:latin typeface="Arial"/>
              </a:rPr>
              <a:t> </a:t>
            </a:r>
            <a:r>
              <a:rPr lang="en-US" sz="1800" b="1">
                <a:solidFill>
                  <a:srgbClr val="FAD02C"/>
                </a:solidFill>
                <a:latin typeface="Arial"/>
              </a:rPr>
              <a:t>on the nature of electron?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722376"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557784" cy="402336"/>
          </a:xfrm>
          <a:prstGeom prst="rect">
            <a:avLst/>
          </a:prstGeom>
          <a:noFill/>
        </p:spPr>
        <p:txBody>
          <a:bodyPr wrap="none" anchor="ctr" lIns="0" rIns="0" tIns="0" bIns="0">
            <a:spAutoFit/>
          </a:bodyPr>
          <a:lstStyle/>
          <a:p>
            <a:pPr algn="l"/>
            <a:r>
              <a:rPr sz="1500" b="1">
                <a:solidFill>
                  <a:srgbClr val="FAD02C"/>
                </a:solidFill>
                <a:latin typeface="Arial"/>
              </a:rPr>
              <a:t>2019</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r>
              <a:rPr sz="1800" b="1">
                <a:solidFill>
                  <a:srgbClr val="FAD02C"/>
                </a:solidFill>
                <a:latin typeface="Arial"/>
              </a:rPr>
              <a:t>Mention any one type of electron emission.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22960"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658368" cy="402336"/>
          </a:xfrm>
          <a:prstGeom prst="rect">
            <a:avLst/>
          </a:prstGeom>
          <a:noFill/>
        </p:spPr>
        <p:txBody>
          <a:bodyPr wrap="none" anchor="ctr" lIns="0" rIns="0" tIns="0" bIns="0">
            <a:spAutoFit/>
          </a:bodyPr>
          <a:lstStyle/>
          <a:p>
            <a:pPr algn="l"/>
            <a:r>
              <a:rPr sz="1500" b="1">
                <a:solidFill>
                  <a:srgbClr val="FAD02C"/>
                </a:solidFill>
                <a:latin typeface="Arial"/>
              </a:rPr>
              <a:t>2019S</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r>
              <a:rPr sz="1800" b="1">
                <a:solidFill>
                  <a:srgbClr val="FAD02C"/>
                </a:solidFill>
                <a:latin typeface="Arial"/>
              </a:rPr>
              <a:t>What is the rest mass of photon?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50392"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685800" cy="402336"/>
          </a:xfrm>
          <a:prstGeom prst="rect">
            <a:avLst/>
          </a:prstGeom>
          <a:noFill/>
        </p:spPr>
        <p:txBody>
          <a:bodyPr wrap="none" anchor="ctr" lIns="0" rIns="0" tIns="0" bIns="0">
            <a:spAutoFit/>
          </a:bodyPr>
          <a:lstStyle/>
          <a:p>
            <a:pPr algn="l"/>
            <a:r>
              <a:rPr sz="1500" b="1">
                <a:solidFill>
                  <a:srgbClr val="FAD02C"/>
                </a:solidFill>
                <a:latin typeface="Arial"/>
              </a:rPr>
              <a:t>2021M</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r>
              <a:rPr sz="1800" b="1">
                <a:solidFill>
                  <a:srgbClr val="FAD02C"/>
                </a:solidFill>
                <a:latin typeface="Arial"/>
              </a:rPr>
              <a:t>How does the stopping potential of a photosensitive material vary with intensity of incident radiation?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50392"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685800" cy="402336"/>
          </a:xfrm>
          <a:prstGeom prst="rect">
            <a:avLst/>
          </a:prstGeom>
          <a:noFill/>
        </p:spPr>
        <p:txBody>
          <a:bodyPr wrap="none" anchor="ctr" lIns="0" rIns="0" tIns="0" bIns="0">
            <a:spAutoFit/>
          </a:bodyPr>
          <a:lstStyle/>
          <a:p>
            <a:pPr algn="l"/>
            <a:r>
              <a:rPr sz="1500" b="1">
                <a:solidFill>
                  <a:srgbClr val="FAD02C"/>
                </a:solidFill>
                <a:latin typeface="Arial"/>
              </a:rPr>
              <a:t>2021M</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defRPr sz="1800" b="1">
                <a:solidFill>
                  <a:srgbClr val="FAD02C"/>
                </a:solidFill>
                <a:latin typeface="Arial"/>
              </a:defRPr>
            </a:pPr>
            <a:r>
              <a:rPr lang="en-US" sz="1800" b="1">
                <a:solidFill>
                  <a:srgbClr val="FAD02C"/>
                </a:solidFill>
                <a:latin typeface="Arial"/>
              </a:rPr>
              <a:t>Write the</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rPr>
                        <m:sty m:val="p"/>
                      </m:rPr>
                      <m:t>exp</m:t>
                    </m:r>
                    <m:r>
                      <m:t>r</m:t>
                    </m:r>
                    <m:r>
                      <m:t>e</m:t>
                    </m:r>
                    <m:r>
                      <m:t>s</m:t>
                    </m:r>
                    <m:r>
                      <m:t>s</m:t>
                    </m:r>
                    <m:r>
                      <m:t>i</m:t>
                    </m:r>
                    <m:r>
                      <m:t>o</m:t>
                    </m:r>
                    <m:r>
                      <m:t>n</m:t>
                    </m:r>
                  </m:oMath>
                </a14:m>
              </mc:Choice>
            </mc:AlternateContent>
            <a:r>
              <a:rPr lang="en-US" sz="1800" b="1">
                <a:solidFill>
                  <a:srgbClr val="FAD02C"/>
                </a:solidFill>
                <a:latin typeface="Arial"/>
              </a:rPr>
              <a:t> </a:t>
            </a:r>
            <a:r>
              <a:rPr lang="en-US" sz="1800" b="1">
                <a:solidFill>
                  <a:srgbClr val="FAD02C"/>
                </a:solidFill>
                <a:latin typeface="Arial"/>
              </a:rPr>
              <a:t>for the de Broglie wavelength of a particle of mass m moving with a speed v.</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722376"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557784" cy="402336"/>
          </a:xfrm>
          <a:prstGeom prst="rect">
            <a:avLst/>
          </a:prstGeom>
          <a:noFill/>
        </p:spPr>
        <p:txBody>
          <a:bodyPr wrap="none" anchor="ctr" lIns="0" rIns="0" tIns="0" bIns="0">
            <a:spAutoFit/>
          </a:bodyPr>
          <a:lstStyle/>
          <a:p>
            <a:pPr algn="l"/>
            <a:r>
              <a:rPr sz="1500" b="1">
                <a:solidFill>
                  <a:srgbClr val="FAD02C"/>
                </a:solidFill>
                <a:latin typeface="Arial"/>
              </a:rPr>
              <a:t>2014</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r>
              <a:rPr sz="1800" b="1">
                <a:solidFill>
                  <a:srgbClr val="FAD02C"/>
                </a:solidFill>
                <a:latin typeface="Arial"/>
              </a:rPr>
              <a:t>Write any two types of electron emission?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722376"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557784" cy="402336"/>
          </a:xfrm>
          <a:prstGeom prst="rect">
            <a:avLst/>
          </a:prstGeom>
          <a:noFill/>
        </p:spPr>
        <p:txBody>
          <a:bodyPr wrap="none" anchor="ctr" lIns="0" rIns="0" tIns="0" bIns="0">
            <a:spAutoFit/>
          </a:bodyPr>
          <a:lstStyle/>
          <a:p>
            <a:pPr algn="l"/>
            <a:r>
              <a:rPr sz="1500" b="1">
                <a:solidFill>
                  <a:srgbClr val="FAD02C"/>
                </a:solidFill>
                <a:latin typeface="Arial"/>
              </a:rPr>
              <a:t>2015</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r>
              <a:rPr sz="1800" b="1">
                <a:solidFill>
                  <a:srgbClr val="FAD02C"/>
                </a:solidFill>
                <a:latin typeface="Arial"/>
              </a:rPr>
              <a:t>Mention two applications of infrared radiation.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22960"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658368" cy="402336"/>
          </a:xfrm>
          <a:prstGeom prst="rect">
            <a:avLst/>
          </a:prstGeom>
          <a:noFill/>
        </p:spPr>
        <p:txBody>
          <a:bodyPr wrap="none" anchor="ctr" lIns="0" rIns="0" tIns="0" bIns="0">
            <a:spAutoFit/>
          </a:bodyPr>
          <a:lstStyle/>
          <a:p>
            <a:pPr algn="l"/>
            <a:r>
              <a:rPr sz="1500" b="1">
                <a:solidFill>
                  <a:srgbClr val="FAD02C"/>
                </a:solidFill>
                <a:latin typeface="Arial"/>
              </a:rPr>
              <a:t>2016S</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r>
              <a:rPr sz="1800" b="1">
                <a:solidFill>
                  <a:srgbClr val="FAD02C"/>
                </a:solidFill>
                <a:latin typeface="Arial"/>
              </a:rPr>
              <a:t>Define:
Photoelectric work function
Electron volt(ev)</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22960"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658368" cy="402336"/>
          </a:xfrm>
          <a:prstGeom prst="rect">
            <a:avLst/>
          </a:prstGeom>
          <a:noFill/>
        </p:spPr>
        <p:txBody>
          <a:bodyPr wrap="none" anchor="ctr" lIns="0" rIns="0" tIns="0" bIns="0">
            <a:spAutoFit/>
          </a:bodyPr>
          <a:lstStyle/>
          <a:p>
            <a:pPr algn="l"/>
            <a:r>
              <a:rPr sz="1500" b="1">
                <a:solidFill>
                  <a:srgbClr val="FAD02C"/>
                </a:solidFill>
                <a:latin typeface="Arial"/>
              </a:rPr>
              <a:t>2017S</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r>
              <a:rPr sz="1800" b="1">
                <a:solidFill>
                  <a:srgbClr val="FAD02C"/>
                </a:solidFill>
                <a:latin typeface="Arial"/>
              </a:rPr>
              <a:t>What are De-Broglie Waves? How does the De-Broglie wavelength vary with momentum of moving particle?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722376"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557784" cy="402336"/>
          </a:xfrm>
          <a:prstGeom prst="rect">
            <a:avLst/>
          </a:prstGeom>
          <a:noFill/>
        </p:spPr>
        <p:txBody>
          <a:bodyPr wrap="none" anchor="ctr" lIns="0" rIns="0" tIns="0" bIns="0">
            <a:spAutoFit/>
          </a:bodyPr>
          <a:lstStyle/>
          <a:p>
            <a:pPr algn="l"/>
            <a:r>
              <a:rPr sz="1500" b="1">
                <a:solidFill>
                  <a:srgbClr val="FAD02C"/>
                </a:solidFill>
                <a:latin typeface="Arial"/>
              </a:rPr>
              <a:t>2019</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defRPr sz="1800" b="1">
                <a:solidFill>
                  <a:srgbClr val="FAD02C"/>
                </a:solidFill>
                <a:latin typeface="Arial"/>
              </a:defRPr>
            </a:pPr>
            <a:r>
              <a:rPr lang="en-US" sz="1800" b="1">
                <a:solidFill>
                  <a:srgbClr val="FAD02C"/>
                </a:solidFill>
                <a:latin typeface="Arial"/>
              </a:rPr>
              <a:t>Write the</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rPr>
                        <m:sty m:val="p"/>
                      </m:rPr>
                      <m:t>exp</m:t>
                    </m:r>
                    <m:r>
                      <m:t>r</m:t>
                    </m:r>
                    <m:r>
                      <m:t>e</m:t>
                    </m:r>
                    <m:r>
                      <m:t>s</m:t>
                    </m:r>
                    <m:r>
                      <m:t>s</m:t>
                    </m:r>
                    <m:r>
                      <m:t>i</m:t>
                    </m:r>
                    <m:r>
                      <m:t>o</m:t>
                    </m:r>
                    <m:r>
                      <m:t>n</m:t>
                    </m:r>
                  </m:oMath>
                </a14:m>
              </mc:Choice>
            </mc:AlternateContent>
            <a:r>
              <a:rPr lang="en-US" sz="1800" b="1">
                <a:solidFill>
                  <a:srgbClr val="FAD02C"/>
                </a:solidFill>
                <a:latin typeface="Arial"/>
              </a:rPr>
              <a:t> </a:t>
            </a:r>
            <a:r>
              <a:rPr lang="en-US" sz="1800" b="1">
                <a:solidFill>
                  <a:srgbClr val="FAD02C"/>
                </a:solidFill>
                <a:latin typeface="Arial"/>
              </a:rPr>
              <a:t>for de-Broglie wave length of electrons in terms of electric potential and</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rPr>
                        <m:sty m:val="p"/>
                      </m:rPr>
                      <m:t>exp</m:t>
                    </m:r>
                    <m:r>
                      <m:t>l</m:t>
                    </m:r>
                    <m:r>
                      <m:t>a</m:t>
                    </m:r>
                    <m:r>
                      <m:t>i</m:t>
                    </m:r>
                    <m:r>
                      <m:t>n</m:t>
                    </m:r>
                  </m:oMath>
                </a14:m>
              </mc:Choice>
            </mc:AlternateContent>
            <a:r>
              <a:rPr lang="en-US" sz="1800" b="1">
                <a:solidFill>
                  <a:srgbClr val="FAD02C"/>
                </a:solidFill>
                <a:latin typeface="Arial"/>
              </a:rPr>
              <a:t> </a:t>
            </a:r>
            <a:r>
              <a:rPr lang="en-US" sz="1800" b="1">
                <a:solidFill>
                  <a:srgbClr val="FAD02C"/>
                </a:solidFill>
                <a:latin typeface="Arial"/>
              </a:rPr>
              <a:t>the terms used.</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758952"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594359" cy="402336"/>
          </a:xfrm>
          <a:prstGeom prst="rect">
            <a:avLst/>
          </a:prstGeom>
          <a:noFill/>
        </p:spPr>
        <p:txBody>
          <a:bodyPr wrap="none" anchor="ctr" lIns="0" rIns="0" tIns="0" bIns="0">
            <a:spAutoFit/>
          </a:bodyPr>
          <a:lstStyle/>
          <a:p>
            <a:pPr algn="l"/>
            <a:r>
              <a:rPr sz="1500" b="1">
                <a:solidFill>
                  <a:srgbClr val="FAD02C"/>
                </a:solidFill>
                <a:latin typeface="Arial"/>
              </a:rPr>
              <a:t>2020</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r>
              <a:rPr sz="1800" b="1">
                <a:solidFill>
                  <a:srgbClr val="FAD02C"/>
                </a:solidFill>
                <a:latin typeface="Arial"/>
              </a:rPr>
              <a:t>An alpha particle, a proton and an electron are moving with equal kinetic energy. Which one of these particles has the longest de Broglie wavelength? Give reason.</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722376"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557784" cy="402336"/>
          </a:xfrm>
          <a:prstGeom prst="rect">
            <a:avLst/>
          </a:prstGeom>
          <a:noFill/>
        </p:spPr>
        <p:txBody>
          <a:bodyPr wrap="none" anchor="ctr" lIns="0" rIns="0" tIns="0" bIns="0">
            <a:spAutoFit/>
          </a:bodyPr>
          <a:lstStyle/>
          <a:p>
            <a:pPr algn="l"/>
            <a:r>
              <a:rPr sz="1500" b="1">
                <a:solidFill>
                  <a:srgbClr val="FAD02C"/>
                </a:solidFill>
                <a:latin typeface="Arial"/>
              </a:rPr>
              <a:t>2014</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r>
              <a:rPr sz="1800" b="1">
                <a:solidFill>
                  <a:srgbClr val="FAD02C"/>
                </a:solidFill>
                <a:latin typeface="Arial"/>
              </a:rPr>
              <a:t>Give three characteristics of photon.</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22960"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658368" cy="402336"/>
          </a:xfrm>
          <a:prstGeom prst="rect">
            <a:avLst/>
          </a:prstGeom>
          <a:noFill/>
        </p:spPr>
        <p:txBody>
          <a:bodyPr wrap="none" anchor="ctr" lIns="0" rIns="0" tIns="0" bIns="0">
            <a:spAutoFit/>
          </a:bodyPr>
          <a:lstStyle/>
          <a:p>
            <a:pPr algn="l"/>
            <a:r>
              <a:rPr sz="1500" b="1">
                <a:solidFill>
                  <a:srgbClr val="FAD02C"/>
                </a:solidFill>
                <a:latin typeface="Arial"/>
              </a:rPr>
              <a:t>2016S</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defRPr sz="1800" b="1">
                <a:solidFill>
                  <a:srgbClr val="FAD02C"/>
                </a:solidFill>
                <a:latin typeface="Arial"/>
              </a:defRPr>
            </a:pPr>
            <a:r>
              <a:rPr lang="en-US" sz="1800" b="1">
                <a:solidFill>
                  <a:srgbClr val="FAD02C"/>
                </a:solidFill>
                <a:latin typeface="Arial"/>
              </a:rPr>
              <a:t>What are matter waves? Write the</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rPr>
                        <m:sty m:val="p"/>
                      </m:rPr>
                      <m:t>exp</m:t>
                    </m:r>
                    <m:r>
                      <m:t>r</m:t>
                    </m:r>
                    <m:r>
                      <m:t>e</m:t>
                    </m:r>
                    <m:r>
                      <m:t>s</m:t>
                    </m:r>
                    <m:r>
                      <m:t>s</m:t>
                    </m:r>
                    <m:r>
                      <m:t>i</m:t>
                    </m:r>
                    <m:r>
                      <m:t>o</m:t>
                    </m:r>
                    <m:r>
                      <m:t>n</m:t>
                    </m:r>
                  </m:oMath>
                </a14:m>
              </mc:Choice>
            </mc:AlternateContent>
            <a:r>
              <a:rPr lang="en-US" sz="1800" b="1">
                <a:solidFill>
                  <a:srgbClr val="FAD02C"/>
                </a:solidFill>
                <a:latin typeface="Arial"/>
              </a:rPr>
              <a:t> </a:t>
            </a:r>
            <a:r>
              <a:rPr lang="en-US" sz="1800" b="1">
                <a:solidFill>
                  <a:srgbClr val="FAD02C"/>
                </a:solidFill>
                <a:latin typeface="Arial"/>
              </a:rPr>
              <a:t>for De-Broglie wavelength of a particle and</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rPr>
                        <m:sty m:val="p"/>
                      </m:rPr>
                      <m:t>exp</m:t>
                    </m:r>
                    <m:r>
                      <m:t>l</m:t>
                    </m:r>
                    <m:r>
                      <m:t>a</m:t>
                    </m:r>
                    <m:r>
                      <m:t>i</m:t>
                    </m:r>
                    <m:r>
                      <m:t>n</m:t>
                    </m:r>
                  </m:oMath>
                </a14:m>
              </mc:Choice>
            </mc:AlternateContent>
            <a:r>
              <a:rPr lang="en-US" sz="1800" b="1">
                <a:solidFill>
                  <a:srgbClr val="FAD02C"/>
                </a:solidFill>
                <a:latin typeface="Arial"/>
              </a:rPr>
              <a:t> </a:t>
            </a:r>
            <a:r>
              <a:rPr lang="en-US" sz="1800" b="1">
                <a:solidFill>
                  <a:srgbClr val="FAD02C"/>
                </a:solidFill>
                <a:latin typeface="Arial"/>
              </a:rPr>
              <a:t>the terms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2551176"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2386584" cy="402336"/>
          </a:xfrm>
          <a:prstGeom prst="rect">
            <a:avLst/>
          </a:prstGeom>
          <a:noFill/>
        </p:spPr>
        <p:txBody>
          <a:bodyPr wrap="none" anchor="ctr" lIns="0" rIns="0" tIns="0" bIns="0">
            <a:spAutoFit/>
          </a:bodyPr>
          <a:lstStyle/>
          <a:p>
            <a:pPr algn="l"/>
            <a:r>
              <a:rPr sz="1500" b="1">
                <a:solidFill>
                  <a:srgbClr val="FAD02C"/>
                </a:solidFill>
                <a:latin typeface="Arial"/>
              </a:rPr>
              <a:t>2016,2018S,2025-3,2026-1</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defRPr sz="1800" b="1">
                <a:solidFill>
                  <a:srgbClr val="FAD02C"/>
                </a:solidFill>
                <a:latin typeface="Arial"/>
              </a:defRPr>
            </a:pPr>
            <a:r>
              <a:rPr lang="en-US" sz="1800" b="1">
                <a:solidFill>
                  <a:srgbClr val="FAD02C"/>
                </a:solidFill>
                <a:latin typeface="Arial"/>
              </a:rPr>
              <a:t>Write the</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rPr>
                        <m:sty m:val="p"/>
                      </m:rPr>
                      <m:t>exp</m:t>
                    </m:r>
                    <m:r>
                      <m:t>e</m:t>
                    </m:r>
                    <m:r>
                      <m:t>r</m:t>
                    </m:r>
                    <m:r>
                      <m:t>i</m:t>
                    </m:r>
                    <m:r>
                      <m:t>m</m:t>
                    </m:r>
                    <m:r>
                      <m:t>e</m:t>
                    </m:r>
                    <m:r>
                      <m:t>n</m:t>
                    </m:r>
                    <m:r>
                      <m:t>t</m:t>
                    </m:r>
                    <m:r>
                      <m:t>a</m:t>
                    </m:r>
                    <m:r>
                      <m:t>l</m:t>
                    </m:r>
                  </m:oMath>
                </a14:m>
              </mc:Choice>
            </mc:AlternateContent>
            <a:r>
              <a:rPr lang="en-US" sz="1800" b="1">
                <a:solidFill>
                  <a:srgbClr val="FAD02C"/>
                </a:solidFill>
                <a:latin typeface="Arial"/>
              </a:rPr>
              <a:t> </a:t>
            </a:r>
            <a:r>
              <a:rPr lang="en-US" sz="1800" b="1">
                <a:solidFill>
                  <a:srgbClr val="FAD02C"/>
                </a:solidFill>
                <a:latin typeface="Arial"/>
              </a:rPr>
              <a:t>observations of photo electric effect.</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22960"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658368" cy="402336"/>
          </a:xfrm>
          <a:prstGeom prst="rect">
            <a:avLst/>
          </a:prstGeom>
          <a:noFill/>
        </p:spPr>
        <p:txBody>
          <a:bodyPr wrap="none" anchor="ctr" lIns="0" rIns="0" tIns="0" bIns="0">
            <a:spAutoFit/>
          </a:bodyPr>
          <a:lstStyle/>
          <a:p>
            <a:pPr algn="l"/>
            <a:r>
              <a:rPr sz="1500" b="1">
                <a:solidFill>
                  <a:srgbClr val="FAD02C"/>
                </a:solidFill>
                <a:latin typeface="Arial"/>
              </a:rPr>
              <a:t>2017S</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r>
              <a:rPr sz="1800" b="1">
                <a:solidFill>
                  <a:srgbClr val="FAD02C"/>
                </a:solidFill>
                <a:latin typeface="Arial"/>
              </a:rPr>
              <a:t>Define the terms: a) Threshold frequency b) Work function c) Stopping potential</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22960"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658368" cy="402336"/>
          </a:xfrm>
          <a:prstGeom prst="rect">
            <a:avLst/>
          </a:prstGeom>
          <a:noFill/>
        </p:spPr>
        <p:txBody>
          <a:bodyPr wrap="none" anchor="ctr" lIns="0" rIns="0" tIns="0" bIns="0">
            <a:spAutoFit/>
          </a:bodyPr>
          <a:lstStyle/>
          <a:p>
            <a:pPr algn="l"/>
            <a:r>
              <a:rPr sz="1500" b="1">
                <a:solidFill>
                  <a:srgbClr val="FAD02C"/>
                </a:solidFill>
                <a:latin typeface="Arial"/>
              </a:rPr>
              <a:t>2018S</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defRPr sz="1800" b="1">
                <a:solidFill>
                  <a:srgbClr val="FAD02C"/>
                </a:solidFill>
                <a:latin typeface="Arial"/>
              </a:defRPr>
            </a:pPr>
            <a:r>
              <a:rPr lang="en-US" sz="1800" b="1">
                <a:solidFill>
                  <a:srgbClr val="FAD02C"/>
                </a:solidFill>
                <a:latin typeface="Arial"/>
              </a:rPr>
              <a:t>Calculate de Broglie wavelength associated with an electron moving with a speed of 2</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rPr>
                        <m:sty m:val="p"/>
                      </m:rPr>
                      <m:t>×</m:t>
                    </m:r>
                    <m:r>
                      <m:t>105</m:t>
                    </m:r>
                    <m:r>
                      <m:t>m</m:t>
                    </m:r>
                    <m:sSup>
                      <m:e>
                        <m:r>
                          <m:t>s</m:t>
                        </m:r>
                      </m:e>
                      <m:sup>
                        <m:r>
                          <m:rPr>
                            <m:sty m:val="p"/>
                          </m:rPr>
                          <m:t>−</m:t>
                        </m:r>
                        <m:r>
                          <m:t>1</m:t>
                        </m:r>
                      </m:sup>
                    </m:sSup>
                    <m:r>
                      <m:rPr>
                        <m:sty m:val="p"/>
                      </m:rPr>
                      <m:t>.</m:t>
                    </m:r>
                  </m:oMath>
                </a14:m>
              </mc:Choice>
            </mc:AlternateContent>
            <a:r>
              <a:rPr lang="en-US" sz="1800" b="1">
                <a:solidFill>
                  <a:srgbClr val="FAD02C"/>
                </a:solidFill>
                <a:latin typeface="Arial"/>
              </a:rPr>
              <a:t> </a:t>
            </a:r>
            <a:r>
              <a:rPr lang="en-US" sz="1800" b="1">
                <a:solidFill>
                  <a:srgbClr val="FAD02C"/>
                </a:solidFill>
                <a:latin typeface="Arial"/>
              </a:rPr>
              <a:t>Given h = 6.625</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rPr>
                        <m:sty m:val="p"/>
                      </m:rPr>
                      <m:t>×</m:t>
                    </m:r>
                    <m:sSup>
                      <m:e>
                        <m:r>
                          <m:t>10</m:t>
                        </m:r>
                      </m:e>
                      <m:sup>
                        <m:r>
                          <m:rPr>
                            <m:sty m:val="p"/>
                          </m:rPr>
                          <m:t>−</m:t>
                        </m:r>
                        <m:r>
                          <m:t>34</m:t>
                        </m:r>
                      </m:sup>
                    </m:sSup>
                    <m:r>
                      <m:t>J</m:t>
                    </m:r>
                    <m:r>
                      <m:t>S</m:t>
                    </m:r>
                    <m:r>
                      <m:rPr>
                        <m:sty m:val="p"/>
                      </m:rPr>
                      <m:t>,</m:t>
                    </m:r>
                  </m:oMath>
                </a14:m>
              </mc:Choice>
            </mc:AlternateContent>
            <a:r>
              <a:rPr lang="en-US" sz="1800" b="1">
                <a:solidFill>
                  <a:srgbClr val="FAD02C"/>
                </a:solidFill>
                <a:latin typeface="Arial"/>
              </a:rPr>
              <a:t> </a:t>
            </a:r>
            <a:r>
              <a:rPr lang="en-US" sz="1800" b="1">
                <a:solidFill>
                  <a:srgbClr val="FAD02C"/>
                </a:solidFill>
                <a:latin typeface="Arial"/>
              </a:rPr>
              <a:t>m = 9.11</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rPr>
                        <m:sty m:val="p"/>
                      </m:rPr>
                      <m:t>×</m:t>
                    </m:r>
                    <m:sSup>
                      <m:e>
                        <m:r>
                          <m:t>10</m:t>
                        </m:r>
                      </m:e>
                      <m:sup>
                        <m:r>
                          <m:rPr>
                            <m:sty m:val="p"/>
                          </m:rPr>
                          <m:t>−</m:t>
                        </m:r>
                        <m:r>
                          <m:t>31</m:t>
                        </m:r>
                      </m:sup>
                    </m:sSup>
                  </m:oMath>
                </a14:m>
              </mc:Choice>
            </mc:AlternateContent>
            <a:r>
              <a:rPr lang="en-US" sz="1800" b="1">
                <a:solidFill>
                  <a:srgbClr val="FAD02C"/>
                </a:solidFill>
                <a:latin typeface="Arial"/>
              </a:rPr>
              <a:t> </a:t>
            </a:r>
            <a:r>
              <a:rPr lang="en-US" sz="1800" b="1">
                <a:solidFill>
                  <a:srgbClr val="FAD02C"/>
                </a:solidFill>
                <a:latin typeface="Arial"/>
              </a:rPr>
              <a:t>kg.</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1170432"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1005840" cy="402336"/>
          </a:xfrm>
          <a:prstGeom prst="rect">
            <a:avLst/>
          </a:prstGeom>
          <a:noFill/>
        </p:spPr>
        <p:txBody>
          <a:bodyPr wrap="none" anchor="ctr" lIns="0" rIns="0" tIns="0" bIns="0">
            <a:spAutoFit/>
          </a:bodyPr>
          <a:lstStyle/>
          <a:p>
            <a:pPr algn="l"/>
            <a:r>
              <a:rPr sz="1500" b="1">
                <a:solidFill>
                  <a:srgbClr val="FAD02C"/>
                </a:solidFill>
                <a:latin typeface="Arial"/>
              </a:rPr>
              <a:t>2017,2019</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defRPr sz="1800" b="1">
                <a:solidFill>
                  <a:srgbClr val="FAD02C"/>
                </a:solidFill>
                <a:latin typeface="Arial"/>
              </a:defRPr>
            </a:pPr>
            <a:r>
              <a:rPr lang="en-US" sz="1800" b="1">
                <a:solidFill>
                  <a:srgbClr val="FAD02C"/>
                </a:solidFill>
                <a:latin typeface="Arial"/>
              </a:rPr>
              <a:t>Write any three</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rPr>
                        <m:sty m:val="p"/>
                      </m:rPr>
                      <m:t>exp</m:t>
                    </m:r>
                    <m:r>
                      <m:t>e</m:t>
                    </m:r>
                    <m:r>
                      <m:t>r</m:t>
                    </m:r>
                    <m:r>
                      <m:t>i</m:t>
                    </m:r>
                    <m:r>
                      <m:t>m</m:t>
                    </m:r>
                    <m:r>
                      <m:t>e</m:t>
                    </m:r>
                    <m:r>
                      <m:t>n</m:t>
                    </m:r>
                    <m:r>
                      <m:t>t</m:t>
                    </m:r>
                    <m:r>
                      <m:t>a</m:t>
                    </m:r>
                    <m:r>
                      <m:t>l</m:t>
                    </m:r>
                  </m:oMath>
                </a14:m>
              </mc:Choice>
            </mc:AlternateContent>
            <a:r>
              <a:rPr lang="en-US" sz="1800" b="1">
                <a:solidFill>
                  <a:srgbClr val="FAD02C"/>
                </a:solidFill>
                <a:latin typeface="Arial"/>
              </a:rPr>
              <a:t> </a:t>
            </a:r>
            <a:r>
              <a:rPr lang="en-US" sz="1800" b="1">
                <a:solidFill>
                  <a:srgbClr val="FAD02C"/>
                </a:solidFill>
                <a:latin typeface="Arial"/>
              </a:rPr>
              <a:t>observations of photoelectric effect</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22960"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658368" cy="402336"/>
          </a:xfrm>
          <a:prstGeom prst="rect">
            <a:avLst/>
          </a:prstGeom>
          <a:noFill/>
        </p:spPr>
        <p:txBody>
          <a:bodyPr wrap="none" anchor="ctr" lIns="0" rIns="0" tIns="0" bIns="0">
            <a:spAutoFit/>
          </a:bodyPr>
          <a:lstStyle/>
          <a:p>
            <a:pPr algn="l"/>
            <a:r>
              <a:rPr sz="1500" b="1">
                <a:solidFill>
                  <a:srgbClr val="FAD02C"/>
                </a:solidFill>
                <a:latin typeface="Arial"/>
              </a:rPr>
              <a:t>2019S</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r>
              <a:rPr sz="1800" b="1">
                <a:solidFill>
                  <a:srgbClr val="FAD02C"/>
                </a:solidFill>
                <a:latin typeface="Arial"/>
              </a:rPr>
              <a:t>Name the three types of electron Emission.</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758952"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594359" cy="402336"/>
          </a:xfrm>
          <a:prstGeom prst="rect">
            <a:avLst/>
          </a:prstGeom>
          <a:noFill/>
        </p:spPr>
        <p:txBody>
          <a:bodyPr wrap="none" anchor="ctr" lIns="0" rIns="0" tIns="0" bIns="0">
            <a:spAutoFit/>
          </a:bodyPr>
          <a:lstStyle/>
          <a:p>
            <a:pPr algn="l"/>
            <a:r>
              <a:rPr sz="1500" b="1">
                <a:solidFill>
                  <a:srgbClr val="FAD02C"/>
                </a:solidFill>
                <a:latin typeface="Arial"/>
              </a:rPr>
              <a:t>2020</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defRPr sz="1800" b="1">
                <a:solidFill>
                  <a:srgbClr val="FAD02C"/>
                </a:solidFill>
                <a:latin typeface="Arial"/>
              </a:defRPr>
            </a:pPr>
            <a:r>
              <a:rPr lang="en-US" sz="1800" b="1">
                <a:solidFill>
                  <a:srgbClr val="FAD02C"/>
                </a:solidFill>
                <a:latin typeface="Arial"/>
              </a:rPr>
              <a:t>Define work function. Write Einstein’s photoelectric equation and</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rPr>
                        <m:sty m:val="p"/>
                      </m:rPr>
                      <m:t>exp</m:t>
                    </m:r>
                    <m:r>
                      <m:t>l</m:t>
                    </m:r>
                    <m:r>
                      <m:t>a</m:t>
                    </m:r>
                    <m:r>
                      <m:t>i</m:t>
                    </m:r>
                    <m:r>
                      <m:t>n</m:t>
                    </m:r>
                  </m:oMath>
                </a14:m>
              </mc:Choice>
            </mc:AlternateContent>
            <a:r>
              <a:rPr lang="en-US" sz="1800" b="1">
                <a:solidFill>
                  <a:srgbClr val="FAD02C"/>
                </a:solidFill>
                <a:latin typeface="Arial"/>
              </a:rPr>
              <a:t> </a:t>
            </a:r>
            <a:r>
              <a:rPr lang="en-US" sz="1800" b="1">
                <a:solidFill>
                  <a:srgbClr val="FAD02C"/>
                </a:solidFill>
                <a:latin typeface="Arial"/>
              </a:rPr>
              <a:t>the terms.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758952"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594359" cy="402336"/>
          </a:xfrm>
          <a:prstGeom prst="rect">
            <a:avLst/>
          </a:prstGeom>
          <a:noFill/>
        </p:spPr>
        <p:txBody>
          <a:bodyPr wrap="none" anchor="ctr" lIns="0" rIns="0" tIns="0" bIns="0">
            <a:spAutoFit/>
          </a:bodyPr>
          <a:lstStyle/>
          <a:p>
            <a:pPr algn="l"/>
            <a:r>
              <a:rPr sz="1500" b="1">
                <a:solidFill>
                  <a:srgbClr val="FAD02C"/>
                </a:solidFill>
                <a:latin typeface="Arial"/>
              </a:rPr>
              <a:t>2025</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defRPr sz="1800" b="1">
                <a:solidFill>
                  <a:srgbClr val="FAD02C"/>
                </a:solidFill>
                <a:latin typeface="Arial"/>
              </a:defRPr>
            </a:pPr>
            <a:r>
              <a:rPr lang="en-US" sz="1800" b="1">
                <a:solidFill>
                  <a:srgbClr val="FAD02C"/>
                </a:solidFill>
                <a:latin typeface="Arial"/>
              </a:rPr>
              <a:t>Deduce an</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rPr>
                        <m:sty m:val="p"/>
                      </m:rPr>
                      <m:t>exp</m:t>
                    </m:r>
                    <m:r>
                      <m:t>r</m:t>
                    </m:r>
                    <m:r>
                      <m:t>e</m:t>
                    </m:r>
                    <m:r>
                      <m:t>s</m:t>
                    </m:r>
                    <m:r>
                      <m:t>s</m:t>
                    </m:r>
                    <m:r>
                      <m:t>i</m:t>
                    </m:r>
                    <m:r>
                      <m:t>o</m:t>
                    </m:r>
                    <m:r>
                      <m:t>n</m:t>
                    </m:r>
                  </m:oMath>
                </a14:m>
              </mc:Choice>
            </mc:AlternateContent>
            <a:r>
              <a:rPr lang="en-US" sz="1800" b="1">
                <a:solidFill>
                  <a:srgbClr val="FAD02C"/>
                </a:solidFill>
                <a:latin typeface="Arial"/>
              </a:rPr>
              <a:t> </a:t>
            </a:r>
            <a:r>
              <a:rPr lang="en-US" sz="1800" b="1">
                <a:solidFill>
                  <a:srgbClr val="FAD02C"/>
                </a:solidFill>
                <a:latin typeface="Arial"/>
              </a:rPr>
              <a:t>for total energy of electron in an orbit of hydrogen atom in terms of radius of orbit.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1335024"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1170432" cy="402336"/>
          </a:xfrm>
          <a:prstGeom prst="rect">
            <a:avLst/>
          </a:prstGeom>
          <a:noFill/>
        </p:spPr>
        <p:txBody>
          <a:bodyPr wrap="none" anchor="ctr" lIns="0" rIns="0" tIns="0" bIns="0">
            <a:spAutoFit/>
          </a:bodyPr>
          <a:lstStyle/>
          <a:p>
            <a:pPr algn="l"/>
            <a:r>
              <a:rPr sz="1500" b="1">
                <a:solidFill>
                  <a:srgbClr val="FAD02C"/>
                </a:solidFill>
                <a:latin typeface="Arial"/>
              </a:rPr>
              <a:t>2015,2024-1</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defRPr sz="1800" b="1">
                <a:solidFill>
                  <a:srgbClr val="FAD02C"/>
                </a:solidFill>
                <a:latin typeface="Arial"/>
              </a:defRPr>
            </a:pPr>
            <a:r>
              <a:rPr lang="en-US" sz="1800" b="1">
                <a:solidFill>
                  <a:srgbClr val="FAD02C"/>
                </a:solidFill>
                <a:latin typeface="Arial"/>
              </a:rPr>
              <a:t>Write Einstein’s equation of photoelectric effect. Give Einstein’s</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rPr>
                        <m:sty m:val="p"/>
                      </m:rPr>
                      <m:t>exp</m:t>
                    </m:r>
                    <m:r>
                      <m:t>l</m:t>
                    </m:r>
                    <m:r>
                      <m:t>a</m:t>
                    </m:r>
                    <m:r>
                      <m:t>n</m:t>
                    </m:r>
                    <m:r>
                      <m:t>a</m:t>
                    </m:r>
                    <m:r>
                      <m:t>t</m:t>
                    </m:r>
                    <m:r>
                      <m:t>i</m:t>
                    </m:r>
                    <m:r>
                      <m:t>o</m:t>
                    </m:r>
                    <m:r>
                      <m:t>n</m:t>
                    </m:r>
                  </m:oMath>
                </a14:m>
              </mc:Choice>
            </mc:AlternateContent>
            <a:r>
              <a:rPr lang="en-US" sz="1800" b="1">
                <a:solidFill>
                  <a:srgbClr val="FAD02C"/>
                </a:solidFill>
                <a:latin typeface="Arial"/>
              </a:rPr>
              <a:t> </a:t>
            </a:r>
            <a:r>
              <a:rPr lang="en-US" sz="1800" b="1">
                <a:solidFill>
                  <a:srgbClr val="FAD02C"/>
                </a:solidFill>
                <a:latin typeface="Arial"/>
              </a:rPr>
              <a:t>of photoelectric effect.</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TextBox 2"/>
          <p:cNvSpPr txBox="1"/>
          <p:nvPr/>
        </p:nvSpPr>
        <p:spPr>
          <a:xfrm>
            <a:off x="457200" y="731520"/>
            <a:ext cx="11274552" cy="2743200"/>
          </a:xfrm>
          <a:prstGeom prst="rect">
            <a:avLst/>
          </a:prstGeom>
          <a:noFill/>
        </p:spPr>
        <p:txBody>
          <a:bodyPr wrap="square" lIns="0" rIns="0" tIns="0" bIns="0">
            <a:spAutoFit/>
          </a:bodyPr>
          <a:lstStyle/>
          <a:p>
            <a:pPr algn="l"/>
            <a:r>
              <a:rPr sz="1800" b="1">
                <a:solidFill>
                  <a:srgbClr val="FAD02C"/>
                </a:solidFill>
                <a:latin typeface="Arial"/>
              </a:rPr>
              <a:t>Explain Hallwach’s and Lenard’s observations on photoelectric effect.</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22960"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658368" cy="402336"/>
          </a:xfrm>
          <a:prstGeom prst="rect">
            <a:avLst/>
          </a:prstGeom>
          <a:noFill/>
        </p:spPr>
        <p:txBody>
          <a:bodyPr wrap="none" anchor="ctr" lIns="0" rIns="0" tIns="0" bIns="0">
            <a:spAutoFit/>
          </a:bodyPr>
          <a:lstStyle/>
          <a:p>
            <a:pPr algn="l"/>
            <a:r>
              <a:rPr sz="1500" b="1">
                <a:solidFill>
                  <a:srgbClr val="FAD02C"/>
                </a:solidFill>
                <a:latin typeface="Arial"/>
              </a:rPr>
              <a:t>2015S</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r>
              <a:rPr sz="1800" b="1">
                <a:solidFill>
                  <a:srgbClr val="FAD02C"/>
                </a:solidFill>
                <a:latin typeface="Arial"/>
              </a:rPr>
              <a:t>Define:
Work function
Threshold frequency
Stopping potential.</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722376"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557784" cy="402336"/>
          </a:xfrm>
          <a:prstGeom prst="rect">
            <a:avLst/>
          </a:prstGeom>
          <a:noFill/>
        </p:spPr>
        <p:txBody>
          <a:bodyPr wrap="none" anchor="ctr" lIns="0" rIns="0" tIns="0" bIns="0">
            <a:spAutoFit/>
          </a:bodyPr>
          <a:lstStyle/>
          <a:p>
            <a:pPr algn="l"/>
            <a:r>
              <a:rPr sz="1500" b="1">
                <a:solidFill>
                  <a:srgbClr val="FAD02C"/>
                </a:solidFill>
                <a:latin typeface="Arial"/>
              </a:rPr>
              <a:t>2016</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defRPr sz="1800" b="1">
                <a:solidFill>
                  <a:srgbClr val="FAD02C"/>
                </a:solidFill>
                <a:latin typeface="Arial"/>
              </a:defRPr>
            </a:pPr>
            <a:r>
              <a:rPr lang="en-US" sz="1800" b="1">
                <a:solidFill>
                  <a:srgbClr val="FAD02C"/>
                </a:solidFill>
                <a:latin typeface="Arial"/>
              </a:rPr>
              <a:t>Write the</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rPr>
                        <m:sty m:val="p"/>
                      </m:rPr>
                      <m:t>exp</m:t>
                    </m:r>
                    <m:r>
                      <m:t>e</m:t>
                    </m:r>
                    <m:r>
                      <m:t>r</m:t>
                    </m:r>
                    <m:r>
                      <m:t>i</m:t>
                    </m:r>
                    <m:r>
                      <m:t>m</m:t>
                    </m:r>
                    <m:r>
                      <m:t>e</m:t>
                    </m:r>
                    <m:r>
                      <m:t>n</m:t>
                    </m:r>
                    <m:r>
                      <m:t>t</m:t>
                    </m:r>
                    <m:r>
                      <m:t>a</m:t>
                    </m:r>
                    <m:r>
                      <m:t>l</m:t>
                    </m:r>
                  </m:oMath>
                </a14:m>
              </mc:Choice>
            </mc:AlternateContent>
            <a:r>
              <a:rPr lang="en-US" sz="1800" b="1">
                <a:solidFill>
                  <a:srgbClr val="FAD02C"/>
                </a:solidFill>
                <a:latin typeface="Arial"/>
              </a:rPr>
              <a:t> </a:t>
            </a:r>
            <a:r>
              <a:rPr lang="en-US" sz="1800" b="1">
                <a:solidFill>
                  <a:srgbClr val="FAD02C"/>
                </a:solidFill>
                <a:latin typeface="Arial"/>
              </a:rPr>
              <a:t>observations of photo electric effect.</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1417320"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1252728" cy="402336"/>
          </a:xfrm>
          <a:prstGeom prst="rect">
            <a:avLst/>
          </a:prstGeom>
          <a:noFill/>
        </p:spPr>
        <p:txBody>
          <a:bodyPr wrap="none" anchor="ctr" lIns="0" rIns="0" tIns="0" bIns="0">
            <a:spAutoFit/>
          </a:bodyPr>
          <a:lstStyle/>
          <a:p>
            <a:pPr algn="l"/>
            <a:r>
              <a:rPr sz="1500" b="1">
                <a:solidFill>
                  <a:srgbClr val="FAD02C"/>
                </a:solidFill>
                <a:latin typeface="Arial"/>
              </a:rPr>
              <a:t>2022,2024-3</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defRPr sz="1800" b="1">
                <a:solidFill>
                  <a:srgbClr val="FAD02C"/>
                </a:solidFill>
                <a:latin typeface="Arial"/>
              </a:defRPr>
            </a:pPr>
            <a:r>
              <a:rPr lang="en-US" sz="1800" b="1">
                <a:solidFill>
                  <a:srgbClr val="FAD02C"/>
                </a:solidFill>
                <a:latin typeface="Arial"/>
              </a:rPr>
              <a:t>What is photoelectric effect? Write</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rPr>
                        <m:sty m:val="p"/>
                      </m:rPr>
                      <m:t>exp</m:t>
                    </m:r>
                    <m:r>
                      <m:t>e</m:t>
                    </m:r>
                    <m:r>
                      <m:t>r</m:t>
                    </m:r>
                    <m:r>
                      <m:t>i</m:t>
                    </m:r>
                    <m:r>
                      <m:t>m</m:t>
                    </m:r>
                    <m:r>
                      <m:t>e</m:t>
                    </m:r>
                    <m:r>
                      <m:t>n</m:t>
                    </m:r>
                    <m:r>
                      <m:t>t</m:t>
                    </m:r>
                    <m:r>
                      <m:t>a</m:t>
                    </m:r>
                    <m:r>
                      <m:t>l</m:t>
                    </m:r>
                  </m:oMath>
                </a14:m>
              </mc:Choice>
            </mc:AlternateContent>
            <a:r>
              <a:rPr lang="en-US" sz="1800" b="1">
                <a:solidFill>
                  <a:srgbClr val="FAD02C"/>
                </a:solidFill>
                <a:latin typeface="Arial"/>
              </a:rPr>
              <a:t> </a:t>
            </a:r>
            <a:r>
              <a:rPr lang="en-US" sz="1800" b="1">
                <a:solidFill>
                  <a:srgbClr val="FAD02C"/>
                </a:solidFill>
                <a:latin typeface="Arial"/>
              </a:rPr>
              <a:t>observations of photoelectric effect</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1417320"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1252728" cy="402336"/>
          </a:xfrm>
          <a:prstGeom prst="rect">
            <a:avLst/>
          </a:prstGeom>
          <a:noFill/>
        </p:spPr>
        <p:txBody>
          <a:bodyPr wrap="none" anchor="ctr" lIns="0" rIns="0" tIns="0" bIns="0">
            <a:spAutoFit/>
          </a:bodyPr>
          <a:lstStyle/>
          <a:p>
            <a:pPr algn="l"/>
            <a:r>
              <a:rPr sz="1500" b="1">
                <a:solidFill>
                  <a:srgbClr val="FAD02C"/>
                </a:solidFill>
                <a:latin typeface="Arial"/>
              </a:rPr>
              <a:t>2023,2024-2</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defRPr sz="1800" b="1">
                <a:solidFill>
                  <a:srgbClr val="FAD02C"/>
                </a:solidFill>
                <a:latin typeface="Arial"/>
              </a:defRPr>
            </a:pPr>
            <a:r>
              <a:rPr lang="en-US" sz="1800" b="1">
                <a:solidFill>
                  <a:srgbClr val="FAD02C"/>
                </a:solidFill>
                <a:latin typeface="Arial"/>
              </a:rPr>
              <a:t>Give Einstein’s</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rPr>
                        <m:sty m:val="p"/>
                      </m:rPr>
                      <m:t>exp</m:t>
                    </m:r>
                    <m:r>
                      <m:t>l</m:t>
                    </m:r>
                    <m:r>
                      <m:t>a</m:t>
                    </m:r>
                    <m:r>
                      <m:t>n</m:t>
                    </m:r>
                    <m:r>
                      <m:t>a</m:t>
                    </m:r>
                    <m:r>
                      <m:t>t</m:t>
                    </m:r>
                    <m:r>
                      <m:t>i</m:t>
                    </m:r>
                    <m:r>
                      <m:t>o</m:t>
                    </m:r>
                    <m:r>
                      <m:t>n</m:t>
                    </m:r>
                  </m:oMath>
                </a14:m>
              </mc:Choice>
            </mc:AlternateContent>
            <a:r>
              <a:rPr lang="en-US" sz="1800" b="1">
                <a:solidFill>
                  <a:srgbClr val="FAD02C"/>
                </a:solidFill>
                <a:latin typeface="Arial"/>
              </a:rPr>
              <a:t> </a:t>
            </a:r>
            <a:r>
              <a:rPr lang="en-US" sz="1800" b="1">
                <a:solidFill>
                  <a:srgbClr val="FAD02C"/>
                </a:solidFill>
                <a:latin typeface="Arial"/>
              </a:rPr>
              <a:t>of photoelectric effect. (2023)</a:t>
            </a:r>
            <a:r>
              <a:rPr lang="en-US" sz="1800" b="1">
                <a:solidFill>
                  <a:srgbClr val="FAD02C"/>
                </a:solidFill>
                <a:latin typeface="Arial"/>
              </a:rPr>
              <a:t>Mention any two properties of photons.</a:t>
            </a:r>
            <a:r>
              <a:rPr lang="en-US" sz="1800" b="1">
                <a:solidFill>
                  <a:srgbClr val="FAD02C"/>
                </a:solidFill>
                <a:latin typeface="Arial"/>
              </a:rPr>
              <a:t>What is meant by photoelectric effect? (b) Mention any two</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rPr>
                        <m:sty m:val="p"/>
                      </m:rPr>
                      <m:t>exp</m:t>
                    </m:r>
                    <m:r>
                      <m:t>e</m:t>
                    </m:r>
                    <m:r>
                      <m:t>r</m:t>
                    </m:r>
                    <m:r>
                      <m:t>i</m:t>
                    </m:r>
                    <m:r>
                      <m:t>m</m:t>
                    </m:r>
                    <m:r>
                      <m:t>e</m:t>
                    </m:r>
                    <m:r>
                      <m:t>n</m:t>
                    </m:r>
                    <m:r>
                      <m:t>t</m:t>
                    </m:r>
                    <m:r>
                      <m:t>a</m:t>
                    </m:r>
                    <m:r>
                      <m:t>l</m:t>
                    </m:r>
                  </m:oMath>
                </a14:m>
              </mc:Choice>
            </mc:AlternateContent>
            <a:r>
              <a:rPr lang="en-US" sz="1800" b="1">
                <a:solidFill>
                  <a:srgbClr val="FAD02C"/>
                </a:solidFill>
                <a:latin typeface="Arial"/>
              </a:rPr>
              <a:t> </a:t>
            </a:r>
            <a:r>
              <a:rPr lang="en-US" sz="1800" b="1">
                <a:solidFill>
                  <a:srgbClr val="FAD02C"/>
                </a:solidFill>
                <a:latin typeface="Arial"/>
              </a:rPr>
              <a:t>observations of photoelectric effect.</a:t>
            </a:r>
            <a:r>
              <a:rPr lang="en-US" sz="1800" b="1">
                <a:solidFill>
                  <a:srgbClr val="FAD02C"/>
                </a:solidFill>
                <a:latin typeface="Arial"/>
              </a:rPr>
              <a:t>Write Einstein’s photoelectric equation and</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rPr>
                        <m:sty m:val="p"/>
                      </m:rPr>
                      <m:t>exp</m:t>
                    </m:r>
                    <m:r>
                      <m:t>l</m:t>
                    </m:r>
                    <m:r>
                      <m:t>a</m:t>
                    </m:r>
                    <m:r>
                      <m:t>i</m:t>
                    </m:r>
                    <m:r>
                      <m:t>n</m:t>
                    </m:r>
                  </m:oMath>
                </a14:m>
              </mc:Choice>
            </mc:AlternateContent>
            <a:r>
              <a:rPr lang="en-US" sz="1800" b="1">
                <a:solidFill>
                  <a:srgbClr val="FAD02C"/>
                </a:solidFill>
                <a:latin typeface="Arial"/>
              </a:rPr>
              <a:t> </a:t>
            </a:r>
            <a:r>
              <a:rPr lang="en-US" sz="1800" b="1">
                <a:solidFill>
                  <a:srgbClr val="FAD02C"/>
                </a:solidFill>
                <a:latin typeface="Arial"/>
              </a:rPr>
              <a:t>the terms.</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1316736"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1152144" cy="402336"/>
          </a:xfrm>
          <a:prstGeom prst="rect">
            <a:avLst/>
          </a:prstGeom>
          <a:noFill/>
        </p:spPr>
        <p:txBody>
          <a:bodyPr wrap="none" anchor="ctr" lIns="0" rIns="0" tIns="0" bIns="0">
            <a:spAutoFit/>
          </a:bodyPr>
          <a:lstStyle/>
          <a:p>
            <a:pPr algn="l"/>
            <a:r>
              <a:rPr sz="1500" b="1">
                <a:solidFill>
                  <a:srgbClr val="FAD02C"/>
                </a:solidFill>
                <a:latin typeface="Arial"/>
              </a:rPr>
              <a:t>2014S,2025</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defRPr sz="1800" b="1">
                <a:solidFill>
                  <a:srgbClr val="FAD02C"/>
                </a:solidFill>
                <a:latin typeface="Arial"/>
              </a:defRPr>
            </a:pPr>
            <a:r>
              <a:rPr lang="en-US" sz="1800" b="1">
                <a:solidFill>
                  <a:srgbClr val="FAD02C"/>
                </a:solidFill>
                <a:latin typeface="Arial"/>
              </a:rPr>
              <a:t>The work function of cesium metal is 2.14 ev. When light of frequency 6 × 1014 Hz is incident on the metal surface, photoemission of electrons occurs. Find</a:t>
            </a:r>
            <a:r>
              <a:rPr lang="en-US" sz="1800" b="1">
                <a:solidFill>
                  <a:srgbClr val="FAD02C"/>
                </a:solidFill>
                <a:latin typeface="Arial"/>
              </a:rPr>
              <a:t> </a:t>
            </a:r>
            <a:r>
              <a:rPr lang="en-US" sz="1800" b="1">
                <a:solidFill>
                  <a:srgbClr val="FAD02C"/>
                </a:solidFill>
                <a:latin typeface="Arial"/>
              </a:rPr>
              <a:t>Energy of incident photons</a:t>
            </a:r>
            <a:r>
              <a:rPr lang="en-US" sz="1800" b="1">
                <a:solidFill>
                  <a:srgbClr val="FAD02C"/>
                </a:solidFill>
                <a:latin typeface="Arial"/>
              </a:rPr>
              <a:t> </a:t>
            </a:r>
            <a:r>
              <a:rPr lang="en-US" sz="1800" b="1">
                <a:solidFill>
                  <a:srgbClr val="FAD02C"/>
                </a:solidFill>
                <a:latin typeface="Arial"/>
              </a:rPr>
              <a:t>Maximum kinetic energy of photoelectrons.</a:t>
            </a:r>
            <a:r>
              <a:rPr lang="en-US" sz="1800" b="1">
                <a:solidFill>
                  <a:srgbClr val="FAD02C"/>
                </a:solidFill>
                <a:latin typeface="Arial"/>
              </a:rPr>
              <a:t> </a:t>
            </a:r>
            <a:r>
              <a:rPr lang="en-US" sz="1800" b="1">
                <a:solidFill>
                  <a:srgbClr val="FAD02C"/>
                </a:solidFill>
                <a:latin typeface="Arial"/>
              </a:rPr>
              <a:t>Given, Planck’s constant h =</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6.63</m:t>
                    </m:r>
                    <m:r>
                      <m:rPr>
                        <m:sty m:val="p"/>
                      </m:rPr>
                      <m:t>×</m:t>
                    </m:r>
                    <m:sSup>
                      <m:e>
                        <m:r>
                          <m:t>10</m:t>
                        </m:r>
                      </m:e>
                      <m:sup>
                        <m:r>
                          <m:rPr>
                            <m:sty m:val="p"/>
                          </m:rPr>
                          <m:t>−</m:t>
                        </m:r>
                        <m:r>
                          <m:t>34</m:t>
                        </m:r>
                      </m:sup>
                    </m:sSup>
                  </m:oMath>
                </a14:m>
              </mc:Choice>
            </mc:AlternateContent>
            <a:r>
              <a:rPr lang="en-US" sz="1800" b="1">
                <a:solidFill>
                  <a:srgbClr val="FAD02C"/>
                </a:solidFill>
                <a:latin typeface="Arial"/>
              </a:rPr>
              <a:t> </a:t>
            </a:r>
            <a:r>
              <a:rPr lang="en-US" sz="1800" b="1">
                <a:solidFill>
                  <a:srgbClr val="FAD02C"/>
                </a:solidFill>
                <a:latin typeface="Arial"/>
              </a:rPr>
              <a:t>Js, 1 ev =</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1.6</m:t>
                    </m:r>
                    <m:r>
                      <m:rPr>
                        <m:sty m:val="p"/>
                      </m:rPr>
                      <m:t>×</m:t>
                    </m:r>
                    <m:sSup>
                      <m:e>
                        <m:r>
                          <m:t>10</m:t>
                        </m:r>
                      </m:e>
                      <m:sup>
                        <m:r>
                          <m:rPr>
                            <m:sty m:val="p"/>
                          </m:rPr>
                          <m:t>−</m:t>
                        </m:r>
                        <m:r>
                          <m:t>19</m:t>
                        </m:r>
                      </m:sup>
                    </m:sSup>
                  </m:oMath>
                </a14:m>
              </mc:Choice>
            </mc:AlternateContent>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722376"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557784" cy="402336"/>
          </a:xfrm>
          <a:prstGeom prst="rect">
            <a:avLst/>
          </a:prstGeom>
          <a:noFill/>
        </p:spPr>
        <p:txBody>
          <a:bodyPr wrap="none" anchor="ctr" lIns="0" rIns="0" tIns="0" bIns="0">
            <a:spAutoFit/>
          </a:bodyPr>
          <a:lstStyle/>
          <a:p>
            <a:pPr algn="l"/>
            <a:r>
              <a:rPr sz="1500" b="1">
                <a:solidFill>
                  <a:srgbClr val="FAD02C"/>
                </a:solidFill>
                <a:latin typeface="Arial"/>
              </a:rPr>
              <a:t>2018</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defRPr sz="1800" b="1">
                <a:solidFill>
                  <a:srgbClr val="FAD02C"/>
                </a:solidFill>
                <a:latin typeface="Arial"/>
              </a:defRPr>
            </a:pPr>
            <a:r>
              <a:rPr lang="en-US" sz="1800" b="1">
                <a:solidFill>
                  <a:srgbClr val="FAD02C"/>
                </a:solidFill>
                <a:latin typeface="Arial"/>
              </a:rPr>
              <a:t>Light of frequency 8.41 × 1014 Hz is incident on a metal surface. Electrons with their maximum speed of 7.5 × 105</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m</m:t>
                    </m:r>
                    <m:sSup>
                      <m:e>
                        <m:r>
                          <m:t>s</m:t>
                        </m:r>
                      </m:e>
                      <m:sup>
                        <m:r>
                          <m:rPr>
                            <m:sty m:val="p"/>
                          </m:rPr>
                          <m:t>−</m:t>
                        </m:r>
                        <m:r>
                          <m:t>1</m:t>
                        </m:r>
                      </m:sup>
                    </m:sSup>
                  </m:oMath>
                </a14:m>
              </mc:Choice>
            </mc:AlternateContent>
            <a:r>
              <a:rPr lang="en-US" sz="1800" b="1">
                <a:solidFill>
                  <a:srgbClr val="FAD02C"/>
                </a:solidFill>
                <a:latin typeface="Arial"/>
              </a:rPr>
              <a:t> </a:t>
            </a:r>
            <a:r>
              <a:rPr lang="en-US" sz="1800" b="1">
                <a:solidFill>
                  <a:srgbClr val="FAD02C"/>
                </a:solidFill>
                <a:latin typeface="Arial"/>
              </a:rPr>
              <a:t>are ejected from the surface. Calculate the threshold frequency for photoemission of electrons. Also find the work function of the metal in electron volt (eV). Given Planck’s constant h =</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6.625</m:t>
                    </m:r>
                    <m:r>
                      <m:rPr>
                        <m:sty m:val="p"/>
                      </m:rPr>
                      <m:t>×</m:t>
                    </m:r>
                    <m:sSup>
                      <m:e>
                        <m:r>
                          <m:t>10</m:t>
                        </m:r>
                      </m:e>
                      <m:sup>
                        <m:r>
                          <m:rPr>
                            <m:sty m:val="p"/>
                          </m:rPr>
                          <m:t>−</m:t>
                        </m:r>
                        <m:r>
                          <m:t>34</m:t>
                        </m:r>
                      </m:sup>
                    </m:sSup>
                    <m:r>
                      <m:t>J</m:t>
                    </m:r>
                    <m:r>
                      <m:t>S</m:t>
                    </m:r>
                  </m:oMath>
                </a14:m>
              </mc:Choice>
            </mc:AlternateContent>
            <a:r>
              <a:rPr lang="en-US" sz="1800" b="1">
                <a:solidFill>
                  <a:srgbClr val="FAD02C"/>
                </a:solidFill>
                <a:latin typeface="Arial"/>
              </a:rPr>
              <a:t> </a:t>
            </a:r>
            <a:r>
              <a:rPr lang="en-US" sz="1800" b="1">
                <a:solidFill>
                  <a:srgbClr val="FAD02C"/>
                </a:solidFill>
                <a:latin typeface="Arial"/>
              </a:rPr>
              <a:t>and mass of the electron</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9.1</m:t>
                    </m:r>
                    <m:r>
                      <m:rPr>
                        <m:sty m:val="p"/>
                      </m:rPr>
                      <m:t>×</m:t>
                    </m:r>
                    <m:sSup>
                      <m:e>
                        <m:r>
                          <m:t>10</m:t>
                        </m:r>
                      </m:e>
                      <m:sup>
                        <m:r>
                          <m:rPr>
                            <m:sty m:val="p"/>
                          </m:rPr>
                          <m:t>−</m:t>
                        </m:r>
                        <m:r>
                          <m:t>31</m:t>
                        </m:r>
                      </m:sup>
                    </m:sSup>
                  </m:oMath>
                </a14:m>
              </mc:Choice>
            </mc:AlternateContent>
            <a:r>
              <a:rPr lang="en-US" sz="1800" b="1">
                <a:solidFill>
                  <a:srgbClr val="FAD02C"/>
                </a:solidFill>
                <a:latin typeface="Arial"/>
              </a:rPr>
              <a:t> </a:t>
            </a:r>
            <a:r>
              <a:rPr lang="en-US" sz="1800" b="1">
                <a:solidFill>
                  <a:srgbClr val="FAD02C"/>
                </a:solidFill>
                <a:latin typeface="Arial"/>
              </a:rPr>
              <a:t>Kg.</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50392"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685800" cy="402336"/>
          </a:xfrm>
          <a:prstGeom prst="rect">
            <a:avLst/>
          </a:prstGeom>
          <a:noFill/>
        </p:spPr>
        <p:txBody>
          <a:bodyPr wrap="none" anchor="ctr" lIns="0" rIns="0" tIns="0" bIns="0">
            <a:spAutoFit/>
          </a:bodyPr>
          <a:lstStyle/>
          <a:p>
            <a:pPr algn="l"/>
            <a:r>
              <a:rPr sz="1500" b="1">
                <a:solidFill>
                  <a:srgbClr val="FAD02C"/>
                </a:solidFill>
                <a:latin typeface="Arial"/>
              </a:rPr>
              <a:t>2021M</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defRPr sz="1800" b="1">
                <a:solidFill>
                  <a:srgbClr val="FAD02C"/>
                </a:solidFill>
                <a:latin typeface="Arial"/>
              </a:defRPr>
            </a:pPr>
            <a:r>
              <a:rPr lang="en-US" sz="1800" b="1">
                <a:solidFill>
                  <a:srgbClr val="FAD02C"/>
                </a:solidFill>
                <a:latin typeface="Arial"/>
              </a:rPr>
              <a:t>Light of frequency 7.21 × 1014 Hz is incident on a metal surface. The cut-off wavelength for</a:t>
            </a:r>
            <a:r>
              <a:rPr lang="en-US" sz="1800" b="1">
                <a:solidFill>
                  <a:srgbClr val="FAD02C"/>
                </a:solidFill>
                <a:latin typeface="Arial"/>
              </a:rPr>
              <a:t> </a:t>
            </a:r>
            <a:r>
              <a:rPr lang="en-US" sz="1800" b="1">
                <a:solidFill>
                  <a:srgbClr val="FAD02C"/>
                </a:solidFill>
                <a:latin typeface="Arial"/>
              </a:rPr>
              <a:t>photoelectric emission from the metal surface is 540 nm.</a:t>
            </a:r>
            <a:r>
              <a:rPr lang="en-US" sz="1800" b="1">
                <a:solidFill>
                  <a:srgbClr val="FAD02C"/>
                </a:solidFill>
                <a:latin typeface="Arial"/>
              </a:rPr>
              <a:t> </a:t>
            </a:r>
            <a:r>
              <a:rPr lang="en-US" sz="1800" b="1">
                <a:solidFill>
                  <a:srgbClr val="FAD02C"/>
                </a:solidFill>
                <a:latin typeface="Arial"/>
              </a:rPr>
              <a:t>Determine the maximum speed of the photoelectrons emitted from the surface.</a:t>
            </a:r>
            <a:r>
              <a:rPr lang="en-US" sz="1800" b="1">
                <a:solidFill>
                  <a:srgbClr val="FAD02C"/>
                </a:solidFill>
                <a:latin typeface="Arial"/>
              </a:rPr>
              <a:t> </a:t>
            </a:r>
            <a:r>
              <a:rPr lang="en-US" sz="1800" b="1">
                <a:solidFill>
                  <a:srgbClr val="FAD02C"/>
                </a:solidFill>
                <a:latin typeface="Arial"/>
              </a:rPr>
              <a:t>(Given: h</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rPr>
                        <m:sty m:val="p"/>
                      </m:rPr>
                      <m:t>=</m:t>
                    </m:r>
                    <m:r>
                      <m:t>6.63</m:t>
                    </m:r>
                    <m:r>
                      <m:rPr>
                        <m:sty m:val="p"/>
                      </m:rPr>
                      <m:t>×</m:t>
                    </m:r>
                    <m:sSup>
                      <m:e>
                        <m:r>
                          <m:t>10</m:t>
                        </m:r>
                      </m:e>
                      <m:sup>
                        <m:r>
                          <m:rPr>
                            <m:sty m:val="p"/>
                          </m:rPr>
                          <m:t>−</m:t>
                        </m:r>
                        <m:r>
                          <m:t>34</m:t>
                        </m:r>
                      </m:sup>
                    </m:sSup>
                  </m:oMath>
                </a14:m>
              </mc:Choice>
            </mc:AlternateContent>
            <a:r>
              <a:rPr lang="en-US" sz="1800" b="1">
                <a:solidFill>
                  <a:srgbClr val="FAD02C"/>
                </a:solidFill>
                <a:latin typeface="Arial"/>
              </a:rPr>
              <a:t> </a:t>
            </a:r>
            <a:r>
              <a:rPr lang="en-US" sz="1800" b="1">
                <a:solidFill>
                  <a:srgbClr val="FAD02C"/>
                </a:solidFill>
                <a:latin typeface="Arial"/>
              </a:rPr>
              <a:t>Js, mass of an electron =</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9.1</m:t>
                    </m:r>
                    <m:r>
                      <m:rPr>
                        <m:sty m:val="p"/>
                      </m:rPr>
                      <m:t>×</m:t>
                    </m:r>
                    <m:sSup>
                      <m:e>
                        <m:r>
                          <m:t>10</m:t>
                        </m:r>
                      </m:e>
                      <m:sup>
                        <m:r>
                          <m:rPr>
                            <m:sty m:val="p"/>
                          </m:rPr>
                          <m:t>−</m:t>
                        </m:r>
                        <m:r>
                          <m:t>31</m:t>
                        </m:r>
                      </m:sup>
                    </m:sSup>
                  </m:oMath>
                </a14:m>
              </mc:Choice>
            </mc:AlternateContent>
            <a:r>
              <a:rPr lang="en-US" sz="1800" b="1">
                <a:solidFill>
                  <a:srgbClr val="FAD02C"/>
                </a:solidFill>
                <a:latin typeface="Arial"/>
              </a:rPr>
              <a:t> </a:t>
            </a:r>
            <a:r>
              <a:rPr lang="en-US" sz="1800" b="1">
                <a:solidFill>
                  <a:srgbClr val="FAD02C"/>
                </a:solidFill>
                <a:latin typeface="Arial"/>
              </a:rPr>
              <a:t>kg).</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50392"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685800" cy="402336"/>
          </a:xfrm>
          <a:prstGeom prst="rect">
            <a:avLst/>
          </a:prstGeom>
          <a:noFill/>
        </p:spPr>
        <p:txBody>
          <a:bodyPr wrap="none" anchor="ctr" lIns="0" rIns="0" tIns="0" bIns="0">
            <a:spAutoFit/>
          </a:bodyPr>
          <a:lstStyle/>
          <a:p>
            <a:pPr algn="l"/>
            <a:r>
              <a:rPr sz="1500" b="1">
                <a:solidFill>
                  <a:srgbClr val="FAD02C"/>
                </a:solidFill>
                <a:latin typeface="Arial"/>
              </a:rPr>
              <a:t>2021M</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defRPr sz="1800" b="1">
                <a:solidFill>
                  <a:srgbClr val="FAD02C"/>
                </a:solidFill>
                <a:latin typeface="Arial"/>
              </a:defRPr>
            </a:pPr>
            <a:r>
              <a:rPr lang="en-US" sz="1800" b="1">
                <a:solidFill>
                  <a:srgbClr val="FAD02C"/>
                </a:solidFill>
                <a:latin typeface="Arial"/>
              </a:rPr>
              <a:t>The work function of caesium is 2.14 eV. Find</a:t>
            </a:r>
            <a:r>
              <a:rPr lang="en-US" sz="1800" b="1">
                <a:solidFill>
                  <a:srgbClr val="FAD02C"/>
                </a:solidFill>
                <a:latin typeface="Arial"/>
              </a:rPr>
              <a:t> </a:t>
            </a:r>
            <a:r>
              <a:rPr lang="en-US" sz="1800" b="1">
                <a:solidFill>
                  <a:srgbClr val="FAD02C"/>
                </a:solidFill>
                <a:latin typeface="Arial"/>
              </a:rPr>
              <a:t>(a) the threshold frequency for cesium and</a:t>
            </a:r>
            <a:r>
              <a:rPr lang="en-US" sz="1800" b="1">
                <a:solidFill>
                  <a:srgbClr val="FAD02C"/>
                </a:solidFill>
                <a:latin typeface="Arial"/>
              </a:rPr>
              <a:t> </a:t>
            </a:r>
            <a:r>
              <a:rPr lang="en-US" sz="1800" b="1">
                <a:solidFill>
                  <a:srgbClr val="FAD02C"/>
                </a:solidFill>
                <a:latin typeface="Arial"/>
              </a:rPr>
              <a:t>(b) the wavelength of the incident light if the photocurrent is brought to zero by a stopping potential of</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0.60</m:t>
                    </m:r>
                    <m:r>
                      <m:t>V</m:t>
                    </m:r>
                    <m:r>
                      <m:rPr>
                        <m:sty m:val="p"/>
                      </m:rPr>
                      <m:t>.</m:t>
                    </m:r>
                  </m:oMath>
                </a14:m>
              </mc:Choice>
            </mc:AlternateContent>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923544"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58952" cy="402336"/>
          </a:xfrm>
          <a:prstGeom prst="rect">
            <a:avLst/>
          </a:prstGeom>
          <a:noFill/>
        </p:spPr>
        <p:txBody>
          <a:bodyPr wrap="none" anchor="ctr" lIns="0" rIns="0" tIns="0" bIns="0">
            <a:spAutoFit/>
          </a:bodyPr>
          <a:lstStyle/>
          <a:p>
            <a:pPr algn="l"/>
            <a:r>
              <a:rPr sz="1500" b="1">
                <a:solidFill>
                  <a:srgbClr val="FAD02C"/>
                </a:solidFill>
                <a:latin typeface="Arial"/>
              </a:rPr>
              <a:t>2025-2</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defRPr sz="1800" b="1">
                <a:solidFill>
                  <a:srgbClr val="FAD02C"/>
                </a:solidFill>
                <a:latin typeface="Arial"/>
              </a:defRPr>
            </a:pPr>
            <a:r>
              <a:rPr lang="en-US" sz="1800" b="1">
                <a:solidFill>
                  <a:srgbClr val="FAD02C"/>
                </a:solidFill>
                <a:latin typeface="Arial"/>
              </a:rPr>
              <a:t>The work function of a metal is 2.20 eV when radiation of frequency 6.50 ×</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1014</m:t>
                    </m:r>
                    <m:r>
                      <m:t>H</m:t>
                    </m:r>
                    <m:r>
                      <m:t>z</m:t>
                    </m:r>
                  </m:oMath>
                </a14:m>
              </mc:Choice>
            </mc:AlternateContent>
            <a:r>
              <a:rPr lang="en-US" sz="1800" b="1">
                <a:solidFill>
                  <a:srgbClr val="FAD02C"/>
                </a:solidFill>
                <a:latin typeface="Arial"/>
              </a:rPr>
              <a:t> </a:t>
            </a:r>
            <a:r>
              <a:rPr lang="en-US" sz="1800" b="1">
                <a:solidFill>
                  <a:srgbClr val="FAD02C"/>
                </a:solidFill>
                <a:latin typeface="Arial"/>
              </a:rPr>
              <a:t>incident on the metal surface photo emission of electrons occurs. Calculate a) energy of incident photon and b) stopping potential of photoelectrons. (Given h = 6.63 × 10–34 Js and</a:t>
            </a:r>
            <a:r>
              <a:rPr lang="en-US" sz="1800" b="1">
                <a:solidFill>
                  <a:srgbClr val="FAD02C"/>
                </a:solidFill>
                <a:latin typeface="Arial"/>
              </a:rPr>
              <a:t> </a:t>
            </a:r>
            <a:r>
              <a:rPr lang="en-US" sz="1800" b="1">
                <a:solidFill>
                  <a:srgbClr val="FAD02C"/>
                </a:solidFill>
                <a:latin typeface="Arial"/>
              </a:rPr>
              <a:t>e = 1.6 × 10–</a:t>
            </a:r>
            <mc:AlternateContent xmlns:mc="http://schemas.openxmlformats.org/markup-compatibility/2006" xmlns:a14="http://schemas.microsoft.com/office/drawing/2010/main">
              <mc:Choice Requires="a14">
                <a14:m>
                  <m:oMath xmlns:m="http://schemas.openxmlformats.org/officeDocument/2006/math">
                    <m:r>
                      <m:t>19</m:t>
                    </m:r>
                    <m:r>
                      <m:t>C</m:t>
                    </m:r>
                    <m:r>
                      <m:rPr>
                        <m:sty m:val="p"/>
                      </m:rPr>
                      <m:t>)</m:t>
                    </m:r>
                  </m:oMath>
                </a14:m>
              </mc:Choice>
            </mc:AlternateContent>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2025-1</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defRPr sz="1800" b="1">
                <a:solidFill>
                  <a:srgbClr val="FAD02C"/>
                </a:solidFill>
                <a:latin typeface="Arial"/>
              </a:defRPr>
            </a:pPr>
            <a:r>
              <a:rPr lang="en-US" sz="1800" b="1">
                <a:solidFill>
                  <a:srgbClr val="FAD02C"/>
                </a:solidFill>
                <a:latin typeface="Arial"/>
              </a:rPr>
              <a:t>When a light radiation of energy 3 eV falls on metal surface, photoelectrons with a maximum kinetic energy 1eV are emitted from the surface. Find the threshold frequency for the metal surface. (Given: Planck’s constant =</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6.63</m:t>
                    </m:r>
                    <m:r>
                      <m:rPr>
                        <m:sty m:val="p"/>
                      </m:rPr>
                      <m:t>×</m:t>
                    </m:r>
                    <m:sSup>
                      <m:e>
                        <m:r>
                          <m:t>10</m:t>
                        </m:r>
                      </m:e>
                      <m:sup>
                        <m:r>
                          <m:rPr>
                            <m:sty m:val="p"/>
                          </m:rPr>
                          <m:t>−</m:t>
                        </m:r>
                        <m:r>
                          <m:t>34</m:t>
                        </m:r>
                      </m:sup>
                    </m:sSup>
                    <m:r>
                      <m:t>J</m:t>
                    </m:r>
                    <m:r>
                      <m:t>s</m:t>
                    </m:r>
                    <m:r>
                      <m:rPr>
                        <m:sty m:val="p"/>
                      </m:rPr>
                      <m:t>;</m:t>
                    </m:r>
                  </m:oMath>
                </a14:m>
              </mc:Choice>
            </mc:AlternateContent>
            <a:r>
              <a:rPr lang="en-US" sz="1800" b="1">
                <a:solidFill>
                  <a:srgbClr val="FAD02C"/>
                </a:solidFill>
                <a:latin typeface="Arial"/>
              </a:rPr>
              <a:t>) Charge on the electron e = 1.6× 10–</a:t>
            </a:r>
            <mc:AlternateContent xmlns:mc="http://schemas.openxmlformats.org/markup-compatibility/2006" xmlns:a14="http://schemas.microsoft.com/office/drawing/2010/main">
              <mc:Choice Requires="a14">
                <a14:m>
                  <m:oMath xmlns:m="http://schemas.openxmlformats.org/officeDocument/2006/math">
                    <m:r>
                      <m:t>19</m:t>
                    </m:r>
                    <m:r>
                      <m:t>C</m:t>
                    </m:r>
                    <m:r>
                      <m:rPr>
                        <m:sty m:val="p"/>
                      </m:rPr>
                      <m:t>)</m:t>
                    </m:r>
                  </m:oMath>
                </a14:m>
              </mc:Choice>
            </mc:AlternateContent>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923544"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58952" cy="402336"/>
          </a:xfrm>
          <a:prstGeom prst="rect">
            <a:avLst/>
          </a:prstGeom>
          <a:noFill/>
        </p:spPr>
        <p:txBody>
          <a:bodyPr wrap="none" anchor="ctr" lIns="0" rIns="0" tIns="0" bIns="0">
            <a:spAutoFit/>
          </a:bodyPr>
          <a:lstStyle/>
          <a:p>
            <a:pPr algn="l"/>
            <a:r>
              <a:rPr sz="1500" b="1">
                <a:solidFill>
                  <a:srgbClr val="FAD02C"/>
                </a:solidFill>
                <a:latin typeface="Arial"/>
              </a:rPr>
              <a:t>2026-2</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defRPr sz="1800" b="1">
                <a:solidFill>
                  <a:srgbClr val="FAD02C"/>
                </a:solidFill>
                <a:latin typeface="Arial"/>
              </a:defRPr>
            </a:pPr>
            <a:r>
              <a:rPr lang="en-US" sz="1800" b="1">
                <a:solidFill>
                  <a:srgbClr val="FAD02C"/>
                </a:solidFill>
                <a:latin typeface="Arial"/>
              </a:rPr>
              <a:t>The work function of cesium metal is 2.14 ev. When light of frequency 6 × 1014 Hz is incident on cesium surface, find the maximum kinetic energy of photoelectrons emitted.</a:t>
            </a:r>
            <a:r>
              <a:rPr lang="en-US" sz="1800" b="1">
                <a:solidFill>
                  <a:srgbClr val="FAD02C"/>
                </a:solidFill>
                <a:latin typeface="Arial"/>
              </a:rPr>
              <a:t> </a:t>
            </a:r>
            <a:r>
              <a:rPr lang="en-US" sz="1800" b="1">
                <a:solidFill>
                  <a:srgbClr val="FAD02C"/>
                </a:solidFill>
                <a:latin typeface="Arial"/>
              </a:rPr>
              <a:t>(Given: Planck’s constant, h=</a:t>
            </a:r>
            <mc:AlternateContent xmlns:mc="http://schemas.openxmlformats.org/markup-compatibility/2006" xmlns:a14="http://schemas.microsoft.com/office/drawing/2010/main">
              <mc:Choice Requires="a14">
                <a14:m>
                  <m:oMath xmlns:m="http://schemas.openxmlformats.org/officeDocument/2006/math">
                    <m:r>
                      <m:t>6.63</m:t>
                    </m:r>
                    <m:r>
                      <m:rPr>
                        <m:sty m:val="p"/>
                      </m:rPr>
                      <m:t>×</m:t>
                    </m:r>
                    <m:sSup>
                      <m:e>
                        <m:r>
                          <m:t>10</m:t>
                        </m:r>
                      </m:e>
                      <m:sup>
                        <m:r>
                          <m:rPr>
                            <m:sty m:val="p"/>
                          </m:rPr>
                          <m:t>−</m:t>
                        </m:r>
                        <m:r>
                          <m:t>34</m:t>
                        </m:r>
                      </m:sup>
                    </m:sSup>
                    <m:r>
                      <m:t>J</m:t>
                    </m:r>
                    <m:r>
                      <m:t>s</m:t>
                    </m:r>
                  </m:oMath>
                </a14:m>
              </mc:Choice>
            </mc:AlternateContent>
            <a:r>
              <a:rPr lang="en-US" sz="1800" b="1">
                <a:solidFill>
                  <a:srgbClr val="FAD02C"/>
                </a:solidFill>
                <a:latin typeface="Arial"/>
              </a:rPr>
              <a:t> </a:t>
            </a:r>
            <a:r>
              <a:rPr lang="en-US" sz="1800" b="1">
                <a:solidFill>
                  <a:srgbClr val="FAD02C"/>
                </a:solidFill>
                <a:latin typeface="Arial"/>
              </a:rPr>
              <a:t>and e = 1.6 10–</a:t>
            </a:r>
            <mc:AlternateContent xmlns:mc="http://schemas.openxmlformats.org/markup-compatibility/2006" xmlns:a14="http://schemas.microsoft.com/office/drawing/2010/main">
              <mc:Choice Requires="a14">
                <a14:m>
                  <m:oMath xmlns:m="http://schemas.openxmlformats.org/officeDocument/2006/math">
                    <m:r>
                      <m:t>19</m:t>
                    </m:r>
                    <m:r>
                      <m:t>C</m:t>
                    </m:r>
                    <m:r>
                      <m:rPr>
                        <m:sty m:val="p"/>
                      </m:rPr>
                      <m:t>)</m:t>
                    </m:r>
                    <m:r>
                      <m:rPr>
                        <m:sty m:val="p"/>
                      </m:rPr>
                      <m:t>.</m:t>
                    </m:r>
                  </m:oMath>
                </a14:m>
              </mc:Choice>
            </mc:AlternateContent>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TextBox 2"/>
          <p:cNvSpPr txBox="1"/>
          <p:nvPr/>
        </p:nvSpPr>
        <p:spPr>
          <a:xfrm>
            <a:off x="457200" y="731520"/>
            <a:ext cx="11274552" cy="320040"/>
          </a:xfrm>
          <a:prstGeom prst="rect">
            <a:avLst/>
          </a:prstGeom>
          <a:noFill/>
        </p:spPr>
        <p:txBody>
          <a:bodyPr wrap="square" lIns="0" rIns="0" tIns="0" bIns="0">
            <a:spAutoFit/>
          </a:bodyPr>
          <a:lstStyle/>
          <a:p>
            <a:pPr algn="l">
              <a:defRPr sz="1800" b="1">
                <a:solidFill>
                  <a:srgbClr val="FAD02C"/>
                </a:solidFill>
                <a:latin typeface="Arial"/>
              </a:defRPr>
            </a:pPr>
            <a:r>
              <a:rPr lang="en-US" sz="1800" b="1">
                <a:solidFill>
                  <a:srgbClr val="FAD02C"/>
                </a:solidFill>
                <a:latin typeface="Arial"/>
              </a:rPr>
              <a:t>The point of inflection of the function</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y</m:t>
                    </m:r>
                    <m:r>
                      <m:rPr>
                        <m:sty m:val="p"/>
                      </m:rPr>
                      <m:t>=</m:t>
                    </m:r>
                    <m:sSup>
                      <m:e>
                        <m:r>
                          <m:t>x</m:t>
                        </m:r>
                      </m:e>
                      <m:sup>
                        <m:r>
                          <m:t>3</m:t>
                        </m:r>
                      </m:sup>
                    </m:sSup>
                  </m:oMath>
                </a14:m>
              </mc:Choice>
            </mc:AlternateContent>
            <a:r>
              <a:rPr lang="en-US" sz="1800" b="1">
                <a:solidFill>
                  <a:srgbClr val="FAD02C"/>
                </a:solidFill>
                <a:latin typeface="Arial"/>
              </a:rPr>
              <a:t> </a:t>
            </a:r>
            <a:r>
              <a:rPr lang="en-US" sz="1800" b="1">
                <a:solidFill>
                  <a:srgbClr val="FAD02C"/>
                </a:solidFill>
                <a:latin typeface="Arial"/>
              </a:rPr>
              <a:t>is</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rPr>
                        <m:sty m:val="p"/>
                      </m:rPr>
                      <m:t>(</m:t>
                    </m:r>
                    <m:r>
                      <m:t>2024</m:t>
                    </m:r>
                    <m:r>
                      <m:t>M</m:t>
                    </m:r>
                  </m:oMath>
                </a14:m>
              </mc:Choice>
            </mc:AlternateContent>
          </a:p>
        </p:txBody>
      </p:sp>
      <p:sp>
        <p:nvSpPr>
          <p:cNvPr id="4" name="TextBox 3"/>
          <p:cNvSpPr txBox="1"/>
          <p:nvPr/>
        </p:nvSpPr>
        <p:spPr>
          <a:xfrm>
            <a:off x="457200"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(2, 8)</a:t>
            </a:r>
          </a:p>
        </p:txBody>
      </p:sp>
      <p:sp>
        <p:nvSpPr>
          <p:cNvPr id="5" name="TextBox 4"/>
          <p:cNvSpPr txBox="1"/>
          <p:nvPr/>
        </p:nvSpPr>
        <p:spPr>
          <a:xfrm>
            <a:off x="3321558"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(1, 1)</a:t>
            </a:r>
          </a:p>
        </p:txBody>
      </p:sp>
      <p:sp>
        <p:nvSpPr>
          <p:cNvPr id="6" name="TextBox 5"/>
          <p:cNvSpPr txBox="1"/>
          <p:nvPr/>
        </p:nvSpPr>
        <p:spPr>
          <a:xfrm>
            <a:off x="6185916"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(0, 0)</a:t>
            </a:r>
          </a:p>
        </p:txBody>
      </p:sp>
      <p:sp>
        <p:nvSpPr>
          <p:cNvPr id="7" name="TextBox 6"/>
          <p:cNvSpPr txBox="1"/>
          <p:nvPr/>
        </p:nvSpPr>
        <p:spPr>
          <a:xfrm>
            <a:off x="9050274"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(−3, −27)</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1014984"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850392" cy="402336"/>
          </a:xfrm>
          <a:prstGeom prst="rect">
            <a:avLst/>
          </a:prstGeom>
          <a:noFill/>
        </p:spPr>
        <p:txBody>
          <a:bodyPr wrap="none" anchor="ctr" lIns="0" rIns="0" tIns="0" bIns="0">
            <a:spAutoFit/>
          </a:bodyPr>
          <a:lstStyle/>
          <a:p>
            <a:pPr algn="l"/>
            <a:r>
              <a:rPr sz="1500" b="1">
                <a:solidFill>
                  <a:srgbClr val="FAD02C"/>
                </a:solidFill>
                <a:latin typeface="Arial"/>
              </a:rPr>
              <a:t>2025M-1</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defRPr sz="1800" b="1">
                <a:solidFill>
                  <a:srgbClr val="FAD02C"/>
                </a:solidFill>
                <a:latin typeface="Arial"/>
              </a:defRPr>
            </a:pPr>
            <a:r>
              <a:rPr lang="en-US" sz="1800" b="1">
                <a:solidFill>
                  <a:srgbClr val="FAD02C"/>
                </a:solidFill>
                <a:latin typeface="Arial"/>
              </a:rPr>
              <a:t>The absolute maximum value of the function</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f</m:t>
                    </m:r>
                  </m:oMath>
                </a14:m>
              </mc:Choice>
            </mc:AlternateContent>
            <a:r>
              <a:rPr lang="en-US" sz="1800" b="1">
                <a:solidFill>
                  <a:srgbClr val="FAD02C"/>
                </a:solidFill>
                <a:latin typeface="Arial"/>
              </a:rPr>
              <a:t>given by</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f</m:t>
                    </m:r>
                    <m:r>
                      <m:rPr>
                        <m:sty m:val="p"/>
                      </m:rPr>
                      <m:t>(</m:t>
                    </m:r>
                    <m:r>
                      <m:t>x</m:t>
                    </m:r>
                    <m:r>
                      <m:rPr>
                        <m:sty m:val="p"/>
                      </m:rPr>
                      <m:t>)</m:t>
                    </m:r>
                    <m:r>
                      <m:rPr>
                        <m:sty m:val="p"/>
                      </m:rPr>
                      <m:t>=</m:t>
                    </m:r>
                    <m:sSup>
                      <m:e>
                        <m:r>
                          <m:t>x</m:t>
                        </m:r>
                      </m:e>
                      <m:sup>
                        <m:r>
                          <m:t>3</m:t>
                        </m:r>
                      </m:sup>
                    </m:sSup>
                    <m:r>
                      <m:rPr>
                        <m:sty m:val="p"/>
                      </m:rPr>
                      <m:t>,</m:t>
                    </m:r>
                    <m:r>
                      <m:t>x</m:t>
                    </m:r>
                    <m:r>
                      <m:rPr>
                        <m:sty m:val="p"/>
                      </m:rPr>
                      <m:t>∈</m:t>
                    </m:r>
                    <m:r>
                      <m:rPr>
                        <m:sty m:val="p"/>
                      </m:rPr>
                      <m:t>[</m:t>
                    </m:r>
                    <m:r>
                      <m:rPr>
                        <m:sty m:val="p"/>
                      </m:rPr>
                      <m:t>−</m:t>
                    </m:r>
                    <m:r>
                      <m:t>2</m:t>
                    </m:r>
                    <m:r>
                      <m:rPr>
                        <m:sty m:val="p"/>
                      </m:rPr>
                      <m:t>,</m:t>
                    </m:r>
                    <m:r>
                      <m:t>2</m:t>
                    </m:r>
                    <m:r>
                      <m:rPr>
                        <m:sty m:val="p"/>
                      </m:rPr>
                      <m:t>]</m:t>
                    </m:r>
                  </m:oMath>
                </a14:m>
              </mc:Choice>
            </mc:AlternateContent>
            <a:r>
              <a:rPr lang="en-US" sz="1800" b="1">
                <a:solidFill>
                  <a:srgbClr val="FAD02C"/>
                </a:solidFill>
                <a:latin typeface="Arial"/>
              </a:rPr>
              <a:t> </a:t>
            </a:r>
            <a:r>
              <a:rPr lang="en-US" sz="1800" b="1">
                <a:solidFill>
                  <a:srgbClr val="FAD02C"/>
                </a:solidFill>
                <a:latin typeface="Arial"/>
              </a:rPr>
              <a:t>is</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A. </a:t>
            </a:r>
            <mc:AlternateContent xmlns:mc="http://schemas.openxmlformats.org/markup-compatibility/2006" xmlns:a14="http://schemas.microsoft.com/office/drawing/2010/main">
              <mc:Choice Requires="a14">
                <a14:m>
                  <m:oMath xmlns:m="http://schemas.openxmlformats.org/officeDocument/2006/math">
                    <m:r>
                      <m:rPr>
                        <m:sty m:val="p"/>
                      </m:rPr>
                      <m:t>−</m:t>
                    </m:r>
                    <m:r>
                      <m:t>2</m:t>
                    </m:r>
                  </m:oMath>
                </a14:m>
              </mc:Choice>
            </mc:AlternateContent>
            <a:r>
              <a:rPr lang="en-US" sz="1600">
                <a:solidFill>
                  <a:srgbClr val="F0F0F0"/>
                </a:solidFill>
                <a:latin typeface="Arial"/>
              </a:rPr>
              <a:t>​</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B. </a:t>
            </a:r>
            <mc:AlternateContent xmlns:mc="http://schemas.openxmlformats.org/markup-compatibility/2006" xmlns:a14="http://schemas.microsoft.com/office/drawing/2010/main">
              <mc:Choice Requires="a14">
                <a14:m>
                  <m:oMath xmlns:m="http://schemas.openxmlformats.org/officeDocument/2006/math">
                    <m:r>
                      <m:t>2</m:t>
                    </m:r>
                  </m:oMath>
                </a14:m>
              </mc:Choice>
            </mc:AlternateContent>
            <a:r>
              <a:rPr lang="en-US" sz="1600">
                <a:solidFill>
                  <a:srgbClr val="F0F0F0"/>
                </a:solidFill>
                <a:latin typeface="Arial"/>
              </a:rPr>
              <a:t>​</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C. </a:t>
            </a:r>
            <mc:AlternateContent xmlns:mc="http://schemas.openxmlformats.org/markup-compatibility/2006" xmlns:a14="http://schemas.microsoft.com/office/drawing/2010/main">
              <mc:Choice Requires="a14">
                <a14:m>
                  <m:oMath xmlns:m="http://schemas.openxmlformats.org/officeDocument/2006/math">
                    <m:r>
                      <m:t>0</m:t>
                    </m:r>
                  </m:oMath>
                </a14:m>
              </mc:Choice>
            </mc:AlternateContent>
            <a:r>
              <a:rPr lang="en-US" sz="1600">
                <a:solidFill>
                  <a:srgbClr val="F0F0F0"/>
                </a:solidFill>
                <a:latin typeface="Arial"/>
              </a:rPr>
              <a:t>​</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D. </a:t>
            </a:r>
            <mc:AlternateContent xmlns:mc="http://schemas.openxmlformats.org/markup-compatibility/2006" xmlns:a14="http://schemas.microsoft.com/office/drawing/2010/main">
              <mc:Choice Requires="a14">
                <a14:m>
                  <m:oMath xmlns:m="http://schemas.openxmlformats.org/officeDocument/2006/math">
                    <m:r>
                      <m:t>8</m:t>
                    </m:r>
                  </m:oMath>
                </a14:m>
              </mc:Choice>
            </mc:AlternateContent>
            <a:r>
              <a:rPr lang="en-US" sz="1600">
                <a:solidFill>
                  <a:srgbClr val="F0F0F0"/>
                </a:solidFill>
                <a:latin typeface="Arial"/>
              </a:rPr>
              <a:t>​</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2025M</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defRPr sz="1800" b="1">
                <a:solidFill>
                  <a:srgbClr val="FAD02C"/>
                </a:solidFill>
                <a:latin typeface="Arial"/>
              </a:defRPr>
            </a:pPr>
            <a:r>
              <a:rPr lang="en-US" sz="1800" b="1">
                <a:solidFill>
                  <a:srgbClr val="FAD02C"/>
                </a:solidFill>
                <a:latin typeface="Arial"/>
              </a:rPr>
              <a:t>The function</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f</m:t>
                    </m:r>
                  </m:oMath>
                </a14:m>
              </mc:Choice>
            </mc:AlternateContent>
            <a:r>
              <a:rPr lang="en-US" sz="1800" b="1">
                <a:solidFill>
                  <a:srgbClr val="FAD02C"/>
                </a:solidFill>
                <a:latin typeface="Arial"/>
              </a:rPr>
              <a:t>given by</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f</m:t>
                    </m:r>
                    <m:r>
                      <m:rPr>
                        <m:sty m:val="p"/>
                      </m:rPr>
                      <m:t>(</m:t>
                    </m:r>
                    <m:r>
                      <m:t>x</m:t>
                    </m:r>
                    <m:r>
                      <m:rPr>
                        <m:sty m:val="p"/>
                      </m:rPr>
                      <m:t>)</m:t>
                    </m:r>
                    <m:r>
                      <m:rPr>
                        <m:sty m:val="p"/>
                      </m:rPr>
                      <m:t>=</m:t>
                    </m:r>
                    <m:r>
                      <m:rPr>
                        <m:sty m:val="p"/>
                      </m:rPr>
                      <m:t>log</m:t>
                    </m:r>
                    <m:r>
                      <m:rPr>
                        <m:sty m:val="p"/>
                      </m:rPr>
                      <m:t>(</m:t>
                    </m:r>
                    <m:r>
                      <m:rPr>
                        <m:sty m:val="p"/>
                      </m:rPr>
                      <m:t>sin</m:t>
                    </m:r>
                    <m:r>
                      <m:t>x</m:t>
                    </m:r>
                    <m:r>
                      <m:rPr>
                        <m:sty m:val="p"/>
                      </m:rPr>
                      <m:t>)</m:t>
                    </m:r>
                  </m:oMath>
                </a14:m>
              </mc:Choice>
            </mc:AlternateContent>
            <a:r>
              <a:rPr lang="en-US" sz="1800" b="1">
                <a:solidFill>
                  <a:srgbClr val="FAD02C"/>
                </a:solidFill>
                <a:latin typeface="Arial"/>
              </a:rPr>
              <a:t>is increasing on</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A. </a:t>
            </a:r>
            <mc:AlternateContent xmlns:mc="http://schemas.openxmlformats.org/markup-compatibility/2006" xmlns:a14="http://schemas.microsoft.com/office/drawing/2010/main">
              <mc:Choice Requires="a14">
                <a14:m>
                  <m:oMath xmlns:m="http://schemas.openxmlformats.org/officeDocument/2006/math">
                    <m:r>
                      <m:rPr>
                        <m:sty m:val="p"/>
                      </m:rPr>
                      <m:t>(</m:t>
                    </m:r>
                    <m:r>
                      <m:t>0</m:t>
                    </m:r>
                    <m:r>
                      <m:rPr>
                        <m:sty m:val="p"/>
                      </m:rPr>
                      <m:t>)</m:t>
                    </m:r>
                  </m:oMath>
                </a14:m>
              </mc:Choice>
            </mc:AlternateContent>
            <a:r>
              <a:rPr lang="en-US" sz="1600">
                <a:solidFill>
                  <a:srgbClr val="F0F0F0"/>
                </a:solidFill>
                <a:latin typeface="Arial"/>
              </a:rPr>
              <a:t>​</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B. </a:t>
            </a:r>
            <mc:AlternateContent xmlns:mc="http://schemas.openxmlformats.org/markup-compatibility/2006" xmlns:a14="http://schemas.microsoft.com/office/drawing/2010/main">
              <mc:Choice Requires="a14">
                <a14:m>
                  <m:oMath xmlns:m="http://schemas.openxmlformats.org/officeDocument/2006/math">
                    <m:r>
                      <m:rPr>
                        <m:sty m:val="p"/>
                      </m:rPr>
                      <m:t>(</m:t>
                    </m:r>
                    <m:r>
                      <m:t>π</m:t>
                    </m:r>
                    <m:r>
                      <m:rPr>
                        <m:sty m:val="p"/>
                      </m:rPr>
                      <m:t>)</m:t>
                    </m:r>
                  </m:oMath>
                </a14:m>
              </mc:Choice>
            </mc:AlternateContent>
            <a:r>
              <a:rPr lang="en-US" sz="1600">
                <a:solidFill>
                  <a:srgbClr val="F0F0F0"/>
                </a:solidFill>
                <a:latin typeface="Arial"/>
              </a:rPr>
              <a:t>​</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C. </a:t>
            </a:r>
            <mc:AlternateContent xmlns:mc="http://schemas.openxmlformats.org/markup-compatibility/2006" xmlns:a14="http://schemas.microsoft.com/office/drawing/2010/main">
              <mc:Choice Requires="a14">
                <a14:m>
                  <m:oMath xmlns:m="http://schemas.openxmlformats.org/officeDocument/2006/math">
                    <m:r>
                      <m:rPr>
                        <m:sty m:val="p"/>
                      </m:rPr>
                      <m:t>(</m:t>
                    </m:r>
                    <m:f>
                      <m:fPr>
                        <m:type m:val="bar"/>
                      </m:fPr>
                      <m:num>
                        <m:r>
                          <m:t>π</m:t>
                        </m:r>
                      </m:num>
                      <m:den>
                        <m:r>
                          <m:t>2</m:t>
                        </m:r>
                      </m:den>
                    </m:f>
                    <m:r>
                      <m:rPr>
                        <m:sty m:val="p"/>
                      </m:rPr>
                      <m:t>)</m:t>
                    </m:r>
                  </m:oMath>
                </a14:m>
              </mc:Choice>
            </mc:AlternateContent>
            <a:r>
              <a:rPr lang="en-US" sz="1600">
                <a:solidFill>
                  <a:srgbClr val="F0F0F0"/>
                </a:solidFill>
                <a:latin typeface="Arial"/>
              </a:rPr>
              <a:t>​</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D. </a:t>
            </a:r>
            <mc:AlternateContent xmlns:mc="http://schemas.openxmlformats.org/markup-compatibility/2006" xmlns:a14="http://schemas.microsoft.com/office/drawing/2010/main">
              <mc:Choice Requires="a14">
                <a14:m>
                  <m:oMath xmlns:m="http://schemas.openxmlformats.org/officeDocument/2006/math">
                    <m:r>
                      <m:rPr>
                        <m:sty m:val="p"/>
                      </m:rPr>
                      <m:t>(</m:t>
                    </m:r>
                    <m:f>
                      <m:fPr>
                        <m:type m:val="bar"/>
                      </m:fPr>
                      <m:num>
                        <m:r>
                          <m:t>3</m:t>
                        </m:r>
                        <m:r>
                          <m:t>π</m:t>
                        </m:r>
                      </m:num>
                      <m:den>
                        <m:r>
                          <m:t>2</m:t>
                        </m:r>
                      </m:den>
                    </m:f>
                    <m:r>
                      <m:rPr>
                        <m:sty m:val="p"/>
                      </m:rPr>
                      <m:t>)</m:t>
                    </m:r>
                  </m:oMath>
                </a14:m>
              </mc:Choice>
            </mc:AlternateContent>
            <a:r>
              <a:rPr lang="en-US" sz="1600">
                <a:solidFill>
                  <a:srgbClr val="F0F0F0"/>
                </a:solidFill>
                <a:latin typeface="Arial"/>
              </a:rPr>
              <a:t>​</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2025M</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1217980"/>
          </a:xfrm>
          <a:prstGeom prst="rect">
            <a:avLst/>
          </a:prstGeom>
          <a:noFill/>
        </p:spPr>
        <p:txBody>
          <a:bodyPr wrap="square" lIns="0" rIns="0" tIns="0" bIns="0">
            <a:spAutoFit/>
          </a:bodyPr>
          <a:lstStyle/>
          <a:p>
            <a:pPr algn="l">
              <a:defRPr sz="1800" b="1">
                <a:solidFill>
                  <a:srgbClr val="FAD02C"/>
                </a:solidFill>
                <a:latin typeface="Arial"/>
              </a:defRPr>
            </a:pPr>
            <a:r>
              <a:rPr lang="en-US" sz="1800" b="1">
                <a:solidFill>
                  <a:srgbClr val="FAD02C"/>
                </a:solidFill>
                <a:latin typeface="Arial"/>
              </a:rPr>
              <a:t>Consider the following statements for the given function</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y</m:t>
                    </m:r>
                    <m:r>
                      <m:rPr>
                        <m:sty m:val="p"/>
                      </m:rPr>
                      <m:t>=</m:t>
                    </m:r>
                    <m:r>
                      <m:t>f</m:t>
                    </m:r>
                    <m:r>
                      <m:rPr>
                        <m:sty m:val="p"/>
                      </m:rPr>
                      <m:t>(</m:t>
                    </m:r>
                    <m:r>
                      <m:t>x</m:t>
                    </m:r>
                    <m:r>
                      <m:rPr>
                        <m:sty m:val="p"/>
                      </m:rPr>
                      <m:t>)</m:t>
                    </m:r>
                  </m:oMath>
                </a14:m>
              </mc:Choice>
            </mc:AlternateContent>
            <a:r>
              <a:rPr lang="en-US" sz="1800" b="1">
                <a:solidFill>
                  <a:srgbClr val="FAD02C"/>
                </a:solidFill>
                <a:latin typeface="Arial"/>
              </a:rPr>
              <a:t>defined on an interval</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I</m:t>
                    </m:r>
                  </m:oMath>
                </a14:m>
              </mc:Choice>
            </mc:AlternateContent>
            <a:r>
              <a:rPr lang="en-US" sz="1800" b="1">
                <a:solidFill>
                  <a:srgbClr val="FAD02C"/>
                </a:solidFill>
                <a:latin typeface="Arial"/>
              </a:rPr>
              <a:t>and</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c</m:t>
                    </m:r>
                    <m:r>
                      <m:rPr>
                        <m:sty m:val="p"/>
                      </m:rPr>
                      <m:t>∈</m:t>
                    </m:r>
                    <m:r>
                      <m:t>I</m:t>
                    </m:r>
                    <m:r>
                      <m:rPr>
                        <m:sty m:val="p"/>
                      </m:rPr>
                      <m:t>,</m:t>
                    </m:r>
                  </m:oMath>
                </a14:m>
              </mc:Choice>
            </mc:AlternateContent>
            <a:r>
              <a:rPr lang="en-US" sz="1800" b="1">
                <a:solidFill>
                  <a:srgbClr val="FAD02C"/>
                </a:solidFill>
                <a:latin typeface="Arial"/>
              </a:rPr>
              <a:t> </a:t>
            </a:r>
            <a:r>
              <a:rPr lang="en-US" sz="1800" b="1">
                <a:solidFill>
                  <a:srgbClr val="FAD02C"/>
                </a:solidFill>
                <a:latin typeface="Arial"/>
              </a:rPr>
              <a:t>at</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x</m:t>
                    </m:r>
                    <m:r>
                      <m:rPr>
                        <m:sty m:val="p"/>
                      </m:rPr>
                      <m:t>=</m:t>
                    </m:r>
                    <m:r>
                      <m:t>c</m:t>
                    </m:r>
                  </m:oMath>
                </a14:m>
              </mc:Choice>
            </mc:AlternateContent>
            <a:r>
              <a:rPr lang="en-US" sz="1800" b="1">
                <a:solidFill>
                  <a:srgbClr val="FAD02C"/>
                </a:solidFill>
                <a:latin typeface="Arial"/>
              </a:rPr>
              <a:t> </a:t>
            </a:r>
            <a:r>
              <a:rPr lang="en-US" sz="1800" b="1">
                <a:solidFill>
                  <a:srgbClr val="FAD02C"/>
                </a:solidFill>
                <a:latin typeface="Arial"/>
              </a:rPr>
              <a:t>I.</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sSup>
                      <m:e>
                        <m:r>
                          <m:t>f</m:t>
                        </m:r>
                      </m:e>
                      <m:sup>
                        <m:r>
                          <m:rPr>
                            <m:sty m:val="p"/>
                          </m:rPr>
                          <m:t>′</m:t>
                        </m:r>
                      </m:sup>
                    </m:sSup>
                    <m:r>
                      <m:rPr>
                        <m:sty m:val="p"/>
                      </m:rPr>
                      <m:t>(</m:t>
                    </m:r>
                    <m:r>
                      <m:t>c</m:t>
                    </m:r>
                    <m:r>
                      <m:rPr>
                        <m:sty m:val="p"/>
                      </m:rPr>
                      <m:t>)</m:t>
                    </m:r>
                    <m:r>
                      <m:rPr>
                        <m:sty m:val="p"/>
                      </m:rPr>
                      <m:t>=</m:t>
                    </m:r>
                    <m:r>
                      <m:t>0</m:t>
                    </m:r>
                  </m:oMath>
                </a14:m>
              </mc:Choice>
            </mc:AlternateContent>
            <a:r>
              <a:rPr lang="en-US" sz="1800" b="1">
                <a:solidFill>
                  <a:srgbClr val="FAD02C"/>
                </a:solidFill>
                <a:latin typeface="Arial"/>
              </a:rPr>
              <a:t> </a:t>
            </a:r>
            <a:r>
              <a:rPr lang="en-US" sz="1800" b="1">
                <a:solidFill>
                  <a:srgbClr val="FAD02C"/>
                </a:solidFill>
                <a:latin typeface="Arial"/>
              </a:rPr>
              <a:t>and</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sSup>
                      <m:e>
                        <m:r>
                          <m:t>f</m:t>
                        </m:r>
                      </m:e>
                      <m:sup>
                        <m:r>
                          <m:rPr>
                            <m:sty m:val="p"/>
                          </m:rPr>
                          <m:t>″</m:t>
                        </m:r>
                      </m:sup>
                    </m:sSup>
                    <m:r>
                      <m:rPr>
                        <m:sty m:val="p"/>
                      </m:rPr>
                      <m:t>(</m:t>
                    </m:r>
                    <m:r>
                      <m:t>c</m:t>
                    </m:r>
                    <m:r>
                      <m:rPr>
                        <m:sty m:val="p"/>
                      </m:rPr>
                      <m:t>)</m:t>
                    </m:r>
                    <m:r>
                      <m:rPr>
                        <m:sty m:val="p"/>
                      </m:rPr>
                      <m:t>&lt;</m:t>
                    </m:r>
                    <m:r>
                      <m:t>0</m:t>
                    </m:r>
                    <m:r>
                      <m:rPr>
                        <m:sty m:val="p"/>
                      </m:rPr>
                      <m:t>⇒</m:t>
                    </m:r>
                    <m:r>
                      <m:t>f</m:t>
                    </m:r>
                  </m:oMath>
                </a14:m>
              </mc:Choice>
            </mc:AlternateContent>
            <a:r>
              <a:rPr lang="en-US" sz="1800" b="1">
                <a:solidFill>
                  <a:srgbClr val="FAD02C"/>
                </a:solidFill>
                <a:latin typeface="Arial"/>
              </a:rPr>
              <a:t>attains local maxima</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I</m:t>
                    </m:r>
                    <m:r>
                      <m:t>I</m:t>
                    </m:r>
                    <m:r>
                      <m:rPr>
                        <m:sty m:val="p"/>
                      </m:rPr>
                      <m:t>.</m:t>
                    </m:r>
                    <m:sSup>
                      <m:e>
                        <m:r>
                          <m:t>f</m:t>
                        </m:r>
                      </m:e>
                      <m:sup>
                        <m:r>
                          <m:rPr>
                            <m:sty m:val="p"/>
                          </m:rPr>
                          <m:t>′</m:t>
                        </m:r>
                      </m:sup>
                    </m:sSup>
                    <m:r>
                      <m:rPr>
                        <m:sty m:val="p"/>
                      </m:rPr>
                      <m:t>(</m:t>
                    </m:r>
                    <m:r>
                      <m:t>c</m:t>
                    </m:r>
                    <m:r>
                      <m:rPr>
                        <m:sty m:val="p"/>
                      </m:rPr>
                      <m:t>)</m:t>
                    </m:r>
                    <m:r>
                      <m:rPr>
                        <m:sty m:val="p"/>
                      </m:rPr>
                      <m:t>=</m:t>
                    </m:r>
                    <m:r>
                      <m:t>0</m:t>
                    </m:r>
                  </m:oMath>
                </a14:m>
              </mc:Choice>
            </mc:AlternateContent>
            <a:r>
              <a:rPr lang="en-US" sz="1800" b="1">
                <a:solidFill>
                  <a:srgbClr val="FAD02C"/>
                </a:solidFill>
                <a:latin typeface="Arial"/>
              </a:rPr>
              <a:t> </a:t>
            </a:r>
            <a:r>
              <a:rPr lang="en-US" sz="1800" b="1">
                <a:solidFill>
                  <a:srgbClr val="FAD02C"/>
                </a:solidFill>
                <a:latin typeface="Arial"/>
              </a:rPr>
              <a:t>and</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sSup>
                      <m:e>
                        <m:r>
                          <m:t>f</m:t>
                        </m:r>
                      </m:e>
                      <m:sup>
                        <m:r>
                          <m:rPr>
                            <m:sty m:val="p"/>
                          </m:rPr>
                          <m:t>″</m:t>
                        </m:r>
                      </m:sup>
                    </m:sSup>
                    <m:r>
                      <m:rPr>
                        <m:sty m:val="p"/>
                      </m:rPr>
                      <m:t>(</m:t>
                    </m:r>
                    <m:r>
                      <m:t>c</m:t>
                    </m:r>
                    <m:r>
                      <m:rPr>
                        <m:sty m:val="p"/>
                      </m:rPr>
                      <m:t>)</m:t>
                    </m:r>
                    <m:r>
                      <m:rPr>
                        <m:sty m:val="p"/>
                      </m:rPr>
                      <m:t>&gt;</m:t>
                    </m:r>
                    <m:r>
                      <m:t>0</m:t>
                    </m:r>
                    <m:r>
                      <m:rPr>
                        <m:sty m:val="p"/>
                      </m:rPr>
                      <m:t>⇒</m:t>
                    </m:r>
                    <m:r>
                      <m:t>f</m:t>
                    </m:r>
                  </m:oMath>
                </a14:m>
              </mc:Choice>
            </mc:AlternateContent>
            <a:r>
              <a:rPr lang="en-US" sz="1800" b="1">
                <a:solidFill>
                  <a:srgbClr val="FAD02C"/>
                </a:solidFill>
                <a:latin typeface="Arial"/>
              </a:rPr>
              <a:t>attains local minima</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I</m:t>
                    </m:r>
                    <m:r>
                      <m:t>I</m:t>
                    </m:r>
                    <m:r>
                      <m:t>I</m:t>
                    </m:r>
                    <m:r>
                      <m:rPr>
                        <m:sty m:val="p"/>
                      </m:rPr>
                      <m:t>.</m:t>
                    </m:r>
                    <m:sSup>
                      <m:e>
                        <m:r>
                          <m:t>f</m:t>
                        </m:r>
                      </m:e>
                      <m:sup>
                        <m:r>
                          <m:rPr>
                            <m:sty m:val="p"/>
                          </m:rPr>
                          <m:t>′</m:t>
                        </m:r>
                      </m:sup>
                    </m:sSup>
                    <m:r>
                      <m:rPr>
                        <m:sty m:val="p"/>
                      </m:rPr>
                      <m:t>(</m:t>
                    </m:r>
                    <m:r>
                      <m:t>c</m:t>
                    </m:r>
                    <m:r>
                      <m:rPr>
                        <m:sty m:val="p"/>
                      </m:rPr>
                      <m:t>)</m:t>
                    </m:r>
                    <m:r>
                      <m:rPr>
                        <m:sty m:val="p"/>
                      </m:rPr>
                      <m:t>=</m:t>
                    </m:r>
                    <m:r>
                      <m:t>0</m:t>
                    </m:r>
                  </m:oMath>
                </a14:m>
              </mc:Choice>
            </mc:AlternateContent>
            <a:r>
              <a:rPr lang="en-US" sz="1800" b="1">
                <a:solidFill>
                  <a:srgbClr val="FAD02C"/>
                </a:solidFill>
                <a:latin typeface="Arial"/>
              </a:rPr>
              <a:t> </a:t>
            </a:r>
            <a:r>
              <a:rPr lang="en-US" sz="1800" b="1">
                <a:solidFill>
                  <a:srgbClr val="FAD02C"/>
                </a:solidFill>
                <a:latin typeface="Arial"/>
              </a:rPr>
              <a:t>and</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sSup>
                      <m:e>
                        <m:r>
                          <m:t>f</m:t>
                        </m:r>
                      </m:e>
                      <m:sup>
                        <m:r>
                          <m:rPr>
                            <m:sty m:val="p"/>
                          </m:rPr>
                          <m:t>″</m:t>
                        </m:r>
                      </m:sup>
                    </m:sSup>
                    <m:r>
                      <m:rPr>
                        <m:sty m:val="p"/>
                      </m:rPr>
                      <m:t>(</m:t>
                    </m:r>
                    <m:r>
                      <m:t>c</m:t>
                    </m:r>
                    <m:r>
                      <m:rPr>
                        <m:sty m:val="p"/>
                      </m:rPr>
                      <m:t>)</m:t>
                    </m:r>
                    <m:r>
                      <m:rPr>
                        <m:sty m:val="p"/>
                      </m:rPr>
                      <m:t>=</m:t>
                    </m:r>
                    <m:r>
                      <m:t>0</m:t>
                    </m:r>
                    <m:r>
                      <m:rPr>
                        <m:sty m:val="p"/>
                      </m:rPr>
                      <m:t>⇒</m:t>
                    </m:r>
                    <m:r>
                      <m:t>f</m:t>
                    </m:r>
                  </m:oMath>
                </a14:m>
              </mc:Choice>
            </mc:AlternateContent>
            <a:r>
              <a:rPr lang="en-US" sz="1800" b="1">
                <a:solidFill>
                  <a:srgbClr val="FAD02C"/>
                </a:solidFill>
                <a:latin typeface="Arial"/>
              </a:rPr>
              <a:t>attains both maxima and minima</a:t>
            </a:r>
          </a:p>
        </p:txBody>
      </p:sp>
      <p:sp>
        <p:nvSpPr>
          <p:cNvPr id="7" name="TextBox 6"/>
          <p:cNvSpPr txBox="1"/>
          <p:nvPr/>
        </p:nvSpPr>
        <p:spPr>
          <a:xfrm>
            <a:off x="457200" y="2114092"/>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A. </a:t>
            </a:r>
            <a:r>
              <a:rPr lang="en-US" sz="1600">
                <a:solidFill>
                  <a:srgbClr val="F0F0F0"/>
                </a:solidFill>
                <a:latin typeface="Arial"/>
              </a:rPr>
              <a:t>I and</a:t>
            </a:r>
            <a:r>
              <a:rPr lang="en-US" sz="1600">
                <a:solidFill>
                  <a:srgbClr val="F0F0F0"/>
                </a:solidFill>
                <a:latin typeface="Arial"/>
              </a:rPr>
              <a:t> </a:t>
            </a:r>
            <mc:AlternateContent xmlns:mc="http://schemas.openxmlformats.org/markup-compatibility/2006" xmlns:a14="http://schemas.microsoft.com/office/drawing/2010/main">
              <mc:Choice Requires="a14">
                <a14:m>
                  <m:oMath xmlns:m="http://schemas.openxmlformats.org/officeDocument/2006/math">
                    <m:r>
                      <m:t>I</m:t>
                    </m:r>
                    <m:r>
                      <m:t>I</m:t>
                    </m:r>
                  </m:oMath>
                </a14:m>
              </mc:Choice>
            </mc:AlternateContent>
            <a:r>
              <a:rPr lang="en-US" sz="1600">
                <a:solidFill>
                  <a:srgbClr val="F0F0F0"/>
                </a:solidFill>
                <a:latin typeface="Arial"/>
              </a:rPr>
              <a:t> </a:t>
            </a:r>
            <a:r>
              <a:rPr lang="en-US" sz="1600">
                <a:solidFill>
                  <a:srgbClr val="F0F0F0"/>
                </a:solidFill>
                <a:latin typeface="Arial"/>
              </a:rPr>
              <a:t>are true</a:t>
            </a:r>
          </a:p>
        </p:txBody>
      </p:sp>
      <p:sp>
        <p:nvSpPr>
          <p:cNvPr id="8" name="TextBox 7"/>
          <p:cNvSpPr txBox="1"/>
          <p:nvPr/>
        </p:nvSpPr>
        <p:spPr>
          <a:xfrm>
            <a:off x="3321558" y="2114092"/>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B. </a:t>
            </a:r>
            <a:r>
              <a:rPr lang="en-US" sz="1600">
                <a:solidFill>
                  <a:srgbClr val="F0F0F0"/>
                </a:solidFill>
                <a:latin typeface="Arial"/>
              </a:rPr>
              <a:t>I and</a:t>
            </a:r>
            <a:r>
              <a:rPr lang="en-US" sz="1600">
                <a:solidFill>
                  <a:srgbClr val="F0F0F0"/>
                </a:solidFill>
                <a:latin typeface="Arial"/>
              </a:rPr>
              <a:t> </a:t>
            </a:r>
            <mc:AlternateContent xmlns:mc="http://schemas.openxmlformats.org/markup-compatibility/2006" xmlns:a14="http://schemas.microsoft.com/office/drawing/2010/main">
              <mc:Choice Requires="a14">
                <a14:m>
                  <m:oMath xmlns:m="http://schemas.openxmlformats.org/officeDocument/2006/math">
                    <m:r>
                      <m:t>I</m:t>
                    </m:r>
                    <m:r>
                      <m:t>I</m:t>
                    </m:r>
                    <m:r>
                      <m:t>I</m:t>
                    </m:r>
                  </m:oMath>
                </a14:m>
              </mc:Choice>
            </mc:AlternateContent>
            <a:r>
              <a:rPr lang="en-US" sz="1600">
                <a:solidFill>
                  <a:srgbClr val="F0F0F0"/>
                </a:solidFill>
                <a:latin typeface="Arial"/>
              </a:rPr>
              <a:t> </a:t>
            </a:r>
            <a:r>
              <a:rPr lang="en-US" sz="1600">
                <a:solidFill>
                  <a:srgbClr val="F0F0F0"/>
                </a:solidFill>
                <a:latin typeface="Arial"/>
              </a:rPr>
              <a:t>are true</a:t>
            </a:r>
          </a:p>
        </p:txBody>
      </p:sp>
      <p:sp>
        <p:nvSpPr>
          <p:cNvPr id="9" name="TextBox 8"/>
          <p:cNvSpPr txBox="1"/>
          <p:nvPr/>
        </p:nvSpPr>
        <p:spPr>
          <a:xfrm>
            <a:off x="6185916" y="2114092"/>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C. </a:t>
            </a:r>
            <mc:AlternateContent xmlns:mc="http://schemas.openxmlformats.org/markup-compatibility/2006" xmlns:a14="http://schemas.microsoft.com/office/drawing/2010/main">
              <mc:Choice Requires="a14">
                <a14:m>
                  <m:oMath xmlns:m="http://schemas.openxmlformats.org/officeDocument/2006/math">
                    <m:r>
                      <m:t>I</m:t>
                    </m:r>
                    <m:r>
                      <m:t>I</m:t>
                    </m:r>
                  </m:oMath>
                </a14:m>
              </mc:Choice>
            </mc:AlternateContent>
            <a:r>
              <a:rPr lang="en-US" sz="1600">
                <a:solidFill>
                  <a:srgbClr val="F0F0F0"/>
                </a:solidFill>
                <a:latin typeface="Arial"/>
              </a:rPr>
              <a:t> </a:t>
            </a:r>
            <a:r>
              <a:rPr lang="en-US" sz="1600">
                <a:solidFill>
                  <a:srgbClr val="F0F0F0"/>
                </a:solidFill>
                <a:latin typeface="Arial"/>
              </a:rPr>
              <a:t>and</a:t>
            </a:r>
            <a:r>
              <a:rPr lang="en-US" sz="1600">
                <a:solidFill>
                  <a:srgbClr val="F0F0F0"/>
                </a:solidFill>
                <a:latin typeface="Arial"/>
              </a:rPr>
              <a:t> </a:t>
            </a:r>
            <mc:AlternateContent xmlns:mc="http://schemas.openxmlformats.org/markup-compatibility/2006" xmlns:a14="http://schemas.microsoft.com/office/drawing/2010/main">
              <mc:Choice Requires="a14">
                <a14:m>
                  <m:oMath xmlns:m="http://schemas.openxmlformats.org/officeDocument/2006/math">
                    <m:r>
                      <m:t>I</m:t>
                    </m:r>
                    <m:r>
                      <m:t>I</m:t>
                    </m:r>
                    <m:r>
                      <m:t>I</m:t>
                    </m:r>
                  </m:oMath>
                </a14:m>
              </mc:Choice>
            </mc:AlternateContent>
            <a:r>
              <a:rPr lang="en-US" sz="1600">
                <a:solidFill>
                  <a:srgbClr val="F0F0F0"/>
                </a:solidFill>
                <a:latin typeface="Arial"/>
              </a:rPr>
              <a:t> </a:t>
            </a:r>
            <a:r>
              <a:rPr lang="en-US" sz="1600">
                <a:solidFill>
                  <a:srgbClr val="F0F0F0"/>
                </a:solidFill>
                <a:latin typeface="Arial"/>
              </a:rPr>
              <a:t>are true</a:t>
            </a:r>
          </a:p>
        </p:txBody>
      </p:sp>
      <p:sp>
        <p:nvSpPr>
          <p:cNvPr id="10" name="TextBox 9"/>
          <p:cNvSpPr txBox="1"/>
          <p:nvPr/>
        </p:nvSpPr>
        <p:spPr>
          <a:xfrm>
            <a:off x="9050274" y="2114092"/>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all are false</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2025M</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defRPr sz="1800" b="1">
                <a:solidFill>
                  <a:srgbClr val="FAD02C"/>
                </a:solidFill>
                <a:latin typeface="Arial"/>
              </a:defRPr>
            </a:pPr>
            <a:r>
              <a:rPr lang="en-US" sz="1800" b="1">
                <a:solidFill>
                  <a:srgbClr val="FAD02C"/>
                </a:solidFill>
                <a:latin typeface="Arial"/>
              </a:rPr>
              <a:t>If each side of a cube is</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x</m:t>
                    </m:r>
                  </m:oMath>
                </a14:m>
              </mc:Choice>
            </mc:AlternateContent>
            <a:r>
              <a:rPr lang="en-US" sz="1800" b="1">
                <a:solidFill>
                  <a:srgbClr val="FAD02C"/>
                </a:solidFill>
                <a:latin typeface="Arial"/>
              </a:rPr>
              <a:t>units, then the rate of change of its surface area with respect to side is</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A. </a:t>
            </a:r>
            <mc:AlternateContent xmlns:mc="http://schemas.openxmlformats.org/markup-compatibility/2006" xmlns:a14="http://schemas.microsoft.com/office/drawing/2010/main">
              <mc:Choice Requires="a14">
                <a14:m>
                  <m:oMath xmlns:m="http://schemas.openxmlformats.org/officeDocument/2006/math">
                    <m:r>
                      <m:t>12</m:t>
                    </m:r>
                    <m:r>
                      <m:t>x</m:t>
                    </m:r>
                  </m:oMath>
                </a14:m>
              </mc:Choice>
            </mc:AlternateContent>
            <a:r>
              <a:rPr lang="en-US" sz="1600">
                <a:solidFill>
                  <a:srgbClr val="F0F0F0"/>
                </a:solidFill>
                <a:latin typeface="Arial"/>
              </a:rPr>
              <a:t>​</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B. </a:t>
            </a:r>
            <mc:AlternateContent xmlns:mc="http://schemas.openxmlformats.org/markup-compatibility/2006" xmlns:a14="http://schemas.microsoft.com/office/drawing/2010/main">
              <mc:Choice Requires="a14">
                <a14:m>
                  <m:oMath xmlns:m="http://schemas.openxmlformats.org/officeDocument/2006/math">
                    <m:r>
                      <m:t>6</m:t>
                    </m:r>
                    <m:r>
                      <m:t>x</m:t>
                    </m:r>
                  </m:oMath>
                </a14:m>
              </mc:Choice>
            </mc:AlternateContent>
            <a:r>
              <a:rPr lang="en-US" sz="1600">
                <a:solidFill>
                  <a:srgbClr val="F0F0F0"/>
                </a:solidFill>
                <a:latin typeface="Arial"/>
              </a:rPr>
              <a:t>​</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C. </a:t>
            </a:r>
            <mc:AlternateContent xmlns:mc="http://schemas.openxmlformats.org/markup-compatibility/2006" xmlns:a14="http://schemas.microsoft.com/office/drawing/2010/main">
              <mc:Choice Requires="a14">
                <a14:m>
                  <m:oMath xmlns:m="http://schemas.openxmlformats.org/officeDocument/2006/math">
                    <m:r>
                      <m:t>6</m:t>
                    </m:r>
                    <m:sSup>
                      <m:e>
                        <m:r>
                          <m:t>x</m:t>
                        </m:r>
                      </m:e>
                      <m:sup>
                        <m:r>
                          <m:t>2</m:t>
                        </m:r>
                      </m:sup>
                    </m:sSup>
                  </m:oMath>
                </a14:m>
              </mc:Choice>
            </mc:AlternateContent>
            <a:r>
              <a:rPr lang="en-US" sz="1600">
                <a:solidFill>
                  <a:srgbClr val="F0F0F0"/>
                </a:solidFill>
                <a:latin typeface="Arial"/>
              </a:rPr>
              <a:t>​</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D. </a:t>
            </a:r>
            <mc:AlternateContent xmlns:mc="http://schemas.openxmlformats.org/markup-compatibility/2006" xmlns:a14="http://schemas.microsoft.com/office/drawing/2010/main">
              <mc:Choice Requires="a14">
                <a14:m>
                  <m:oMath xmlns:m="http://schemas.openxmlformats.org/officeDocument/2006/math">
                    <m:r>
                      <m:t>3</m:t>
                    </m:r>
                    <m:sSup>
                      <m:e>
                        <m:r>
                          <m:t>x</m:t>
                        </m:r>
                      </m:e>
                      <m:sup>
                        <m:r>
                          <m:t>2</m:t>
                        </m:r>
                      </m:sup>
                    </m:sSup>
                  </m:oMath>
                </a14:m>
              </mc:Choice>
            </mc:AlternateContent>
            <a:r>
              <a:rPr lang="en-US" sz="1600">
                <a:solidFill>
                  <a:srgbClr val="F0F0F0"/>
                </a:solidFill>
                <a:latin typeface="Arial"/>
              </a:rPr>
              <a:t>​</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2026M</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r>
              <a:rPr sz="1800" b="1">
                <a:solidFill>
                  <a:srgbClr val="FAD02C"/>
                </a:solidFill>
                <a:latin typeface="Arial"/>
              </a:rPr>
              <a:t>Let C be the circumference and A be the area of a circle.</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TextBox 2"/>
          <p:cNvSpPr txBox="1"/>
          <p:nvPr/>
        </p:nvSpPr>
        <p:spPr>
          <a:xfrm>
            <a:off x="457200" y="731520"/>
            <a:ext cx="11274552" cy="608990"/>
          </a:xfrm>
          <a:prstGeom prst="rect">
            <a:avLst/>
          </a:prstGeom>
          <a:noFill/>
        </p:spPr>
        <p:txBody>
          <a:bodyPr wrap="square" lIns="0" rIns="0" tIns="0" bIns="0">
            <a:spAutoFit/>
          </a:bodyPr>
          <a:lstStyle/>
          <a:p>
            <a:pPr algn="l"/>
            <a:r>
              <a:rPr sz="1800" b="1">
                <a:solidFill>
                  <a:srgbClr val="FAD02C"/>
                </a:solidFill>
                <a:latin typeface="Arial"/>
              </a:rPr>
              <a:t>Statement 1: The rate of change of the area with respective to radius is equal to C.
Statement 2: The rate of change of the area with respective to diameter is C/2.</a:t>
            </a:r>
          </a:p>
        </p:txBody>
      </p:sp>
      <p:sp>
        <p:nvSpPr>
          <p:cNvPr id="4" name="TextBox 3"/>
          <p:cNvSpPr txBox="1"/>
          <p:nvPr/>
        </p:nvSpPr>
        <p:spPr>
          <a:xfrm>
            <a:off x="457200" y="1505102"/>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Only Statement 1 is true</a:t>
            </a:r>
          </a:p>
        </p:txBody>
      </p:sp>
      <p:sp>
        <p:nvSpPr>
          <p:cNvPr id="5" name="TextBox 4"/>
          <p:cNvSpPr txBox="1"/>
          <p:nvPr/>
        </p:nvSpPr>
        <p:spPr>
          <a:xfrm>
            <a:off x="3321558" y="1505102"/>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Only statement 2 is true</a:t>
            </a:r>
          </a:p>
        </p:txBody>
      </p:sp>
      <p:sp>
        <p:nvSpPr>
          <p:cNvPr id="6" name="TextBox 5"/>
          <p:cNvSpPr txBox="1"/>
          <p:nvPr/>
        </p:nvSpPr>
        <p:spPr>
          <a:xfrm>
            <a:off x="6185916" y="1505102"/>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Both statements are true</a:t>
            </a:r>
          </a:p>
        </p:txBody>
      </p:sp>
      <p:sp>
        <p:nvSpPr>
          <p:cNvPr id="7" name="TextBox 6"/>
          <p:cNvSpPr txBox="1"/>
          <p:nvPr/>
        </p:nvSpPr>
        <p:spPr>
          <a:xfrm>
            <a:off x="9050274" y="1505102"/>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Both statements are false</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2026M</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defRPr sz="1800" b="1">
                <a:solidFill>
                  <a:srgbClr val="FAD02C"/>
                </a:solidFill>
                <a:latin typeface="Arial"/>
              </a:defRPr>
            </a:pPr>
            <a:r>
              <a:rPr lang="en-US" sz="1800" b="1">
                <a:solidFill>
                  <a:srgbClr val="FAD02C"/>
                </a:solidFill>
                <a:latin typeface="Arial"/>
              </a:rPr>
              <a:t>Function</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f</m:t>
                    </m:r>
                    <m:r>
                      <m:rPr>
                        <m:sty m:val="p"/>
                      </m:rPr>
                      <m:t>(</m:t>
                    </m:r>
                    <m:r>
                      <m:t>x</m:t>
                    </m:r>
                    <m:r>
                      <m:rPr>
                        <m:sty m:val="p"/>
                      </m:rPr>
                      <m:t>)</m:t>
                    </m:r>
                    <m:r>
                      <m:rPr>
                        <m:sty m:val="p"/>
                      </m:rPr>
                      <m:t>=</m:t>
                    </m:r>
                    <m:sSup>
                      <m:e>
                        <m:r>
                          <m:t>a</m:t>
                        </m:r>
                      </m:e>
                      <m:sup>
                        <m:r>
                          <m:t>x</m:t>
                        </m:r>
                      </m:sup>
                    </m:sSup>
                  </m:oMath>
                </a14:m>
              </mc:Choice>
            </mc:AlternateContent>
            <a:r>
              <a:rPr lang="en-US" sz="1800" b="1">
                <a:solidFill>
                  <a:srgbClr val="FAD02C"/>
                </a:solidFill>
                <a:latin typeface="Arial"/>
              </a:rPr>
              <a:t> </a:t>
            </a:r>
            <a:r>
              <a:rPr lang="en-US" sz="1800" b="1">
                <a:solidFill>
                  <a:srgbClr val="FAD02C"/>
                </a:solidFill>
                <a:latin typeface="Arial"/>
              </a:rPr>
              <a:t>is increasing on R, if</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a&gt;0</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a&lt;0</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0&lt;a&lt;1</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a&gt;1</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2026M</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608990"/>
          </a:xfrm>
          <a:prstGeom prst="rect">
            <a:avLst/>
          </a:prstGeom>
          <a:noFill/>
        </p:spPr>
        <p:txBody>
          <a:bodyPr wrap="square" lIns="0" rIns="0" tIns="0" bIns="0">
            <a:spAutoFit/>
          </a:bodyPr>
          <a:lstStyle/>
          <a:p>
            <a:pPr algn="l">
              <a:defRPr sz="1800" b="1">
                <a:solidFill>
                  <a:srgbClr val="FAD02C"/>
                </a:solidFill>
                <a:latin typeface="Arial"/>
              </a:defRPr>
            </a:pPr>
            <a:r>
              <a:rPr lang="en-US" sz="1800" b="1">
                <a:solidFill>
                  <a:srgbClr val="FAD02C"/>
                </a:solidFill>
                <a:latin typeface="Arial"/>
              </a:rPr>
              <a:t>The total revenue in rupees received from the sale of</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x</m:t>
                    </m:r>
                  </m:oMath>
                </a14:m>
              </mc:Choice>
            </mc:AlternateContent>
            <a:r>
              <a:rPr lang="en-US" sz="1800" b="1">
                <a:solidFill>
                  <a:srgbClr val="FAD02C"/>
                </a:solidFill>
                <a:latin typeface="Arial"/>
              </a:rPr>
              <a:t> </a:t>
            </a:r>
            <a:r>
              <a:rPr lang="en-US" sz="1800" b="1">
                <a:solidFill>
                  <a:srgbClr val="FAD02C"/>
                </a:solidFill>
                <a:latin typeface="Arial"/>
              </a:rPr>
              <a:t>units of a product is</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R</m:t>
                    </m:r>
                    <m:r>
                      <m:rPr>
                        <m:sty m:val="p"/>
                      </m:rPr>
                      <m:t>(</m:t>
                    </m:r>
                    <m:r>
                      <m:t>x</m:t>
                    </m:r>
                    <m:r>
                      <m:rPr>
                        <m:sty m:val="p"/>
                      </m:rPr>
                      <m:t>)</m:t>
                    </m:r>
                    <m:r>
                      <m:rPr>
                        <m:sty m:val="p"/>
                      </m:rPr>
                      <m:t>=</m:t>
                    </m:r>
                    <m:r>
                      <m:t>3</m:t>
                    </m:r>
                    <m:sSup>
                      <m:e>
                        <m:r>
                          <m:t>x</m:t>
                        </m:r>
                      </m:e>
                      <m:sup>
                        <m:r>
                          <m:t>2</m:t>
                        </m:r>
                      </m:sup>
                    </m:sSup>
                    <m:r>
                      <m:rPr>
                        <m:sty m:val="p"/>
                      </m:rPr>
                      <m:t>+</m:t>
                    </m:r>
                    <m:r>
                      <m:t>36</m:t>
                    </m:r>
                    <m:r>
                      <m:t>x</m:t>
                    </m:r>
                    <m:r>
                      <m:rPr>
                        <m:sty m:val="p"/>
                      </m:rPr>
                      <m:t>+</m:t>
                    </m:r>
                    <m:r>
                      <m:t>5</m:t>
                    </m:r>
                    <m:r>
                      <m:rPr>
                        <m:sty m:val="p"/>
                      </m:rPr>
                      <m:t>,</m:t>
                    </m:r>
                  </m:oMath>
                </a14:m>
              </mc:Choice>
            </mc:AlternateContent>
            <a:r>
              <a:rPr lang="en-US" sz="1800" b="1">
                <a:solidFill>
                  <a:srgbClr val="FAD02C"/>
                </a:solidFill>
                <a:latin typeface="Arial"/>
              </a:rPr>
              <a:t> </a:t>
            </a:r>
            <a:r>
              <a:rPr lang="en-US" sz="1800" b="1">
                <a:solidFill>
                  <a:srgbClr val="FAD02C"/>
                </a:solidFill>
                <a:latin typeface="Arial"/>
              </a:rPr>
              <a:t>then the marginal revenue when</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x</m:t>
                    </m:r>
                    <m:r>
                      <m:rPr>
                        <m:sty m:val="p"/>
                      </m:rPr>
                      <m:t>=</m:t>
                    </m:r>
                    <m:r>
                      <m:t>15</m:t>
                    </m:r>
                  </m:oMath>
                </a14:m>
              </mc:Choice>
            </mc:AlternateContent>
            <a:r>
              <a:rPr lang="en-US" sz="1800" b="1">
                <a:solidFill>
                  <a:srgbClr val="FAD02C"/>
                </a:solidFill>
                <a:latin typeface="Arial"/>
              </a:rPr>
              <a:t> </a:t>
            </a:r>
            <a:r>
              <a:rPr lang="en-US" sz="1800" b="1">
                <a:solidFill>
                  <a:srgbClr val="FAD02C"/>
                </a:solidFill>
                <a:latin typeface="Arial"/>
              </a:rPr>
              <a:t>is …… Rupees</a:t>
            </a:r>
          </a:p>
        </p:txBody>
      </p:sp>
      <p:sp>
        <p:nvSpPr>
          <p:cNvPr id="7" name="TextBox 6"/>
          <p:cNvSpPr txBox="1"/>
          <p:nvPr/>
        </p:nvSpPr>
        <p:spPr>
          <a:xfrm>
            <a:off x="457200" y="1505102"/>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116</a:t>
            </a:r>
          </a:p>
        </p:txBody>
      </p:sp>
      <p:sp>
        <p:nvSpPr>
          <p:cNvPr id="8" name="TextBox 7"/>
          <p:cNvSpPr txBox="1"/>
          <p:nvPr/>
        </p:nvSpPr>
        <p:spPr>
          <a:xfrm>
            <a:off x="3321558" y="1505102"/>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96</a:t>
            </a:r>
          </a:p>
        </p:txBody>
      </p:sp>
      <p:sp>
        <p:nvSpPr>
          <p:cNvPr id="9" name="TextBox 8"/>
          <p:cNvSpPr txBox="1"/>
          <p:nvPr/>
        </p:nvSpPr>
        <p:spPr>
          <a:xfrm>
            <a:off x="6185916" y="1505102"/>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90</a:t>
            </a:r>
          </a:p>
        </p:txBody>
      </p:sp>
      <p:sp>
        <p:nvSpPr>
          <p:cNvPr id="10" name="TextBox 9"/>
          <p:cNvSpPr txBox="1"/>
          <p:nvPr/>
        </p:nvSpPr>
        <p:spPr>
          <a:xfrm>
            <a:off x="9050274" y="1505102"/>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126</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2026M</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defRPr sz="1800" b="1">
                <a:solidFill>
                  <a:srgbClr val="FAD02C"/>
                </a:solidFill>
                <a:latin typeface="Arial"/>
              </a:defRPr>
            </a:pPr>
            <a:r>
              <a:rPr lang="en-US" sz="1800" b="1">
                <a:solidFill>
                  <a:srgbClr val="FAD02C"/>
                </a:solidFill>
                <a:latin typeface="Arial"/>
              </a:rPr>
              <a:t>The absolute maximum value of the function given by</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f</m:t>
                    </m:r>
                    <m:r>
                      <m:rPr>
                        <m:sty m:val="p"/>
                      </m:rPr>
                      <m:t>(</m:t>
                    </m:r>
                    <m:r>
                      <m:t>x</m:t>
                    </m:r>
                    <m:r>
                      <m:rPr>
                        <m:sty m:val="p"/>
                      </m:rPr>
                      <m:t>)</m:t>
                    </m:r>
                    <m:r>
                      <m:rPr>
                        <m:sty m:val="p"/>
                      </m:rPr>
                      <m:t>=</m:t>
                    </m:r>
                    <m:sSup>
                      <m:e>
                        <m:r>
                          <m:t>x</m:t>
                        </m:r>
                      </m:e>
                      <m:sup>
                        <m:r>
                          <m:t>3</m:t>
                        </m:r>
                      </m:sup>
                    </m:sSup>
                    <m:r>
                      <m:rPr>
                        <m:sty m:val="p"/>
                      </m:rPr>
                      <m:t>,</m:t>
                    </m:r>
                    <m:r>
                      <m:t>x</m:t>
                    </m:r>
                    <m:r>
                      <m:rPr>
                        <m:sty m:val="p"/>
                      </m:rPr>
                      <m:t>∈</m:t>
                    </m:r>
                    <m:r>
                      <m:rPr>
                        <m:sty m:val="p"/>
                      </m:rPr>
                      <m:t>[</m:t>
                    </m:r>
                    <m:r>
                      <m:rPr>
                        <m:sty m:val="p"/>
                      </m:rPr>
                      <m:t>−</m:t>
                    </m:r>
                    <m:r>
                      <m:t>2</m:t>
                    </m:r>
                    <m:r>
                      <m:rPr>
                        <m:sty m:val="p"/>
                      </m:rPr>
                      <m:t>,</m:t>
                    </m:r>
                    <m:r>
                      <m:t>2</m:t>
                    </m:r>
                    <m:r>
                      <m:rPr>
                        <m:sty m:val="p"/>
                      </m:rPr>
                      <m:t>]</m:t>
                    </m:r>
                  </m:oMath>
                </a14:m>
              </mc:Choice>
            </mc:AlternateContent>
            <a:r>
              <a:rPr lang="en-US" sz="1800" b="1">
                <a:solidFill>
                  <a:srgbClr val="FAD02C"/>
                </a:solidFill>
                <a:latin typeface="Arial"/>
              </a:rPr>
              <a:t>is ……</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−2</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2</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0</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8</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2026-1</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defRPr sz="1800" b="1">
                <a:solidFill>
                  <a:srgbClr val="FAD02C"/>
                </a:solidFill>
                <a:latin typeface="Arial"/>
              </a:defRPr>
            </a:pPr>
            <a:r>
              <a:rPr lang="en-US" sz="1800" b="1">
                <a:solidFill>
                  <a:srgbClr val="FAD02C"/>
                </a:solidFill>
                <a:latin typeface="Arial"/>
              </a:rPr>
              <a:t>The minimum value of</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rPr>
                        <m:sty m:val="p"/>
                      </m:rPr>
                      <m:t>∣</m:t>
                    </m:r>
                    <m:r>
                      <m:t>x</m:t>
                    </m:r>
                    <m:r>
                      <m:rPr>
                        <m:sty m:val="p"/>
                      </m:rPr>
                      <m:t>∣</m:t>
                    </m:r>
                  </m:oMath>
                </a14:m>
              </mc:Choice>
            </mc:AlternateContent>
            <a:r>
              <a:rPr lang="en-US" sz="1800" b="1">
                <a:solidFill>
                  <a:srgbClr val="FAD02C"/>
                </a:solidFill>
                <a:latin typeface="Arial"/>
              </a:rPr>
              <a:t>in</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R</m:t>
                    </m:r>
                  </m:oMath>
                </a14:m>
              </mc:Choice>
            </mc:AlternateContent>
            <a:r>
              <a:rPr lang="en-US" sz="1800" b="1">
                <a:solidFill>
                  <a:srgbClr val="FAD02C"/>
                </a:solidFill>
                <a:latin typeface="Arial"/>
              </a:rPr>
              <a:t> </a:t>
            </a:r>
            <a:r>
              <a:rPr lang="en-US" sz="1800" b="1">
                <a:solidFill>
                  <a:srgbClr val="FAD02C"/>
                </a:solidFill>
                <a:latin typeface="Arial"/>
              </a:rPr>
              <a:t>is……</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0</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1</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2</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does not exist</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2026M</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defRPr sz="1800" b="1">
                <a:solidFill>
                  <a:srgbClr val="FAD02C"/>
                </a:solidFill>
                <a:latin typeface="Arial"/>
              </a:defRPr>
            </a:pPr>
            <a:r>
              <a:rPr lang="en-US" sz="1800" b="1">
                <a:solidFill>
                  <a:srgbClr val="FAD02C"/>
                </a:solidFill>
                <a:latin typeface="Arial"/>
              </a:rPr>
              <a:t>The rate of change of the area of a circle with respect to its radius</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r</m:t>
                    </m:r>
                  </m:oMath>
                </a14:m>
              </mc:Choice>
            </mc:AlternateContent>
            <a:r>
              <a:rPr lang="en-US" sz="1800" b="1">
                <a:solidFill>
                  <a:srgbClr val="FAD02C"/>
                </a:solidFill>
                <a:latin typeface="Arial"/>
              </a:rPr>
              <a:t> </a:t>
            </a:r>
            <a:r>
              <a:rPr lang="en-US" sz="1800" b="1">
                <a:solidFill>
                  <a:srgbClr val="FAD02C"/>
                </a:solidFill>
                <a:latin typeface="Arial"/>
              </a:rPr>
              <a:t>when</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r</m:t>
                    </m:r>
                    <m:r>
                      <m:rPr>
                        <m:sty m:val="p"/>
                      </m:rPr>
                      <m:t>=</m:t>
                    </m:r>
                    <m:r>
                      <m:t>4</m:t>
                    </m:r>
                  </m:oMath>
                </a14:m>
              </mc:Choice>
            </mc:AlternateContent>
            <a:r>
              <a:rPr lang="en-US" sz="1800" b="1">
                <a:solidFill>
                  <a:srgbClr val="FAD02C"/>
                </a:solidFill>
                <a:latin typeface="Arial"/>
              </a:rPr>
              <a:t>cm is……</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π</m:t>
                    </m:r>
                    <m:r>
                      <m:t>c</m:t>
                    </m:r>
                    <m:sSup>
                      <m:e>
                        <m:r>
                          <m:t>m</m:t>
                        </m:r>
                      </m:e>
                      <m:sup>
                        <m:r>
                          <m:t>2</m:t>
                        </m:r>
                      </m:sup>
                    </m:sSup>
                  </m:oMath>
                </a14:m>
              </mc:Choice>
            </mc:AlternateContent>
            <a:r>
              <a:rPr lang="en-US" sz="1800" b="1">
                <a:solidFill>
                  <a:srgbClr val="FAD02C"/>
                </a:solidFill>
                <a:latin typeface="Arial"/>
              </a:rPr>
              <a:t>/cm.</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10</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12</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8</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11.</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2026M</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608990"/>
          </a:xfrm>
          <a:prstGeom prst="rect">
            <a:avLst/>
          </a:prstGeom>
          <a:noFill/>
        </p:spPr>
        <p:txBody>
          <a:bodyPr wrap="square" lIns="0" rIns="0" tIns="0" bIns="0">
            <a:spAutoFit/>
          </a:bodyPr>
          <a:lstStyle/>
          <a:p>
            <a:pPr algn="l">
              <a:defRPr sz="1800" b="1">
                <a:solidFill>
                  <a:srgbClr val="FAD02C"/>
                </a:solidFill>
                <a:latin typeface="Arial"/>
              </a:defRPr>
            </a:pPr>
            <a:r>
              <a:rPr lang="en-US" sz="1800" b="1">
                <a:solidFill>
                  <a:srgbClr val="FAD02C"/>
                </a:solidFill>
                <a:latin typeface="Arial"/>
              </a:rPr>
              <a:t>The rate of change of area of circle per</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rPr>
                        <m:sty m:val="p"/>
                      </m:rPr>
                      <m:t>sec</m:t>
                    </m:r>
                    <m:r>
                      <m:t>o</m:t>
                    </m:r>
                    <m:r>
                      <m:t>n</m:t>
                    </m:r>
                    <m:r>
                      <m:t>d</m:t>
                    </m:r>
                  </m:oMath>
                </a14:m>
              </mc:Choice>
            </mc:AlternateContent>
            <a:r>
              <a:rPr lang="en-US" sz="1800" b="1">
                <a:solidFill>
                  <a:srgbClr val="FAD02C"/>
                </a:solidFill>
                <a:latin typeface="Arial"/>
              </a:rPr>
              <a:t> </a:t>
            </a:r>
            <a:r>
              <a:rPr lang="en-US" sz="1800" b="1">
                <a:solidFill>
                  <a:srgbClr val="FAD02C"/>
                </a:solidFill>
                <a:latin typeface="Arial"/>
              </a:rPr>
              <a:t>with respect to its radius r when r = 3 cm (in</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c</m:t>
                    </m:r>
                    <m:sSup>
                      <m:e>
                        <m:r>
                          <m:t>m</m:t>
                        </m:r>
                      </m:e>
                      <m:sup>
                        <m:r>
                          <m:t>2</m:t>
                        </m:r>
                      </m:sup>
                    </m:sSup>
                  </m:oMath>
                </a14:m>
              </mc:Choice>
            </mc:AlternateContent>
            <a:r>
              <a:rPr lang="en-US" sz="1800" b="1">
                <a:solidFill>
                  <a:srgbClr val="FAD02C"/>
                </a:solidFill>
                <a:latin typeface="Arial"/>
              </a:rPr>
              <a:t>/s) is</a:t>
            </a:r>
          </a:p>
        </p:txBody>
      </p:sp>
      <p:sp>
        <p:nvSpPr>
          <p:cNvPr id="7" name="TextBox 6"/>
          <p:cNvSpPr txBox="1"/>
          <p:nvPr/>
        </p:nvSpPr>
        <p:spPr>
          <a:xfrm>
            <a:off x="457200" y="1505102"/>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A. </a:t>
            </a:r>
            <mc:AlternateContent xmlns:mc="http://schemas.openxmlformats.org/markup-compatibility/2006" xmlns:a14="http://schemas.microsoft.com/office/drawing/2010/main">
              <mc:Choice Requires="a14">
                <a14:m>
                  <m:oMath xmlns:m="http://schemas.openxmlformats.org/officeDocument/2006/math">
                    <m:r>
                      <m:t>π</m:t>
                    </m:r>
                  </m:oMath>
                </a14:m>
              </mc:Choice>
            </mc:AlternateContent>
            <a:r>
              <a:rPr lang="en-US" sz="1600">
                <a:solidFill>
                  <a:srgbClr val="F0F0F0"/>
                </a:solidFill>
                <a:latin typeface="Arial"/>
              </a:rPr>
              <a:t>​</a:t>
            </a:r>
          </a:p>
        </p:txBody>
      </p:sp>
      <p:sp>
        <p:nvSpPr>
          <p:cNvPr id="8" name="TextBox 7"/>
          <p:cNvSpPr txBox="1"/>
          <p:nvPr/>
        </p:nvSpPr>
        <p:spPr>
          <a:xfrm>
            <a:off x="3321558" y="1505102"/>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B. </a:t>
            </a:r>
            <mc:AlternateContent xmlns:mc="http://schemas.openxmlformats.org/markup-compatibility/2006" xmlns:a14="http://schemas.microsoft.com/office/drawing/2010/main">
              <mc:Choice Requires="a14">
                <a14:m>
                  <m:oMath xmlns:m="http://schemas.openxmlformats.org/officeDocument/2006/math">
                    <m:r>
                      <m:t>3</m:t>
                    </m:r>
                    <m:r>
                      <m:t>π</m:t>
                    </m:r>
                  </m:oMath>
                </a14:m>
              </mc:Choice>
            </mc:AlternateContent>
            <a:r>
              <a:rPr lang="en-US" sz="1600">
                <a:solidFill>
                  <a:srgbClr val="F0F0F0"/>
                </a:solidFill>
                <a:latin typeface="Arial"/>
              </a:rPr>
              <a:t>​</a:t>
            </a:r>
          </a:p>
        </p:txBody>
      </p:sp>
      <p:sp>
        <p:nvSpPr>
          <p:cNvPr id="9" name="TextBox 8"/>
          <p:cNvSpPr txBox="1"/>
          <p:nvPr/>
        </p:nvSpPr>
        <p:spPr>
          <a:xfrm>
            <a:off x="6185916" y="1505102"/>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C. </a:t>
            </a:r>
            <mc:AlternateContent xmlns:mc="http://schemas.openxmlformats.org/markup-compatibility/2006" xmlns:a14="http://schemas.microsoft.com/office/drawing/2010/main">
              <mc:Choice Requires="a14">
                <a14:m>
                  <m:oMath xmlns:m="http://schemas.openxmlformats.org/officeDocument/2006/math">
                    <m:r>
                      <m:t>6</m:t>
                    </m:r>
                    <m:r>
                      <m:t>π</m:t>
                    </m:r>
                  </m:oMath>
                </a14:m>
              </mc:Choice>
            </mc:AlternateContent>
            <a:r>
              <a:rPr lang="en-US" sz="1600">
                <a:solidFill>
                  <a:srgbClr val="F0F0F0"/>
                </a:solidFill>
                <a:latin typeface="Arial"/>
              </a:rPr>
              <a:t>​</a:t>
            </a:r>
          </a:p>
        </p:txBody>
      </p:sp>
      <p:sp>
        <p:nvSpPr>
          <p:cNvPr id="10" name="TextBox 9"/>
          <p:cNvSpPr txBox="1"/>
          <p:nvPr/>
        </p:nvSpPr>
        <p:spPr>
          <a:xfrm>
            <a:off x="9050274" y="1505102"/>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D. </a:t>
            </a:r>
            <mc:AlternateContent xmlns:mc="http://schemas.openxmlformats.org/markup-compatibility/2006" xmlns:a14="http://schemas.microsoft.com/office/drawing/2010/main">
              <mc:Choice Requires="a14">
                <a14:m>
                  <m:oMath xmlns:m="http://schemas.openxmlformats.org/officeDocument/2006/math">
                    <m:r>
                      <m:t>9</m:t>
                    </m:r>
                    <m:r>
                      <m:t>π</m:t>
                    </m:r>
                  </m:oMath>
                </a14:m>
              </mc:Choice>
            </mc:AlternateContent>
            <a:r>
              <a:rPr lang="en-US" sz="1600">
                <a:solidFill>
                  <a:srgbClr val="F0F0F0"/>
                </a:solidFill>
                <a:latin typeface="Arial"/>
              </a:rPr>
              <a:t>​</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2026M</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defRPr sz="1800" b="1">
                <a:solidFill>
                  <a:srgbClr val="FAD02C"/>
                </a:solidFill>
                <a:latin typeface="Arial"/>
              </a:defRPr>
            </a:pPr>
            <a:r>
              <a:rPr lang="en-US" sz="1800" b="1">
                <a:solidFill>
                  <a:srgbClr val="FAD02C"/>
                </a:solidFill>
                <a:latin typeface="Arial"/>
              </a:rPr>
              <a:t>The minimum values of the function</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f</m:t>
                    </m:r>
                    <m:r>
                      <m:rPr>
                        <m:sty m:val="p"/>
                      </m:rPr>
                      <m:t>(</m:t>
                    </m:r>
                    <m:r>
                      <m:t>x</m:t>
                    </m:r>
                    <m:r>
                      <m:rPr>
                        <m:sty m:val="p"/>
                      </m:rPr>
                      <m:t>)</m:t>
                    </m:r>
                    <m:r>
                      <m:rPr>
                        <m:sty m:val="p"/>
                      </m:rPr>
                      <m:t>=</m:t>
                    </m:r>
                    <m:r>
                      <m:t>x</m:t>
                    </m:r>
                    <m:r>
                      <m:rPr>
                        <m:sty m:val="p"/>
                      </m:rPr>
                      <m:t>,</m:t>
                    </m:r>
                    <m:r>
                      <m:t>x</m:t>
                    </m:r>
                    <m:r>
                      <m:rPr>
                        <m:sty m:val="p"/>
                      </m:rPr>
                      <m:t>∈</m:t>
                    </m:r>
                    <m:r>
                      <m:rPr>
                        <m:sty m:val="p"/>
                      </m:rPr>
                      <m:t>[</m:t>
                    </m:r>
                    <m:r>
                      <m:t>0</m:t>
                    </m:r>
                    <m:r>
                      <m:rPr>
                        <m:sty m:val="p"/>
                      </m:rPr>
                      <m:t>,</m:t>
                    </m:r>
                    <m:r>
                      <m:t>1</m:t>
                    </m:r>
                    <m:r>
                      <m:rPr>
                        <m:sty m:val="p"/>
                      </m:rPr>
                      <m:t>]</m:t>
                    </m:r>
                  </m:oMath>
                </a14:m>
              </mc:Choice>
            </mc:AlternateContent>
            <a:r>
              <a:rPr lang="en-US" sz="1800" b="1">
                <a:solidFill>
                  <a:srgbClr val="FAD02C"/>
                </a:solidFill>
                <a:latin typeface="Arial"/>
              </a:rPr>
              <a:t> </a:t>
            </a:r>
            <a:r>
              <a:rPr lang="en-US" sz="1800" b="1">
                <a:solidFill>
                  <a:srgbClr val="FAD02C"/>
                </a:solidFill>
                <a:latin typeface="Arial"/>
              </a:rPr>
              <a:t>is</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−1</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1</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2</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0</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1545336"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1380744" cy="402336"/>
          </a:xfrm>
          <a:prstGeom prst="rect">
            <a:avLst/>
          </a:prstGeom>
          <a:noFill/>
        </p:spPr>
        <p:txBody>
          <a:bodyPr wrap="none" anchor="ctr" lIns="0" rIns="0" tIns="0" bIns="0">
            <a:spAutoFit/>
          </a:bodyPr>
          <a:lstStyle/>
          <a:p>
            <a:pPr algn="l"/>
            <a:r>
              <a:rPr sz="1500" b="1">
                <a:solidFill>
                  <a:srgbClr val="FAD02C"/>
                </a:solidFill>
                <a:latin typeface="Arial"/>
              </a:rPr>
              <a:t>2026M,2024-2</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r>
              <a:rPr sz="1800" b="1">
                <a:solidFill>
                  <a:srgbClr val="FAD02C"/>
                </a:solidFill>
                <a:latin typeface="Arial"/>
              </a:rPr>
              <a:t>The rate of change of area of circle with respect to its radius ‘r’ at r = 6 cm is</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A. </a:t>
            </a:r>
            <mc:AlternateContent xmlns:mc="http://schemas.openxmlformats.org/markup-compatibility/2006" xmlns:a14="http://schemas.microsoft.com/office/drawing/2010/main">
              <mc:Choice Requires="a14">
                <a14:m>
                  <m:oMath xmlns:m="http://schemas.openxmlformats.org/officeDocument/2006/math">
                    <m:r>
                      <m:t>10</m:t>
                    </m:r>
                    <m:r>
                      <m:t>π</m:t>
                    </m:r>
                  </m:oMath>
                </a14:m>
              </mc:Choice>
            </mc:AlternateContent>
            <a:r>
              <a:rPr lang="en-US" sz="1600">
                <a:solidFill>
                  <a:srgbClr val="F0F0F0"/>
                </a:solidFill>
                <a:latin typeface="Arial"/>
              </a:rPr>
              <a:t>​</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B. </a:t>
            </a:r>
            <mc:AlternateContent xmlns:mc="http://schemas.openxmlformats.org/markup-compatibility/2006" xmlns:a14="http://schemas.microsoft.com/office/drawing/2010/main">
              <mc:Choice Requires="a14">
                <a14:m>
                  <m:oMath xmlns:m="http://schemas.openxmlformats.org/officeDocument/2006/math">
                    <m:r>
                      <m:t>12</m:t>
                    </m:r>
                    <m:r>
                      <m:t>π</m:t>
                    </m:r>
                  </m:oMath>
                </a14:m>
              </mc:Choice>
            </mc:AlternateContent>
            <a:r>
              <a:rPr lang="en-US" sz="1600">
                <a:solidFill>
                  <a:srgbClr val="F0F0F0"/>
                </a:solidFill>
                <a:latin typeface="Arial"/>
              </a:rPr>
              <a:t>​</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C. </a:t>
            </a:r>
            <mc:AlternateContent xmlns:mc="http://schemas.openxmlformats.org/markup-compatibility/2006" xmlns:a14="http://schemas.microsoft.com/office/drawing/2010/main">
              <mc:Choice Requires="a14">
                <a14:m>
                  <m:oMath xmlns:m="http://schemas.openxmlformats.org/officeDocument/2006/math">
                    <m:r>
                      <m:t>8</m:t>
                    </m:r>
                    <m:r>
                      <m:t>π</m:t>
                    </m:r>
                  </m:oMath>
                </a14:m>
              </mc:Choice>
            </mc:AlternateContent>
            <a:r>
              <a:rPr lang="en-US" sz="1600">
                <a:solidFill>
                  <a:srgbClr val="F0F0F0"/>
                </a:solidFill>
                <a:latin typeface="Arial"/>
              </a:rPr>
              <a:t>​</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D. </a:t>
            </a:r>
            <mc:AlternateContent xmlns:mc="http://schemas.openxmlformats.org/markup-compatibility/2006" xmlns:a14="http://schemas.microsoft.com/office/drawing/2010/main">
              <mc:Choice Requires="a14">
                <a14:m>
                  <m:oMath xmlns:m="http://schemas.openxmlformats.org/officeDocument/2006/math">
                    <m:r>
                      <m:t>11</m:t>
                    </m:r>
                    <m:r>
                      <m:t>π</m:t>
                    </m:r>
                  </m:oMath>
                </a14:m>
              </mc:Choice>
            </mc:AlternateContent>
            <a:r>
              <a:rPr lang="en-US" sz="1600">
                <a:solidFill>
                  <a:srgbClr val="F0F0F0"/>
                </a:solidFill>
                <a:latin typeface="Arial"/>
              </a:rPr>
              <a:t>​</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2026M</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r>
              <a:rPr sz="1800" b="1">
                <a:solidFill>
                  <a:srgbClr val="FAD02C"/>
                </a:solidFill>
                <a:latin typeface="Arial"/>
              </a:rPr>
              <a:t>The point of inflection of the following graph is</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pic>
        <p:nvPicPr>
          <p:cNvPr id="3" name="Picture 2" descr="img_rId8.png"/>
          <p:cNvPicPr>
            <a:picLocks noChangeAspect="1"/>
          </p:cNvPicPr>
          <p:nvPr/>
        </p:nvPicPr>
        <p:blipFill>
          <a:blip r:embed="rId3"/>
          <a:stretch>
            <a:fillRect/>
          </a:stretch>
        </p:blipFill>
        <p:spPr>
          <a:xfrm>
            <a:off x="11914632" y="731520"/>
            <a:ext cx="2743200" cy="1873405"/>
          </a:xfrm>
          <a:prstGeom prst="rect">
            <a:avLst/>
          </a:prstGeom>
        </p:spPr>
      </p:pic>
      <p:sp>
        <p:nvSpPr>
          <p:cNvPr id="4" name="TextBox 3"/>
          <p:cNvSpPr txBox="1"/>
          <p:nvPr/>
        </p:nvSpPr>
        <p:spPr>
          <a:xfrm>
            <a:off x="457200" y="731520"/>
            <a:ext cx="11274552" cy="320040"/>
          </a:xfrm>
          <a:prstGeom prst="rect">
            <a:avLst/>
          </a:prstGeom>
          <a:noFill/>
        </p:spPr>
        <p:txBody>
          <a:bodyPr wrap="square" lIns="0" rIns="0" tIns="0" bIns="0">
            <a:spAutoFit/>
          </a:bodyPr>
          <a:lstStyle/>
          <a:p>
            <a:pPr algn="l"/>
          </a:p>
        </p:txBody>
      </p:sp>
      <p:sp>
        <p:nvSpPr>
          <p:cNvPr id="5" name="TextBox 4"/>
          <p:cNvSpPr txBox="1"/>
          <p:nvPr/>
        </p:nvSpPr>
        <p:spPr>
          <a:xfrm>
            <a:off x="457200"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A. </a:t>
            </a:r>
            <mc:AlternateContent xmlns:mc="http://schemas.openxmlformats.org/markup-compatibility/2006" xmlns:a14="http://schemas.microsoft.com/office/drawing/2010/main">
              <mc:Choice Requires="a14">
                <a14:m>
                  <m:oMath xmlns:m="http://schemas.openxmlformats.org/officeDocument/2006/math">
                    <m:r>
                      <m:rPr>
                        <m:sty m:val="p"/>
                      </m:rPr>
                      <m:t>(</m:t>
                    </m:r>
                    <m:f>
                      <m:fPr>
                        <m:type m:val="bar"/>
                      </m:fPr>
                      <m:num>
                        <m:r>
                          <m:t>π</m:t>
                        </m:r>
                      </m:num>
                      <m:den>
                        <m:r>
                          <m:t>2</m:t>
                        </m:r>
                      </m:den>
                    </m:f>
                    <m:r>
                      <m:rPr>
                        <m:sty m:val="p"/>
                      </m:rPr>
                      <m:t>)</m:t>
                    </m:r>
                  </m:oMath>
                </a14:m>
              </mc:Choice>
            </mc:AlternateContent>
            <a:r>
              <a:rPr lang="en-US" sz="1600">
                <a:solidFill>
                  <a:srgbClr val="F0F0F0"/>
                </a:solidFill>
                <a:latin typeface="Arial"/>
              </a:rPr>
              <a:t>​</a:t>
            </a:r>
          </a:p>
        </p:txBody>
      </p:sp>
      <p:sp>
        <p:nvSpPr>
          <p:cNvPr id="6" name="TextBox 5"/>
          <p:cNvSpPr txBox="1"/>
          <p:nvPr/>
        </p:nvSpPr>
        <p:spPr>
          <a:xfrm>
            <a:off x="3321558"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B. </a:t>
            </a:r>
            <mc:AlternateContent xmlns:mc="http://schemas.openxmlformats.org/markup-compatibility/2006" xmlns:a14="http://schemas.microsoft.com/office/drawing/2010/main">
              <mc:Choice Requires="a14">
                <a14:m>
                  <m:oMath xmlns:m="http://schemas.openxmlformats.org/officeDocument/2006/math">
                    <m:r>
                      <m:rPr>
                        <m:sty m:val="p"/>
                      </m:rPr>
                      <m:t>(</m:t>
                    </m:r>
                    <m:r>
                      <m:t>0</m:t>
                    </m:r>
                    <m:r>
                      <m:rPr>
                        <m:sty m:val="p"/>
                      </m:rPr>
                      <m:t>)</m:t>
                    </m:r>
                  </m:oMath>
                </a14:m>
              </mc:Choice>
            </mc:AlternateContent>
            <a:r>
              <a:rPr lang="en-US" sz="1600">
                <a:solidFill>
                  <a:srgbClr val="F0F0F0"/>
                </a:solidFill>
                <a:latin typeface="Arial"/>
              </a:rPr>
              <a:t>​</a:t>
            </a:r>
          </a:p>
        </p:txBody>
      </p:sp>
      <p:sp>
        <p:nvSpPr>
          <p:cNvPr id="7" name="TextBox 6"/>
          <p:cNvSpPr txBox="1"/>
          <p:nvPr/>
        </p:nvSpPr>
        <p:spPr>
          <a:xfrm>
            <a:off x="6185916"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(0, 0)</a:t>
            </a:r>
          </a:p>
        </p:txBody>
      </p:sp>
      <p:sp>
        <p:nvSpPr>
          <p:cNvPr id="8" name="TextBox 7"/>
          <p:cNvSpPr txBox="1"/>
          <p:nvPr/>
        </p:nvSpPr>
        <p:spPr>
          <a:xfrm>
            <a:off x="9050274"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D. </a:t>
            </a:r>
            <mc:AlternateContent xmlns:mc="http://schemas.openxmlformats.org/markup-compatibility/2006" xmlns:a14="http://schemas.microsoft.com/office/drawing/2010/main">
              <mc:Choice Requires="a14">
                <a14:m>
                  <m:oMath xmlns:m="http://schemas.openxmlformats.org/officeDocument/2006/math">
                    <m:r>
                      <m:rPr>
                        <m:sty m:val="p"/>
                      </m:rPr>
                      <m:t>(</m:t>
                    </m:r>
                    <m:f>
                      <m:fPr>
                        <m:type m:val="bar"/>
                      </m:fPr>
                      <m:num>
                        <m:r>
                          <m:t>π</m:t>
                        </m:r>
                      </m:num>
                      <m:den>
                        <m:r>
                          <m:t>2</m:t>
                        </m:r>
                      </m:den>
                    </m:f>
                    <m:r>
                      <m:rPr>
                        <m:sty m:val="p"/>
                      </m:rPr>
                      <m:t>)</m:t>
                    </m:r>
                  </m:oMath>
                </a14:m>
              </mc:Choice>
            </mc:AlternateContent>
            <a:r>
              <a:rPr lang="en-US" sz="1600">
                <a:solidFill>
                  <a:srgbClr val="F0F0F0"/>
                </a:solidFill>
                <a:latin typeface="Arial"/>
              </a:rPr>
              <a:t>​</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2026M</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defRPr sz="1800" b="1">
                <a:solidFill>
                  <a:srgbClr val="FAD02C"/>
                </a:solidFill>
                <a:latin typeface="Arial"/>
              </a:defRPr>
            </a:pPr>
            <a:r>
              <a:rPr lang="en-US" sz="1800" b="1">
                <a:solidFill>
                  <a:srgbClr val="FAD02C"/>
                </a:solidFill>
                <a:latin typeface="Arial"/>
              </a:rPr>
              <a:t>The point on the curve</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sSup>
                      <m:e>
                        <m:r>
                          <m:t>x</m:t>
                        </m:r>
                      </m:e>
                      <m:sup>
                        <m:r>
                          <m:t>2</m:t>
                        </m:r>
                      </m:sup>
                    </m:sSup>
                    <m:r>
                      <m:rPr>
                        <m:sty m:val="p"/>
                      </m:rPr>
                      <m:t>=</m:t>
                    </m:r>
                    <m:r>
                      <m:t>2</m:t>
                    </m:r>
                    <m:r>
                      <m:t>y</m:t>
                    </m:r>
                  </m:oMath>
                </a14:m>
              </mc:Choice>
            </mc:AlternateContent>
            <a:r>
              <a:rPr lang="en-US" sz="1800" b="1">
                <a:solidFill>
                  <a:srgbClr val="FAD02C"/>
                </a:solidFill>
                <a:latin typeface="Arial"/>
              </a:rPr>
              <a:t> </a:t>
            </a:r>
            <a:r>
              <a:rPr lang="en-US" sz="1800" b="1">
                <a:solidFill>
                  <a:srgbClr val="FAD02C"/>
                </a:solidFill>
                <a:latin typeface="Arial"/>
              </a:rPr>
              <a:t>which is nearest to the point</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rPr>
                        <m:sty m:val="p"/>
                      </m:rPr>
                      <m:t>(</m:t>
                    </m:r>
                    <m:r>
                      <m:t>0</m:t>
                    </m:r>
                    <m:r>
                      <m:rPr>
                        <m:sty m:val="p"/>
                      </m:rPr>
                      <m:t>)</m:t>
                    </m:r>
                  </m:oMath>
                </a14:m>
              </mc:Choice>
            </mc:AlternateContent>
            <a:r>
              <a:rPr lang="en-US" sz="1800" b="1">
                <a:solidFill>
                  <a:srgbClr val="FAD02C"/>
                </a:solidFill>
                <a:latin typeface="Arial"/>
              </a:rPr>
              <a:t> </a:t>
            </a:r>
            <a:r>
              <a:rPr lang="en-US" sz="1800" b="1">
                <a:solidFill>
                  <a:srgbClr val="FAD02C"/>
                </a:solidFill>
                <a:latin typeface="Arial"/>
              </a:rPr>
              <a:t>is</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A. </a:t>
            </a:r>
            <mc:AlternateContent xmlns:mc="http://schemas.openxmlformats.org/markup-compatibility/2006" xmlns:a14="http://schemas.microsoft.com/office/drawing/2010/main">
              <mc:Choice Requires="a14">
                <a14:m>
                  <m:oMath xmlns:m="http://schemas.openxmlformats.org/officeDocument/2006/math">
                    <m:r>
                      <m:rPr>
                        <m:sty m:val="p"/>
                      </m:rPr>
                      <m:t>(</m:t>
                    </m:r>
                    <m:r>
                      <m:t>0</m:t>
                    </m:r>
                    <m:r>
                      <m:rPr>
                        <m:sty m:val="p"/>
                      </m:rPr>
                      <m:t>)</m:t>
                    </m:r>
                  </m:oMath>
                </a14:m>
              </mc:Choice>
            </mc:AlternateContent>
            <a:r>
              <a:rPr lang="en-US" sz="1600">
                <a:solidFill>
                  <a:srgbClr val="F0F0F0"/>
                </a:solidFill>
                <a:latin typeface="Arial"/>
              </a:rPr>
              <a:t>​</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B. </a:t>
            </a:r>
            <mc:AlternateContent xmlns:mc="http://schemas.openxmlformats.org/markup-compatibility/2006" xmlns:a14="http://schemas.microsoft.com/office/drawing/2010/main">
              <mc:Choice Requires="a14">
                <a14:m>
                  <m:oMath xmlns:m="http://schemas.openxmlformats.org/officeDocument/2006/math">
                    <m:r>
                      <m:rPr>
                        <m:sty m:val="p"/>
                      </m:rPr>
                      <m:t>(</m:t>
                    </m:r>
                    <m:r>
                      <m:t>2</m:t>
                    </m:r>
                    <m:rad>
                      <m:radPr>
                        <m:degHide m:val="on"/>
                      </m:radPr>
                      <m:deg/>
                      <m:e>
                        <m:r>
                          <m:t>2</m:t>
                        </m:r>
                      </m:e>
                    </m:rad>
                    <m:r>
                      <m:rPr>
                        <m:sty m:val="p"/>
                      </m:rPr>
                      <m:t>)</m:t>
                    </m:r>
                  </m:oMath>
                </a14:m>
              </mc:Choice>
            </mc:AlternateContent>
            <a:r>
              <a:rPr lang="en-US" sz="1600">
                <a:solidFill>
                  <a:srgbClr val="F0F0F0"/>
                </a:solidFill>
                <a:latin typeface="Arial"/>
              </a:rPr>
              <a:t>​</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C. </a:t>
            </a:r>
            <mc:AlternateContent xmlns:mc="http://schemas.openxmlformats.org/markup-compatibility/2006" xmlns:a14="http://schemas.microsoft.com/office/drawing/2010/main">
              <mc:Choice Requires="a14">
                <a14:m>
                  <m:oMath xmlns:m="http://schemas.openxmlformats.org/officeDocument/2006/math">
                    <m:r>
                      <m:rPr>
                        <m:sty m:val="p"/>
                      </m:rPr>
                      <m:t>(</m:t>
                    </m:r>
                    <m:r>
                      <m:t>2</m:t>
                    </m:r>
                    <m:rad>
                      <m:radPr>
                        <m:degHide m:val="on"/>
                      </m:radPr>
                      <m:deg/>
                      <m:e>
                        <m:r>
                          <m:t>2</m:t>
                        </m:r>
                      </m:e>
                    </m:rad>
                    <m:r>
                      <m:rPr>
                        <m:sty m:val="p"/>
                      </m:rPr>
                      <m:t>)</m:t>
                    </m:r>
                  </m:oMath>
                </a14:m>
              </mc:Choice>
            </mc:AlternateContent>
            <a:r>
              <a:rPr lang="en-US" sz="1600">
                <a:solidFill>
                  <a:srgbClr val="F0F0F0"/>
                </a:solidFill>
                <a:latin typeface="Arial"/>
              </a:rPr>
              <a:t>​</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D. </a:t>
            </a:r>
            <mc:AlternateContent xmlns:mc="http://schemas.openxmlformats.org/markup-compatibility/2006" xmlns:a14="http://schemas.microsoft.com/office/drawing/2010/main">
              <mc:Choice Requires="a14">
                <a14:m>
                  <m:oMath xmlns:m="http://schemas.openxmlformats.org/officeDocument/2006/math">
                    <m:r>
                      <m:rPr>
                        <m:sty m:val="p"/>
                      </m:rPr>
                      <m:t>(</m:t>
                    </m:r>
                    <m:r>
                      <m:t>2</m:t>
                    </m:r>
                    <m:r>
                      <m:rPr>
                        <m:sty m:val="p"/>
                      </m:rPr>
                      <m:t>)</m:t>
                    </m:r>
                  </m:oMath>
                </a14:m>
              </mc:Choice>
            </mc:AlternateContent>
            <a:r>
              <a:rPr lang="en-US" sz="1600">
                <a:solidFill>
                  <a:srgbClr val="F0F0F0"/>
                </a:solidFill>
                <a:latin typeface="Arial"/>
              </a:rPr>
              <a:t>​</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2024-1</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defRPr sz="1800" b="1">
                <a:solidFill>
                  <a:srgbClr val="FAD02C"/>
                </a:solidFill>
                <a:latin typeface="Arial"/>
              </a:defRPr>
            </a:pPr>
            <a:r>
              <a:rPr lang="en-US" sz="1800" b="1">
                <a:solidFill>
                  <a:srgbClr val="FAD02C"/>
                </a:solidFill>
                <a:latin typeface="Arial"/>
              </a:rPr>
              <a:t>The maximum value of the function</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f</m:t>
                    </m:r>
                    <m:r>
                      <m:rPr>
                        <m:sty m:val="p"/>
                      </m:rPr>
                      <m:t>(</m:t>
                    </m:r>
                    <m:r>
                      <m:t>x</m:t>
                    </m:r>
                    <m:r>
                      <m:rPr>
                        <m:sty m:val="p"/>
                      </m:rPr>
                      <m:t>)</m:t>
                    </m:r>
                    <m:r>
                      <m:rPr>
                        <m:sty m:val="p"/>
                      </m:rPr>
                      <m:t>=</m:t>
                    </m:r>
                    <m:r>
                      <m:t>x</m:t>
                    </m:r>
                    <m:r>
                      <m:rPr>
                        <m:sty m:val="p"/>
                      </m:rPr>
                      <m:t>,</m:t>
                    </m:r>
                    <m:r>
                      <m:t>x</m:t>
                    </m:r>
                  </m:oMath>
                </a14:m>
              </mc:Choice>
            </mc:AlternateContent>
            <a:r>
              <a:rPr lang="en-US" sz="1800" b="1">
                <a:solidFill>
                  <a:srgbClr val="FAD02C"/>
                </a:solidFill>
                <a:latin typeface="Arial"/>
              </a:rPr>
              <a:t> </a:t>
            </a:r>
            <a:r>
              <a:rPr lang="en-US" sz="1800" b="1">
                <a:solidFill>
                  <a:srgbClr val="FAD02C"/>
                </a:solidFill>
                <a:latin typeface="Arial"/>
              </a:rPr>
              <a:t>∈ (1, 2) is</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1</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do not have maximum value</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3</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2</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923544"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58952" cy="402336"/>
          </a:xfrm>
          <a:prstGeom prst="rect">
            <a:avLst/>
          </a:prstGeom>
          <a:noFill/>
        </p:spPr>
        <p:txBody>
          <a:bodyPr wrap="none" anchor="ctr" lIns="0" rIns="0" tIns="0" bIns="0">
            <a:spAutoFit/>
          </a:bodyPr>
          <a:lstStyle/>
          <a:p>
            <a:pPr algn="l"/>
            <a:r>
              <a:rPr sz="1500" b="1">
                <a:solidFill>
                  <a:srgbClr val="FAD02C"/>
                </a:solidFill>
                <a:latin typeface="Arial"/>
              </a:rPr>
              <a:t>2024-3</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defRPr sz="1800" b="1">
                <a:solidFill>
                  <a:srgbClr val="FAD02C"/>
                </a:solidFill>
                <a:latin typeface="Arial"/>
              </a:defRPr>
            </a:pPr>
            <a:r>
              <a:rPr lang="en-US" sz="1800" b="1">
                <a:solidFill>
                  <a:srgbClr val="FAD02C"/>
                </a:solidFill>
                <a:latin typeface="Arial"/>
              </a:rPr>
              <a:t>The maximum value of the function</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f</m:t>
                    </m:r>
                  </m:oMath>
                </a14:m>
              </mc:Choice>
            </mc:AlternateContent>
            <a:r>
              <a:rPr lang="en-US" sz="1800" b="1">
                <a:solidFill>
                  <a:srgbClr val="FAD02C"/>
                </a:solidFill>
                <a:latin typeface="Arial"/>
              </a:rPr>
              <a:t> </a:t>
            </a:r>
            <a:r>
              <a:rPr lang="en-US" sz="1800" b="1">
                <a:solidFill>
                  <a:srgbClr val="FAD02C"/>
                </a:solidFill>
                <a:latin typeface="Arial"/>
              </a:rPr>
              <a:t>given by</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f</m:t>
                    </m:r>
                    <m:r>
                      <m:rPr>
                        <m:sty m:val="p"/>
                      </m:rPr>
                      <m:t>(</m:t>
                    </m:r>
                    <m:r>
                      <m:t>x</m:t>
                    </m:r>
                    <m:r>
                      <m:rPr>
                        <m:sty m:val="p"/>
                      </m:rPr>
                      <m:t>)</m:t>
                    </m:r>
                  </m:oMath>
                </a14:m>
              </mc:Choice>
            </mc:AlternateContent>
            <a:r>
              <a:rPr lang="en-US" sz="1800" b="1">
                <a:solidFill>
                  <a:srgbClr val="FAD02C"/>
                </a:solidFill>
                <a:latin typeface="Arial"/>
              </a:rPr>
              <a:t> </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x</m:t>
                    </m:r>
                  </m:oMath>
                </a14:m>
              </mc:Choice>
            </mc:AlternateContent>
            <a:r>
              <a:rPr lang="en-US" sz="1800" b="1">
                <a:solidFill>
                  <a:srgbClr val="FAD02C"/>
                </a:solidFill>
                <a:latin typeface="Arial"/>
              </a:rPr>
              <a:t>|,</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x</m:t>
                    </m:r>
                  </m:oMath>
                </a14:m>
              </mc:Choice>
            </mc:AlternateContent>
            <a:r>
              <a:rPr lang="en-US" sz="1800" b="1">
                <a:solidFill>
                  <a:srgbClr val="FAD02C"/>
                </a:solidFill>
                <a:latin typeface="Arial"/>
              </a:rPr>
              <a:t> </a:t>
            </a:r>
            <a:r>
              <a:rPr lang="en-US" sz="1800" b="1">
                <a:solidFill>
                  <a:srgbClr val="FAD02C"/>
                </a:solidFill>
                <a:latin typeface="Arial"/>
              </a:rPr>
              <a:t>∈ R is</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0</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1</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-1</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does not exist</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758952"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594359" cy="402336"/>
          </a:xfrm>
          <a:prstGeom prst="rect">
            <a:avLst/>
          </a:prstGeom>
          <a:noFill/>
        </p:spPr>
        <p:txBody>
          <a:bodyPr wrap="none" anchor="ctr" lIns="0" rIns="0" tIns="0" bIns="0">
            <a:spAutoFit/>
          </a:bodyPr>
          <a:lstStyle/>
          <a:p>
            <a:pPr algn="l"/>
            <a:r>
              <a:rPr sz="1500" b="1">
                <a:solidFill>
                  <a:srgbClr val="FAD02C"/>
                </a:solidFill>
                <a:latin typeface="Arial"/>
              </a:rPr>
              <a:t>2025</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defRPr sz="1800" b="1">
                <a:solidFill>
                  <a:srgbClr val="FAD02C"/>
                </a:solidFill>
                <a:latin typeface="Arial"/>
              </a:defRPr>
            </a:pPr>
            <a:r>
              <a:rPr lang="en-US" sz="1800" b="1">
                <a:solidFill>
                  <a:srgbClr val="FAD02C"/>
                </a:solidFill>
                <a:latin typeface="Arial"/>
              </a:rPr>
              <a:t>The absolute maximum value of the function</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f</m:t>
                    </m:r>
                  </m:oMath>
                </a14:m>
              </mc:Choice>
            </mc:AlternateContent>
            <a:r>
              <a:rPr lang="en-US" sz="1800" b="1">
                <a:solidFill>
                  <a:srgbClr val="FAD02C"/>
                </a:solidFill>
                <a:latin typeface="Arial"/>
              </a:rPr>
              <a:t>given by</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f</m:t>
                    </m:r>
                    <m:r>
                      <m:rPr>
                        <m:sty m:val="p"/>
                      </m:rPr>
                      <m:t>(</m:t>
                    </m:r>
                    <m:r>
                      <m:t>x</m:t>
                    </m:r>
                    <m:r>
                      <m:rPr>
                        <m:sty m:val="p"/>
                      </m:rPr>
                      <m:t>)</m:t>
                    </m:r>
                    <m:r>
                      <m:rPr>
                        <m:sty m:val="p"/>
                      </m:rPr>
                      <m:t>=</m:t>
                    </m:r>
                    <m:sSup>
                      <m:e>
                        <m:r>
                          <m:t>x</m:t>
                        </m:r>
                      </m:e>
                      <m:sup>
                        <m:r>
                          <m:t>3</m:t>
                        </m:r>
                      </m:sup>
                    </m:sSup>
                    <m:r>
                      <m:rPr>
                        <m:sty m:val="p"/>
                      </m:rPr>
                      <m:t>,</m:t>
                    </m:r>
                    <m:r>
                      <m:t>x</m:t>
                    </m:r>
                    <m:r>
                      <m:rPr>
                        <m:sty m:val="p"/>
                      </m:rPr>
                      <m:t>∈</m:t>
                    </m:r>
                    <m:r>
                      <m:rPr>
                        <m:sty m:val="p"/>
                      </m:rPr>
                      <m:t>[</m:t>
                    </m:r>
                    <m:r>
                      <m:rPr>
                        <m:sty m:val="p"/>
                      </m:rPr>
                      <m:t>−</m:t>
                    </m:r>
                    <m:r>
                      <m:t>2</m:t>
                    </m:r>
                    <m:r>
                      <m:rPr>
                        <m:sty m:val="p"/>
                      </m:rPr>
                      <m:t>,</m:t>
                    </m:r>
                    <m:r>
                      <m:t>2</m:t>
                    </m:r>
                    <m:r>
                      <m:rPr>
                        <m:sty m:val="p"/>
                      </m:rPr>
                      <m:t>]</m:t>
                    </m:r>
                  </m:oMath>
                </a14:m>
              </mc:Choice>
            </mc:AlternateContent>
            <a:r>
              <a:rPr lang="en-US" sz="1800" b="1">
                <a:solidFill>
                  <a:srgbClr val="FAD02C"/>
                </a:solidFill>
                <a:latin typeface="Arial"/>
              </a:rPr>
              <a:t>is</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2</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0</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C. </a:t>
            </a:r>
            <mc:AlternateContent xmlns:mc="http://schemas.openxmlformats.org/markup-compatibility/2006" xmlns:a14="http://schemas.microsoft.com/office/drawing/2010/main">
              <mc:Choice Requires="a14">
                <a14:m>
                  <m:oMath xmlns:m="http://schemas.openxmlformats.org/officeDocument/2006/math">
                    <m:r>
                      <m:rPr>
                        <m:sty m:val="p"/>
                      </m:rPr>
                      <m:t>−</m:t>
                    </m:r>
                    <m:r>
                      <m:t>2</m:t>
                    </m:r>
                  </m:oMath>
                </a14:m>
              </mc:Choice>
            </mc:AlternateContent>
            <a:r>
              <a:rPr lang="en-US" sz="1600">
                <a:solidFill>
                  <a:srgbClr val="F0F0F0"/>
                </a:solidFill>
                <a:latin typeface="Arial"/>
              </a:rPr>
              <a:t>​</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8</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923544"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58952" cy="402336"/>
          </a:xfrm>
          <a:prstGeom prst="rect">
            <a:avLst/>
          </a:prstGeom>
          <a:noFill/>
        </p:spPr>
        <p:txBody>
          <a:bodyPr wrap="none" anchor="ctr" lIns="0" rIns="0" tIns="0" bIns="0">
            <a:spAutoFit/>
          </a:bodyPr>
          <a:lstStyle/>
          <a:p>
            <a:pPr algn="l"/>
            <a:r>
              <a:rPr sz="1500" b="1">
                <a:solidFill>
                  <a:srgbClr val="FAD02C"/>
                </a:solidFill>
                <a:latin typeface="Arial"/>
              </a:rPr>
              <a:t>2025-2</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608990"/>
          </a:xfrm>
          <a:prstGeom prst="rect">
            <a:avLst/>
          </a:prstGeom>
          <a:noFill/>
        </p:spPr>
        <p:txBody>
          <a:bodyPr wrap="square" lIns="0" rIns="0" tIns="0" bIns="0">
            <a:spAutoFit/>
          </a:bodyPr>
          <a:lstStyle/>
          <a:p>
            <a:pPr algn="l">
              <a:defRPr sz="1800" b="1">
                <a:solidFill>
                  <a:srgbClr val="FAD02C"/>
                </a:solidFill>
                <a:latin typeface="Arial"/>
              </a:defRPr>
            </a:pPr>
            <a:r>
              <a:rPr lang="en-US" sz="1800" b="1">
                <a:solidFill>
                  <a:srgbClr val="FAD02C"/>
                </a:solidFill>
                <a:latin typeface="Arial"/>
              </a:rPr>
              <a:t>The total revenue in Rupees received from the sale of</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x</m:t>
                    </m:r>
                  </m:oMath>
                </a14:m>
              </mc:Choice>
            </mc:AlternateContent>
            <a:r>
              <a:rPr lang="en-US" sz="1800" b="1">
                <a:solidFill>
                  <a:srgbClr val="FAD02C"/>
                </a:solidFill>
                <a:latin typeface="Arial"/>
              </a:rPr>
              <a:t>units of a product is given by</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R</m:t>
                    </m:r>
                    <m:r>
                      <m:rPr>
                        <m:sty m:val="p"/>
                      </m:rPr>
                      <m:t>(</m:t>
                    </m:r>
                    <m:r>
                      <m:t>x</m:t>
                    </m:r>
                    <m:r>
                      <m:rPr>
                        <m:sty m:val="p"/>
                      </m:rPr>
                      <m:t>)</m:t>
                    </m:r>
                    <m:r>
                      <m:rPr>
                        <m:sty m:val="p"/>
                      </m:rPr>
                      <m:t>=</m:t>
                    </m:r>
                    <m:r>
                      <m:t>3</m:t>
                    </m:r>
                    <m:sSup>
                      <m:e>
                        <m:r>
                          <m:t>x</m:t>
                        </m:r>
                      </m:e>
                      <m:sup>
                        <m:r>
                          <m:t>2</m:t>
                        </m:r>
                      </m:sup>
                    </m:sSup>
                    <m:r>
                      <m:rPr>
                        <m:sty m:val="p"/>
                      </m:rPr>
                      <m:t>+</m:t>
                    </m:r>
                    <m:r>
                      <m:t>36</m:t>
                    </m:r>
                    <m:r>
                      <m:t>x</m:t>
                    </m:r>
                    <m:r>
                      <m:rPr>
                        <m:sty m:val="p"/>
                      </m:rPr>
                      <m:t>+</m:t>
                    </m:r>
                    <m:r>
                      <m:t>5</m:t>
                    </m:r>
                    <m:r>
                      <m:rPr>
                        <m:sty m:val="p"/>
                      </m:rPr>
                      <m:t>.</m:t>
                    </m:r>
                  </m:oMath>
                </a14:m>
              </mc:Choice>
            </mc:AlternateContent>
            <a:r>
              <a:rPr lang="en-US" sz="1800" b="1">
                <a:solidFill>
                  <a:srgbClr val="FAD02C"/>
                </a:solidFill>
                <a:latin typeface="Arial"/>
              </a:rPr>
              <a:t> </a:t>
            </a:r>
            <a:r>
              <a:rPr lang="en-US" sz="1800" b="1">
                <a:solidFill>
                  <a:srgbClr val="FAD02C"/>
                </a:solidFill>
                <a:latin typeface="Arial"/>
              </a:rPr>
              <a:t>The marginal revenue when</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x</m:t>
                    </m:r>
                    <m:r>
                      <m:rPr>
                        <m:sty m:val="p"/>
                      </m:rPr>
                      <m:t>=</m:t>
                    </m:r>
                    <m:r>
                      <m:t>15</m:t>
                    </m:r>
                  </m:oMath>
                </a14:m>
              </mc:Choice>
            </mc:AlternateContent>
            <a:r>
              <a:rPr lang="en-US" sz="1800" b="1">
                <a:solidFill>
                  <a:srgbClr val="FAD02C"/>
                </a:solidFill>
                <a:latin typeface="Arial"/>
              </a:rPr>
              <a:t> </a:t>
            </a:r>
            <a:r>
              <a:rPr lang="en-US" sz="1800" b="1">
                <a:solidFill>
                  <a:srgbClr val="FAD02C"/>
                </a:solidFill>
                <a:latin typeface="Arial"/>
              </a:rPr>
              <a:t>is</a:t>
            </a:r>
          </a:p>
        </p:txBody>
      </p:sp>
      <p:sp>
        <p:nvSpPr>
          <p:cNvPr id="7" name="TextBox 6"/>
          <p:cNvSpPr txBox="1"/>
          <p:nvPr/>
        </p:nvSpPr>
        <p:spPr>
          <a:xfrm>
            <a:off x="457200" y="1505102"/>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90</a:t>
            </a:r>
          </a:p>
        </p:txBody>
      </p:sp>
      <p:sp>
        <p:nvSpPr>
          <p:cNvPr id="8" name="TextBox 7"/>
          <p:cNvSpPr txBox="1"/>
          <p:nvPr/>
        </p:nvSpPr>
        <p:spPr>
          <a:xfrm>
            <a:off x="3321558" y="1505102"/>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96</a:t>
            </a:r>
          </a:p>
        </p:txBody>
      </p:sp>
      <p:sp>
        <p:nvSpPr>
          <p:cNvPr id="9" name="TextBox 8"/>
          <p:cNvSpPr txBox="1"/>
          <p:nvPr/>
        </p:nvSpPr>
        <p:spPr>
          <a:xfrm>
            <a:off x="6185916" y="1505102"/>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116</a:t>
            </a:r>
          </a:p>
        </p:txBody>
      </p:sp>
      <p:sp>
        <p:nvSpPr>
          <p:cNvPr id="10" name="TextBox 9"/>
          <p:cNvSpPr txBox="1"/>
          <p:nvPr/>
        </p:nvSpPr>
        <p:spPr>
          <a:xfrm>
            <a:off x="9050274" y="1505102"/>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126</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758952"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594359" cy="402336"/>
          </a:xfrm>
          <a:prstGeom prst="rect">
            <a:avLst/>
          </a:prstGeom>
          <a:noFill/>
        </p:spPr>
        <p:txBody>
          <a:bodyPr wrap="none" anchor="ctr" lIns="0" rIns="0" tIns="0" bIns="0">
            <a:spAutoFit/>
          </a:bodyPr>
          <a:lstStyle/>
          <a:p>
            <a:pPr algn="l"/>
            <a:r>
              <a:rPr sz="1500" b="1">
                <a:solidFill>
                  <a:srgbClr val="FAD02C"/>
                </a:solidFill>
                <a:latin typeface="Arial"/>
              </a:rPr>
              <a:t>2025</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defRPr sz="1800" b="1">
                <a:solidFill>
                  <a:srgbClr val="FAD02C"/>
                </a:solidFill>
                <a:latin typeface="Arial"/>
              </a:defRPr>
            </a:pPr>
            <a:r>
              <a:rPr lang="en-US" sz="1800" b="1">
                <a:solidFill>
                  <a:srgbClr val="FAD02C"/>
                </a:solidFill>
                <a:latin typeface="Arial"/>
              </a:rPr>
              <a:t>The function</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f</m:t>
                    </m:r>
                  </m:oMath>
                </a14:m>
              </mc:Choice>
            </mc:AlternateContent>
            <a:r>
              <a:rPr lang="en-US" sz="1800" b="1">
                <a:solidFill>
                  <a:srgbClr val="FAD02C"/>
                </a:solidFill>
                <a:latin typeface="Arial"/>
              </a:rPr>
              <a:t>given by</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f</m:t>
                    </m:r>
                    <m:r>
                      <m:rPr>
                        <m:sty m:val="p"/>
                      </m:rPr>
                      <m:t>(</m:t>
                    </m:r>
                    <m:r>
                      <m:t>x</m:t>
                    </m:r>
                    <m:r>
                      <m:rPr>
                        <m:sty m:val="p"/>
                      </m:rPr>
                      <m:t>)</m:t>
                    </m:r>
                    <m:r>
                      <m:rPr>
                        <m:sty m:val="p"/>
                      </m:rPr>
                      <m:t>=</m:t>
                    </m:r>
                    <m:sSup>
                      <m:e>
                        <m:r>
                          <m:t>x</m:t>
                        </m:r>
                      </m:e>
                      <m:sup>
                        <m:r>
                          <m:t>2</m:t>
                        </m:r>
                      </m:sup>
                    </m:sSup>
                    <m:r>
                      <m:rPr>
                        <m:sty m:val="p"/>
                      </m:rPr>
                      <m:t>−</m:t>
                    </m:r>
                    <m:r>
                      <m:t>4</m:t>
                    </m:r>
                    <m:r>
                      <m:t>x</m:t>
                    </m:r>
                    <m:r>
                      <m:rPr>
                        <m:sty m:val="p"/>
                      </m:rPr>
                      <m:t>+</m:t>
                    </m:r>
                    <m:r>
                      <m:t>6</m:t>
                    </m:r>
                  </m:oMath>
                </a14:m>
              </mc:Choice>
            </mc:AlternateContent>
            <a:r>
              <a:rPr lang="en-US" sz="1800" b="1">
                <a:solidFill>
                  <a:srgbClr val="FAD02C"/>
                </a:solidFill>
                <a:latin typeface="Arial"/>
              </a:rPr>
              <a:t> </a:t>
            </a:r>
            <a:r>
              <a:rPr lang="en-US" sz="1800" b="1">
                <a:solidFill>
                  <a:srgbClr val="FAD02C"/>
                </a:solidFill>
                <a:latin typeface="Arial"/>
              </a:rPr>
              <a:t>is increasing in the interval</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A. </a:t>
            </a:r>
            <mc:AlternateContent xmlns:mc="http://schemas.openxmlformats.org/markup-compatibility/2006" xmlns:a14="http://schemas.microsoft.com/office/drawing/2010/main">
              <mc:Choice Requires="a14">
                <a14:m>
                  <m:oMath xmlns:m="http://schemas.openxmlformats.org/officeDocument/2006/math">
                    <m:r>
                      <m:rPr>
                        <m:sty m:val="p"/>
                      </m:rPr>
                      <m:t>(</m:t>
                    </m:r>
                    <m:r>
                      <m:rPr>
                        <m:sty m:val="p"/>
                      </m:rPr>
                      <m:t>−</m:t>
                    </m:r>
                    <m:r>
                      <m:rPr>
                        <m:sty m:val="p"/>
                      </m:rPr>
                      <m:t>∞</m:t>
                    </m:r>
                    <m:r>
                      <m:rPr>
                        <m:sty m:val="p"/>
                      </m:rPr>
                      <m:t>,</m:t>
                    </m:r>
                    <m:r>
                      <m:t>2</m:t>
                    </m:r>
                    <m:r>
                      <m:rPr>
                        <m:sty m:val="p"/>
                      </m:rPr>
                      <m:t>)</m:t>
                    </m:r>
                  </m:oMath>
                </a14:m>
              </mc:Choice>
            </mc:AlternateContent>
            <a:r>
              <a:rPr lang="en-US" sz="1600">
                <a:solidFill>
                  <a:srgbClr val="F0F0F0"/>
                </a:solidFill>
                <a:latin typeface="Arial"/>
              </a:rPr>
              <a:t>​</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B. </a:t>
            </a:r>
            <mc:AlternateContent xmlns:mc="http://schemas.openxmlformats.org/markup-compatibility/2006" xmlns:a14="http://schemas.microsoft.com/office/drawing/2010/main">
              <mc:Choice Requires="a14">
                <a14:m>
                  <m:oMath xmlns:m="http://schemas.openxmlformats.org/officeDocument/2006/math">
                    <m:r>
                      <m:rPr>
                        <m:sty m:val="p"/>
                      </m:rPr>
                      <m:t>(</m:t>
                    </m:r>
                    <m:r>
                      <m:t>2</m:t>
                    </m:r>
                    <m:r>
                      <m:rPr>
                        <m:sty m:val="p"/>
                      </m:rPr>
                      <m:t>)</m:t>
                    </m:r>
                  </m:oMath>
                </a14:m>
              </mc:Choice>
            </mc:AlternateContent>
            <a:r>
              <a:rPr lang="en-US" sz="1600">
                <a:solidFill>
                  <a:srgbClr val="F0F0F0"/>
                </a:solidFill>
                <a:latin typeface="Arial"/>
              </a:rPr>
              <a:t>​</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C. </a:t>
            </a:r>
            <mc:AlternateContent xmlns:mc="http://schemas.openxmlformats.org/markup-compatibility/2006" xmlns:a14="http://schemas.microsoft.com/office/drawing/2010/main">
              <mc:Choice Requires="a14">
                <a14:m>
                  <m:oMath xmlns:m="http://schemas.openxmlformats.org/officeDocument/2006/math">
                    <m:r>
                      <m:rPr>
                        <m:sty m:val="p"/>
                      </m:rPr>
                      <m:t>[</m:t>
                    </m:r>
                    <m:r>
                      <m:t>2</m:t>
                    </m:r>
                    <m:r>
                      <m:rPr>
                        <m:sty m:val="p"/>
                      </m:rPr>
                      <m:t>,</m:t>
                    </m:r>
                    <m:r>
                      <m:rPr>
                        <m:sty m:val="p"/>
                      </m:rPr>
                      <m:t>∞</m:t>
                    </m:r>
                    <m:r>
                      <m:rPr>
                        <m:sty m:val="p"/>
                      </m:rPr>
                      <m:t>)</m:t>
                    </m:r>
                  </m:oMath>
                </a14:m>
              </mc:Choice>
            </mc:AlternateContent>
            <a:r>
              <a:rPr lang="en-US" sz="1600">
                <a:solidFill>
                  <a:srgbClr val="F0F0F0"/>
                </a:solidFill>
                <a:latin typeface="Arial"/>
              </a:rPr>
              <a:t>​</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D. </a:t>
            </a:r>
            <mc:AlternateContent xmlns:mc="http://schemas.openxmlformats.org/markup-compatibility/2006" xmlns:a14="http://schemas.microsoft.com/office/drawing/2010/main">
              <mc:Choice Requires="a14">
                <a14:m>
                  <m:oMath xmlns:m="http://schemas.openxmlformats.org/officeDocument/2006/math">
                    <m:r>
                      <m:rPr>
                        <m:sty m:val="p"/>
                      </m:rPr>
                      <m:t>(</m:t>
                    </m:r>
                    <m:r>
                      <m:rPr>
                        <m:sty m:val="p"/>
                      </m:rPr>
                      <m:t>−</m:t>
                    </m:r>
                    <m:r>
                      <m:rPr>
                        <m:sty m:val="p"/>
                      </m:rPr>
                      <m:t>∞</m:t>
                    </m:r>
                    <m:r>
                      <m:rPr>
                        <m:sty m:val="p"/>
                      </m:rPr>
                      <m:t>,</m:t>
                    </m:r>
                    <m:r>
                      <m:rPr>
                        <m:sty m:val="p"/>
                      </m:rPr>
                      <m:t>∞</m:t>
                    </m:r>
                    <m:r>
                      <m:rPr>
                        <m:sty m:val="p"/>
                      </m:rPr>
                      <m:t>)</m:t>
                    </m:r>
                  </m:oMath>
                </a14:m>
              </mc:Choice>
            </mc:AlternateContent>
            <a:r>
              <a:rPr lang="en-US" sz="1600">
                <a:solidFill>
                  <a:srgbClr val="F0F0F0"/>
                </a:solidFill>
                <a:latin typeface="Arial"/>
              </a:rPr>
              <a:t>​</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923544"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58952" cy="402336"/>
          </a:xfrm>
          <a:prstGeom prst="rect">
            <a:avLst/>
          </a:prstGeom>
          <a:noFill/>
        </p:spPr>
        <p:txBody>
          <a:bodyPr wrap="none" anchor="ctr" lIns="0" rIns="0" tIns="0" bIns="0">
            <a:spAutoFit/>
          </a:bodyPr>
          <a:lstStyle/>
          <a:p>
            <a:pPr algn="l"/>
            <a:r>
              <a:rPr sz="1500" b="1">
                <a:solidFill>
                  <a:srgbClr val="FAD02C"/>
                </a:solidFill>
                <a:latin typeface="Arial"/>
              </a:rPr>
              <a:t>2025-3</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608990"/>
          </a:xfrm>
          <a:prstGeom prst="rect">
            <a:avLst/>
          </a:prstGeom>
          <a:noFill/>
        </p:spPr>
        <p:txBody>
          <a:bodyPr wrap="square" lIns="0" rIns="0" tIns="0" bIns="0">
            <a:spAutoFit/>
          </a:bodyPr>
          <a:lstStyle/>
          <a:p>
            <a:pPr algn="l">
              <a:defRPr sz="1800" b="1">
                <a:solidFill>
                  <a:srgbClr val="FAD02C"/>
                </a:solidFill>
                <a:latin typeface="Arial"/>
              </a:defRPr>
            </a:pPr>
            <a:r>
              <a:rPr lang="en-US" sz="1800" b="1">
                <a:solidFill>
                  <a:srgbClr val="FAD02C"/>
                </a:solidFill>
                <a:latin typeface="Arial"/>
              </a:rPr>
              <a:t>A particle moving in a straight line covers a distance</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S</m:t>
                    </m:r>
                  </m:oMath>
                </a14:m>
              </mc:Choice>
            </mc:AlternateContent>
            <a:r>
              <a:rPr lang="en-US" sz="1800" b="1">
                <a:solidFill>
                  <a:srgbClr val="FAD02C"/>
                </a:solidFill>
                <a:latin typeface="Arial"/>
              </a:rPr>
              <a:t>cm in time</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t</m:t>
                    </m:r>
                  </m:oMath>
                </a14:m>
              </mc:Choice>
            </mc:AlternateContent>
            <a:r>
              <a:rPr lang="en-US" sz="1800" b="1">
                <a:solidFill>
                  <a:srgbClr val="FAD02C"/>
                </a:solidFill>
                <a:latin typeface="Arial"/>
              </a:rPr>
              <a:t>sec. is given by</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S</m:t>
                    </m:r>
                    <m:r>
                      <m:rPr>
                        <m:sty m:val="p"/>
                      </m:rPr>
                      <m:t>=</m:t>
                    </m:r>
                    <m:sSup>
                      <m:e>
                        <m:r>
                          <m:t>t</m:t>
                        </m:r>
                      </m:e>
                      <m:sup>
                        <m:r>
                          <m:t>3</m:t>
                        </m:r>
                      </m:sup>
                    </m:sSup>
                    <m:r>
                      <m:rPr>
                        <m:sty m:val="p"/>
                      </m:rPr>
                      <m:t>+</m:t>
                    </m:r>
                    <m:r>
                      <m:t>3</m:t>
                    </m:r>
                    <m:sSup>
                      <m:e>
                        <m:r>
                          <m:t>t</m:t>
                        </m:r>
                      </m:e>
                      <m:sup>
                        <m:r>
                          <m:t>2</m:t>
                        </m:r>
                      </m:sup>
                    </m:sSup>
                    <m:r>
                      <m:rPr>
                        <m:sty m:val="p"/>
                      </m:rPr>
                      <m:t>+</m:t>
                    </m:r>
                    <m:r>
                      <m:t>6</m:t>
                    </m:r>
                    <m:r>
                      <m:t>t</m:t>
                    </m:r>
                    <m:r>
                      <m:rPr>
                        <m:sty m:val="p"/>
                      </m:rPr>
                      <m:t>−</m:t>
                    </m:r>
                    <m:r>
                      <m:t>18</m:t>
                    </m:r>
                    <m:r>
                      <m:rPr>
                        <m:sty m:val="p"/>
                      </m:rPr>
                      <m:t>,</m:t>
                    </m:r>
                  </m:oMath>
                </a14:m>
              </mc:Choice>
            </mc:AlternateContent>
            <a:r>
              <a:rPr lang="en-US" sz="1800" b="1">
                <a:solidFill>
                  <a:srgbClr val="FAD02C"/>
                </a:solidFill>
                <a:latin typeface="Arial"/>
              </a:rPr>
              <a:t> </a:t>
            </a:r>
            <a:r>
              <a:rPr lang="en-US" sz="1800" b="1">
                <a:solidFill>
                  <a:srgbClr val="FAD02C"/>
                </a:solidFill>
                <a:latin typeface="Arial"/>
              </a:rPr>
              <a:t>the initial velocity of a particle is</a:t>
            </a:r>
          </a:p>
        </p:txBody>
      </p:sp>
      <p:sp>
        <p:nvSpPr>
          <p:cNvPr id="7" name="TextBox 6"/>
          <p:cNvSpPr txBox="1"/>
          <p:nvPr/>
        </p:nvSpPr>
        <p:spPr>
          <a:xfrm>
            <a:off x="457200" y="1505102"/>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3 cm/sec.</a:t>
            </a:r>
          </a:p>
        </p:txBody>
      </p:sp>
      <p:sp>
        <p:nvSpPr>
          <p:cNvPr id="8" name="TextBox 7"/>
          <p:cNvSpPr txBox="1"/>
          <p:nvPr/>
        </p:nvSpPr>
        <p:spPr>
          <a:xfrm>
            <a:off x="3321558" y="1505102"/>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18 cm/sec.</a:t>
            </a:r>
          </a:p>
        </p:txBody>
      </p:sp>
      <p:sp>
        <p:nvSpPr>
          <p:cNvPr id="9" name="TextBox 8"/>
          <p:cNvSpPr txBox="1"/>
          <p:nvPr/>
        </p:nvSpPr>
        <p:spPr>
          <a:xfrm>
            <a:off x="6185916" y="1505102"/>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8 cm/sec.</a:t>
            </a:r>
          </a:p>
        </p:txBody>
      </p:sp>
      <p:sp>
        <p:nvSpPr>
          <p:cNvPr id="10" name="TextBox 9"/>
          <p:cNvSpPr txBox="1"/>
          <p:nvPr/>
        </p:nvSpPr>
        <p:spPr>
          <a:xfrm>
            <a:off x="9050274" y="1505102"/>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6 cm/sec.</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2026-1</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defRPr sz="1800" b="1">
                <a:solidFill>
                  <a:srgbClr val="FAD02C"/>
                </a:solidFill>
                <a:latin typeface="Arial"/>
              </a:defRPr>
            </a:pPr>
            <a:r>
              <a:rPr lang="en-US" sz="1800" b="1">
                <a:solidFill>
                  <a:srgbClr val="FAD02C"/>
                </a:solidFill>
                <a:latin typeface="Arial"/>
              </a:rPr>
              <a:t>Statement I: The function</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f</m:t>
                    </m:r>
                    <m:r>
                      <m:rPr>
                        <m:sty m:val="p"/>
                      </m:rPr>
                      <m:t>(</m:t>
                    </m:r>
                    <m:r>
                      <m:t>x</m:t>
                    </m:r>
                    <m:r>
                      <m:rPr>
                        <m:sty m:val="p"/>
                      </m:rPr>
                      <m:t>)</m:t>
                    </m:r>
                    <m:r>
                      <m:rPr>
                        <m:sty m:val="p"/>
                      </m:rPr>
                      <m:t>=</m:t>
                    </m:r>
                    <m:sSup>
                      <m:e>
                        <m:r>
                          <m:t>x</m:t>
                        </m:r>
                      </m:e>
                      <m:sup>
                        <m:r>
                          <m:t>2</m:t>
                        </m:r>
                      </m:sup>
                    </m:sSup>
                  </m:oMath>
                </a14:m>
              </mc:Choice>
            </mc:AlternateContent>
            <a:r>
              <a:rPr lang="en-US" sz="1800" b="1">
                <a:solidFill>
                  <a:srgbClr val="FAD02C"/>
                </a:solidFill>
                <a:latin typeface="Arial"/>
              </a:rPr>
              <a:t> </a:t>
            </a:r>
            <a:r>
              <a:rPr lang="en-US" sz="1800" b="1">
                <a:solidFill>
                  <a:srgbClr val="FAD02C"/>
                </a:solidFill>
                <a:latin typeface="Arial"/>
              </a:rPr>
              <a:t>is decreasing in the interval</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rPr>
                        <m:sty m:val="p"/>
                      </m:rPr>
                      <m:t>(</m:t>
                    </m:r>
                    <m:r>
                      <m:t>0</m:t>
                    </m:r>
                    <m:r>
                      <m:rPr>
                        <m:sty m:val="p"/>
                      </m:rPr>
                      <m:t>,</m:t>
                    </m:r>
                    <m:r>
                      <m:rPr>
                        <m:sty m:val="p"/>
                      </m:rPr>
                      <m:t>∞</m:t>
                    </m:r>
                    <m:r>
                      <m:rPr>
                        <m:sty m:val="p"/>
                      </m:rPr>
                      <m:t>)</m:t>
                    </m:r>
                    <m:r>
                      <m:rPr>
                        <m:sty m:val="p"/>
                      </m:rPr>
                      <m:t>.</m:t>
                    </m:r>
                  </m:oMath>
                </a14:m>
              </mc:Choice>
            </mc:AlternateContent>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TextBox 2"/>
          <p:cNvSpPr txBox="1"/>
          <p:nvPr/>
        </p:nvSpPr>
        <p:spPr>
          <a:xfrm>
            <a:off x="457200" y="731520"/>
            <a:ext cx="11274552" cy="608990"/>
          </a:xfrm>
          <a:prstGeom prst="rect">
            <a:avLst/>
          </a:prstGeom>
          <a:noFill/>
        </p:spPr>
        <p:txBody>
          <a:bodyPr wrap="square" lIns="0" rIns="0" tIns="0" bIns="0">
            <a:spAutoFit/>
          </a:bodyPr>
          <a:lstStyle/>
          <a:p>
            <a:pPr algn="l">
              <a:defRPr sz="1800" b="1">
                <a:solidFill>
                  <a:srgbClr val="FAD02C"/>
                </a:solidFill>
                <a:latin typeface="Arial"/>
              </a:defRPr>
            </a:pPr>
            <a:r>
              <a:rPr lang="en-US" sz="1800" b="1">
                <a:solidFill>
                  <a:srgbClr val="FAD02C"/>
                </a:solidFill>
                <a:latin typeface="Arial"/>
              </a:rPr>
              <a:t>Statement</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I</m:t>
                    </m:r>
                    <m:r>
                      <m:t>I</m:t>
                    </m:r>
                  </m:oMath>
                </a14:m>
              </mc:Choice>
            </mc:AlternateContent>
            <a:r>
              <a:rPr lang="en-US" sz="1800" b="1">
                <a:solidFill>
                  <a:srgbClr val="FAD02C"/>
                </a:solidFill>
                <a:latin typeface="Arial"/>
              </a:rPr>
              <a:t>: Any function</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y</m:t>
                    </m:r>
                    <m:r>
                      <m:rPr>
                        <m:sty m:val="p"/>
                      </m:rPr>
                      <m:t>=</m:t>
                    </m:r>
                    <m:r>
                      <m:t>f</m:t>
                    </m:r>
                    <m:r>
                      <m:rPr>
                        <m:sty m:val="p"/>
                      </m:rPr>
                      <m:t>(</m:t>
                    </m:r>
                    <m:r>
                      <m:t>x</m:t>
                    </m:r>
                    <m:r>
                      <m:rPr>
                        <m:sty m:val="p"/>
                      </m:rPr>
                      <m:t>)</m:t>
                    </m:r>
                  </m:oMath>
                </a14:m>
              </mc:Choice>
            </mc:AlternateContent>
            <a:r>
              <a:rPr lang="en-US" sz="1800" b="1">
                <a:solidFill>
                  <a:srgbClr val="FAD02C"/>
                </a:solidFill>
                <a:latin typeface="Arial"/>
              </a:rPr>
              <a:t> </a:t>
            </a:r>
            <a:r>
              <a:rPr lang="en-US" sz="1800" b="1">
                <a:solidFill>
                  <a:srgbClr val="FAD02C"/>
                </a:solidFill>
                <a:latin typeface="Arial"/>
              </a:rPr>
              <a:t>is decreasing if</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f>
                      <m:fPr>
                        <m:type m:val="bar"/>
                      </m:fPr>
                      <m:num>
                        <m:r>
                          <m:t>d</m:t>
                        </m:r>
                        <m:r>
                          <m:t>y</m:t>
                        </m:r>
                      </m:num>
                      <m:den>
                        <m:r>
                          <m:t> </m:t>
                        </m:r>
                        <m:r>
                          <m:t>d</m:t>
                        </m:r>
                        <m:r>
                          <m:t>x</m:t>
                        </m:r>
                      </m:den>
                    </m:f>
                    <m:r>
                      <m:rPr>
                        <m:sty m:val="p"/>
                      </m:rPr>
                      <m:t>&lt;</m:t>
                    </m:r>
                    <m:r>
                      <m:t>0</m:t>
                    </m:r>
                    <m:r>
                      <m:rPr>
                        <m:sty m:val="p"/>
                      </m:rPr>
                      <m:t>.</m:t>
                    </m:r>
                  </m:oMath>
                </a14:m>
              </mc:Choice>
            </mc:AlternateContent>
            <a:r>
              <a:rPr lang="en-US" sz="1800" b="1">
                <a:solidFill>
                  <a:srgbClr val="FAD02C"/>
                </a:solidFill>
                <a:latin typeface="Arial"/>
              </a:rPr>
              <a:t> </a:t>
            </a:r>
            <a:r>
              <a:rPr lang="en-US" sz="1800" b="1">
                <a:solidFill>
                  <a:srgbClr val="FAD02C"/>
                </a:solidFill>
                <a:latin typeface="Arial"/>
              </a:rPr>
              <a:t>Which of the following is correct?</a:t>
            </a:r>
          </a:p>
        </p:txBody>
      </p:sp>
      <p:sp>
        <p:nvSpPr>
          <p:cNvPr id="4" name="TextBox 3"/>
          <p:cNvSpPr txBox="1"/>
          <p:nvPr/>
        </p:nvSpPr>
        <p:spPr>
          <a:xfrm>
            <a:off x="457200" y="1505102"/>
            <a:ext cx="5477256"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A. </a:t>
            </a:r>
            <a:r>
              <a:rPr lang="en-US" sz="1600">
                <a:solidFill>
                  <a:srgbClr val="F0F0F0"/>
                </a:solidFill>
                <a:latin typeface="Arial"/>
              </a:rPr>
              <a:t>Both Statements I and</a:t>
            </a:r>
            <a:r>
              <a:rPr lang="en-US" sz="1600">
                <a:solidFill>
                  <a:srgbClr val="F0F0F0"/>
                </a:solidFill>
                <a:latin typeface="Arial"/>
              </a:rPr>
              <a:t> </a:t>
            </a:r>
            <mc:AlternateContent xmlns:mc="http://schemas.openxmlformats.org/markup-compatibility/2006" xmlns:a14="http://schemas.microsoft.com/office/drawing/2010/main">
              <mc:Choice Requires="a14">
                <a14:m>
                  <m:oMath xmlns:m="http://schemas.openxmlformats.org/officeDocument/2006/math">
                    <m:r>
                      <m:t>I</m:t>
                    </m:r>
                    <m:r>
                      <m:t>I</m:t>
                    </m:r>
                  </m:oMath>
                </a14:m>
              </mc:Choice>
            </mc:AlternateContent>
            <a:r>
              <a:rPr lang="en-US" sz="1600">
                <a:solidFill>
                  <a:srgbClr val="F0F0F0"/>
                </a:solidFill>
                <a:latin typeface="Arial"/>
              </a:rPr>
              <a:t> </a:t>
            </a:r>
            <a:r>
              <a:rPr lang="en-US" sz="1600">
                <a:solidFill>
                  <a:srgbClr val="F0F0F0"/>
                </a:solidFill>
                <a:latin typeface="Arial"/>
              </a:rPr>
              <a:t>are true</a:t>
            </a:r>
          </a:p>
        </p:txBody>
      </p:sp>
      <p:sp>
        <p:nvSpPr>
          <p:cNvPr id="5" name="TextBox 4"/>
          <p:cNvSpPr txBox="1"/>
          <p:nvPr/>
        </p:nvSpPr>
        <p:spPr>
          <a:xfrm>
            <a:off x="6254496" y="1505102"/>
            <a:ext cx="5477256"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B. </a:t>
            </a:r>
            <a:r>
              <a:rPr lang="en-US" sz="1600">
                <a:solidFill>
                  <a:srgbClr val="F0F0F0"/>
                </a:solidFill>
                <a:latin typeface="Arial"/>
              </a:rPr>
              <a:t>Both Statements I and</a:t>
            </a:r>
            <a:r>
              <a:rPr lang="en-US" sz="1600">
                <a:solidFill>
                  <a:srgbClr val="F0F0F0"/>
                </a:solidFill>
                <a:latin typeface="Arial"/>
              </a:rPr>
              <a:t> </a:t>
            </a:r>
            <mc:AlternateContent xmlns:mc="http://schemas.openxmlformats.org/markup-compatibility/2006" xmlns:a14="http://schemas.microsoft.com/office/drawing/2010/main">
              <mc:Choice Requires="a14">
                <a14:m>
                  <m:oMath xmlns:m="http://schemas.openxmlformats.org/officeDocument/2006/math">
                    <m:r>
                      <m:t>I</m:t>
                    </m:r>
                    <m:r>
                      <m:t>I</m:t>
                    </m:r>
                  </m:oMath>
                </a14:m>
              </mc:Choice>
            </mc:AlternateContent>
            <a:r>
              <a:rPr lang="en-US" sz="1600">
                <a:solidFill>
                  <a:srgbClr val="F0F0F0"/>
                </a:solidFill>
                <a:latin typeface="Arial"/>
              </a:rPr>
              <a:t> </a:t>
            </a:r>
            <a:r>
              <a:rPr lang="en-US" sz="1600">
                <a:solidFill>
                  <a:srgbClr val="F0F0F0"/>
                </a:solidFill>
                <a:latin typeface="Arial"/>
              </a:rPr>
              <a:t>are false</a:t>
            </a:r>
          </a:p>
        </p:txBody>
      </p:sp>
      <p:sp>
        <p:nvSpPr>
          <p:cNvPr id="6" name="TextBox 5"/>
          <p:cNvSpPr txBox="1"/>
          <p:nvPr/>
        </p:nvSpPr>
        <p:spPr>
          <a:xfrm>
            <a:off x="457200" y="2072030"/>
            <a:ext cx="5477256"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C. </a:t>
            </a:r>
            <a:r>
              <a:rPr lang="en-US" sz="1600">
                <a:solidFill>
                  <a:srgbClr val="F0F0F0"/>
                </a:solidFill>
                <a:latin typeface="Arial"/>
              </a:rPr>
              <a:t>Statement I is true and Statement</a:t>
            </a:r>
            <a:r>
              <a:rPr lang="en-US" sz="1600">
                <a:solidFill>
                  <a:srgbClr val="F0F0F0"/>
                </a:solidFill>
                <a:latin typeface="Arial"/>
              </a:rPr>
              <a:t> </a:t>
            </a:r>
            <mc:AlternateContent xmlns:mc="http://schemas.openxmlformats.org/markup-compatibility/2006" xmlns:a14="http://schemas.microsoft.com/office/drawing/2010/main">
              <mc:Choice Requires="a14">
                <a14:m>
                  <m:oMath xmlns:m="http://schemas.openxmlformats.org/officeDocument/2006/math">
                    <m:r>
                      <m:t>I</m:t>
                    </m:r>
                    <m:r>
                      <m:t>I</m:t>
                    </m:r>
                  </m:oMath>
                </a14:m>
              </mc:Choice>
            </mc:AlternateContent>
            <a:r>
              <a:rPr lang="en-US" sz="1600">
                <a:solidFill>
                  <a:srgbClr val="F0F0F0"/>
                </a:solidFill>
                <a:latin typeface="Arial"/>
              </a:rPr>
              <a:t> </a:t>
            </a:r>
            <a:r>
              <a:rPr lang="en-US" sz="1600">
                <a:solidFill>
                  <a:srgbClr val="F0F0F0"/>
                </a:solidFill>
                <a:latin typeface="Arial"/>
              </a:rPr>
              <a:t>is false</a:t>
            </a:r>
          </a:p>
        </p:txBody>
      </p:sp>
      <p:sp>
        <p:nvSpPr>
          <p:cNvPr id="7" name="TextBox 6"/>
          <p:cNvSpPr txBox="1"/>
          <p:nvPr/>
        </p:nvSpPr>
        <p:spPr>
          <a:xfrm>
            <a:off x="6254496" y="2072030"/>
            <a:ext cx="5477256"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D. </a:t>
            </a:r>
            <a:r>
              <a:rPr lang="en-US" sz="1600">
                <a:solidFill>
                  <a:srgbClr val="F0F0F0"/>
                </a:solidFill>
                <a:latin typeface="Arial"/>
              </a:rPr>
              <a:t>Statement I is false and Statement</a:t>
            </a:r>
            <a:r>
              <a:rPr lang="en-US" sz="1600">
                <a:solidFill>
                  <a:srgbClr val="F0F0F0"/>
                </a:solidFill>
                <a:latin typeface="Arial"/>
              </a:rPr>
              <a:t> </a:t>
            </a:r>
            <mc:AlternateContent xmlns:mc="http://schemas.openxmlformats.org/markup-compatibility/2006" xmlns:a14="http://schemas.microsoft.com/office/drawing/2010/main">
              <mc:Choice Requires="a14">
                <a14:m>
                  <m:oMath xmlns:m="http://schemas.openxmlformats.org/officeDocument/2006/math">
                    <m:r>
                      <m:t>I</m:t>
                    </m:r>
                    <m:r>
                      <m:t>I</m:t>
                    </m:r>
                  </m:oMath>
                </a14:m>
              </mc:Choice>
            </mc:AlternateContent>
            <a:r>
              <a:rPr lang="en-US" sz="1600">
                <a:solidFill>
                  <a:srgbClr val="F0F0F0"/>
                </a:solidFill>
                <a:latin typeface="Arial"/>
              </a:rPr>
              <a:t> </a:t>
            </a:r>
            <a:r>
              <a:rPr lang="en-US" sz="1600">
                <a:solidFill>
                  <a:srgbClr val="F0F0F0"/>
                </a:solidFill>
                <a:latin typeface="Arial"/>
              </a:rPr>
              <a:t>is true</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2023M</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defRPr sz="1800" b="1">
                <a:solidFill>
                  <a:srgbClr val="FAD02C"/>
                </a:solidFill>
                <a:latin typeface="Arial"/>
              </a:defRPr>
            </a:pPr>
            <a:r>
              <a:rPr lang="en-US" sz="1800" b="1">
                <a:solidFill>
                  <a:srgbClr val="FAD02C"/>
                </a:solidFill>
                <a:latin typeface="Arial"/>
              </a:rPr>
              <a:t>The slope of the normal to the curve</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y</m:t>
                    </m:r>
                    <m:r>
                      <m:rPr>
                        <m:sty m:val="p"/>
                      </m:rPr>
                      <m:t>=</m:t>
                    </m:r>
                    <m:r>
                      <m:t>2</m:t>
                    </m:r>
                    <m:sSup>
                      <m:e>
                        <m:r>
                          <m:t>x</m:t>
                        </m:r>
                      </m:e>
                      <m:sup>
                        <m:r>
                          <m:t>2</m:t>
                        </m:r>
                      </m:sup>
                    </m:sSup>
                    <m:r>
                      <m:rPr>
                        <m:sty m:val="p"/>
                      </m:rPr>
                      <m:t>−</m:t>
                    </m:r>
                    <m:r>
                      <m:t>3</m:t>
                    </m:r>
                    <m:r>
                      <m:rPr>
                        <m:sty m:val="p"/>
                      </m:rPr>
                      <m:t>sin</m:t>
                    </m:r>
                    <m:r>
                      <m:t>x</m:t>
                    </m:r>
                  </m:oMath>
                </a14:m>
              </mc:Choice>
            </mc:AlternateContent>
            <a:r>
              <a:rPr lang="en-US" sz="1800" b="1">
                <a:solidFill>
                  <a:srgbClr val="FAD02C"/>
                </a:solidFill>
                <a:latin typeface="Arial"/>
              </a:rPr>
              <a:t> </a:t>
            </a:r>
            <a:r>
              <a:rPr lang="en-US" sz="1800" b="1">
                <a:solidFill>
                  <a:srgbClr val="FAD02C"/>
                </a:solidFill>
                <a:latin typeface="Arial"/>
              </a:rPr>
              <a:t>at</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x</m:t>
                    </m:r>
                  </m:oMath>
                </a14:m>
              </mc:Choice>
            </mc:AlternateContent>
            <a:r>
              <a:rPr lang="en-US" sz="1800" b="1">
                <a:solidFill>
                  <a:srgbClr val="FAD02C"/>
                </a:solidFill>
                <a:latin typeface="Arial"/>
              </a:rPr>
              <a:t> </a:t>
            </a:r>
            <a:r>
              <a:rPr lang="en-US" sz="1800" b="1">
                <a:solidFill>
                  <a:srgbClr val="FAD02C"/>
                </a:solidFill>
                <a:latin typeface="Arial"/>
              </a:rPr>
              <a:t>= 0 is ____</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2026-1</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defRPr sz="1800" b="1">
                <a:solidFill>
                  <a:srgbClr val="FAD02C"/>
                </a:solidFill>
                <a:latin typeface="Arial"/>
              </a:defRPr>
            </a:pPr>
            <a:r>
              <a:rPr lang="en-US" sz="1800" b="1">
                <a:solidFill>
                  <a:srgbClr val="FAD02C"/>
                </a:solidFill>
                <a:latin typeface="Arial"/>
              </a:rPr>
              <a:t>The point of inflection of the function</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f</m:t>
                    </m:r>
                    <m:r>
                      <m:rPr>
                        <m:sty m:val="p"/>
                      </m:rPr>
                      <m:t>(</m:t>
                    </m:r>
                    <m:r>
                      <m:t>x</m:t>
                    </m:r>
                    <m:r>
                      <m:rPr>
                        <m:sty m:val="p"/>
                      </m:rPr>
                      <m:t>)</m:t>
                    </m:r>
                    <m:r>
                      <m:rPr>
                        <m:sty m:val="p"/>
                      </m:rPr>
                      <m:t>=</m:t>
                    </m:r>
                    <m:sSup>
                      <m:e>
                        <m:r>
                          <m:t>x</m:t>
                        </m:r>
                      </m:e>
                      <m:sup>
                        <m:r>
                          <m:t>3</m:t>
                        </m:r>
                      </m:sup>
                    </m:sSup>
                  </m:oMath>
                </a14:m>
              </mc:Choice>
            </mc:AlternateContent>
            <a:r>
              <a:rPr lang="en-US" sz="1800" b="1">
                <a:solidFill>
                  <a:srgbClr val="FAD02C"/>
                </a:solidFill>
                <a:latin typeface="Arial"/>
              </a:rPr>
              <a:t> </a:t>
            </a:r>
            <a:r>
              <a:rPr lang="en-US" sz="1800" b="1">
                <a:solidFill>
                  <a:srgbClr val="FAD02C"/>
                </a:solidFill>
                <a:latin typeface="Arial"/>
              </a:rPr>
              <a:t>in the interval [-1,1] is _____</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1170432"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1005840" cy="402336"/>
          </a:xfrm>
          <a:prstGeom prst="rect">
            <a:avLst/>
          </a:prstGeom>
          <a:noFill/>
        </p:spPr>
        <p:txBody>
          <a:bodyPr wrap="none" anchor="ctr" lIns="0" rIns="0" tIns="0" bIns="0">
            <a:spAutoFit/>
          </a:bodyPr>
          <a:lstStyle/>
          <a:p>
            <a:pPr algn="l"/>
            <a:r>
              <a:rPr sz="1500" b="1">
                <a:solidFill>
                  <a:srgbClr val="FAD02C"/>
                </a:solidFill>
                <a:latin typeface="Arial"/>
              </a:rPr>
              <a:t>2014,2019</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defRPr sz="1800" b="1">
                <a:solidFill>
                  <a:srgbClr val="FAD02C"/>
                </a:solidFill>
                <a:latin typeface="Arial"/>
              </a:defRPr>
            </a:pPr>
            <a:r>
              <a:rPr lang="en-US" sz="1800" b="1">
                <a:solidFill>
                  <a:srgbClr val="FAD02C"/>
                </a:solidFill>
                <a:latin typeface="Arial"/>
              </a:rPr>
              <a:t>Find the approximate charge in the volume v of a cube of side</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x</m:t>
                    </m:r>
                  </m:oMath>
                </a14:m>
              </mc:Choice>
            </mc:AlternateContent>
            <a:r>
              <a:rPr lang="en-US" sz="1800" b="1">
                <a:solidFill>
                  <a:srgbClr val="FAD02C"/>
                </a:solidFill>
                <a:latin typeface="Arial"/>
              </a:rPr>
              <a:t> </a:t>
            </a:r>
            <a:r>
              <a:rPr lang="en-US" sz="1800" b="1">
                <a:solidFill>
                  <a:srgbClr val="FAD02C"/>
                </a:solidFill>
                <a:latin typeface="Arial"/>
              </a:rPr>
              <a:t>meters caused by increasing the side by 2%.</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1316736"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1152144" cy="402336"/>
          </a:xfrm>
          <a:prstGeom prst="rect">
            <a:avLst/>
          </a:prstGeom>
          <a:noFill/>
        </p:spPr>
        <p:txBody>
          <a:bodyPr wrap="none" anchor="ctr" lIns="0" rIns="0" tIns="0" bIns="0">
            <a:spAutoFit/>
          </a:bodyPr>
          <a:lstStyle/>
          <a:p>
            <a:pPr algn="l"/>
            <a:r>
              <a:rPr sz="1500" b="1">
                <a:solidFill>
                  <a:srgbClr val="FAD02C"/>
                </a:solidFill>
                <a:latin typeface="Arial"/>
              </a:rPr>
              <a:t>2014S,2020</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defRPr sz="1800" b="1">
                <a:solidFill>
                  <a:srgbClr val="FAD02C"/>
                </a:solidFill>
                <a:latin typeface="Arial"/>
              </a:defRPr>
            </a:pPr>
            <a:r>
              <a:rPr lang="en-US" sz="1800" b="1">
                <a:solidFill>
                  <a:srgbClr val="FAD02C"/>
                </a:solidFill>
                <a:latin typeface="Arial"/>
              </a:rPr>
              <a:t>Approximate</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ad>
                      <m:radPr>
                        <m:degHide m:val="on"/>
                      </m:radPr>
                      <m:deg/>
                      <m:e>
                        <m:r>
                          <m:t>36.6</m:t>
                        </m:r>
                      </m:e>
                    </m:rad>
                  </m:oMath>
                </a14:m>
              </mc:Choice>
            </mc:AlternateContent>
            <a:r>
              <a:rPr lang="en-US" sz="1800" b="1">
                <a:solidFill>
                  <a:srgbClr val="FAD02C"/>
                </a:solidFill>
                <a:latin typeface="Arial"/>
              </a:rPr>
              <a:t>by using differential</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722376"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557784" cy="402336"/>
          </a:xfrm>
          <a:prstGeom prst="rect">
            <a:avLst/>
          </a:prstGeom>
          <a:noFill/>
        </p:spPr>
        <p:txBody>
          <a:bodyPr wrap="none" anchor="ctr" lIns="0" rIns="0" tIns="0" bIns="0">
            <a:spAutoFit/>
          </a:bodyPr>
          <a:lstStyle/>
          <a:p>
            <a:pPr algn="l"/>
            <a:r>
              <a:rPr sz="1500" b="1">
                <a:solidFill>
                  <a:srgbClr val="FAD02C"/>
                </a:solidFill>
                <a:latin typeface="Arial"/>
              </a:rPr>
              <a:t>2015</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defRPr sz="1800" b="1">
                <a:solidFill>
                  <a:srgbClr val="FAD02C"/>
                </a:solidFill>
                <a:latin typeface="Arial"/>
              </a:defRPr>
            </a:pPr>
            <a:r>
              <a:rPr lang="en-US" sz="1800" b="1">
                <a:solidFill>
                  <a:srgbClr val="FAD02C"/>
                </a:solidFill>
                <a:latin typeface="Arial"/>
              </a:rPr>
              <a:t>Find the slope of the</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rPr>
                        <m:sty m:val="p"/>
                      </m:rPr>
                      <m:t>tan</m:t>
                    </m:r>
                    <m:r>
                      <m:t>g</m:t>
                    </m:r>
                    <m:r>
                      <m:t>e</m:t>
                    </m:r>
                    <m:r>
                      <m:t>n</m:t>
                    </m:r>
                    <m:r>
                      <m:t>t</m:t>
                    </m:r>
                  </m:oMath>
                </a14:m>
              </mc:Choice>
            </mc:AlternateContent>
            <a:r>
              <a:rPr lang="en-US" sz="1800" b="1">
                <a:solidFill>
                  <a:srgbClr val="FAD02C"/>
                </a:solidFill>
                <a:latin typeface="Arial"/>
              </a:rPr>
              <a:t> </a:t>
            </a:r>
            <a:r>
              <a:rPr lang="en-US" sz="1800" b="1">
                <a:solidFill>
                  <a:srgbClr val="FAD02C"/>
                </a:solidFill>
                <a:latin typeface="Arial"/>
              </a:rPr>
              <a:t>to the curve</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y</m:t>
                    </m:r>
                    <m:r>
                      <m:rPr>
                        <m:sty m:val="p"/>
                      </m:rPr>
                      <m:t>=</m:t>
                    </m:r>
                    <m:f>
                      <m:fPr>
                        <m:type m:val="bar"/>
                      </m:fPr>
                      <m:num>
                        <m:sSup>
                          <m:e>
                            <m:r>
                              <m:t>x</m:t>
                            </m:r>
                          </m:e>
                          <m:sup>
                            <m:r>
                              <m:rPr>
                                <m:sty m:val="p"/>
                              </m:rPr>
                              <m:t>−</m:t>
                            </m:r>
                            <m:r>
                              <m:t>1</m:t>
                            </m:r>
                          </m:sup>
                        </m:sSup>
                      </m:num>
                      <m:den>
                        <m:sSup>
                          <m:e>
                            <m:r>
                              <m:t>x</m:t>
                            </m:r>
                          </m:e>
                          <m:sup>
                            <m:r>
                              <m:rPr>
                                <m:sty m:val="p"/>
                              </m:rPr>
                              <m:t>−</m:t>
                            </m:r>
                            <m:r>
                              <m:t>2</m:t>
                            </m:r>
                          </m:sup>
                        </m:sSup>
                      </m:den>
                    </m:f>
                    <m:r>
                      <m:rPr>
                        <m:sty m:val="p"/>
                      </m:rPr>
                      <m:t>,</m:t>
                    </m:r>
                    <m:r>
                      <m:t>x</m:t>
                    </m:r>
                    <m:r>
                      <m:rPr>
                        <m:sty m:val="p"/>
                      </m:rPr>
                      <m:t>≠</m:t>
                    </m:r>
                    <m:r>
                      <m:t>2</m:t>
                    </m:r>
                  </m:oMath>
                </a14:m>
              </mc:Choice>
            </mc:AlternateContent>
            <a:r>
              <a:rPr lang="en-US" sz="1800" b="1">
                <a:solidFill>
                  <a:srgbClr val="FAD02C"/>
                </a:solidFill>
                <a:latin typeface="Arial"/>
              </a:rPr>
              <a:t>at</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x</m:t>
                    </m:r>
                  </m:oMath>
                </a14:m>
              </mc:Choice>
            </mc:AlternateContent>
            <a:r>
              <a:rPr lang="en-US" sz="1800" b="1">
                <a:solidFill>
                  <a:srgbClr val="FAD02C"/>
                </a:solidFill>
                <a:latin typeface="Arial"/>
              </a:rPr>
              <a:t> </a:t>
            </a:r>
            <a:r>
              <a:rPr lang="en-US" sz="1800" b="1">
                <a:solidFill>
                  <a:srgbClr val="FAD02C"/>
                </a:solidFill>
                <a:latin typeface="Arial"/>
              </a:rPr>
              <a:t>=10</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22960"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658368" cy="402336"/>
          </a:xfrm>
          <a:prstGeom prst="rect">
            <a:avLst/>
          </a:prstGeom>
          <a:noFill/>
        </p:spPr>
        <p:txBody>
          <a:bodyPr wrap="none" anchor="ctr" lIns="0" rIns="0" tIns="0" bIns="0">
            <a:spAutoFit/>
          </a:bodyPr>
          <a:lstStyle/>
          <a:p>
            <a:pPr algn="l"/>
            <a:r>
              <a:rPr sz="1500" b="1">
                <a:solidFill>
                  <a:srgbClr val="FAD02C"/>
                </a:solidFill>
                <a:latin typeface="Arial"/>
              </a:rPr>
              <a:t>2015S</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defRPr sz="1800" b="1">
                <a:solidFill>
                  <a:srgbClr val="FAD02C"/>
                </a:solidFill>
                <a:latin typeface="Arial"/>
              </a:defRPr>
            </a:pPr>
            <a:r>
              <a:rPr lang="en-US" sz="1800" b="1">
                <a:solidFill>
                  <a:srgbClr val="FAD02C"/>
                </a:solidFill>
                <a:latin typeface="Arial"/>
              </a:rPr>
              <a:t>Using differentials, find the approximate value of</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ad>
                      <m:radPr>
                        <m:degHide m:val="on"/>
                      </m:radPr>
                      <m:deg/>
                      <m:e>
                        <m:r>
                          <m:t>49.5</m:t>
                        </m:r>
                      </m:e>
                    </m:rad>
                  </m:oMath>
                </a14:m>
              </mc:Choice>
            </mc:AlternateContent>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722376"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557784" cy="402336"/>
          </a:xfrm>
          <a:prstGeom prst="rect">
            <a:avLst/>
          </a:prstGeom>
          <a:noFill/>
        </p:spPr>
        <p:txBody>
          <a:bodyPr wrap="none" anchor="ctr" lIns="0" rIns="0" tIns="0" bIns="0">
            <a:spAutoFit/>
          </a:bodyPr>
          <a:lstStyle/>
          <a:p>
            <a:pPr algn="l"/>
            <a:r>
              <a:rPr sz="1500" b="1">
                <a:solidFill>
                  <a:srgbClr val="FAD02C"/>
                </a:solidFill>
                <a:latin typeface="Arial"/>
              </a:rPr>
              <a:t>2016</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defRPr sz="1800" b="1">
                <a:solidFill>
                  <a:srgbClr val="FAD02C"/>
                </a:solidFill>
                <a:latin typeface="Arial"/>
              </a:defRPr>
            </a:pPr>
            <a:r>
              <a:rPr lang="en-US" sz="1800" b="1">
                <a:solidFill>
                  <a:srgbClr val="FAD02C"/>
                </a:solidFill>
                <a:latin typeface="Arial"/>
              </a:rPr>
              <a:t>Using differentials, find the approximate value of</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rPr>
                        <m:sty m:val="p"/>
                      </m:rPr>
                      <m:t>(</m:t>
                    </m:r>
                    <m:r>
                      <m:t>25</m:t>
                    </m:r>
                    <m:sSup>
                      <m:e>
                        <m:r>
                          <m:rPr>
                            <m:sty m:val="p"/>
                          </m:rPr>
                          <m:t>)</m:t>
                        </m:r>
                      </m:e>
                      <m:sup>
                        <m:f>
                          <m:fPr>
                            <m:type m:val="bar"/>
                          </m:fPr>
                          <m:num>
                            <m:r>
                              <m:t>1</m:t>
                            </m:r>
                          </m:num>
                          <m:den>
                            <m:r>
                              <m:t>3</m:t>
                            </m:r>
                          </m:den>
                        </m:f>
                      </m:sup>
                    </m:sSup>
                  </m:oMath>
                </a14:m>
              </mc:Choice>
            </mc:AlternateContent>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2039112"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1874519" cy="402336"/>
          </a:xfrm>
          <a:prstGeom prst="rect">
            <a:avLst/>
          </a:prstGeom>
          <a:noFill/>
        </p:spPr>
        <p:txBody>
          <a:bodyPr wrap="none" anchor="ctr" lIns="0" rIns="0" tIns="0" bIns="0">
            <a:spAutoFit/>
          </a:bodyPr>
          <a:lstStyle/>
          <a:p>
            <a:pPr algn="l"/>
            <a:r>
              <a:rPr sz="1500" b="1">
                <a:solidFill>
                  <a:srgbClr val="FAD02C"/>
                </a:solidFill>
                <a:latin typeface="Arial"/>
              </a:rPr>
              <a:t>2016S,2019S,2025-2</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defRPr sz="1800" b="1">
                <a:solidFill>
                  <a:srgbClr val="FAD02C"/>
                </a:solidFill>
                <a:latin typeface="Arial"/>
              </a:defRPr>
            </a:pPr>
            <a:r>
              <a:rPr lang="en-US" sz="1800" b="1">
                <a:solidFill>
                  <a:srgbClr val="FAD02C"/>
                </a:solidFill>
                <a:latin typeface="Arial"/>
              </a:rPr>
              <a:t>Find the interval in which the function of given by</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f</m:t>
                    </m:r>
                    <m:r>
                      <m:rPr>
                        <m:sty m:val="p"/>
                      </m:rPr>
                      <m:t>(</m:t>
                    </m:r>
                    <m:r>
                      <m:t>x</m:t>
                    </m:r>
                    <m:r>
                      <m:rPr>
                        <m:sty m:val="p"/>
                      </m:rPr>
                      <m:t>)</m:t>
                    </m:r>
                    <m:r>
                      <m:rPr>
                        <m:sty m:val="p"/>
                      </m:rPr>
                      <m:t>=</m:t>
                    </m:r>
                    <m:r>
                      <m:t>2</m:t>
                    </m:r>
                    <m:sSup>
                      <m:e>
                        <m:r>
                          <m:t>x</m:t>
                        </m:r>
                      </m:e>
                      <m:sup>
                        <m:r>
                          <m:t>2</m:t>
                        </m:r>
                      </m:sup>
                    </m:sSup>
                  </m:oMath>
                </a14:m>
              </mc:Choice>
            </mc:AlternateContent>
            <a:r>
              <a:rPr lang="en-US" sz="1800" b="1">
                <a:solidFill>
                  <a:srgbClr val="FAD02C"/>
                </a:solidFill>
                <a:latin typeface="Arial"/>
              </a:rPr>
              <a:t> </a:t>
            </a:r>
            <a:r>
              <a:rPr lang="en-US" sz="1800" b="1">
                <a:solidFill>
                  <a:srgbClr val="FAD02C"/>
                </a:solidFill>
                <a:latin typeface="Arial"/>
              </a:rPr>
              <a:t>–</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3</m:t>
                    </m:r>
                    <m:r>
                      <m:t>x</m:t>
                    </m:r>
                  </m:oMath>
                </a14:m>
              </mc:Choice>
            </mc:AlternateContent>
            <a:r>
              <a:rPr lang="en-US" sz="1800" b="1">
                <a:solidFill>
                  <a:srgbClr val="FAD02C"/>
                </a:solidFill>
                <a:latin typeface="Arial"/>
              </a:rPr>
              <a:t> </a:t>
            </a:r>
            <a:r>
              <a:rPr lang="en-US" sz="1800" b="1">
                <a:solidFill>
                  <a:srgbClr val="FAD02C"/>
                </a:solidFill>
                <a:latin typeface="Arial"/>
              </a:rPr>
              <a:t>is strictly increasing</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722376"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557784" cy="402336"/>
          </a:xfrm>
          <a:prstGeom prst="rect">
            <a:avLst/>
          </a:prstGeom>
          <a:noFill/>
        </p:spPr>
        <p:txBody>
          <a:bodyPr wrap="none" anchor="ctr" lIns="0" rIns="0" tIns="0" bIns="0">
            <a:spAutoFit/>
          </a:bodyPr>
          <a:lstStyle/>
          <a:p>
            <a:pPr algn="l"/>
            <a:r>
              <a:rPr sz="1500" b="1">
                <a:solidFill>
                  <a:srgbClr val="FAD02C"/>
                </a:solidFill>
                <a:latin typeface="Arial"/>
              </a:rPr>
              <a:t>2017</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defRPr sz="1800" b="1">
                <a:solidFill>
                  <a:srgbClr val="FAD02C"/>
                </a:solidFill>
                <a:latin typeface="Arial"/>
              </a:defRPr>
            </a:pPr>
            <a:r>
              <a:rPr lang="en-US" sz="1800" b="1">
                <a:solidFill>
                  <a:srgbClr val="FAD02C"/>
                </a:solidFill>
                <a:latin typeface="Arial"/>
              </a:rPr>
              <a:t>Find the approximate charge in the volume v of a cube of side</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x</m:t>
                    </m:r>
                  </m:oMath>
                </a14:m>
              </mc:Choice>
            </mc:AlternateContent>
            <a:r>
              <a:rPr lang="en-US" sz="1800" b="1">
                <a:solidFill>
                  <a:srgbClr val="FAD02C"/>
                </a:solidFill>
                <a:latin typeface="Arial"/>
              </a:rPr>
              <a:t> </a:t>
            </a:r>
            <a:r>
              <a:rPr lang="en-US" sz="1800" b="1">
                <a:solidFill>
                  <a:srgbClr val="FAD02C"/>
                </a:solidFill>
                <a:latin typeface="Arial"/>
              </a:rPr>
              <a:t>meters caused by increasing the side by 3%.</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129844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1133856" cy="402336"/>
          </a:xfrm>
          <a:prstGeom prst="rect">
            <a:avLst/>
          </a:prstGeom>
          <a:noFill/>
        </p:spPr>
        <p:txBody>
          <a:bodyPr wrap="none" anchor="ctr" lIns="0" rIns="0" tIns="0" bIns="0">
            <a:spAutoFit/>
          </a:bodyPr>
          <a:lstStyle/>
          <a:p>
            <a:pPr algn="l"/>
            <a:r>
              <a:rPr sz="1500" b="1">
                <a:solidFill>
                  <a:srgbClr val="FAD02C"/>
                </a:solidFill>
                <a:latin typeface="Arial"/>
              </a:rPr>
              <a:t>2018,2021M</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defRPr sz="1800" b="1">
                <a:solidFill>
                  <a:srgbClr val="FAD02C"/>
                </a:solidFill>
                <a:latin typeface="Arial"/>
              </a:defRPr>
            </a:pPr>
            <a:r>
              <a:rPr lang="en-US" sz="1800" b="1">
                <a:solidFill>
                  <a:srgbClr val="FAD02C"/>
                </a:solidFill>
                <a:latin typeface="Arial"/>
              </a:rPr>
              <a:t>Find the slope of the</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rPr>
                        <m:sty m:val="p"/>
                      </m:rPr>
                      <m:t>tan</m:t>
                    </m:r>
                    <m:r>
                      <m:t>g</m:t>
                    </m:r>
                    <m:r>
                      <m:t>e</m:t>
                    </m:r>
                    <m:r>
                      <m:t>n</m:t>
                    </m:r>
                    <m:r>
                      <m:t>t</m:t>
                    </m:r>
                  </m:oMath>
                </a14:m>
              </mc:Choice>
            </mc:AlternateContent>
            <a:r>
              <a:rPr lang="en-US" sz="1800" b="1">
                <a:solidFill>
                  <a:srgbClr val="FAD02C"/>
                </a:solidFill>
                <a:latin typeface="Arial"/>
              </a:rPr>
              <a:t> </a:t>
            </a:r>
            <a:r>
              <a:rPr lang="en-US" sz="1800" b="1">
                <a:solidFill>
                  <a:srgbClr val="FAD02C"/>
                </a:solidFill>
                <a:latin typeface="Arial"/>
              </a:rPr>
              <a:t>to the curve</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y</m:t>
                    </m:r>
                    <m:r>
                      <m:rPr>
                        <m:sty m:val="p"/>
                      </m:rPr>
                      <m:t>=</m:t>
                    </m:r>
                    <m:sSup>
                      <m:e>
                        <m:r>
                          <m:t>x</m:t>
                        </m:r>
                      </m:e>
                      <m:sup>
                        <m:r>
                          <m:t>3</m:t>
                        </m:r>
                      </m:sup>
                    </m:sSup>
                  </m:oMath>
                </a14:m>
              </mc:Choice>
            </mc:AlternateContent>
            <a:r>
              <a:rPr lang="en-US" sz="1800" b="1">
                <a:solidFill>
                  <a:srgbClr val="FAD02C"/>
                </a:solidFill>
                <a:latin typeface="Arial"/>
              </a:rPr>
              <a:t> </a:t>
            </a:r>
            <a:r>
              <a:rPr lang="en-US" sz="1800" b="1">
                <a:solidFill>
                  <a:srgbClr val="FAD02C"/>
                </a:solidFill>
                <a:latin typeface="Arial"/>
              </a:rPr>
              <a:t>–</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x</m:t>
                    </m:r>
                  </m:oMath>
                </a14:m>
              </mc:Choice>
            </mc:AlternateContent>
            <a:r>
              <a:rPr lang="en-US" sz="1800" b="1">
                <a:solidFill>
                  <a:srgbClr val="FAD02C"/>
                </a:solidFill>
                <a:latin typeface="Arial"/>
              </a:rPr>
              <a:t> </a:t>
            </a:r>
            <a:r>
              <a:rPr lang="en-US" sz="1800" b="1">
                <a:solidFill>
                  <a:srgbClr val="FAD02C"/>
                </a:solidFill>
                <a:latin typeface="Arial"/>
              </a:rPr>
              <a:t>at</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x</m:t>
                    </m:r>
                  </m:oMath>
                </a14:m>
              </mc:Choice>
            </mc:AlternateContent>
            <a:r>
              <a:rPr lang="en-US" sz="1800" b="1">
                <a:solidFill>
                  <a:srgbClr val="FAD02C"/>
                </a:solidFill>
                <a:latin typeface="Arial"/>
              </a:rPr>
              <a:t> </a:t>
            </a:r>
            <a:r>
              <a:rPr lang="en-US" sz="1800" b="1">
                <a:solidFill>
                  <a:srgbClr val="FAD02C"/>
                </a:solidFill>
                <a:latin typeface="Arial"/>
              </a:rPr>
              <a:t>= 2</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22960"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658368" cy="402336"/>
          </a:xfrm>
          <a:prstGeom prst="rect">
            <a:avLst/>
          </a:prstGeom>
          <a:noFill/>
        </p:spPr>
        <p:txBody>
          <a:bodyPr wrap="none" anchor="ctr" lIns="0" rIns="0" tIns="0" bIns="0">
            <a:spAutoFit/>
          </a:bodyPr>
          <a:lstStyle/>
          <a:p>
            <a:pPr algn="l"/>
            <a:r>
              <a:rPr sz="1500" b="1">
                <a:solidFill>
                  <a:srgbClr val="FAD02C"/>
                </a:solidFill>
                <a:latin typeface="Arial"/>
              </a:rPr>
              <a:t>2017S</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defRPr sz="1800" b="1">
                <a:solidFill>
                  <a:srgbClr val="FAD02C"/>
                </a:solidFill>
                <a:latin typeface="Arial"/>
              </a:defRPr>
            </a:pPr>
            <a:r>
              <a:rPr lang="en-US" sz="1800" b="1">
                <a:solidFill>
                  <a:srgbClr val="FAD02C"/>
                </a:solidFill>
                <a:latin typeface="Arial"/>
              </a:rPr>
              <a:t>Find the points on the curve</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f>
                      <m:fPr>
                        <m:type m:val="bar"/>
                      </m:fPr>
                      <m:num>
                        <m:sSup>
                          <m:e>
                            <m:r>
                              <m:t>x</m:t>
                            </m:r>
                          </m:e>
                          <m:sup>
                            <m:r>
                              <m:t>2</m:t>
                            </m:r>
                          </m:sup>
                        </m:sSup>
                      </m:num>
                      <m:den>
                        <m:r>
                          <m:t>4</m:t>
                        </m:r>
                      </m:den>
                    </m:f>
                    <m:r>
                      <m:rPr>
                        <m:sty m:val="p"/>
                      </m:rPr>
                      <m:t>+</m:t>
                    </m:r>
                    <m:f>
                      <m:fPr>
                        <m:type m:val="bar"/>
                      </m:fPr>
                      <m:num>
                        <m:sSup>
                          <m:e>
                            <m:r>
                              <m:t>y</m:t>
                            </m:r>
                          </m:e>
                          <m:sup>
                            <m:r>
                              <m:t>2</m:t>
                            </m:r>
                          </m:sup>
                        </m:sSup>
                      </m:num>
                      <m:den>
                        <m:r>
                          <m:t>25</m:t>
                        </m:r>
                      </m:den>
                    </m:f>
                  </m:oMath>
                </a14:m>
              </mc:Choice>
            </mc:AlternateContent>
            <a:r>
              <a:rPr lang="en-US" sz="1800" b="1">
                <a:solidFill>
                  <a:srgbClr val="FAD02C"/>
                </a:solidFill>
                <a:latin typeface="Arial"/>
              </a:rPr>
              <a:t> </a:t>
            </a:r>
            <a:r>
              <a:rPr lang="en-US" sz="1800" b="1">
                <a:solidFill>
                  <a:srgbClr val="FAD02C"/>
                </a:solidFill>
                <a:latin typeface="Arial"/>
              </a:rPr>
              <a:t>= 1 at which the</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rPr>
                        <m:sty m:val="p"/>
                      </m:rPr>
                      <m:t>tan</m:t>
                    </m:r>
                    <m:r>
                      <m:t>g</m:t>
                    </m:r>
                    <m:r>
                      <m:t>e</m:t>
                    </m:r>
                    <m:r>
                      <m:t>n</m:t>
                    </m:r>
                    <m:r>
                      <m:t>t</m:t>
                    </m:r>
                    <m:r>
                      <m:t>s</m:t>
                    </m:r>
                  </m:oMath>
                </a14:m>
              </mc:Choice>
            </mc:AlternateContent>
            <a:r>
              <a:rPr lang="en-US" sz="1800" b="1">
                <a:solidFill>
                  <a:srgbClr val="FAD02C"/>
                </a:solidFill>
                <a:latin typeface="Arial"/>
              </a:rPr>
              <a:t> </a:t>
            </a:r>
            <a:r>
              <a:rPr lang="en-US" sz="1800" b="1">
                <a:solidFill>
                  <a:srgbClr val="FAD02C"/>
                </a:solidFill>
                <a:latin typeface="Arial"/>
              </a:rPr>
              <a:t>are parallel to</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x</m:t>
                    </m:r>
                  </m:oMath>
                </a14:m>
              </mc:Choice>
            </mc:AlternateContent>
            <a:r>
              <a:rPr lang="en-US" sz="1800" b="1">
                <a:solidFill>
                  <a:srgbClr val="FAD02C"/>
                </a:solidFill>
                <a:latin typeface="Arial"/>
              </a:rPr>
              <a:t> </a:t>
            </a:r>
            <a:r>
              <a:rPr lang="en-US" sz="1800" b="1">
                <a:solidFill>
                  <a:srgbClr val="FAD02C"/>
                </a:solidFill>
                <a:latin typeface="Arial"/>
              </a:rPr>
              <a:t>– axis.</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758952"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594359" cy="402336"/>
          </a:xfrm>
          <a:prstGeom prst="rect">
            <a:avLst/>
          </a:prstGeom>
          <a:noFill/>
        </p:spPr>
        <p:txBody>
          <a:bodyPr wrap="none" anchor="ctr" lIns="0" rIns="0" tIns="0" bIns="0">
            <a:spAutoFit/>
          </a:bodyPr>
          <a:lstStyle/>
          <a:p>
            <a:pPr algn="l"/>
            <a:r>
              <a:rPr sz="1500" b="1">
                <a:solidFill>
                  <a:srgbClr val="FAD02C"/>
                </a:solidFill>
                <a:latin typeface="Arial"/>
              </a:rPr>
              <a:t>2020</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defRPr sz="1800" b="1">
                <a:solidFill>
                  <a:srgbClr val="FAD02C"/>
                </a:solidFill>
                <a:latin typeface="Arial"/>
              </a:defRPr>
            </a:pPr>
            <a:r>
              <a:rPr lang="en-US" sz="1800" b="1">
                <a:solidFill>
                  <a:srgbClr val="FAD02C"/>
                </a:solidFill>
                <a:latin typeface="Arial"/>
              </a:rPr>
              <a:t>Find the interval in which the function</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f</m:t>
                    </m:r>
                  </m:oMath>
                </a14:m>
              </mc:Choice>
            </mc:AlternateContent>
            <a:r>
              <a:rPr lang="en-US" sz="1800" b="1">
                <a:solidFill>
                  <a:srgbClr val="FAD02C"/>
                </a:solidFill>
                <a:latin typeface="Arial"/>
              </a:rPr>
              <a:t> </a:t>
            </a:r>
            <a:r>
              <a:rPr lang="en-US" sz="1800" b="1">
                <a:solidFill>
                  <a:srgbClr val="FAD02C"/>
                </a:solidFill>
                <a:latin typeface="Arial"/>
              </a:rPr>
              <a:t>given by</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f</m:t>
                    </m:r>
                    <m:r>
                      <m:rPr>
                        <m:sty m:val="p"/>
                      </m:rPr>
                      <m:t>(</m:t>
                    </m:r>
                    <m:r>
                      <m:t>x</m:t>
                    </m:r>
                    <m:r>
                      <m:rPr>
                        <m:sty m:val="p"/>
                      </m:rPr>
                      <m:t>)</m:t>
                    </m:r>
                    <m:r>
                      <m:rPr>
                        <m:sty m:val="p"/>
                      </m:rPr>
                      <m:t>=</m:t>
                    </m:r>
                    <m:sSup>
                      <m:e>
                        <m:r>
                          <m:t>x</m:t>
                        </m:r>
                      </m:e>
                      <m:sup>
                        <m:r>
                          <m:t>2</m:t>
                        </m:r>
                      </m:sup>
                    </m:sSup>
                  </m:oMath>
                </a14:m>
              </mc:Choice>
            </mc:AlternateContent>
            <a:r>
              <a:rPr lang="en-US" sz="1800" b="1">
                <a:solidFill>
                  <a:srgbClr val="FAD02C"/>
                </a:solidFill>
                <a:latin typeface="Arial"/>
              </a:rPr>
              <a:t> </a:t>
            </a:r>
            <a:r>
              <a:rPr lang="en-US" sz="1800" b="1">
                <a:solidFill>
                  <a:srgbClr val="FAD02C"/>
                </a:solidFill>
                <a:latin typeface="Arial"/>
              </a:rPr>
              <a:t>–</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4</m:t>
                    </m:r>
                    <m:r>
                      <m:t>x</m:t>
                    </m:r>
                  </m:oMath>
                </a14:m>
              </mc:Choice>
            </mc:AlternateContent>
            <a:r>
              <a:rPr lang="en-US" sz="1800" b="1">
                <a:solidFill>
                  <a:srgbClr val="FAD02C"/>
                </a:solidFill>
                <a:latin typeface="Arial"/>
              </a:rPr>
              <a:t> </a:t>
            </a:r>
            <a:r>
              <a:rPr lang="en-US" sz="1800" b="1">
                <a:solidFill>
                  <a:srgbClr val="FAD02C"/>
                </a:solidFill>
                <a:latin typeface="Arial"/>
              </a:rPr>
              <a:t>+ 6 is strictly</a:t>
            </a:r>
            <a:r>
              <a:rPr lang="en-US" sz="1800" b="1">
                <a:solidFill>
                  <a:srgbClr val="FAD02C"/>
                </a:solidFill>
                <a:latin typeface="Arial"/>
              </a:rPr>
              <a:t> </a:t>
            </a:r>
            <a:r>
              <a:rPr lang="en-US" sz="1800" b="1">
                <a:solidFill>
                  <a:srgbClr val="FAD02C"/>
                </a:solidFill>
                <a:latin typeface="Arial"/>
              </a:rPr>
              <a:t>decreasing</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50392"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685800" cy="402336"/>
          </a:xfrm>
          <a:prstGeom prst="rect">
            <a:avLst/>
          </a:prstGeom>
          <a:noFill/>
        </p:spPr>
        <p:txBody>
          <a:bodyPr wrap="none" anchor="ctr" lIns="0" rIns="0" tIns="0" bIns="0">
            <a:spAutoFit/>
          </a:bodyPr>
          <a:lstStyle/>
          <a:p>
            <a:pPr algn="l"/>
            <a:r>
              <a:rPr sz="1500" b="1">
                <a:solidFill>
                  <a:srgbClr val="FAD02C"/>
                </a:solidFill>
                <a:latin typeface="Arial"/>
              </a:rPr>
              <a:t>2021M</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defRPr sz="1800" b="1">
                <a:solidFill>
                  <a:srgbClr val="FAD02C"/>
                </a:solidFill>
                <a:latin typeface="Arial"/>
              </a:defRPr>
            </a:pPr>
            <a:r>
              <a:rPr lang="en-US" sz="1800" b="1">
                <a:solidFill>
                  <a:srgbClr val="FAD02C"/>
                </a:solidFill>
                <a:latin typeface="Arial"/>
              </a:rPr>
              <a:t>Find the local maximum value of the function</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g</m:t>
                    </m:r>
                    <m:r>
                      <m:rPr>
                        <m:sty m:val="p"/>
                      </m:rPr>
                      <m:t>(</m:t>
                    </m:r>
                    <m:r>
                      <m:t>x</m:t>
                    </m:r>
                    <m:r>
                      <m:rPr>
                        <m:sty m:val="p"/>
                      </m:rPr>
                      <m:t>)</m:t>
                    </m:r>
                    <m:r>
                      <m:rPr>
                        <m:sty m:val="p"/>
                      </m:rPr>
                      <m:t>=</m:t>
                    </m:r>
                    <m:sSup>
                      <m:e>
                        <m:r>
                          <m:t>x</m:t>
                        </m:r>
                      </m:e>
                      <m:sup>
                        <m:r>
                          <m:t>2</m:t>
                        </m:r>
                      </m:sup>
                    </m:sSup>
                    <m:r>
                      <m:rPr>
                        <m:sty m:val="p"/>
                      </m:rPr>
                      <m:t>+</m:t>
                    </m:r>
                    <m:r>
                      <m:t>3</m:t>
                    </m:r>
                    <m:r>
                      <m:t>x</m:t>
                    </m:r>
                    <m:r>
                      <m:rPr>
                        <m:sty m:val="p"/>
                      </m:rPr>
                      <m:t>.</m:t>
                    </m:r>
                  </m:oMath>
                </a14:m>
              </mc:Choice>
            </mc:AlternateContent>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758952"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594359" cy="402336"/>
          </a:xfrm>
          <a:prstGeom prst="rect">
            <a:avLst/>
          </a:prstGeom>
          <a:noFill/>
        </p:spPr>
        <p:txBody>
          <a:bodyPr wrap="none" anchor="ctr" lIns="0" rIns="0" tIns="0" bIns="0">
            <a:spAutoFit/>
          </a:bodyPr>
          <a:lstStyle/>
          <a:p>
            <a:pPr algn="l"/>
            <a:r>
              <a:rPr sz="1500" b="1">
                <a:solidFill>
                  <a:srgbClr val="FAD02C"/>
                </a:solidFill>
                <a:latin typeface="Arial"/>
              </a:rPr>
              <a:t>2022</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defRPr sz="1800" b="1">
                <a:solidFill>
                  <a:srgbClr val="FAD02C"/>
                </a:solidFill>
                <a:latin typeface="Arial"/>
              </a:defRPr>
            </a:pPr>
            <a:r>
              <a:rPr lang="en-US" sz="1800" b="1">
                <a:solidFill>
                  <a:srgbClr val="FAD02C"/>
                </a:solidFill>
                <a:latin typeface="Arial"/>
              </a:rPr>
              <a:t>Using differentials, find the approximate value of</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ad>
                      <m:radPr>
                        <m:degHide m:val="on"/>
                      </m:radPr>
                      <m:deg/>
                      <m:e>
                        <m:r>
                          <m:t>25.3</m:t>
                        </m:r>
                      </m:e>
                    </m:rad>
                  </m:oMath>
                </a14:m>
              </mc:Choice>
            </mc:AlternateContent>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216712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2002536" cy="402336"/>
          </a:xfrm>
          <a:prstGeom prst="rect">
            <a:avLst/>
          </a:prstGeom>
          <a:noFill/>
        </p:spPr>
        <p:txBody>
          <a:bodyPr wrap="none" anchor="ctr" lIns="0" rIns="0" tIns="0" bIns="0">
            <a:spAutoFit/>
          </a:bodyPr>
          <a:lstStyle/>
          <a:p>
            <a:pPr algn="l"/>
            <a:r>
              <a:rPr sz="1500" b="1">
                <a:solidFill>
                  <a:srgbClr val="FAD02C"/>
                </a:solidFill>
                <a:latin typeface="Arial"/>
              </a:rPr>
              <a:t>2022M,2024-2,2025M</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defRPr sz="1800" b="1">
                <a:solidFill>
                  <a:srgbClr val="FAD02C"/>
                </a:solidFill>
                <a:latin typeface="Arial"/>
              </a:defRPr>
            </a:pPr>
            <a:r>
              <a:rPr lang="en-US" sz="1800" b="1">
                <a:solidFill>
                  <a:srgbClr val="FAD02C"/>
                </a:solidFill>
                <a:latin typeface="Arial"/>
              </a:rPr>
              <a:t>Find the local maximum value of the function</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g</m:t>
                    </m:r>
                    <m:r>
                      <m:rPr>
                        <m:sty m:val="p"/>
                      </m:rPr>
                      <m:t>(</m:t>
                    </m:r>
                    <m:r>
                      <m:t>x</m:t>
                    </m:r>
                    <m:r>
                      <m:rPr>
                        <m:sty m:val="p"/>
                      </m:rPr>
                      <m:t>)</m:t>
                    </m:r>
                    <m:r>
                      <m:rPr>
                        <m:sty m:val="p"/>
                      </m:rPr>
                      <m:t>=</m:t>
                    </m:r>
                    <m:sSup>
                      <m:e>
                        <m:r>
                          <m:t>x</m:t>
                        </m:r>
                      </m:e>
                      <m:sup>
                        <m:r>
                          <m:t>3</m:t>
                        </m:r>
                      </m:sup>
                    </m:sSup>
                    <m:r>
                      <m:rPr>
                        <m:sty m:val="p"/>
                      </m:rPr>
                      <m:t>−</m:t>
                    </m:r>
                    <m:r>
                      <m:t>3</m:t>
                    </m:r>
                    <m:r>
                      <m:t>x</m:t>
                    </m:r>
                  </m:oMath>
                </a14:m>
              </mc:Choice>
            </mc:AlternateContent>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1673352"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1508760" cy="402336"/>
          </a:xfrm>
          <a:prstGeom prst="rect">
            <a:avLst/>
          </a:prstGeom>
          <a:noFill/>
        </p:spPr>
        <p:txBody>
          <a:bodyPr wrap="none" anchor="ctr" lIns="0" rIns="0" tIns="0" bIns="0">
            <a:spAutoFit/>
          </a:bodyPr>
          <a:lstStyle/>
          <a:p>
            <a:pPr algn="l"/>
            <a:r>
              <a:rPr sz="1500" b="1">
                <a:solidFill>
                  <a:srgbClr val="FAD02C"/>
                </a:solidFill>
                <a:latin typeface="Arial"/>
              </a:rPr>
              <a:t>2024-1,3,2026-1</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r>
              <a:rPr sz="1800" b="1">
                <a:solidFill>
                  <a:srgbClr val="FAD02C"/>
                </a:solidFill>
                <a:latin typeface="Arial"/>
              </a:rPr>
              <a:t>The radius of circle is increasing at the rate of 0.7 cm/what is the rate of increase of its circumference?</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923544"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58952" cy="402336"/>
          </a:xfrm>
          <a:prstGeom prst="rect">
            <a:avLst/>
          </a:prstGeom>
          <a:noFill/>
        </p:spPr>
        <p:txBody>
          <a:bodyPr wrap="none" anchor="ctr" lIns="0" rIns="0" tIns="0" bIns="0">
            <a:spAutoFit/>
          </a:bodyPr>
          <a:lstStyle/>
          <a:p>
            <a:pPr algn="l"/>
            <a:r>
              <a:rPr sz="1500" b="1">
                <a:solidFill>
                  <a:srgbClr val="FAD02C"/>
                </a:solidFill>
                <a:latin typeface="Arial"/>
              </a:rPr>
              <a:t>2024-3</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defRPr sz="1800" b="1">
                <a:solidFill>
                  <a:srgbClr val="FAD02C"/>
                </a:solidFill>
                <a:latin typeface="Arial"/>
              </a:defRPr>
            </a:pPr>
            <a:r>
              <a:rPr lang="en-US" sz="1800" b="1">
                <a:solidFill>
                  <a:srgbClr val="FAD02C"/>
                </a:solidFill>
                <a:latin typeface="Arial"/>
              </a:rPr>
              <a:t>Prove that the function</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f</m:t>
                    </m:r>
                    <m:r>
                      <m:rPr>
                        <m:sty m:val="p"/>
                      </m:rPr>
                      <m:t>(</m:t>
                    </m:r>
                    <m:r>
                      <m:t>x</m:t>
                    </m:r>
                    <m:r>
                      <m:rPr>
                        <m:sty m:val="p"/>
                      </m:rPr>
                      <m:t>)</m:t>
                    </m:r>
                    <m:r>
                      <m:rPr>
                        <m:sty m:val="p"/>
                      </m:rPr>
                      <m:t>=</m:t>
                    </m:r>
                    <m:r>
                      <m:rPr>
                        <m:sty m:val="p"/>
                      </m:rPr>
                      <m:t>cos</m:t>
                    </m:r>
                    <m:r>
                      <m:t>x</m:t>
                    </m:r>
                  </m:oMath>
                </a14:m>
              </mc:Choice>
            </mc:AlternateContent>
            <a:r>
              <a:rPr lang="en-US" sz="1800" b="1">
                <a:solidFill>
                  <a:srgbClr val="FAD02C"/>
                </a:solidFill>
                <a:latin typeface="Arial"/>
              </a:rPr>
              <a:t> </a:t>
            </a:r>
            <a:r>
              <a:rPr lang="en-US" sz="1800" b="1">
                <a:solidFill>
                  <a:srgbClr val="FAD02C"/>
                </a:solidFill>
                <a:latin typeface="Arial"/>
              </a:rPr>
              <a:t>is decreasing in (</a:t>
            </a:r>
            <mc:AlternateContent xmlns:mc="http://schemas.openxmlformats.org/markup-compatibility/2006" xmlns:a14="http://schemas.microsoft.com/office/drawing/2010/main">
              <mc:Choice Requires="a14">
                <a14:m>
                  <m:oMath xmlns:m="http://schemas.openxmlformats.org/officeDocument/2006/math">
                    <m:r>
                      <m:t>0</m:t>
                    </m:r>
                    <m:r>
                      <m:rPr>
                        <m:sty m:val="p"/>
                      </m:rPr>
                      <m:t>,</m:t>
                    </m:r>
                    <m:r>
                      <m:t>π</m:t>
                    </m:r>
                  </m:oMath>
                </a14:m>
              </mc:Choice>
            </mc:AlternateContent>
            <a:r>
              <a:rPr lang="en-US" sz="1800" b="1">
                <a:solidFill>
                  <a:srgbClr val="FAD02C"/>
                </a:solidFill>
                <a:latin typeface="Arial"/>
              </a:rPr>
              <a:t>)</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923544"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58952" cy="402336"/>
          </a:xfrm>
          <a:prstGeom prst="rect">
            <a:avLst/>
          </a:prstGeom>
          <a:noFill/>
        </p:spPr>
        <p:txBody>
          <a:bodyPr wrap="none" anchor="ctr" lIns="0" rIns="0" tIns="0" bIns="0">
            <a:spAutoFit/>
          </a:bodyPr>
          <a:lstStyle/>
          <a:p>
            <a:pPr algn="l"/>
            <a:r>
              <a:rPr sz="1500" b="1">
                <a:solidFill>
                  <a:srgbClr val="FAD02C"/>
                </a:solidFill>
                <a:latin typeface="Arial"/>
              </a:rPr>
              <a:t>2024-2</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defRPr sz="1800" b="1">
                <a:solidFill>
                  <a:srgbClr val="FAD02C"/>
                </a:solidFill>
                <a:latin typeface="Arial"/>
              </a:defRPr>
            </a:pPr>
            <a:r>
              <a:rPr lang="en-US" sz="1800" b="1">
                <a:solidFill>
                  <a:srgbClr val="FAD02C"/>
                </a:solidFill>
                <a:latin typeface="Arial"/>
              </a:rPr>
              <a:t>The total revenue in rupees received from the sale of</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x</m:t>
                    </m:r>
                  </m:oMath>
                </a14:m>
              </mc:Choice>
            </mc:AlternateContent>
            <a:r>
              <a:rPr lang="en-US" sz="1800" b="1">
                <a:solidFill>
                  <a:srgbClr val="FAD02C"/>
                </a:solidFill>
                <a:latin typeface="Arial"/>
              </a:rPr>
              <a:t> </a:t>
            </a:r>
            <a:r>
              <a:rPr lang="en-US" sz="1800" b="1">
                <a:solidFill>
                  <a:srgbClr val="FAD02C"/>
                </a:solidFill>
                <a:latin typeface="Arial"/>
              </a:rPr>
              <a:t>units of a product is given by R(</a:t>
            </a:r>
            <mc:AlternateContent xmlns:mc="http://schemas.openxmlformats.org/markup-compatibility/2006" xmlns:a14="http://schemas.microsoft.com/office/drawing/2010/main">
              <mc:Choice Requires="a14">
                <a14:m>
                  <m:oMath xmlns:m="http://schemas.openxmlformats.org/officeDocument/2006/math">
                    <m:r>
                      <m:t>x</m:t>
                    </m:r>
                  </m:oMath>
                </a14:m>
              </mc:Choice>
            </mc:AlternateContent>
            <a:r>
              <a:rPr lang="en-US" sz="1800" b="1">
                <a:solidFill>
                  <a:srgbClr val="FAD02C"/>
                </a:solidFill>
                <a:latin typeface="Arial"/>
              </a:rPr>
              <a:t>)</a:t>
            </a:r>
            <mc:AlternateContent xmlns:mc="http://schemas.openxmlformats.org/markup-compatibility/2006" xmlns:a14="http://schemas.microsoft.com/office/drawing/2010/main">
              <mc:Choice Requires="a14">
                <a14:m>
                  <m:oMath xmlns:m="http://schemas.openxmlformats.org/officeDocument/2006/math">
                    <m:r>
                      <m:rPr>
                        <m:sty m:val="p"/>
                      </m:rPr>
                      <m:t>=</m:t>
                    </m:r>
                    <m:r>
                      <m:t>3</m:t>
                    </m:r>
                    <m:sSup>
                      <m:e>
                        <m:r>
                          <m:t>x</m:t>
                        </m:r>
                      </m:e>
                      <m:sup>
                        <m:r>
                          <m:t>2</m:t>
                        </m:r>
                      </m:sup>
                    </m:sSup>
                    <m:r>
                      <m:rPr>
                        <m:sty m:val="p"/>
                      </m:rPr>
                      <m:t>+</m:t>
                    </m:r>
                    <m:r>
                      <m:t>36</m:t>
                    </m:r>
                    <m:r>
                      <m:t>x</m:t>
                    </m:r>
                    <m:r>
                      <m:rPr>
                        <m:sty m:val="p"/>
                      </m:rPr>
                      <m:t>+</m:t>
                    </m:r>
                    <m:r>
                      <m:t>5</m:t>
                    </m:r>
                  </m:oMath>
                </a14:m>
              </mc:Choice>
            </mc:AlternateContent>
            <a:r>
              <a:rPr lang="en-US" sz="1800" b="1">
                <a:solidFill>
                  <a:srgbClr val="FAD02C"/>
                </a:solidFill>
                <a:latin typeface="Arial"/>
              </a:rPr>
              <a:t>.Find the marginal revenue when</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x</m:t>
                    </m:r>
                  </m:oMath>
                </a14:m>
              </mc:Choice>
            </mc:AlternateContent>
            <a:r>
              <a:rPr lang="en-US" sz="1800" b="1">
                <a:solidFill>
                  <a:srgbClr val="FAD02C"/>
                </a:solidFill>
                <a:latin typeface="Arial"/>
              </a:rPr>
              <a:t> </a:t>
            </a:r>
            <a:r>
              <a:rPr lang="en-US" sz="1800" b="1">
                <a:solidFill>
                  <a:srgbClr val="FAD02C"/>
                </a:solidFill>
                <a:latin typeface="Arial"/>
              </a:rPr>
              <a:t>= 5</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2025-1</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defRPr sz="1800" b="1">
                <a:solidFill>
                  <a:srgbClr val="FAD02C"/>
                </a:solidFill>
                <a:latin typeface="Arial"/>
              </a:defRPr>
            </a:pPr>
            <a:r>
              <a:rPr lang="en-US" sz="1800" b="1">
                <a:solidFill>
                  <a:srgbClr val="FAD02C"/>
                </a:solidFill>
                <a:latin typeface="Arial"/>
              </a:rPr>
              <a:t>Find the interval in which the function</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f</m:t>
                    </m:r>
                  </m:oMath>
                </a14:m>
              </mc:Choice>
            </mc:AlternateContent>
            <a:r>
              <a:rPr lang="en-US" sz="1800" b="1">
                <a:solidFill>
                  <a:srgbClr val="FAD02C"/>
                </a:solidFill>
                <a:latin typeface="Arial"/>
              </a:rPr>
              <a:t> </a:t>
            </a:r>
            <a:r>
              <a:rPr lang="en-US" sz="1800" b="1">
                <a:solidFill>
                  <a:srgbClr val="FAD02C"/>
                </a:solidFill>
                <a:latin typeface="Arial"/>
              </a:rPr>
              <a:t>given</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f</m:t>
                    </m:r>
                  </m:oMath>
                </a14:m>
              </mc:Choice>
            </mc:AlternateContent>
            <a:r>
              <a:rPr lang="en-US" sz="1800" b="1">
                <a:solidFill>
                  <a:srgbClr val="FAD02C"/>
                </a:solidFill>
                <a:latin typeface="Arial"/>
              </a:rPr>
              <a:t> </a:t>
            </a:r>
            <a:r>
              <a:rPr lang="en-US" sz="1800" b="1">
                <a:solidFill>
                  <a:srgbClr val="FAD02C"/>
                </a:solidFill>
                <a:latin typeface="Arial"/>
              </a:rPr>
              <a:t>(</a:t>
            </a:r>
            <mc:AlternateContent xmlns:mc="http://schemas.openxmlformats.org/markup-compatibility/2006" xmlns:a14="http://schemas.microsoft.com/office/drawing/2010/main">
              <mc:Choice Requires="a14">
                <a14:m>
                  <m:oMath xmlns:m="http://schemas.openxmlformats.org/officeDocument/2006/math">
                    <m:r>
                      <m:t>x</m:t>
                    </m:r>
                  </m:oMath>
                </a14:m>
              </mc:Choice>
            </mc:AlternateContent>
            <a:r>
              <a:rPr lang="en-US" sz="1800" b="1">
                <a:solidFill>
                  <a:srgbClr val="FAD02C"/>
                </a:solidFill>
                <a:latin typeface="Arial"/>
              </a:rPr>
              <a:t>) =</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4</m:t>
                    </m:r>
                    <m:sSup>
                      <m:e>
                        <m:r>
                          <m:t>x</m:t>
                        </m:r>
                      </m:e>
                      <m:sup>
                        <m:r>
                          <m:t>3</m:t>
                        </m:r>
                      </m:sup>
                    </m:sSup>
                    <m:r>
                      <m:rPr>
                        <m:sty m:val="p"/>
                      </m:rPr>
                      <m:t>−</m:t>
                    </m:r>
                    <m:r>
                      <m:t>6</m:t>
                    </m:r>
                    <m:r>
                      <m:t>x</m:t>
                    </m:r>
                    <m:r>
                      <m:rPr>
                        <m:sty m:val="p"/>
                      </m:rPr>
                      <m:t>−</m:t>
                    </m:r>
                    <m:r>
                      <m:t>72</m:t>
                    </m:r>
                    <m:r>
                      <m:t>x</m:t>
                    </m:r>
                    <m:r>
                      <m:rPr>
                        <m:sty m:val="p"/>
                      </m:rPr>
                      <m:t>+</m:t>
                    </m:r>
                    <m:r>
                      <m:t>30</m:t>
                    </m:r>
                  </m:oMath>
                </a14:m>
              </mc:Choice>
            </mc:AlternateContent>
            <a:r>
              <a:rPr lang="en-US" sz="1800" b="1">
                <a:solidFill>
                  <a:srgbClr val="FAD02C"/>
                </a:solidFill>
                <a:latin typeface="Arial"/>
              </a:rPr>
              <a:t> </a:t>
            </a:r>
            <a:r>
              <a:rPr lang="en-US" sz="1800" b="1">
                <a:solidFill>
                  <a:srgbClr val="FAD02C"/>
                </a:solidFill>
                <a:latin typeface="Arial"/>
              </a:rPr>
              <a:t>is decreasing.</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2025-1</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r>
              <a:rPr sz="1800" b="1">
                <a:solidFill>
                  <a:srgbClr val="FAD02C"/>
                </a:solidFill>
                <a:latin typeface="Arial"/>
              </a:rPr>
              <a:t>A balloon which always remains spherical has a variable radius. Find the rate at which its volume is increasing with radius when the radius is 10 cms.</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923544"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58952" cy="402336"/>
          </a:xfrm>
          <a:prstGeom prst="rect">
            <a:avLst/>
          </a:prstGeom>
          <a:noFill/>
        </p:spPr>
        <p:txBody>
          <a:bodyPr wrap="none" anchor="ctr" lIns="0" rIns="0" tIns="0" bIns="0">
            <a:spAutoFit/>
          </a:bodyPr>
          <a:lstStyle/>
          <a:p>
            <a:pPr algn="l"/>
            <a:r>
              <a:rPr sz="1500" b="1">
                <a:solidFill>
                  <a:srgbClr val="FAD02C"/>
                </a:solidFill>
                <a:latin typeface="Arial"/>
              </a:rPr>
              <a:t>2025-2</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defRPr sz="1800" b="1">
                <a:solidFill>
                  <a:srgbClr val="FAD02C"/>
                </a:solidFill>
                <a:latin typeface="Arial"/>
              </a:defRPr>
            </a:pPr>
            <a:r>
              <a:rPr lang="en-US" sz="1800" b="1">
                <a:solidFill>
                  <a:srgbClr val="FAD02C"/>
                </a:solidFill>
                <a:latin typeface="Arial"/>
              </a:rPr>
              <a:t>Find the absolute maximum value of the function</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f</m:t>
                    </m:r>
                  </m:oMath>
                </a14:m>
              </mc:Choice>
            </mc:AlternateContent>
            <a:r>
              <a:rPr lang="en-US" sz="1800" b="1">
                <a:solidFill>
                  <a:srgbClr val="FAD02C"/>
                </a:solidFill>
                <a:latin typeface="Arial"/>
              </a:rPr>
              <a:t> </a:t>
            </a:r>
            <a:r>
              <a:rPr lang="en-US" sz="1800" b="1">
                <a:solidFill>
                  <a:srgbClr val="FAD02C"/>
                </a:solidFill>
                <a:latin typeface="Arial"/>
              </a:rPr>
              <a:t>(</a:t>
            </a:r>
            <mc:AlternateContent xmlns:mc="http://schemas.openxmlformats.org/markup-compatibility/2006" xmlns:a14="http://schemas.microsoft.com/office/drawing/2010/main">
              <mc:Choice Requires="a14">
                <a14:m>
                  <m:oMath xmlns:m="http://schemas.openxmlformats.org/officeDocument/2006/math">
                    <m:r>
                      <m:t>x</m:t>
                    </m:r>
                  </m:oMath>
                </a14:m>
              </mc:Choice>
            </mc:AlternateContent>
            <a:r>
              <a:rPr lang="en-US" sz="1800" b="1">
                <a:solidFill>
                  <a:srgbClr val="FAD02C"/>
                </a:solidFill>
                <a:latin typeface="Arial"/>
              </a:rPr>
              <a:t>) =</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sSup>
                      <m:e>
                        <m:r>
                          <m:t>x</m:t>
                        </m:r>
                      </m:e>
                      <m:sup>
                        <m:r>
                          <m:t>3</m:t>
                        </m:r>
                      </m:sup>
                    </m:sSup>
                  </m:oMath>
                </a14:m>
              </mc:Choice>
            </mc:AlternateContent>
            <a:r>
              <a:rPr lang="en-US" sz="1800" b="1">
                <a:solidFill>
                  <a:srgbClr val="FAD02C"/>
                </a:solidFill>
                <a:latin typeface="Arial"/>
              </a:rPr>
              <a:t> </a:t>
            </a:r>
            <a:r>
              <a:rPr lang="en-US" sz="1800" b="1">
                <a:solidFill>
                  <a:srgbClr val="FAD02C"/>
                </a:solidFill>
                <a:latin typeface="Arial"/>
              </a:rPr>
              <a:t>in the given interval [-2,2]</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923544"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58952" cy="402336"/>
          </a:xfrm>
          <a:prstGeom prst="rect">
            <a:avLst/>
          </a:prstGeom>
          <a:noFill/>
        </p:spPr>
        <p:txBody>
          <a:bodyPr wrap="none" anchor="ctr" lIns="0" rIns="0" tIns="0" bIns="0">
            <a:spAutoFit/>
          </a:bodyPr>
          <a:lstStyle/>
          <a:p>
            <a:pPr algn="l"/>
            <a:r>
              <a:rPr sz="1500" b="1">
                <a:solidFill>
                  <a:srgbClr val="FAD02C"/>
                </a:solidFill>
                <a:latin typeface="Arial"/>
              </a:rPr>
              <a:t>2025-3</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defRPr sz="1800" b="1">
                <a:solidFill>
                  <a:srgbClr val="FAD02C"/>
                </a:solidFill>
                <a:latin typeface="Arial"/>
              </a:defRPr>
            </a:pPr>
            <a:r>
              <a:rPr lang="en-US" sz="1800" b="1">
                <a:solidFill>
                  <a:srgbClr val="FAD02C"/>
                </a:solidFill>
                <a:latin typeface="Arial"/>
              </a:rPr>
              <a:t>Differentiate</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rPr>
                        <m:sty m:val="p"/>
                      </m:rPr>
                      <m:t>sin</m:t>
                    </m:r>
                    <m:r>
                      <m:t>2</m:t>
                    </m:r>
                    <m:r>
                      <m:t>x</m:t>
                    </m:r>
                    <m:r>
                      <m:rPr>
                        <m:sty m:val="p"/>
                      </m:rPr>
                      <m:t>+</m:t>
                    </m:r>
                    <m:r>
                      <m:rPr>
                        <m:sty m:val="p"/>
                      </m:rPr>
                      <m:t>cos</m:t>
                    </m:r>
                    <m:r>
                      <m:t>2</m:t>
                    </m:r>
                    <m:r>
                      <m:t>y</m:t>
                    </m:r>
                  </m:oMath>
                </a14:m>
              </mc:Choice>
            </mc:AlternateContent>
            <a:r>
              <a:rPr lang="en-US" sz="1800" b="1">
                <a:solidFill>
                  <a:srgbClr val="FAD02C"/>
                </a:solidFill>
                <a:latin typeface="Arial"/>
              </a:rPr>
              <a:t> </a:t>
            </a:r>
            <a:r>
              <a:rPr lang="en-US" sz="1800" b="1">
                <a:solidFill>
                  <a:srgbClr val="FAD02C"/>
                </a:solidFill>
                <a:latin typeface="Arial"/>
              </a:rPr>
              <a:t>= 1 with respect to</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x</m:t>
                    </m:r>
                    <m:r>
                      <m:rPr>
                        <m:sty m:val="p"/>
                      </m:rPr>
                      <m:t>.</m:t>
                    </m:r>
                  </m:oMath>
                </a14:m>
              </mc:Choice>
            </mc:AlternateContent>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TextBox 2"/>
          <p:cNvSpPr txBox="1"/>
          <p:nvPr/>
        </p:nvSpPr>
        <p:spPr>
          <a:xfrm>
            <a:off x="457200" y="731520"/>
            <a:ext cx="11274552" cy="320040"/>
          </a:xfrm>
          <a:prstGeom prst="rect">
            <a:avLst/>
          </a:prstGeom>
          <a:noFill/>
        </p:spPr>
        <p:txBody>
          <a:bodyPr wrap="square" lIns="0" rIns="0" tIns="0" bIns="0">
            <a:spAutoFit/>
          </a:bodyPr>
          <a:lstStyle/>
          <a:p>
            <a:pPr algn="l"/>
            <a:r>
              <a:rPr sz="1800" b="1">
                <a:solidFill>
                  <a:srgbClr val="FAD02C"/>
                </a:solidFill>
                <a:latin typeface="Arial"/>
              </a:rPr>
              <a:t>The condition caused when scuba divers go into deep sea water is</a:t>
            </a:r>
          </a:p>
        </p:txBody>
      </p:sp>
      <p:sp>
        <p:nvSpPr>
          <p:cNvPr id="4" name="TextBox 3"/>
          <p:cNvSpPr txBox="1"/>
          <p:nvPr/>
        </p:nvSpPr>
        <p:spPr>
          <a:xfrm>
            <a:off x="457200"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Anoxia</a:t>
            </a:r>
          </a:p>
        </p:txBody>
      </p:sp>
      <p:sp>
        <p:nvSpPr>
          <p:cNvPr id="5" name="TextBox 4"/>
          <p:cNvSpPr txBox="1"/>
          <p:nvPr/>
        </p:nvSpPr>
        <p:spPr>
          <a:xfrm>
            <a:off x="3321558"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Hemophilia</a:t>
            </a:r>
          </a:p>
        </p:txBody>
      </p:sp>
      <p:sp>
        <p:nvSpPr>
          <p:cNvPr id="6" name="TextBox 5"/>
          <p:cNvSpPr txBox="1"/>
          <p:nvPr/>
        </p:nvSpPr>
        <p:spPr>
          <a:xfrm>
            <a:off x="6185916"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Bends</a:t>
            </a:r>
          </a:p>
        </p:txBody>
      </p:sp>
      <p:sp>
        <p:nvSpPr>
          <p:cNvPr id="7" name="TextBox 6"/>
          <p:cNvSpPr txBox="1"/>
          <p:nvPr/>
        </p:nvSpPr>
        <p:spPr>
          <a:xfrm>
            <a:off x="9050274"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None</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TextBox 2"/>
          <p:cNvSpPr txBox="1"/>
          <p:nvPr/>
        </p:nvSpPr>
        <p:spPr>
          <a:xfrm>
            <a:off x="457200" y="731520"/>
            <a:ext cx="11274552" cy="608990"/>
          </a:xfrm>
          <a:prstGeom prst="rect">
            <a:avLst/>
          </a:prstGeom>
          <a:noFill/>
        </p:spPr>
        <p:txBody>
          <a:bodyPr wrap="square" lIns="0" rIns="0" tIns="0" bIns="0">
            <a:spAutoFit/>
          </a:bodyPr>
          <a:lstStyle/>
          <a:p>
            <a:pPr algn="l">
              <a:defRPr sz="1800" b="1">
                <a:solidFill>
                  <a:srgbClr val="FAD02C"/>
                </a:solidFill>
                <a:latin typeface="Arial"/>
              </a:defRPr>
            </a:pPr>
            <a:r>
              <a:rPr lang="en-US" sz="1800" b="1">
                <a:solidFill>
                  <a:srgbClr val="FAD02C"/>
                </a:solidFill>
                <a:latin typeface="Arial"/>
              </a:rPr>
              <a:t>The</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K</m:t>
                    </m:r>
                    <m:r>
                      <m:t>H</m:t>
                    </m:r>
                  </m:oMath>
                </a14:m>
              </mc:Choice>
            </mc:AlternateContent>
            <a:r>
              <a:rPr lang="en-US" sz="1800" b="1">
                <a:solidFill>
                  <a:srgbClr val="FAD02C"/>
                </a:solidFill>
                <a:latin typeface="Arial"/>
              </a:rPr>
              <a:t> </a:t>
            </a:r>
            <a:r>
              <a:rPr lang="en-US" sz="1800" b="1">
                <a:solidFill>
                  <a:srgbClr val="FAD02C"/>
                </a:solidFill>
                <a:latin typeface="Arial"/>
              </a:rPr>
              <a:t>values for Ar(g),</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C</m:t>
                    </m:r>
                    <m:sSub>
                      <m:e>
                        <m:r>
                          <m:t>O</m:t>
                        </m:r>
                      </m:e>
                      <m:sub>
                        <m:r>
                          <m:t>2</m:t>
                        </m:r>
                      </m:sub>
                    </m:sSub>
                  </m:oMath>
                </a14:m>
              </mc:Choice>
            </mc:AlternateContent>
            <a:r>
              <a:rPr lang="en-US" sz="1800" b="1">
                <a:solidFill>
                  <a:srgbClr val="FAD02C"/>
                </a:solidFill>
                <a:latin typeface="Arial"/>
              </a:rPr>
              <a:t> </a:t>
            </a:r>
            <a:r>
              <a:rPr lang="en-US" sz="1800" b="1">
                <a:solidFill>
                  <a:srgbClr val="FAD02C"/>
                </a:solidFill>
                <a:latin typeface="Arial"/>
              </a:rPr>
              <a:t>(aq),</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H</m:t>
                    </m:r>
                    <m:r>
                      <m:t>C</m:t>
                    </m:r>
                    <m:r>
                      <m:t>H</m:t>
                    </m:r>
                    <m:r>
                      <m:t>O</m:t>
                    </m:r>
                  </m:oMath>
                </a14:m>
              </mc:Choice>
            </mc:AlternateContent>
            <a:r>
              <a:rPr lang="en-US" sz="1800" b="1">
                <a:solidFill>
                  <a:srgbClr val="FAD02C"/>
                </a:solidFill>
                <a:latin typeface="Arial"/>
              </a:rPr>
              <a:t> </a:t>
            </a:r>
            <a:r>
              <a:rPr lang="en-US" sz="1800" b="1">
                <a:solidFill>
                  <a:srgbClr val="FAD02C"/>
                </a:solidFill>
                <a:latin typeface="Arial"/>
              </a:rPr>
              <a:t>(aq), and</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C</m:t>
                    </m:r>
                    <m:sSub>
                      <m:e>
                        <m:r>
                          <m:t>H</m:t>
                        </m:r>
                      </m:e>
                      <m:sub>
                        <m:r>
                          <m:t>4</m:t>
                        </m:r>
                      </m:sub>
                    </m:sSub>
                  </m:oMath>
                </a14:m>
              </mc:Choice>
            </mc:AlternateContent>
            <a:r>
              <a:rPr lang="en-US" sz="1800" b="1">
                <a:solidFill>
                  <a:srgbClr val="FAD02C"/>
                </a:solidFill>
                <a:latin typeface="Arial"/>
              </a:rPr>
              <a:t>(aq) are 40.39, 1.67,</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1.83</m:t>
                    </m:r>
                    <m:r>
                      <m:rPr>
                        <m:sty m:val="p"/>
                      </m:rPr>
                      <m:t>×</m:t>
                    </m:r>
                    <m:sSup>
                      <m:e>
                        <m:r>
                          <m:t>10</m:t>
                        </m:r>
                      </m:e>
                      <m:sup>
                        <m:r>
                          <m:rPr>
                            <m:sty m:val="p"/>
                          </m:rPr>
                          <m:t>−</m:t>
                        </m:r>
                        <m:r>
                          <m:t>3</m:t>
                        </m:r>
                      </m:sup>
                    </m:sSup>
                    <m:r>
                      <m:rPr>
                        <m:sty m:val="p"/>
                      </m:rPr>
                      <m:t>,</m:t>
                    </m:r>
                  </m:oMath>
                </a14:m>
              </mc:Choice>
            </mc:AlternateContent>
            <a:r>
              <a:rPr lang="en-US" sz="1800" b="1">
                <a:solidFill>
                  <a:srgbClr val="FAD02C"/>
                </a:solidFill>
                <a:latin typeface="Arial"/>
              </a:rPr>
              <a:t> </a:t>
            </a:r>
            <a:r>
              <a:rPr lang="en-US" sz="1800" b="1">
                <a:solidFill>
                  <a:srgbClr val="FAD02C"/>
                </a:solidFill>
                <a:latin typeface="Arial"/>
              </a:rPr>
              <a:t>and 0.413 respectively. Arrange them in the order of their increasing solubility</a:t>
            </a:r>
          </a:p>
        </p:txBody>
      </p:sp>
      <p:sp>
        <p:nvSpPr>
          <p:cNvPr id="4" name="TextBox 3"/>
          <p:cNvSpPr txBox="1"/>
          <p:nvPr/>
        </p:nvSpPr>
        <p:spPr>
          <a:xfrm>
            <a:off x="457200" y="1505102"/>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A. </a:t>
            </a:r>
            <mc:AlternateContent xmlns:mc="http://schemas.openxmlformats.org/markup-compatibility/2006" xmlns:a14="http://schemas.microsoft.com/office/drawing/2010/main">
              <mc:Choice Requires="a14">
                <a14:m>
                  <m:oMath xmlns:m="http://schemas.openxmlformats.org/officeDocument/2006/math">
                    <m:r>
                      <m:t>H</m:t>
                    </m:r>
                    <m:r>
                      <m:t>C</m:t>
                    </m:r>
                    <m:r>
                      <m:t>H</m:t>
                    </m:r>
                    <m:r>
                      <m:t>O</m:t>
                    </m:r>
                    <m:r>
                      <m:rPr>
                        <m:sty m:val="p"/>
                      </m:rPr>
                      <m:t>&lt;</m:t>
                    </m:r>
                    <m:r>
                      <m:t>C</m:t>
                    </m:r>
                    <m:sSub>
                      <m:e>
                        <m:r>
                          <m:t>H</m:t>
                        </m:r>
                      </m:e>
                      <m:sub>
                        <m:r>
                          <m:t>4</m:t>
                        </m:r>
                      </m:sub>
                    </m:sSub>
                    <m:r>
                      <m:rPr>
                        <m:sty m:val="p"/>
                      </m:rPr>
                      <m:t>&lt;</m:t>
                    </m:r>
                    <m:r>
                      <m:t>C</m:t>
                    </m:r>
                    <m:sSub>
                      <m:e>
                        <m:r>
                          <m:t>O</m:t>
                        </m:r>
                      </m:e>
                      <m:sub>
                        <m:r>
                          <m:t>2</m:t>
                        </m:r>
                      </m:sub>
                    </m:sSub>
                  </m:oMath>
                </a14:m>
              </mc:Choice>
            </mc:AlternateContent>
            <a:r>
              <a:rPr lang="en-US" sz="1600">
                <a:solidFill>
                  <a:srgbClr val="F0F0F0"/>
                </a:solidFill>
                <a:latin typeface="Arial"/>
              </a:rPr>
              <a:t> </a:t>
            </a:r>
            <a:r>
              <a:rPr lang="en-US" sz="1600">
                <a:solidFill>
                  <a:srgbClr val="F0F0F0"/>
                </a:solidFill>
                <a:latin typeface="Arial"/>
              </a:rPr>
              <a:t>&lt; Ar</a:t>
            </a:r>
          </a:p>
        </p:txBody>
      </p:sp>
      <p:sp>
        <p:nvSpPr>
          <p:cNvPr id="5" name="TextBox 4"/>
          <p:cNvSpPr txBox="1"/>
          <p:nvPr/>
        </p:nvSpPr>
        <p:spPr>
          <a:xfrm>
            <a:off x="3321558" y="1505102"/>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B. </a:t>
            </a:r>
            <mc:AlternateContent xmlns:mc="http://schemas.openxmlformats.org/markup-compatibility/2006" xmlns:a14="http://schemas.microsoft.com/office/drawing/2010/main">
              <mc:Choice Requires="a14">
                <a14:m>
                  <m:oMath xmlns:m="http://schemas.openxmlformats.org/officeDocument/2006/math">
                    <m:r>
                      <m:t>H</m:t>
                    </m:r>
                    <m:r>
                      <m:t>C</m:t>
                    </m:r>
                    <m:r>
                      <m:t>H</m:t>
                    </m:r>
                    <m:r>
                      <m:t>O</m:t>
                    </m:r>
                    <m:r>
                      <m:rPr>
                        <m:sty m:val="p"/>
                      </m:rPr>
                      <m:t>&lt;</m:t>
                    </m:r>
                    <m:r>
                      <m:t>C</m:t>
                    </m:r>
                    <m:sSub>
                      <m:e>
                        <m:r>
                          <m:t>O</m:t>
                        </m:r>
                      </m:e>
                      <m:sub>
                        <m:r>
                          <m:t>2</m:t>
                        </m:r>
                      </m:sub>
                    </m:sSub>
                    <m:r>
                      <m:rPr>
                        <m:sty m:val="p"/>
                      </m:rPr>
                      <m:t>&lt;</m:t>
                    </m:r>
                    <m:r>
                      <m:t>C</m:t>
                    </m:r>
                    <m:sSub>
                      <m:e>
                        <m:r>
                          <m:t>H</m:t>
                        </m:r>
                      </m:e>
                      <m:sub>
                        <m:r>
                          <m:t>4</m:t>
                        </m:r>
                      </m:sub>
                    </m:sSub>
                  </m:oMath>
                </a14:m>
              </mc:Choice>
            </mc:AlternateContent>
            <a:r>
              <a:rPr lang="en-US" sz="1600">
                <a:solidFill>
                  <a:srgbClr val="F0F0F0"/>
                </a:solidFill>
                <a:latin typeface="Arial"/>
              </a:rPr>
              <a:t> </a:t>
            </a:r>
            <a:r>
              <a:rPr lang="en-US" sz="1600">
                <a:solidFill>
                  <a:srgbClr val="F0F0F0"/>
                </a:solidFill>
                <a:latin typeface="Arial"/>
              </a:rPr>
              <a:t>&lt; Ar</a:t>
            </a:r>
          </a:p>
        </p:txBody>
      </p:sp>
      <p:sp>
        <p:nvSpPr>
          <p:cNvPr id="6" name="TextBox 5"/>
          <p:cNvSpPr txBox="1"/>
          <p:nvPr/>
        </p:nvSpPr>
        <p:spPr>
          <a:xfrm>
            <a:off x="6185916" y="1505102"/>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C. </a:t>
            </a:r>
            <a:r>
              <a:rPr lang="en-US" sz="1600">
                <a:solidFill>
                  <a:srgbClr val="F0F0F0"/>
                </a:solidFill>
                <a:latin typeface="Arial"/>
              </a:rPr>
              <a:t>Ar &lt;</a:t>
            </a:r>
            <a:r>
              <a:rPr lang="en-US" sz="1600">
                <a:solidFill>
                  <a:srgbClr val="F0F0F0"/>
                </a:solidFill>
                <a:latin typeface="Arial"/>
              </a:rPr>
              <a:t> </a:t>
            </a:r>
            <mc:AlternateContent xmlns:mc="http://schemas.openxmlformats.org/markup-compatibility/2006" xmlns:a14="http://schemas.microsoft.com/office/drawing/2010/main">
              <mc:Choice Requires="a14">
                <a14:m>
                  <m:oMath xmlns:m="http://schemas.openxmlformats.org/officeDocument/2006/math">
                    <m:r>
                      <m:t>C</m:t>
                    </m:r>
                    <m:sSub>
                      <m:e>
                        <m:r>
                          <m:t>O</m:t>
                        </m:r>
                      </m:e>
                      <m:sub>
                        <m:r>
                          <m:t>2</m:t>
                        </m:r>
                      </m:sub>
                    </m:sSub>
                    <m:r>
                      <m:rPr>
                        <m:sty m:val="p"/>
                      </m:rPr>
                      <m:t>&lt;</m:t>
                    </m:r>
                    <m:r>
                      <m:t>C</m:t>
                    </m:r>
                    <m:sSub>
                      <m:e>
                        <m:r>
                          <m:t>H</m:t>
                        </m:r>
                      </m:e>
                      <m:sub>
                        <m:r>
                          <m:t>4</m:t>
                        </m:r>
                      </m:sub>
                    </m:sSub>
                    <m:r>
                      <m:rPr>
                        <m:sty m:val="p"/>
                      </m:rPr>
                      <m:t>&lt;</m:t>
                    </m:r>
                    <m:r>
                      <m:t>H</m:t>
                    </m:r>
                    <m:r>
                      <m:t>C</m:t>
                    </m:r>
                    <m:r>
                      <m:t>H</m:t>
                    </m:r>
                    <m:r>
                      <m:t>O</m:t>
                    </m:r>
                  </m:oMath>
                </a14:m>
              </mc:Choice>
            </mc:AlternateContent>
          </a:p>
        </p:txBody>
      </p:sp>
      <p:sp>
        <p:nvSpPr>
          <p:cNvPr id="7" name="TextBox 6"/>
          <p:cNvSpPr txBox="1"/>
          <p:nvPr/>
        </p:nvSpPr>
        <p:spPr>
          <a:xfrm>
            <a:off x="9050274" y="1505102"/>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D. </a:t>
            </a:r>
            <a:r>
              <a:rPr lang="en-US" sz="1600">
                <a:solidFill>
                  <a:srgbClr val="F0F0F0"/>
                </a:solidFill>
                <a:latin typeface="Arial"/>
              </a:rPr>
              <a:t>Ar &lt;</a:t>
            </a:r>
            <a:r>
              <a:rPr lang="en-US" sz="1600">
                <a:solidFill>
                  <a:srgbClr val="F0F0F0"/>
                </a:solidFill>
                <a:latin typeface="Arial"/>
              </a:rPr>
              <a:t> </a:t>
            </a:r>
            <mc:AlternateContent xmlns:mc="http://schemas.openxmlformats.org/markup-compatibility/2006" xmlns:a14="http://schemas.microsoft.com/office/drawing/2010/main">
              <mc:Choice Requires="a14">
                <a14:m>
                  <m:oMath xmlns:m="http://schemas.openxmlformats.org/officeDocument/2006/math">
                    <m:r>
                      <m:t>C</m:t>
                    </m:r>
                    <m:sSub>
                      <m:e>
                        <m:r>
                          <m:t>H</m:t>
                        </m:r>
                      </m:e>
                      <m:sub>
                        <m:r>
                          <m:t>4</m:t>
                        </m:r>
                      </m:sub>
                    </m:sSub>
                    <m:r>
                      <m:rPr>
                        <m:sty m:val="p"/>
                      </m:rPr>
                      <m:t>&lt;</m:t>
                    </m:r>
                    <m:r>
                      <m:t>C</m:t>
                    </m:r>
                    <m:sSub>
                      <m:e>
                        <m:r>
                          <m:t>O</m:t>
                        </m:r>
                      </m:e>
                      <m:sub>
                        <m:r>
                          <m:t>2</m:t>
                        </m:r>
                      </m:sub>
                    </m:sSub>
                    <m:r>
                      <m:rPr>
                        <m:sty m:val="p"/>
                      </m:rPr>
                      <m:t>&lt;</m:t>
                    </m:r>
                    <m:r>
                      <m:t>H</m:t>
                    </m:r>
                    <m:r>
                      <m:t>C</m:t>
                    </m:r>
                    <m:r>
                      <m:t>H</m:t>
                    </m:r>
                    <m:r>
                      <m:t>O</m:t>
                    </m:r>
                  </m:oMath>
                </a14:m>
              </mc:Choice>
            </mc:AlternateContent>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TextBox 2"/>
          <p:cNvSpPr txBox="1"/>
          <p:nvPr/>
        </p:nvSpPr>
        <p:spPr>
          <a:xfrm>
            <a:off x="457200" y="731520"/>
            <a:ext cx="11274552" cy="320040"/>
          </a:xfrm>
          <a:prstGeom prst="rect">
            <a:avLst/>
          </a:prstGeom>
          <a:noFill/>
        </p:spPr>
        <p:txBody>
          <a:bodyPr wrap="square" lIns="0" rIns="0" tIns="0" bIns="0">
            <a:spAutoFit/>
          </a:bodyPr>
          <a:lstStyle/>
          <a:p>
            <a:pPr algn="l"/>
            <a:r>
              <a:rPr sz="1800" b="1">
                <a:solidFill>
                  <a:srgbClr val="FAD02C"/>
                </a:solidFill>
                <a:latin typeface="Arial"/>
              </a:rPr>
              <a:t>The dissolution of a gas in a liquid is governed by</a:t>
            </a:r>
          </a:p>
        </p:txBody>
      </p:sp>
      <p:sp>
        <p:nvSpPr>
          <p:cNvPr id="4" name="TextBox 3"/>
          <p:cNvSpPr txBox="1"/>
          <p:nvPr/>
        </p:nvSpPr>
        <p:spPr>
          <a:xfrm>
            <a:off x="457200"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Roult's law</a:t>
            </a:r>
          </a:p>
        </p:txBody>
      </p:sp>
      <p:sp>
        <p:nvSpPr>
          <p:cNvPr id="5" name="TextBox 4"/>
          <p:cNvSpPr txBox="1"/>
          <p:nvPr/>
        </p:nvSpPr>
        <p:spPr>
          <a:xfrm>
            <a:off x="3321558"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Henry's law</a:t>
            </a:r>
          </a:p>
        </p:txBody>
      </p:sp>
      <p:sp>
        <p:nvSpPr>
          <p:cNvPr id="6" name="TextBox 5"/>
          <p:cNvSpPr txBox="1"/>
          <p:nvPr/>
        </p:nvSpPr>
        <p:spPr>
          <a:xfrm>
            <a:off x="6185916"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Dalton's law of Pressure</a:t>
            </a:r>
          </a:p>
        </p:txBody>
      </p:sp>
      <p:sp>
        <p:nvSpPr>
          <p:cNvPr id="7" name="TextBox 6"/>
          <p:cNvSpPr txBox="1"/>
          <p:nvPr/>
        </p:nvSpPr>
        <p:spPr>
          <a:xfrm>
            <a:off x="9050274"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Boyle's law</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TextBox 2"/>
          <p:cNvSpPr txBox="1"/>
          <p:nvPr/>
        </p:nvSpPr>
        <p:spPr>
          <a:xfrm>
            <a:off x="457200" y="731520"/>
            <a:ext cx="11274552" cy="608990"/>
          </a:xfrm>
          <a:prstGeom prst="rect">
            <a:avLst/>
          </a:prstGeom>
          <a:noFill/>
        </p:spPr>
        <p:txBody>
          <a:bodyPr wrap="square" lIns="0" rIns="0" tIns="0" bIns="0">
            <a:spAutoFit/>
          </a:bodyPr>
          <a:lstStyle/>
          <a:p>
            <a:pPr algn="l"/>
            <a:r>
              <a:rPr sz="1800" b="1">
                <a:solidFill>
                  <a:srgbClr val="FAD02C"/>
                </a:solidFill>
                <a:latin typeface="Arial"/>
              </a:rPr>
              <a:t>The maximum amount of a solid solute that can be dissolved in a specific amount of a given liquid solvent does not depend upon</a:t>
            </a:r>
          </a:p>
        </p:txBody>
      </p:sp>
      <p:sp>
        <p:nvSpPr>
          <p:cNvPr id="4" name="TextBox 3"/>
          <p:cNvSpPr txBox="1"/>
          <p:nvPr/>
        </p:nvSpPr>
        <p:spPr>
          <a:xfrm>
            <a:off x="457200" y="1505102"/>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Nature of solvent</a:t>
            </a:r>
          </a:p>
        </p:txBody>
      </p:sp>
      <p:sp>
        <p:nvSpPr>
          <p:cNvPr id="5" name="TextBox 4"/>
          <p:cNvSpPr txBox="1"/>
          <p:nvPr/>
        </p:nvSpPr>
        <p:spPr>
          <a:xfrm>
            <a:off x="3321558" y="1505102"/>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Pressure</a:t>
            </a:r>
          </a:p>
        </p:txBody>
      </p:sp>
      <p:sp>
        <p:nvSpPr>
          <p:cNvPr id="6" name="TextBox 5"/>
          <p:cNvSpPr txBox="1"/>
          <p:nvPr/>
        </p:nvSpPr>
        <p:spPr>
          <a:xfrm>
            <a:off x="6185916" y="1505102"/>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Nature of solute</a:t>
            </a:r>
          </a:p>
        </p:txBody>
      </p:sp>
      <p:sp>
        <p:nvSpPr>
          <p:cNvPr id="7" name="TextBox 6"/>
          <p:cNvSpPr txBox="1"/>
          <p:nvPr/>
        </p:nvSpPr>
        <p:spPr>
          <a:xfrm>
            <a:off x="9050274" y="1505102"/>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Temperature</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TextBox 2"/>
          <p:cNvSpPr txBox="1"/>
          <p:nvPr/>
        </p:nvSpPr>
        <p:spPr>
          <a:xfrm>
            <a:off x="457200" y="731520"/>
            <a:ext cx="11274552" cy="320040"/>
          </a:xfrm>
          <a:prstGeom prst="rect">
            <a:avLst/>
          </a:prstGeom>
          <a:noFill/>
        </p:spPr>
        <p:txBody>
          <a:bodyPr wrap="square" lIns="0" rIns="0" tIns="0" bIns="0">
            <a:spAutoFit/>
          </a:bodyPr>
          <a:lstStyle/>
          <a:p>
            <a:pPr algn="l"/>
            <a:r>
              <a:rPr sz="1800" b="1">
                <a:solidFill>
                  <a:srgbClr val="FAD02C"/>
                </a:solidFill>
                <a:latin typeface="Arial"/>
              </a:rPr>
              <a:t>The mixture which shows positive deviation from Raoult's law is</a:t>
            </a:r>
          </a:p>
        </p:txBody>
      </p:sp>
      <p:sp>
        <p:nvSpPr>
          <p:cNvPr id="4" name="TextBox 3"/>
          <p:cNvSpPr txBox="1"/>
          <p:nvPr/>
        </p:nvSpPr>
        <p:spPr>
          <a:xfrm>
            <a:off x="457200"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Ethanol + Acetone</a:t>
            </a:r>
          </a:p>
        </p:txBody>
      </p:sp>
      <p:sp>
        <p:nvSpPr>
          <p:cNvPr id="5" name="TextBox 4"/>
          <p:cNvSpPr txBox="1"/>
          <p:nvPr/>
        </p:nvSpPr>
        <p:spPr>
          <a:xfrm>
            <a:off x="3321558"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Benzene + Toluene</a:t>
            </a:r>
          </a:p>
        </p:txBody>
      </p:sp>
      <p:sp>
        <p:nvSpPr>
          <p:cNvPr id="6" name="TextBox 5"/>
          <p:cNvSpPr txBox="1"/>
          <p:nvPr/>
        </p:nvSpPr>
        <p:spPr>
          <a:xfrm>
            <a:off x="6185916"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Acetone + Chloroform</a:t>
            </a:r>
          </a:p>
        </p:txBody>
      </p:sp>
      <p:sp>
        <p:nvSpPr>
          <p:cNvPr id="7" name="TextBox 6"/>
          <p:cNvSpPr txBox="1"/>
          <p:nvPr/>
        </p:nvSpPr>
        <p:spPr>
          <a:xfrm>
            <a:off x="9050274"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Chlorobenzene + Bromoethane</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TextBox 2"/>
          <p:cNvSpPr txBox="1"/>
          <p:nvPr/>
        </p:nvSpPr>
        <p:spPr>
          <a:xfrm>
            <a:off x="457200" y="731520"/>
            <a:ext cx="11274552" cy="320040"/>
          </a:xfrm>
          <a:prstGeom prst="rect">
            <a:avLst/>
          </a:prstGeom>
          <a:noFill/>
        </p:spPr>
        <p:txBody>
          <a:bodyPr wrap="square" lIns="0" rIns="0" tIns="0" bIns="0">
            <a:spAutoFit/>
          </a:bodyPr>
          <a:lstStyle/>
          <a:p>
            <a:pPr algn="l">
              <a:defRPr sz="1800" b="1">
                <a:solidFill>
                  <a:srgbClr val="FAD02C"/>
                </a:solidFill>
                <a:latin typeface="Arial"/>
              </a:defRPr>
            </a:pPr>
            <a:r>
              <a:rPr lang="en-US" sz="1800" b="1">
                <a:solidFill>
                  <a:srgbClr val="FAD02C"/>
                </a:solidFill>
                <a:latin typeface="Arial"/>
              </a:rPr>
              <a:t>The most diluted solution is (molar mass of</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N</m:t>
                    </m:r>
                    <m:r>
                      <m:t>a</m:t>
                    </m:r>
                    <m:r>
                      <m:t>C</m:t>
                    </m:r>
                    <m:r>
                      <m:t>l</m:t>
                    </m:r>
                  </m:oMath>
                </a14:m>
              </mc:Choice>
            </mc:AlternateContent>
            <a:r>
              <a:rPr lang="en-US" sz="1800" b="1">
                <a:solidFill>
                  <a:srgbClr val="FAD02C"/>
                </a:solidFill>
                <a:latin typeface="Arial"/>
              </a:rPr>
              <a:t> </a:t>
            </a:r>
            <a:r>
              <a:rPr lang="en-US" sz="1800" b="1">
                <a:solidFill>
                  <a:srgbClr val="FAD02C"/>
                </a:solidFill>
                <a:latin typeface="Arial"/>
              </a:rPr>
              <a:t>= 58.5 g</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m</m:t>
                    </m:r>
                    <m:r>
                      <m:t>o</m:t>
                    </m:r>
                    <m:sSup>
                      <m:e>
                        <m:r>
                          <m:t>l</m:t>
                        </m:r>
                      </m:e>
                      <m:sup>
                        <m:r>
                          <m:rPr>
                            <m:sty m:val="p"/>
                          </m:rPr>
                          <m:t>−</m:t>
                        </m:r>
                        <m:r>
                          <m:t>1</m:t>
                        </m:r>
                      </m:sup>
                    </m:sSup>
                  </m:oMath>
                </a14:m>
              </mc:Choice>
            </mc:AlternateContent>
            <a:r>
              <a:rPr lang="en-US" sz="1800" b="1">
                <a:solidFill>
                  <a:srgbClr val="FAD02C"/>
                </a:solidFill>
                <a:latin typeface="Arial"/>
              </a:rPr>
              <a:t>)</a:t>
            </a:r>
          </a:p>
        </p:txBody>
      </p:sp>
      <p:sp>
        <p:nvSpPr>
          <p:cNvPr id="4" name="TextBox 3"/>
          <p:cNvSpPr txBox="1"/>
          <p:nvPr/>
        </p:nvSpPr>
        <p:spPr>
          <a:xfrm>
            <a:off x="457200"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A. </a:t>
            </a:r>
            <a:r>
              <a:rPr lang="en-US" sz="1600">
                <a:solidFill>
                  <a:srgbClr val="F0F0F0"/>
                </a:solidFill>
                <a:latin typeface="Arial"/>
              </a:rPr>
              <a:t>2% (w/w)</a:t>
            </a:r>
            <a:r>
              <a:rPr lang="en-US" sz="1600">
                <a:solidFill>
                  <a:srgbClr val="F0F0F0"/>
                </a:solidFill>
                <a:latin typeface="Arial"/>
              </a:rPr>
              <a:t> </a:t>
            </a:r>
            <mc:AlternateContent xmlns:mc="http://schemas.openxmlformats.org/markup-compatibility/2006" xmlns:a14="http://schemas.microsoft.com/office/drawing/2010/main">
              <mc:Choice Requires="a14">
                <a14:m>
                  <m:oMath xmlns:m="http://schemas.openxmlformats.org/officeDocument/2006/math">
                    <m:r>
                      <m:t>N</m:t>
                    </m:r>
                    <m:r>
                      <m:t>a</m:t>
                    </m:r>
                    <m:r>
                      <m:t>C</m:t>
                    </m:r>
                    <m:r>
                      <m:t>l</m:t>
                    </m:r>
                  </m:oMath>
                </a14:m>
              </mc:Choice>
            </mc:AlternateContent>
            <a:r>
              <a:rPr lang="en-US" sz="1600">
                <a:solidFill>
                  <a:srgbClr val="F0F0F0"/>
                </a:solidFill>
                <a:latin typeface="Arial"/>
              </a:rPr>
              <a:t> </a:t>
            </a:r>
            <a:r>
              <a:rPr lang="en-US" sz="1600">
                <a:solidFill>
                  <a:srgbClr val="F0F0F0"/>
                </a:solidFill>
                <a:latin typeface="Arial"/>
              </a:rPr>
              <a:t>in water</a:t>
            </a:r>
          </a:p>
        </p:txBody>
      </p:sp>
      <p:sp>
        <p:nvSpPr>
          <p:cNvPr id="5" name="TextBox 4"/>
          <p:cNvSpPr txBox="1"/>
          <p:nvPr/>
        </p:nvSpPr>
        <p:spPr>
          <a:xfrm>
            <a:off x="3321558"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B. </a:t>
            </a:r>
            <mc:AlternateContent xmlns:mc="http://schemas.openxmlformats.org/markup-compatibility/2006" xmlns:a14="http://schemas.microsoft.com/office/drawing/2010/main">
              <mc:Choice Requires="a14">
                <a14:m>
                  <m:oMath xmlns:m="http://schemas.openxmlformats.org/officeDocument/2006/math">
                    <m:r>
                      <m:t>1</m:t>
                    </m:r>
                    <m:r>
                      <m:t>M</m:t>
                    </m:r>
                    <m:r>
                      <m:t>N</m:t>
                    </m:r>
                    <m:r>
                      <m:t>a</m:t>
                    </m:r>
                    <m:r>
                      <m:t>C</m:t>
                    </m:r>
                    <m:r>
                      <m:t>l</m:t>
                    </m:r>
                  </m:oMath>
                </a14:m>
              </mc:Choice>
            </mc:AlternateContent>
            <a:r>
              <a:rPr lang="en-US" sz="1600">
                <a:solidFill>
                  <a:srgbClr val="F0F0F0"/>
                </a:solidFill>
                <a:latin typeface="Arial"/>
              </a:rPr>
              <a:t>​</a:t>
            </a:r>
          </a:p>
        </p:txBody>
      </p:sp>
      <p:sp>
        <p:nvSpPr>
          <p:cNvPr id="6" name="TextBox 5"/>
          <p:cNvSpPr txBox="1"/>
          <p:nvPr/>
        </p:nvSpPr>
        <p:spPr>
          <a:xfrm>
            <a:off x="6185916"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C. </a:t>
            </a:r>
            <a:r>
              <a:rPr lang="en-US" sz="1600">
                <a:solidFill>
                  <a:srgbClr val="F0F0F0"/>
                </a:solidFill>
                <a:latin typeface="Arial"/>
              </a:rPr>
              <a:t>2 ppm of</a:t>
            </a:r>
            <a:r>
              <a:rPr lang="en-US" sz="1600">
                <a:solidFill>
                  <a:srgbClr val="F0F0F0"/>
                </a:solidFill>
                <a:latin typeface="Arial"/>
              </a:rPr>
              <a:t> </a:t>
            </a:r>
            <mc:AlternateContent xmlns:mc="http://schemas.openxmlformats.org/markup-compatibility/2006" xmlns:a14="http://schemas.microsoft.com/office/drawing/2010/main">
              <mc:Choice Requires="a14">
                <a14:m>
                  <m:oMath xmlns:m="http://schemas.openxmlformats.org/officeDocument/2006/math">
                    <m:r>
                      <m:t>N</m:t>
                    </m:r>
                    <m:r>
                      <m:t>a</m:t>
                    </m:r>
                    <m:r>
                      <m:t>C</m:t>
                    </m:r>
                    <m:r>
                      <m:t>l</m:t>
                    </m:r>
                  </m:oMath>
                </a14:m>
              </mc:Choice>
            </mc:AlternateContent>
          </a:p>
        </p:txBody>
      </p:sp>
      <p:sp>
        <p:nvSpPr>
          <p:cNvPr id="7" name="TextBox 6"/>
          <p:cNvSpPr txBox="1"/>
          <p:nvPr/>
        </p:nvSpPr>
        <p:spPr>
          <a:xfrm>
            <a:off x="9050274"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D. </a:t>
            </a:r>
            <a:r>
              <a:rPr lang="en-US" sz="1600">
                <a:solidFill>
                  <a:srgbClr val="F0F0F0"/>
                </a:solidFill>
                <a:latin typeface="Arial"/>
              </a:rPr>
              <a:t>2 m</a:t>
            </a:r>
            <a:r>
              <a:rPr lang="en-US" sz="1600">
                <a:solidFill>
                  <a:srgbClr val="F0F0F0"/>
                </a:solidFill>
                <a:latin typeface="Arial"/>
              </a:rPr>
              <a:t> </a:t>
            </a:r>
            <mc:AlternateContent xmlns:mc="http://schemas.openxmlformats.org/markup-compatibility/2006" xmlns:a14="http://schemas.microsoft.com/office/drawing/2010/main">
              <mc:Choice Requires="a14">
                <a14:m>
                  <m:oMath xmlns:m="http://schemas.openxmlformats.org/officeDocument/2006/math">
                    <m:r>
                      <m:t>N</m:t>
                    </m:r>
                    <m:r>
                      <m:t>a</m:t>
                    </m:r>
                    <m:r>
                      <m:t>C</m:t>
                    </m:r>
                    <m:r>
                      <m:t>l</m:t>
                    </m:r>
                  </m:oMath>
                </a14:m>
              </mc:Choice>
            </mc:AlternateContent>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TextBox 2"/>
          <p:cNvSpPr txBox="1"/>
          <p:nvPr/>
        </p:nvSpPr>
        <p:spPr>
          <a:xfrm>
            <a:off x="457200" y="731520"/>
            <a:ext cx="11274552" cy="1826971"/>
          </a:xfrm>
          <a:prstGeom prst="rect">
            <a:avLst/>
          </a:prstGeom>
          <a:noFill/>
        </p:spPr>
        <p:txBody>
          <a:bodyPr wrap="square" lIns="0" rIns="0" tIns="0" bIns="0">
            <a:spAutoFit/>
          </a:bodyPr>
          <a:lstStyle/>
          <a:p>
            <a:pPr algn="l"/>
            <a:r>
              <a:rPr sz="1800" b="1">
                <a:solidFill>
                  <a:srgbClr val="FAD02C"/>
                </a:solidFill>
                <a:latin typeface="Arial"/>
              </a:rPr>
              <a:t>The pressure cooker reduces the cooking timing because
Heat is more evenly distributed
The boiling point of water inside the cooker is elevated
The boiling point of water inside the cooker is depressed
Higher pressure inside the cooker tenderizes food
The solubility of a gas in water depends on</a:t>
            </a:r>
          </a:p>
        </p:txBody>
      </p:sp>
      <p:sp>
        <p:nvSpPr>
          <p:cNvPr id="4" name="TextBox 3"/>
          <p:cNvSpPr txBox="1"/>
          <p:nvPr/>
        </p:nvSpPr>
        <p:spPr>
          <a:xfrm>
            <a:off x="457200" y="2723083"/>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Nature of the gas</a:t>
            </a:r>
          </a:p>
        </p:txBody>
      </p:sp>
      <p:sp>
        <p:nvSpPr>
          <p:cNvPr id="5" name="TextBox 4"/>
          <p:cNvSpPr txBox="1"/>
          <p:nvPr/>
        </p:nvSpPr>
        <p:spPr>
          <a:xfrm>
            <a:off x="3321558" y="2723083"/>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Temperature</a:t>
            </a:r>
          </a:p>
        </p:txBody>
      </p:sp>
      <p:sp>
        <p:nvSpPr>
          <p:cNvPr id="6" name="TextBox 5"/>
          <p:cNvSpPr txBox="1"/>
          <p:nvPr/>
        </p:nvSpPr>
        <p:spPr>
          <a:xfrm>
            <a:off x="6185916" y="2723083"/>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Pressure of the gas</a:t>
            </a:r>
          </a:p>
        </p:txBody>
      </p:sp>
      <p:sp>
        <p:nvSpPr>
          <p:cNvPr id="7" name="TextBox 6"/>
          <p:cNvSpPr txBox="1"/>
          <p:nvPr/>
        </p:nvSpPr>
        <p:spPr>
          <a:xfrm>
            <a:off x="9050274" y="2723083"/>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All of the above</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TextBox 2"/>
          <p:cNvSpPr txBox="1"/>
          <p:nvPr/>
        </p:nvSpPr>
        <p:spPr>
          <a:xfrm>
            <a:off x="457200" y="731520"/>
            <a:ext cx="11274552" cy="320040"/>
          </a:xfrm>
          <a:prstGeom prst="rect">
            <a:avLst/>
          </a:prstGeom>
          <a:noFill/>
        </p:spPr>
        <p:txBody>
          <a:bodyPr wrap="square" lIns="0" rIns="0" tIns="0" bIns="0">
            <a:spAutoFit/>
          </a:bodyPr>
          <a:lstStyle/>
          <a:p>
            <a:pPr algn="l"/>
            <a:r>
              <a:rPr sz="1800" b="1">
                <a:solidFill>
                  <a:srgbClr val="FAD02C"/>
                </a:solidFill>
                <a:latin typeface="Arial"/>
              </a:rPr>
              <a:t>The solubility of a solid gas does not depend on</a:t>
            </a:r>
          </a:p>
        </p:txBody>
      </p:sp>
      <p:sp>
        <p:nvSpPr>
          <p:cNvPr id="4" name="TextBox 3"/>
          <p:cNvSpPr txBox="1"/>
          <p:nvPr/>
        </p:nvSpPr>
        <p:spPr>
          <a:xfrm>
            <a:off x="457200"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Nature of the solute</a:t>
            </a:r>
          </a:p>
        </p:txBody>
      </p:sp>
      <p:sp>
        <p:nvSpPr>
          <p:cNvPr id="5" name="TextBox 4"/>
          <p:cNvSpPr txBox="1"/>
          <p:nvPr/>
        </p:nvSpPr>
        <p:spPr>
          <a:xfrm>
            <a:off x="3321558"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Nature of the solvent</a:t>
            </a:r>
          </a:p>
        </p:txBody>
      </p:sp>
      <p:sp>
        <p:nvSpPr>
          <p:cNvPr id="6" name="TextBox 5"/>
          <p:cNvSpPr txBox="1"/>
          <p:nvPr/>
        </p:nvSpPr>
        <p:spPr>
          <a:xfrm>
            <a:off x="6185916"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Pressure</a:t>
            </a:r>
          </a:p>
        </p:txBody>
      </p:sp>
      <p:sp>
        <p:nvSpPr>
          <p:cNvPr id="7" name="TextBox 6"/>
          <p:cNvSpPr txBox="1"/>
          <p:nvPr/>
        </p:nvSpPr>
        <p:spPr>
          <a:xfrm>
            <a:off x="9050274"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None of these</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TextBox 2"/>
          <p:cNvSpPr txBox="1"/>
          <p:nvPr/>
        </p:nvSpPr>
        <p:spPr>
          <a:xfrm>
            <a:off x="457200" y="731520"/>
            <a:ext cx="11274552" cy="320040"/>
          </a:xfrm>
          <a:prstGeom prst="rect">
            <a:avLst/>
          </a:prstGeom>
          <a:noFill/>
        </p:spPr>
        <p:txBody>
          <a:bodyPr wrap="square" lIns="0" rIns="0" tIns="0" bIns="0">
            <a:spAutoFit/>
          </a:bodyPr>
          <a:lstStyle/>
          <a:p>
            <a:pPr algn="l"/>
            <a:r>
              <a:rPr sz="1800" b="1">
                <a:solidFill>
                  <a:srgbClr val="FAD02C"/>
                </a:solidFill>
                <a:latin typeface="Arial"/>
              </a:rPr>
              <a:t>The solution which has lower osmotic pressure with respect to another is called</a:t>
            </a:r>
          </a:p>
        </p:txBody>
      </p:sp>
      <p:sp>
        <p:nvSpPr>
          <p:cNvPr id="4" name="TextBox 3"/>
          <p:cNvSpPr txBox="1"/>
          <p:nvPr/>
        </p:nvSpPr>
        <p:spPr>
          <a:xfrm>
            <a:off x="457200"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Isotonic solution</a:t>
            </a:r>
          </a:p>
        </p:txBody>
      </p:sp>
      <p:sp>
        <p:nvSpPr>
          <p:cNvPr id="5" name="TextBox 4"/>
          <p:cNvSpPr txBox="1"/>
          <p:nvPr/>
        </p:nvSpPr>
        <p:spPr>
          <a:xfrm>
            <a:off x="3321558"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Hypertonic solution</a:t>
            </a:r>
          </a:p>
        </p:txBody>
      </p:sp>
      <p:sp>
        <p:nvSpPr>
          <p:cNvPr id="6" name="TextBox 5"/>
          <p:cNvSpPr txBox="1"/>
          <p:nvPr/>
        </p:nvSpPr>
        <p:spPr>
          <a:xfrm>
            <a:off x="6185916"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Hypotonic solution</a:t>
            </a:r>
          </a:p>
        </p:txBody>
      </p:sp>
      <p:sp>
        <p:nvSpPr>
          <p:cNvPr id="7" name="TextBox 6"/>
          <p:cNvSpPr txBox="1"/>
          <p:nvPr/>
        </p:nvSpPr>
        <p:spPr>
          <a:xfrm>
            <a:off x="9050274"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None of these</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TextBox 2"/>
          <p:cNvSpPr txBox="1"/>
          <p:nvPr/>
        </p:nvSpPr>
        <p:spPr>
          <a:xfrm>
            <a:off x="457200" y="731520"/>
            <a:ext cx="11274552" cy="1826971"/>
          </a:xfrm>
          <a:prstGeom prst="rect">
            <a:avLst/>
          </a:prstGeom>
          <a:noFill/>
        </p:spPr>
        <p:txBody>
          <a:bodyPr wrap="square" lIns="0" rIns="0" tIns="0" bIns="0">
            <a:spAutoFit/>
          </a:bodyPr>
          <a:lstStyle/>
          <a:p>
            <a:pPr algn="l">
              <a:defRPr sz="1800" b="1">
                <a:solidFill>
                  <a:srgbClr val="FAD02C"/>
                </a:solidFill>
                <a:latin typeface="Arial"/>
              </a:defRPr>
            </a:pPr>
            <a:r>
              <a:rPr lang="en-US" sz="1800" b="1">
                <a:solidFill>
                  <a:srgbClr val="FAD02C"/>
                </a:solidFill>
                <a:latin typeface="Arial"/>
              </a:rPr>
              <a:t>The solutions which show a large positive deviation from Raoult’s law form</a:t>
            </a:r>
            <a:r>
              <a:rPr lang="en-US" sz="1800" b="1">
                <a:solidFill>
                  <a:srgbClr val="FAD02C"/>
                </a:solidFill>
                <a:latin typeface="Arial"/>
              </a:rPr>
              <a:t> </a:t>
            </a:r>
            <a:r>
              <a:rPr lang="en-US" sz="1800" b="1">
                <a:solidFill>
                  <a:srgbClr val="FAD02C"/>
                </a:solidFill>
                <a:latin typeface="Arial"/>
              </a:rPr>
              <a:t>Minimum boiling point azeotrope</a:t>
            </a:r>
            <a:r>
              <a:rPr lang="en-US" sz="1800" b="1">
                <a:solidFill>
                  <a:srgbClr val="FAD02C"/>
                </a:solidFill>
                <a:latin typeface="Arial"/>
              </a:rPr>
              <a:t> </a:t>
            </a:r>
            <a:r>
              <a:rPr lang="en-US" sz="1800" b="1">
                <a:solidFill>
                  <a:srgbClr val="FAD02C"/>
                </a:solidFill>
                <a:latin typeface="Arial"/>
              </a:rPr>
              <a:t>Maximum boiling point azeotrope</a:t>
            </a:r>
            <a:r>
              <a:rPr lang="en-US" sz="1800" b="1">
                <a:solidFill>
                  <a:srgbClr val="FAD02C"/>
                </a:solidFill>
                <a:latin typeface="Arial"/>
              </a:rPr>
              <a:t> </a:t>
            </a:r>
            <a:r>
              <a:rPr lang="en-US" sz="1800" b="1">
                <a:solidFill>
                  <a:srgbClr val="FAD02C"/>
                </a:solidFill>
                <a:latin typeface="Arial"/>
              </a:rPr>
              <a:t>Minimum or maximum boiling point azeotrope</a:t>
            </a:r>
            <a:r>
              <a:rPr lang="en-US" sz="1800" b="1">
                <a:solidFill>
                  <a:srgbClr val="FAD02C"/>
                </a:solidFill>
                <a:latin typeface="Arial"/>
              </a:rPr>
              <a:t> </a:t>
            </a:r>
            <a:r>
              <a:rPr lang="en-US" sz="1800" b="1">
                <a:solidFill>
                  <a:srgbClr val="FAD02C"/>
                </a:solidFill>
                <a:latin typeface="Arial"/>
              </a:rPr>
              <a:t>No azeotrope</a:t>
            </a:r>
            <a:r>
              <a:rPr lang="en-US" sz="1800" b="1">
                <a:solidFill>
                  <a:srgbClr val="FAD02C"/>
                </a:solidFill>
                <a:latin typeface="Arial"/>
              </a:rPr>
              <a:t> </a:t>
            </a:r>
            <a:r>
              <a:rPr lang="en-US" sz="1800" b="1">
                <a:solidFill>
                  <a:srgbClr val="FAD02C"/>
                </a:solidFill>
                <a:latin typeface="Arial"/>
              </a:rPr>
              <a:t>The</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rPr>
                        <m:sty m:val="p"/>
                      </m:rPr>
                      <m:t>tan</m:t>
                    </m:r>
                    <m:r>
                      <m:t>k</m:t>
                    </m:r>
                    <m:r>
                      <m:t>s</m:t>
                    </m:r>
                  </m:oMath>
                </a14:m>
              </mc:Choice>
            </mc:AlternateContent>
            <a:r>
              <a:rPr lang="en-US" sz="1800" b="1">
                <a:solidFill>
                  <a:srgbClr val="FAD02C"/>
                </a:solidFill>
                <a:latin typeface="Arial"/>
              </a:rPr>
              <a:t> </a:t>
            </a:r>
            <a:r>
              <a:rPr lang="en-US" sz="1800" b="1">
                <a:solidFill>
                  <a:srgbClr val="FAD02C"/>
                </a:solidFill>
                <a:latin typeface="Arial"/>
              </a:rPr>
              <a:t>used by most scuba divers are filled with air diluted with helium of around</a:t>
            </a:r>
          </a:p>
        </p:txBody>
      </p:sp>
      <p:sp>
        <p:nvSpPr>
          <p:cNvPr id="4" name="TextBox 3"/>
          <p:cNvSpPr txBox="1"/>
          <p:nvPr/>
        </p:nvSpPr>
        <p:spPr>
          <a:xfrm>
            <a:off x="457200" y="2723083"/>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88.3%</a:t>
            </a:r>
          </a:p>
        </p:txBody>
      </p:sp>
      <p:sp>
        <p:nvSpPr>
          <p:cNvPr id="5" name="TextBox 4"/>
          <p:cNvSpPr txBox="1"/>
          <p:nvPr/>
        </p:nvSpPr>
        <p:spPr>
          <a:xfrm>
            <a:off x="3321558" y="2723083"/>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56.2%</a:t>
            </a:r>
          </a:p>
        </p:txBody>
      </p:sp>
      <p:sp>
        <p:nvSpPr>
          <p:cNvPr id="6" name="TextBox 5"/>
          <p:cNvSpPr txBox="1"/>
          <p:nvPr/>
        </p:nvSpPr>
        <p:spPr>
          <a:xfrm>
            <a:off x="6185916" y="2723083"/>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32.1%</a:t>
            </a:r>
          </a:p>
        </p:txBody>
      </p:sp>
      <p:sp>
        <p:nvSpPr>
          <p:cNvPr id="7" name="TextBox 6"/>
          <p:cNvSpPr txBox="1"/>
          <p:nvPr/>
        </p:nvSpPr>
        <p:spPr>
          <a:xfrm>
            <a:off x="9050274" y="2723083"/>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11.7%</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2024M</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defRPr sz="1800" b="1">
                <a:solidFill>
                  <a:srgbClr val="FAD02C"/>
                </a:solidFill>
                <a:latin typeface="Arial"/>
              </a:defRPr>
            </a:pPr>
            <mc:AlternateContent xmlns:mc="http://schemas.openxmlformats.org/markup-compatibility/2006" xmlns:a14="http://schemas.microsoft.com/office/drawing/2010/main">
              <mc:Choice Requires="a14">
                <a14:m>
                  <m:oMath xmlns:m="http://schemas.openxmlformats.org/officeDocument/2006/math">
                    <m:r>
                      <m:rPr>
                        <m:sty m:val="p"/>
                      </m:rPr>
                      <m:t>∫</m:t>
                    </m:r>
                    <m:r>
                      <m:rPr>
                        <m:sty m:val="p"/>
                      </m:rPr>
                      <m:t>sin</m:t>
                    </m:r>
                    <m:r>
                      <m:t>2</m:t>
                    </m:r>
                    <m:r>
                      <m:t>x</m:t>
                    </m:r>
                  </m:oMath>
                </a14:m>
              </mc:Choice>
            </mc:AlternateContent>
            <a:r>
              <a:rPr lang="en-US" sz="1800" b="1">
                <a:solidFill>
                  <a:srgbClr val="FAD02C"/>
                </a:solidFill>
                <a:latin typeface="Arial"/>
              </a:rPr>
              <a:t> </a:t>
            </a:r>
            <a:r>
              <a:rPr lang="en-US" sz="1800" b="1">
                <a:solidFill>
                  <a:srgbClr val="FAD02C"/>
                </a:solidFill>
                <a:latin typeface="Arial"/>
              </a:rPr>
              <a:t>dx is</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A. </a:t>
            </a:r>
            <mc:AlternateContent xmlns:mc="http://schemas.openxmlformats.org/markup-compatibility/2006" xmlns:a14="http://schemas.microsoft.com/office/drawing/2010/main">
              <mc:Choice Requires="a14">
                <a14:m>
                  <m:oMath xmlns:m="http://schemas.openxmlformats.org/officeDocument/2006/math">
                    <m:r>
                      <m:rPr>
                        <m:sty m:val="p"/>
                      </m:rPr>
                      <m:t>−</m:t>
                    </m:r>
                    <m:f>
                      <m:fPr>
                        <m:type m:val="bar"/>
                      </m:fPr>
                      <m:num>
                        <m:r>
                          <m:rPr>
                            <m:sty m:val="p"/>
                          </m:rPr>
                          <m:t>sin</m:t>
                        </m:r>
                        <m:r>
                          <m:t>2</m:t>
                        </m:r>
                        <m:r>
                          <m:t>x</m:t>
                        </m:r>
                      </m:num>
                      <m:den>
                        <m:r>
                          <m:t>2</m:t>
                        </m:r>
                      </m:den>
                    </m:f>
                  </m:oMath>
                </a14:m>
              </mc:Choice>
            </mc:AlternateContent>
            <a:r>
              <a:rPr lang="en-US" sz="1600">
                <a:solidFill>
                  <a:srgbClr val="F0F0F0"/>
                </a:solidFill>
                <a:latin typeface="Arial"/>
              </a:rPr>
              <a:t> </a:t>
            </a:r>
            <a:r>
              <a:rPr lang="en-US" sz="1600">
                <a:solidFill>
                  <a:srgbClr val="F0F0F0"/>
                </a:solidFill>
                <a:latin typeface="Arial"/>
              </a:rPr>
              <a:t>+ c</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B. </a:t>
            </a:r>
            <mc:AlternateContent xmlns:mc="http://schemas.openxmlformats.org/markup-compatibility/2006" xmlns:a14="http://schemas.microsoft.com/office/drawing/2010/main">
              <mc:Choice Requires="a14">
                <a14:m>
                  <m:oMath xmlns:m="http://schemas.openxmlformats.org/officeDocument/2006/math">
                    <m:r>
                      <m:rPr>
                        <m:sty m:val="p"/>
                      </m:rPr>
                      <m:t>−</m:t>
                    </m:r>
                    <m:f>
                      <m:fPr>
                        <m:type m:val="bar"/>
                      </m:fPr>
                      <m:num>
                        <m:r>
                          <m:rPr>
                            <m:sty m:val="p"/>
                          </m:rPr>
                          <m:t>cos</m:t>
                        </m:r>
                        <m:r>
                          <m:t>2</m:t>
                        </m:r>
                        <m:r>
                          <m:t>x</m:t>
                        </m:r>
                      </m:num>
                      <m:den>
                        <m:r>
                          <m:t>2</m:t>
                        </m:r>
                      </m:den>
                    </m:f>
                  </m:oMath>
                </a14:m>
              </mc:Choice>
            </mc:AlternateContent>
            <a:r>
              <a:rPr lang="en-US" sz="1600">
                <a:solidFill>
                  <a:srgbClr val="F0F0F0"/>
                </a:solidFill>
                <a:latin typeface="Arial"/>
              </a:rPr>
              <a:t>+c</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C. </a:t>
            </a:r>
            <mc:AlternateContent xmlns:mc="http://schemas.openxmlformats.org/markup-compatibility/2006" xmlns:a14="http://schemas.microsoft.com/office/drawing/2010/main">
              <mc:Choice Requires="a14">
                <a14:m>
                  <m:oMath xmlns:m="http://schemas.openxmlformats.org/officeDocument/2006/math">
                    <m:f>
                      <m:fPr>
                        <m:type m:val="bar"/>
                      </m:fPr>
                      <m:num>
                        <m:r>
                          <m:rPr>
                            <m:sty m:val="p"/>
                          </m:rPr>
                          <m:t>cos</m:t>
                        </m:r>
                        <m:r>
                          <m:t>2</m:t>
                        </m:r>
                        <m:r>
                          <m:t>x</m:t>
                        </m:r>
                      </m:num>
                      <m:den>
                        <m:r>
                          <m:t>2</m:t>
                        </m:r>
                      </m:den>
                    </m:f>
                    <m:r>
                      <m:rPr>
                        <m:sty m:val="p"/>
                      </m:rPr>
                      <m:t>+</m:t>
                    </m:r>
                  </m:oMath>
                </a14:m>
              </mc:Choice>
            </mc:AlternateContent>
            <a:r>
              <a:rPr lang="en-US" sz="1600">
                <a:solidFill>
                  <a:srgbClr val="F0F0F0"/>
                </a:solidFill>
                <a:latin typeface="Arial"/>
              </a:rPr>
              <a:t> </a:t>
            </a:r>
            <a:r>
              <a:rPr lang="en-US" sz="1600">
                <a:solidFill>
                  <a:srgbClr val="F0F0F0"/>
                </a:solidFill>
                <a:latin typeface="Arial"/>
              </a:rPr>
              <a:t>c</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D. </a:t>
            </a:r>
            <mc:AlternateContent xmlns:mc="http://schemas.openxmlformats.org/markup-compatibility/2006" xmlns:a14="http://schemas.microsoft.com/office/drawing/2010/main">
              <mc:Choice Requires="a14">
                <a14:m>
                  <m:oMath xmlns:m="http://schemas.openxmlformats.org/officeDocument/2006/math">
                    <m:f>
                      <m:fPr>
                        <m:type m:val="bar"/>
                      </m:fPr>
                      <m:num>
                        <m:r>
                          <m:rPr>
                            <m:sty m:val="p"/>
                          </m:rPr>
                          <m:t>sin</m:t>
                        </m:r>
                        <m:r>
                          <m:t>2</m:t>
                        </m:r>
                        <m:r>
                          <m:t>x</m:t>
                        </m:r>
                      </m:num>
                      <m:den>
                        <m:r>
                          <m:t>2</m:t>
                        </m:r>
                      </m:den>
                    </m:f>
                  </m:oMath>
                </a14:m>
              </mc:Choice>
            </mc:AlternateContent>
            <a:r>
              <a:rPr lang="en-US" sz="1600">
                <a:solidFill>
                  <a:srgbClr val="F0F0F0"/>
                </a:solidFill>
                <a:latin typeface="Arial"/>
              </a:rPr>
              <a:t> </a:t>
            </a:r>
            <a:r>
              <a:rPr lang="en-US" sz="1600">
                <a:solidFill>
                  <a:srgbClr val="F0F0F0"/>
                </a:solidFill>
                <a:latin typeface="Arial"/>
              </a:rPr>
              <a:t>+ c</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2039112"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1874519" cy="402336"/>
          </a:xfrm>
          <a:prstGeom prst="rect">
            <a:avLst/>
          </a:prstGeom>
          <a:noFill/>
        </p:spPr>
        <p:txBody>
          <a:bodyPr wrap="none" anchor="ctr" lIns="0" rIns="0" tIns="0" bIns="0">
            <a:spAutoFit/>
          </a:bodyPr>
          <a:lstStyle/>
          <a:p>
            <a:pPr algn="l"/>
            <a:r>
              <a:rPr sz="1500" b="1">
                <a:solidFill>
                  <a:srgbClr val="FAD02C"/>
                </a:solidFill>
                <a:latin typeface="Arial"/>
              </a:rPr>
              <a:t>2024M,2026,2025-2</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defRPr sz="1800" b="1">
                <a:solidFill>
                  <a:srgbClr val="FAD02C"/>
                </a:solidFill>
                <a:latin typeface="Arial"/>
              </a:defRPr>
            </a:pPr>
            <mc:AlternateContent xmlns:mc="http://schemas.openxmlformats.org/markup-compatibility/2006" xmlns:a14="http://schemas.microsoft.com/office/drawing/2010/main">
              <mc:Choice Requires="a14">
                <a14:m>
                  <m:oMath xmlns:m="http://schemas.openxmlformats.org/officeDocument/2006/math">
                    <m:r>
                      <m:rPr>
                        <m:sty m:val="p"/>
                      </m:rPr>
                      <m:t>∫</m:t>
                    </m:r>
                  </m:oMath>
                </a14:m>
              </mc:Choice>
            </mc:AlternateContent>
            <a:r>
              <a:rPr lang="en-US" sz="1800" b="1">
                <a:solidFill>
                  <a:srgbClr val="FAD02C"/>
                </a:solidFill>
                <a:latin typeface="Arial"/>
              </a:rPr>
              <a:t> </a:t>
            </a:r>
            <a:r>
              <a:rPr lang="en-US" sz="1800" b="1">
                <a:solidFill>
                  <a:srgbClr val="FAD02C"/>
                </a:solidFill>
                <a:latin typeface="Arial"/>
              </a:rPr>
              <a:t>e</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sSup>
                      <m:e>
                        <m:r>
                          <m:t>​</m:t>
                        </m:r>
                      </m:e>
                      <m:sup>
                        <m:r>
                          <m:t>x</m:t>
                        </m:r>
                      </m:sup>
                    </m:sSup>
                    <m:r>
                      <m:rPr>
                        <m:sty m:val="p"/>
                      </m:rPr>
                      <m:t>(</m:t>
                    </m:r>
                    <m:f>
                      <m:fPr>
                        <m:type m:val="bar"/>
                      </m:fPr>
                      <m:num>
                        <m:r>
                          <m:t>1</m:t>
                        </m:r>
                      </m:num>
                      <m:den>
                        <m:r>
                          <m:t>x</m:t>
                        </m:r>
                      </m:den>
                    </m:f>
                    <m:r>
                      <m:rPr>
                        <m:sty m:val="p"/>
                      </m:rPr>
                      <m:t>−</m:t>
                    </m:r>
                    <m:f>
                      <m:fPr>
                        <m:type m:val="bar"/>
                      </m:fPr>
                      <m:num>
                        <m:r>
                          <m:t>1</m:t>
                        </m:r>
                      </m:num>
                      <m:den>
                        <m:sSup>
                          <m:e>
                            <m:r>
                              <m:t>x</m:t>
                            </m:r>
                          </m:e>
                          <m:sup>
                            <m:r>
                              <m:t>2</m:t>
                            </m:r>
                          </m:sup>
                        </m:sSup>
                      </m:den>
                    </m:f>
                    <m:r>
                      <m:rPr>
                        <m:sty m:val="p"/>
                      </m:rPr>
                      <m:t>)</m:t>
                    </m:r>
                  </m:oMath>
                </a14:m>
              </mc:Choice>
            </mc:AlternateContent>
            <a:r>
              <a:rPr lang="en-US" sz="1800" b="1">
                <a:solidFill>
                  <a:srgbClr val="FAD02C"/>
                </a:solidFill>
                <a:latin typeface="Arial"/>
              </a:rPr>
              <a:t> </a:t>
            </a:r>
            <a:r>
              <a:rPr lang="en-US" sz="1800" b="1">
                <a:solidFill>
                  <a:srgbClr val="FAD02C"/>
                </a:solidFill>
                <a:latin typeface="Arial"/>
              </a:rPr>
              <a:t>dx is</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A. </a:t>
            </a:r>
            <a:r>
              <a:rPr lang="en-US" sz="1600">
                <a:solidFill>
                  <a:srgbClr val="F0F0F0"/>
                </a:solidFill>
                <a:latin typeface="Arial"/>
              </a:rPr>
              <a:t>e-</a:t>
            </a:r>
            <mc:AlternateContent xmlns:mc="http://schemas.openxmlformats.org/markup-compatibility/2006" xmlns:a14="http://schemas.microsoft.com/office/drawing/2010/main">
              <mc:Choice Requires="a14">
                <a14:m>
                  <m:oMath xmlns:m="http://schemas.openxmlformats.org/officeDocument/2006/math">
                    <m:r>
                      <m:t>x</m:t>
                    </m:r>
                    <m:r>
                      <m:rPr>
                        <m:sty m:val="p"/>
                      </m:rPr>
                      <m:t>(</m:t>
                    </m:r>
                    <m:f>
                      <m:fPr>
                        <m:type m:val="bar"/>
                      </m:fPr>
                      <m:num>
                        <m:r>
                          <m:t>1</m:t>
                        </m:r>
                      </m:num>
                      <m:den>
                        <m:r>
                          <m:t>x</m:t>
                        </m:r>
                      </m:den>
                    </m:f>
                    <m:r>
                      <m:rPr>
                        <m:sty m:val="p"/>
                      </m:rPr>
                      <m:t>)</m:t>
                    </m:r>
                  </m:oMath>
                </a14:m>
              </mc:Choice>
            </mc:AlternateContent>
            <a:r>
              <a:rPr lang="en-US" sz="1600">
                <a:solidFill>
                  <a:srgbClr val="F0F0F0"/>
                </a:solidFill>
                <a:latin typeface="Arial"/>
              </a:rPr>
              <a:t> </a:t>
            </a:r>
            <a:r>
              <a:rPr lang="en-US" sz="1600">
                <a:solidFill>
                  <a:srgbClr val="F0F0F0"/>
                </a:solidFill>
                <a:latin typeface="Arial"/>
              </a:rPr>
              <a:t>+ c</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B. </a:t>
            </a:r>
            <a:r>
              <a:rPr lang="en-US" sz="1600">
                <a:solidFill>
                  <a:srgbClr val="F0F0F0"/>
                </a:solidFill>
                <a:latin typeface="Arial"/>
              </a:rPr>
              <a:t>e-</a:t>
            </a:r>
            <mc:AlternateContent xmlns:mc="http://schemas.openxmlformats.org/markup-compatibility/2006" xmlns:a14="http://schemas.microsoft.com/office/drawing/2010/main">
              <mc:Choice Requires="a14">
                <a14:m>
                  <m:oMath xmlns:m="http://schemas.openxmlformats.org/officeDocument/2006/math">
                    <m:r>
                      <m:t>x</m:t>
                    </m:r>
                    <m:r>
                      <m:rPr>
                        <m:sty m:val="p"/>
                      </m:rPr>
                      <m:t>(</m:t>
                    </m:r>
                    <m:f>
                      <m:fPr>
                        <m:type m:val="bar"/>
                      </m:fPr>
                      <m:num>
                        <m:r>
                          <m:t>1</m:t>
                        </m:r>
                      </m:num>
                      <m:den>
                        <m:sSup>
                          <m:e>
                            <m:r>
                              <m:t>x</m:t>
                            </m:r>
                          </m:e>
                          <m:sup>
                            <m:r>
                              <m:t>2</m:t>
                            </m:r>
                          </m:sup>
                        </m:sSup>
                      </m:den>
                    </m:f>
                    <m:r>
                      <m:rPr>
                        <m:sty m:val="p"/>
                      </m:rPr>
                      <m:t>)</m:t>
                    </m:r>
                  </m:oMath>
                </a14:m>
              </mc:Choice>
            </mc:AlternateContent>
            <a:r>
              <a:rPr lang="en-US" sz="1600">
                <a:solidFill>
                  <a:srgbClr val="F0F0F0"/>
                </a:solidFill>
                <a:latin typeface="Arial"/>
              </a:rPr>
              <a:t> </a:t>
            </a:r>
            <a:r>
              <a:rPr lang="en-US" sz="1600">
                <a:solidFill>
                  <a:srgbClr val="F0F0F0"/>
                </a:solidFill>
                <a:latin typeface="Arial"/>
              </a:rPr>
              <a:t>+ c</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C. </a:t>
            </a:r>
            <a:r>
              <a:rPr lang="en-US" sz="1600">
                <a:solidFill>
                  <a:srgbClr val="F0F0F0"/>
                </a:solidFill>
                <a:latin typeface="Arial"/>
              </a:rPr>
              <a:t>e</a:t>
            </a:r>
            <a:r>
              <a:rPr lang="en-US" sz="1600">
                <a:solidFill>
                  <a:srgbClr val="F0F0F0"/>
                </a:solidFill>
                <a:latin typeface="Arial"/>
              </a:rPr>
              <a:t> </a:t>
            </a:r>
            <mc:AlternateContent xmlns:mc="http://schemas.openxmlformats.org/markup-compatibility/2006" xmlns:a14="http://schemas.microsoft.com/office/drawing/2010/main">
              <mc:Choice Requires="a14">
                <a14:m>
                  <m:oMath xmlns:m="http://schemas.openxmlformats.org/officeDocument/2006/math">
                    <m:r>
                      <m:t>x</m:t>
                    </m:r>
                    <m:r>
                      <m:rPr>
                        <m:sty m:val="p"/>
                      </m:rPr>
                      <m:t>(</m:t>
                    </m:r>
                    <m:f>
                      <m:fPr>
                        <m:type m:val="bar"/>
                      </m:fPr>
                      <m:num>
                        <m:r>
                          <m:t>1</m:t>
                        </m:r>
                      </m:num>
                      <m:den>
                        <m:r>
                          <m:t>x</m:t>
                        </m:r>
                      </m:den>
                    </m:f>
                    <m:r>
                      <m:rPr>
                        <m:sty m:val="p"/>
                      </m:rPr>
                      <m:t>)</m:t>
                    </m:r>
                    <m:r>
                      <m:rPr>
                        <m:sty m:val="p"/>
                      </m:rPr>
                      <m:t>+</m:t>
                    </m:r>
                  </m:oMath>
                </a14:m>
              </mc:Choice>
            </mc:AlternateContent>
            <a:r>
              <a:rPr lang="en-US" sz="1600">
                <a:solidFill>
                  <a:srgbClr val="F0F0F0"/>
                </a:solidFill>
                <a:latin typeface="Arial"/>
              </a:rPr>
              <a:t> </a:t>
            </a:r>
            <a:r>
              <a:rPr lang="en-US" sz="1600">
                <a:solidFill>
                  <a:srgbClr val="F0F0F0"/>
                </a:solidFill>
                <a:latin typeface="Arial"/>
              </a:rPr>
              <a:t>c</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D. </a:t>
            </a:r>
            <a:r>
              <a:rPr lang="en-US" sz="1600">
                <a:solidFill>
                  <a:srgbClr val="F0F0F0"/>
                </a:solidFill>
                <a:latin typeface="Arial"/>
              </a:rPr>
              <a:t>ex</a:t>
            </a:r>
            <mc:AlternateContent xmlns:mc="http://schemas.openxmlformats.org/markup-compatibility/2006" xmlns:a14="http://schemas.microsoft.com/office/drawing/2010/main">
              <mc:Choice Requires="a14">
                <a14:m>
                  <m:oMath xmlns:m="http://schemas.openxmlformats.org/officeDocument/2006/math">
                    <m:r>
                      <m:rPr>
                        <m:sty m:val="p"/>
                      </m:rPr>
                      <m:t>(</m:t>
                    </m:r>
                    <m:f>
                      <m:fPr>
                        <m:type m:val="bar"/>
                      </m:fPr>
                      <m:num>
                        <m:r>
                          <m:t>1</m:t>
                        </m:r>
                      </m:num>
                      <m:den>
                        <m:sSup>
                          <m:e>
                            <m:r>
                              <m:t>x</m:t>
                            </m:r>
                          </m:e>
                          <m:sup>
                            <m:r>
                              <m:t>2</m:t>
                            </m:r>
                          </m:sup>
                        </m:sSup>
                      </m:den>
                    </m:f>
                    <m:r>
                      <m:rPr>
                        <m:sty m:val="p"/>
                      </m:rPr>
                      <m:t>)</m:t>
                    </m:r>
                  </m:oMath>
                </a14:m>
              </mc:Choice>
            </mc:AlternateContent>
            <a:r>
              <a:rPr lang="en-US" sz="1600">
                <a:solidFill>
                  <a:srgbClr val="F0F0F0"/>
                </a:solidFill>
                <a:latin typeface="Arial"/>
              </a:rPr>
              <a:t> </a:t>
            </a:r>
            <a:r>
              <a:rPr lang="en-US" sz="1600">
                <a:solidFill>
                  <a:srgbClr val="F0F0F0"/>
                </a:solidFill>
                <a:latin typeface="Arial"/>
              </a:rPr>
              <a:t>+ c</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2025M</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defRPr sz="1800" b="1">
                <a:solidFill>
                  <a:srgbClr val="FAD02C"/>
                </a:solidFill>
                <a:latin typeface="Arial"/>
              </a:defRPr>
            </a:pPr>
            <mc:AlternateContent xmlns:mc="http://schemas.openxmlformats.org/markup-compatibility/2006" xmlns:a14="http://schemas.microsoft.com/office/drawing/2010/main">
              <mc:Choice Requires="a14">
                <a14:m>
                  <m:oMath xmlns:m="http://schemas.openxmlformats.org/officeDocument/2006/math">
                    <m:r>
                      <m:rPr>
                        <m:sty m:val="p"/>
                      </m:rPr>
                      <m:t>∫</m:t>
                    </m:r>
                    <m:r>
                      <m:t>x</m:t>
                    </m:r>
                    <m:r>
                      <m:rPr>
                        <m:sty m:val="p"/>
                      </m:rPr>
                      <m:t>sin</m:t>
                    </m:r>
                    <m:r>
                      <m:t>x</m:t>
                    </m:r>
                  </m:oMath>
                </a14:m>
              </mc:Choice>
            </mc:AlternateContent>
            <a:r>
              <a:rPr lang="en-US" sz="1800" b="1">
                <a:solidFill>
                  <a:srgbClr val="FAD02C"/>
                </a:solidFill>
                <a:latin typeface="Arial"/>
              </a:rPr>
              <a:t> </a:t>
            </a:r>
            <a:r>
              <a:rPr lang="en-US" sz="1800" b="1">
                <a:solidFill>
                  <a:srgbClr val="FAD02C"/>
                </a:solidFill>
                <a:latin typeface="Arial"/>
              </a:rPr>
              <a:t>dx=</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A. </a:t>
            </a:r>
            <mc:AlternateContent xmlns:mc="http://schemas.openxmlformats.org/markup-compatibility/2006" xmlns:a14="http://schemas.microsoft.com/office/drawing/2010/main">
              <mc:Choice Requires="a14">
                <a14:m>
                  <m:oMath xmlns:m="http://schemas.openxmlformats.org/officeDocument/2006/math">
                    <m:r>
                      <m:rPr>
                        <m:sty m:val="p"/>
                      </m:rPr>
                      <m:t>−</m:t>
                    </m:r>
                    <m:r>
                      <m:t>x</m:t>
                    </m:r>
                    <m:r>
                      <m:rPr>
                        <m:sty m:val="p"/>
                      </m:rPr>
                      <m:t>cos</m:t>
                    </m:r>
                    <m:r>
                      <m:t>x</m:t>
                    </m:r>
                    <m:r>
                      <m:rPr>
                        <m:sty m:val="p"/>
                      </m:rPr>
                      <m:t>−</m:t>
                    </m:r>
                    <m:r>
                      <m:rPr>
                        <m:sty m:val="p"/>
                      </m:rPr>
                      <m:t>sin</m:t>
                    </m:r>
                    <m:r>
                      <m:t>x</m:t>
                    </m:r>
                    <m:r>
                      <m:rPr>
                        <m:sty m:val="p"/>
                      </m:rPr>
                      <m:t>+</m:t>
                    </m:r>
                    <m:r>
                      <m:t>c</m:t>
                    </m:r>
                  </m:oMath>
                </a14:m>
              </mc:Choice>
            </mc:AlternateContent>
            <a:r>
              <a:rPr lang="en-US" sz="1600">
                <a:solidFill>
                  <a:srgbClr val="F0F0F0"/>
                </a:solidFill>
                <a:latin typeface="Arial"/>
              </a:rPr>
              <a:t>​</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B. </a:t>
            </a:r>
            <mc:AlternateContent xmlns:mc="http://schemas.openxmlformats.org/markup-compatibility/2006" xmlns:a14="http://schemas.microsoft.com/office/drawing/2010/main">
              <mc:Choice Requires="a14">
                <a14:m>
                  <m:oMath xmlns:m="http://schemas.openxmlformats.org/officeDocument/2006/math">
                    <m:r>
                      <m:t>x</m:t>
                    </m:r>
                    <m:r>
                      <m:rPr>
                        <m:sty m:val="p"/>
                      </m:rPr>
                      <m:t>cos</m:t>
                    </m:r>
                    <m:r>
                      <m:t>x</m:t>
                    </m:r>
                    <m:r>
                      <m:rPr>
                        <m:sty m:val="p"/>
                      </m:rPr>
                      <m:t>+</m:t>
                    </m:r>
                    <m:r>
                      <m:rPr>
                        <m:sty m:val="p"/>
                      </m:rPr>
                      <m:t>sin</m:t>
                    </m:r>
                    <m:r>
                      <m:t>x</m:t>
                    </m:r>
                    <m:r>
                      <m:rPr>
                        <m:sty m:val="p"/>
                      </m:rPr>
                      <m:t>+</m:t>
                    </m:r>
                    <m:r>
                      <m:t>c</m:t>
                    </m:r>
                  </m:oMath>
                </a14:m>
              </mc:Choice>
            </mc:AlternateContent>
            <a:r>
              <a:rPr lang="en-US" sz="1600">
                <a:solidFill>
                  <a:srgbClr val="F0F0F0"/>
                </a:solidFill>
                <a:latin typeface="Arial"/>
              </a:rPr>
              <a:t>​</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C. </a:t>
            </a:r>
            <mc:AlternateContent xmlns:mc="http://schemas.openxmlformats.org/markup-compatibility/2006" xmlns:a14="http://schemas.microsoft.com/office/drawing/2010/main">
              <mc:Choice Requires="a14">
                <a14:m>
                  <m:oMath xmlns:m="http://schemas.openxmlformats.org/officeDocument/2006/math">
                    <m:r>
                      <m:t>x</m:t>
                    </m:r>
                    <m:r>
                      <m:rPr>
                        <m:sty m:val="p"/>
                      </m:rPr>
                      <m:t>cos</m:t>
                    </m:r>
                    <m:r>
                      <m:t>x</m:t>
                    </m:r>
                    <m:r>
                      <m:rPr>
                        <m:sty m:val="p"/>
                      </m:rPr>
                      <m:t>−</m:t>
                    </m:r>
                    <m:r>
                      <m:rPr>
                        <m:sty m:val="p"/>
                      </m:rPr>
                      <m:t>sin</m:t>
                    </m:r>
                    <m:r>
                      <m:t>x</m:t>
                    </m:r>
                    <m:r>
                      <m:rPr>
                        <m:sty m:val="p"/>
                      </m:rPr>
                      <m:t>+</m:t>
                    </m:r>
                    <m:r>
                      <m:t>c</m:t>
                    </m:r>
                  </m:oMath>
                </a14:m>
              </mc:Choice>
            </mc:AlternateContent>
            <a:r>
              <a:rPr lang="en-US" sz="1600">
                <a:solidFill>
                  <a:srgbClr val="F0F0F0"/>
                </a:solidFill>
                <a:latin typeface="Arial"/>
              </a:rPr>
              <a:t>​</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D. </a:t>
            </a:r>
            <mc:AlternateContent xmlns:mc="http://schemas.openxmlformats.org/markup-compatibility/2006" xmlns:a14="http://schemas.microsoft.com/office/drawing/2010/main">
              <mc:Choice Requires="a14">
                <a14:m>
                  <m:oMath xmlns:m="http://schemas.openxmlformats.org/officeDocument/2006/math">
                    <m:r>
                      <m:rPr>
                        <m:sty m:val="p"/>
                      </m:rPr>
                      <m:t>−</m:t>
                    </m:r>
                    <m:r>
                      <m:rPr>
                        <m:sty m:val="p"/>
                      </m:rPr>
                      <m:t>cos</m:t>
                    </m:r>
                    <m:r>
                      <m:t>x</m:t>
                    </m:r>
                    <m:r>
                      <m:rPr>
                        <m:sty m:val="p"/>
                      </m:rPr>
                      <m:t>−</m:t>
                    </m:r>
                    <m:r>
                      <m:rPr>
                        <m:sty m:val="p"/>
                      </m:rPr>
                      <m:t>sin</m:t>
                    </m:r>
                    <m:r>
                      <m:t>x</m:t>
                    </m:r>
                    <m:r>
                      <m:rPr>
                        <m:sty m:val="p"/>
                      </m:rPr>
                      <m:t>+</m:t>
                    </m:r>
                    <m:r>
                      <m:t>c</m:t>
                    </m:r>
                  </m:oMath>
                </a14:m>
              </mc:Choice>
            </mc:AlternateContent>
            <a:r>
              <a:rPr lang="en-US" sz="1600">
                <a:solidFill>
                  <a:srgbClr val="F0F0F0"/>
                </a:solidFill>
                <a:latin typeface="Arial"/>
              </a:rPr>
              <a:t>​</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2025M</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r>
              <a:rPr sz="1800" b="1">
                <a:solidFill>
                  <a:srgbClr val="FAD02C"/>
                </a:solidFill>
                <a:latin typeface="Arial"/>
              </a:rPr>
              <a:t>The point of inflection for the following graph is</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pic>
        <p:nvPicPr>
          <p:cNvPr id="3" name="Picture 2" descr="img_rId9.png"/>
          <p:cNvPicPr>
            <a:picLocks noChangeAspect="1"/>
          </p:cNvPicPr>
          <p:nvPr/>
        </p:nvPicPr>
        <p:blipFill>
          <a:blip r:embed="rId3"/>
          <a:stretch>
            <a:fillRect/>
          </a:stretch>
        </p:blipFill>
        <p:spPr>
          <a:xfrm>
            <a:off x="11914632" y="731520"/>
            <a:ext cx="2743200" cy="2314575"/>
          </a:xfrm>
          <a:prstGeom prst="rect">
            <a:avLst/>
          </a:prstGeom>
        </p:spPr>
      </p:pic>
      <p:sp>
        <p:nvSpPr>
          <p:cNvPr id="4" name="TextBox 3"/>
          <p:cNvSpPr txBox="1"/>
          <p:nvPr/>
        </p:nvSpPr>
        <p:spPr>
          <a:xfrm>
            <a:off x="457200" y="731520"/>
            <a:ext cx="11274552" cy="320040"/>
          </a:xfrm>
          <a:prstGeom prst="rect">
            <a:avLst/>
          </a:prstGeom>
          <a:noFill/>
        </p:spPr>
        <p:txBody>
          <a:bodyPr wrap="square" lIns="0" rIns="0" tIns="0" bIns="0">
            <a:spAutoFit/>
          </a:bodyPr>
          <a:lstStyle/>
          <a:p>
            <a:pPr algn="l"/>
          </a:p>
        </p:txBody>
      </p:sp>
      <p:sp>
        <p:nvSpPr>
          <p:cNvPr id="5" name="TextBox 4"/>
          <p:cNvSpPr txBox="1"/>
          <p:nvPr/>
        </p:nvSpPr>
        <p:spPr>
          <a:xfrm>
            <a:off x="457200" y="1216151"/>
            <a:ext cx="5477256"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0</a:t>
            </a:r>
          </a:p>
        </p:txBody>
      </p:sp>
      <p:sp>
        <p:nvSpPr>
          <p:cNvPr id="6" name="TextBox 5"/>
          <p:cNvSpPr txBox="1"/>
          <p:nvPr/>
        </p:nvSpPr>
        <p:spPr>
          <a:xfrm>
            <a:off x="6254496" y="1216151"/>
            <a:ext cx="5477256"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point of inflection does not exist</a:t>
            </a:r>
          </a:p>
        </p:txBody>
      </p:sp>
      <p:sp>
        <p:nvSpPr>
          <p:cNvPr id="7" name="TextBox 6"/>
          <p:cNvSpPr txBox="1"/>
          <p:nvPr/>
        </p:nvSpPr>
        <p:spPr>
          <a:xfrm>
            <a:off x="457200" y="1783079"/>
            <a:ext cx="5477256"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C. </a:t>
            </a:r>
            <mc:AlternateContent xmlns:mc="http://schemas.openxmlformats.org/markup-compatibility/2006" xmlns:a14="http://schemas.microsoft.com/office/drawing/2010/main">
              <mc:Choice Requires="a14">
                <a14:m>
                  <m:oMath xmlns:m="http://schemas.openxmlformats.org/officeDocument/2006/math">
                    <m:r>
                      <m:rPr>
                        <m:sty m:val="p"/>
                      </m:rPr>
                      <m:t>−</m:t>
                    </m:r>
                    <m:f>
                      <m:fPr>
                        <m:type m:val="bar"/>
                      </m:fPr>
                      <m:num>
                        <m:r>
                          <m:t>π</m:t>
                        </m:r>
                      </m:num>
                      <m:den>
                        <m:r>
                          <m:t>2</m:t>
                        </m:r>
                      </m:den>
                    </m:f>
                  </m:oMath>
                </a14:m>
              </mc:Choice>
            </mc:AlternateContent>
            <a:r>
              <a:rPr lang="en-US" sz="1600">
                <a:solidFill>
                  <a:srgbClr val="F0F0F0"/>
                </a:solidFill>
                <a:latin typeface="Arial"/>
              </a:rPr>
              <a:t>​</a:t>
            </a:r>
          </a:p>
        </p:txBody>
      </p:sp>
      <p:sp>
        <p:nvSpPr>
          <p:cNvPr id="8" name="TextBox 7"/>
          <p:cNvSpPr txBox="1"/>
          <p:nvPr/>
        </p:nvSpPr>
        <p:spPr>
          <a:xfrm>
            <a:off x="6254496" y="1783079"/>
            <a:ext cx="5477256"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D. </a:t>
            </a:r>
            <mc:AlternateContent xmlns:mc="http://schemas.openxmlformats.org/markup-compatibility/2006" xmlns:a14="http://schemas.microsoft.com/office/drawing/2010/main">
              <mc:Choice Requires="a14">
                <a14:m>
                  <m:oMath xmlns:m="http://schemas.openxmlformats.org/officeDocument/2006/math">
                    <m:f>
                      <m:fPr>
                        <m:type m:val="bar"/>
                      </m:fPr>
                      <m:num>
                        <m:r>
                          <m:t>π</m:t>
                        </m:r>
                      </m:num>
                      <m:den>
                        <m:r>
                          <m:t>2</m:t>
                        </m:r>
                      </m:den>
                    </m:f>
                  </m:oMath>
                </a14:m>
              </mc:Choice>
            </mc:AlternateContent>
            <a:r>
              <a:rPr lang="en-US" sz="1600">
                <a:solidFill>
                  <a:srgbClr val="F0F0F0"/>
                </a:solidFill>
                <a:latin typeface="Arial"/>
              </a:rPr>
              <a:t>​</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2025M</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defRPr sz="1800" b="1">
                <a:solidFill>
                  <a:srgbClr val="FAD02C"/>
                </a:solidFill>
                <a:latin typeface="Arial"/>
              </a:defRPr>
            </a:pPr>
            <mc:AlternateContent xmlns:mc="http://schemas.openxmlformats.org/markup-compatibility/2006" xmlns:a14="http://schemas.microsoft.com/office/drawing/2010/main">
              <mc:Choice Requires="a14">
                <a14:m>
                  <m:oMath xmlns:m="http://schemas.openxmlformats.org/officeDocument/2006/math">
                    <m:r>
                      <m:rPr>
                        <m:sty m:val="p"/>
                      </m:rPr>
                      <m:t>∫</m:t>
                    </m:r>
                    <m:f>
                      <m:fPr>
                        <m:type m:val="bar"/>
                      </m:fPr>
                      <m:num>
                        <m:r>
                          <m:t>1</m:t>
                        </m:r>
                      </m:num>
                      <m:den>
                        <m:r>
                          <m:t>x</m:t>
                        </m:r>
                        <m:rad>
                          <m:radPr>
                            <m:degHide m:val="on"/>
                          </m:radPr>
                          <m:deg/>
                          <m:e>
                            <m:sSup>
                              <m:e>
                                <m:r>
                                  <m:t>x</m:t>
                                </m:r>
                              </m:e>
                              <m:sup>
                                <m:r>
                                  <m:t>2</m:t>
                                </m:r>
                              </m:sup>
                            </m:sSup>
                            <m:r>
                              <m:rPr>
                                <m:sty m:val="p"/>
                              </m:rPr>
                              <m:t>−</m:t>
                            </m:r>
                            <m:r>
                              <m:t>1</m:t>
                            </m:r>
                          </m:e>
                        </m:rad>
                      </m:den>
                    </m:f>
                    <m:r>
                      <m:t> </m:t>
                    </m:r>
                    <m:r>
                      <m:t>d</m:t>
                    </m:r>
                    <m:r>
                      <m:t>x</m:t>
                    </m:r>
                    <m:r>
                      <m:rPr>
                        <m:sty m:val="p"/>
                      </m:rPr>
                      <m:t>=</m:t>
                    </m:r>
                  </m:oMath>
                </a14:m>
              </mc:Choice>
            </mc:AlternateContent>
            <a:r>
              <a:rPr lang="en-US" sz="1800" b="1">
                <a:solidFill>
                  <a:srgbClr val="FAD02C"/>
                </a:solidFill>
                <a:latin typeface="Arial"/>
              </a:rPr>
              <a:t>​</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A. </a:t>
            </a:r>
            <mc:AlternateContent xmlns:mc="http://schemas.openxmlformats.org/markup-compatibility/2006" xmlns:a14="http://schemas.microsoft.com/office/drawing/2010/main">
              <mc:Choice Requires="a14">
                <a14:m>
                  <m:oMath xmlns:m="http://schemas.openxmlformats.org/officeDocument/2006/math">
                    <m:r>
                      <m:rPr>
                        <m:sty m:val="p"/>
                      </m:rPr>
                      <m:t>sec</m:t>
                    </m:r>
                    <m:r>
                      <m:t>x</m:t>
                    </m:r>
                    <m:r>
                      <m:rPr>
                        <m:sty m:val="p"/>
                      </m:rPr>
                      <m:t>+</m:t>
                    </m:r>
                    <m:r>
                      <m:t>C</m:t>
                    </m:r>
                  </m:oMath>
                </a14:m>
              </mc:Choice>
            </mc:AlternateContent>
            <a:r>
              <a:rPr lang="en-US" sz="1600">
                <a:solidFill>
                  <a:srgbClr val="F0F0F0"/>
                </a:solidFill>
                <a:latin typeface="Arial"/>
              </a:rPr>
              <a:t>​</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B. </a:t>
            </a:r>
            <mc:AlternateContent xmlns:mc="http://schemas.openxmlformats.org/markup-compatibility/2006" xmlns:a14="http://schemas.microsoft.com/office/drawing/2010/main">
              <mc:Choice Requires="a14">
                <a14:m>
                  <m:oMath xmlns:m="http://schemas.openxmlformats.org/officeDocument/2006/math">
                    <m:sSup>
                      <m:e>
                        <m:r>
                          <m:rPr>
                            <m:sty m:val="p"/>
                          </m:rPr>
                          <m:t>csc</m:t>
                        </m:r>
                      </m:e>
                      <m:sup>
                        <m:r>
                          <m:rPr>
                            <m:sty m:val="p"/>
                          </m:rPr>
                          <m:t>−</m:t>
                        </m:r>
                        <m:r>
                          <m:t>1</m:t>
                        </m:r>
                      </m:sup>
                    </m:sSup>
                    <m:r>
                      <m:t>x</m:t>
                    </m:r>
                    <m:r>
                      <m:rPr>
                        <m:sty m:val="p"/>
                      </m:rPr>
                      <m:t>+</m:t>
                    </m:r>
                    <m:r>
                      <m:t>C</m:t>
                    </m:r>
                  </m:oMath>
                </a14:m>
              </mc:Choice>
            </mc:AlternateContent>
            <a:r>
              <a:rPr lang="en-US" sz="1600">
                <a:solidFill>
                  <a:srgbClr val="F0F0F0"/>
                </a:solidFill>
                <a:latin typeface="Arial"/>
              </a:rPr>
              <a:t>​</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C. </a:t>
            </a:r>
            <mc:AlternateContent xmlns:mc="http://schemas.openxmlformats.org/markup-compatibility/2006" xmlns:a14="http://schemas.microsoft.com/office/drawing/2010/main">
              <mc:Choice Requires="a14">
                <a14:m>
                  <m:oMath xmlns:m="http://schemas.openxmlformats.org/officeDocument/2006/math">
                    <m:sSup>
                      <m:e>
                        <m:r>
                          <m:rPr>
                            <m:sty m:val="p"/>
                          </m:rPr>
                          <m:t>sec</m:t>
                        </m:r>
                      </m:e>
                      <m:sup>
                        <m:r>
                          <m:rPr>
                            <m:sty m:val="p"/>
                          </m:rPr>
                          <m:t>−</m:t>
                        </m:r>
                        <m:r>
                          <m:t>1</m:t>
                        </m:r>
                      </m:sup>
                    </m:sSup>
                    <m:r>
                      <m:t>x</m:t>
                    </m:r>
                    <m:r>
                      <m:rPr>
                        <m:sty m:val="p"/>
                      </m:rPr>
                      <m:t>+</m:t>
                    </m:r>
                    <m:r>
                      <m:t>C</m:t>
                    </m:r>
                  </m:oMath>
                </a14:m>
              </mc:Choice>
            </mc:AlternateContent>
            <a:r>
              <a:rPr lang="en-US" sz="1600">
                <a:solidFill>
                  <a:srgbClr val="F0F0F0"/>
                </a:solidFill>
                <a:latin typeface="Arial"/>
              </a:rPr>
              <a:t>​</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D. </a:t>
            </a:r>
            <mc:AlternateContent xmlns:mc="http://schemas.openxmlformats.org/markup-compatibility/2006" xmlns:a14="http://schemas.microsoft.com/office/drawing/2010/main">
              <mc:Choice Requires="a14">
                <a14:m>
                  <m:oMath xmlns:m="http://schemas.openxmlformats.org/officeDocument/2006/math">
                    <m:r>
                      <m:rPr>
                        <m:sty m:val="p"/>
                      </m:rPr>
                      <m:t>csc</m:t>
                    </m:r>
                    <m:r>
                      <m:t>x</m:t>
                    </m:r>
                    <m:r>
                      <m:rPr>
                        <m:sty m:val="p"/>
                      </m:rPr>
                      <m:t>+</m:t>
                    </m:r>
                    <m:r>
                      <m:t>C</m:t>
                    </m:r>
                  </m:oMath>
                </a14:m>
              </mc:Choice>
            </mc:AlternateContent>
            <a:r>
              <a:rPr lang="en-US" sz="1600">
                <a:solidFill>
                  <a:srgbClr val="F0F0F0"/>
                </a:solidFill>
                <a:latin typeface="Arial"/>
              </a:rPr>
              <a:t>​</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2025M</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1217980"/>
          </a:xfrm>
          <a:prstGeom prst="rect">
            <a:avLst/>
          </a:prstGeom>
          <a:noFill/>
        </p:spPr>
        <p:txBody>
          <a:bodyPr wrap="square" lIns="0" rIns="0" tIns="0" bIns="0">
            <a:spAutoFit/>
          </a:bodyPr>
          <a:lstStyle/>
          <a:p>
            <a:pPr algn="l">
              <a:defRPr sz="1800" b="1">
                <a:solidFill>
                  <a:srgbClr val="FAD02C"/>
                </a:solidFill>
                <a:latin typeface="Arial"/>
              </a:defRPr>
            </a:pPr>
            <a:r>
              <a:rPr lang="en-US" sz="1800" b="1">
                <a:solidFill>
                  <a:srgbClr val="FAD02C"/>
                </a:solidFill>
                <a:latin typeface="Arial"/>
              </a:rPr>
              <a:t>Statement 1: The anti-derivative of</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rPr>
                        <m:sty m:val="p"/>
                      </m:rPr>
                      <m:t>(</m:t>
                    </m:r>
                    <m:f>
                      <m:fPr>
                        <m:type m:val="bar"/>
                      </m:fPr>
                      <m:num>
                        <m:r>
                          <m:t>1</m:t>
                        </m:r>
                      </m:num>
                      <m:den>
                        <m:rad>
                          <m:radPr>
                            <m:degHide m:val="on"/>
                          </m:radPr>
                          <m:deg/>
                          <m:e>
                            <m:r>
                              <m:t>1</m:t>
                            </m:r>
                            <m:r>
                              <m:rPr>
                                <m:sty m:val="p"/>
                              </m:rPr>
                              <m:t>+</m:t>
                            </m:r>
                            <m:sSup>
                              <m:e>
                                <m:r>
                                  <m:t>X</m:t>
                                </m:r>
                              </m:e>
                              <m:sup>
                                <m:r>
                                  <m:t>2</m:t>
                                </m:r>
                              </m:sup>
                            </m:sSup>
                          </m:e>
                        </m:rad>
                      </m:den>
                    </m:f>
                    <m:r>
                      <m:rPr>
                        <m:sty m:val="p"/>
                      </m:rPr>
                      <m:t>)</m:t>
                    </m:r>
                  </m:oMath>
                </a14:m>
              </mc:Choice>
            </mc:AlternateContent>
            <a:r>
              <a:rPr lang="en-US" sz="1800" b="1">
                <a:solidFill>
                  <a:srgbClr val="FAD02C"/>
                </a:solidFill>
                <a:latin typeface="Arial"/>
              </a:rPr>
              <a:t>with respect to</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x</m:t>
                    </m:r>
                  </m:oMath>
                </a14:m>
              </mc:Choice>
            </mc:AlternateContent>
            <a:r>
              <a:rPr lang="en-US" sz="1800" b="1">
                <a:solidFill>
                  <a:srgbClr val="FAD02C"/>
                </a:solidFill>
                <a:latin typeface="Arial"/>
              </a:rPr>
              <a:t> </a:t>
            </a:r>
            <a:r>
              <a:rPr lang="en-US" sz="1800" b="1">
                <a:solidFill>
                  <a:srgbClr val="FAD02C"/>
                </a:solidFill>
                <a:latin typeface="Arial"/>
              </a:rPr>
              <a:t>is</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f>
                      <m:fPr>
                        <m:type m:val="bar"/>
                      </m:fPr>
                      <m:num>
                        <m:r>
                          <m:t>X</m:t>
                        </m:r>
                      </m:num>
                      <m:den>
                        <m:r>
                          <m:t>2</m:t>
                        </m:r>
                      </m:den>
                    </m:f>
                    <m:rad>
                      <m:radPr>
                        <m:degHide m:val="on"/>
                      </m:radPr>
                      <m:deg/>
                      <m:e>
                        <m:r>
                          <m:t>1</m:t>
                        </m:r>
                        <m:r>
                          <m:rPr>
                            <m:sty m:val="p"/>
                          </m:rPr>
                          <m:t>+</m:t>
                        </m:r>
                        <m:sSup>
                          <m:e>
                            <m:r>
                              <m:t>X</m:t>
                            </m:r>
                          </m:e>
                          <m:sup>
                            <m:r>
                              <m:t>2</m:t>
                            </m:r>
                          </m:sup>
                        </m:sSup>
                      </m:e>
                    </m:rad>
                    <m:r>
                      <m:rPr>
                        <m:sty m:val="p"/>
                      </m:rPr>
                      <m:t>+</m:t>
                    </m:r>
                    <m:f>
                      <m:fPr>
                        <m:type m:val="bar"/>
                      </m:fPr>
                      <m:num>
                        <m:r>
                          <m:t>1</m:t>
                        </m:r>
                      </m:num>
                      <m:den>
                        <m:r>
                          <m:t>2</m:t>
                        </m:r>
                      </m:den>
                    </m:f>
                  </m:oMath>
                </a14:m>
              </mc:Choice>
            </mc:AlternateContent>
            <a:r>
              <a:rPr lang="en-US" sz="1800" b="1">
                <a:solidFill>
                  <a:srgbClr val="FAD02C"/>
                </a:solidFill>
                <a:latin typeface="Arial"/>
              </a:rPr>
              <a:t> </a:t>
            </a:r>
            <a:r>
              <a:rPr lang="en-US" sz="1800" b="1">
                <a:solidFill>
                  <a:srgbClr val="FAD02C"/>
                </a:solidFill>
                <a:latin typeface="Arial"/>
              </a:rPr>
              <a:t>log|</a:t>
            </a:r>
            <mc:AlternateContent xmlns:mc="http://schemas.openxmlformats.org/markup-compatibility/2006" xmlns:a14="http://schemas.microsoft.com/office/drawing/2010/main">
              <mc:Choice Requires="a14">
                <a14:m>
                  <m:oMath xmlns:m="http://schemas.openxmlformats.org/officeDocument/2006/math">
                    <m:r>
                      <m:t>x</m:t>
                    </m:r>
                    <m:r>
                      <m:rPr>
                        <m:sty m:val="p"/>
                      </m:rPr>
                      <m:t>+</m:t>
                    </m:r>
                    <m:rad>
                      <m:radPr>
                        <m:degHide m:val="on"/>
                      </m:radPr>
                      <m:deg/>
                      <m:e>
                        <m:r>
                          <m:t>1</m:t>
                        </m:r>
                        <m:r>
                          <m:rPr>
                            <m:sty m:val="p"/>
                          </m:rPr>
                          <m:t>+</m:t>
                        </m:r>
                        <m:sSup>
                          <m:e>
                            <m:r>
                              <m:t>X</m:t>
                            </m:r>
                          </m:e>
                          <m:sup>
                            <m:r>
                              <m:t>2</m:t>
                            </m:r>
                          </m:sup>
                        </m:sSup>
                      </m:e>
                    </m:rad>
                  </m:oMath>
                </a14:m>
              </mc:Choice>
            </mc:AlternateContent>
            <a:r>
              <a:rPr lang="en-US" sz="1800" b="1">
                <a:solidFill>
                  <a:srgbClr val="FAD02C"/>
                </a:solidFill>
                <a:latin typeface="Arial"/>
              </a:rPr>
              <a:t>| + C</a:t>
            </a:r>
            <a:r>
              <a:rPr lang="en-US" sz="1800" b="1">
                <a:solidFill>
                  <a:srgbClr val="FAD02C"/>
                </a:solidFill>
                <a:latin typeface="Arial"/>
              </a:rPr>
              <a:t> </a:t>
            </a:r>
            <a:r>
              <a:rPr lang="en-US" sz="1800" b="1">
                <a:solidFill>
                  <a:srgbClr val="FAD02C"/>
                </a:solidFill>
                <a:latin typeface="Arial"/>
              </a:rPr>
              <a:t>Statement 2: The derivative of</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f>
                      <m:fPr>
                        <m:type m:val="bar"/>
                      </m:fPr>
                      <m:num>
                        <m:r>
                          <m:t>X</m:t>
                        </m:r>
                      </m:num>
                      <m:den>
                        <m:r>
                          <m:t>2</m:t>
                        </m:r>
                      </m:den>
                    </m:f>
                    <m:rad>
                      <m:radPr>
                        <m:degHide m:val="on"/>
                      </m:radPr>
                      <m:deg/>
                      <m:e>
                        <m:r>
                          <m:t>1</m:t>
                        </m:r>
                        <m:r>
                          <m:rPr>
                            <m:sty m:val="p"/>
                          </m:rPr>
                          <m:t>+</m:t>
                        </m:r>
                        <m:sSup>
                          <m:e>
                            <m:r>
                              <m:t>X</m:t>
                            </m:r>
                          </m:e>
                          <m:sup>
                            <m:r>
                              <m:t>2</m:t>
                            </m:r>
                          </m:sup>
                        </m:sSup>
                      </m:e>
                    </m:rad>
                    <m:r>
                      <m:rPr>
                        <m:sty m:val="p"/>
                      </m:rPr>
                      <m:t>+</m:t>
                    </m:r>
                    <m:f>
                      <m:fPr>
                        <m:type m:val="bar"/>
                      </m:fPr>
                      <m:num>
                        <m:r>
                          <m:t>1</m:t>
                        </m:r>
                      </m:num>
                      <m:den>
                        <m:r>
                          <m:t>2</m:t>
                        </m:r>
                      </m:den>
                    </m:f>
                  </m:oMath>
                </a14:m>
              </mc:Choice>
            </mc:AlternateContent>
            <a:r>
              <a:rPr lang="en-US" sz="1800" b="1">
                <a:solidFill>
                  <a:srgbClr val="FAD02C"/>
                </a:solidFill>
                <a:latin typeface="Arial"/>
              </a:rPr>
              <a:t> </a:t>
            </a:r>
            <a:r>
              <a:rPr lang="en-US" sz="1800" b="1">
                <a:solidFill>
                  <a:srgbClr val="FAD02C"/>
                </a:solidFill>
                <a:latin typeface="Arial"/>
              </a:rPr>
              <a:t>log|</a:t>
            </a:r>
            <mc:AlternateContent xmlns:mc="http://schemas.openxmlformats.org/markup-compatibility/2006" xmlns:a14="http://schemas.microsoft.com/office/drawing/2010/main">
              <mc:Choice Requires="a14">
                <a14:m>
                  <m:oMath xmlns:m="http://schemas.openxmlformats.org/officeDocument/2006/math">
                    <m:r>
                      <m:t>x</m:t>
                    </m:r>
                    <m:r>
                      <m:rPr>
                        <m:sty m:val="p"/>
                      </m:rPr>
                      <m:t>+</m:t>
                    </m:r>
                    <m:rad>
                      <m:radPr>
                        <m:degHide m:val="on"/>
                      </m:radPr>
                      <m:deg/>
                      <m:e>
                        <m:r>
                          <m:t>1</m:t>
                        </m:r>
                        <m:r>
                          <m:rPr>
                            <m:sty m:val="p"/>
                          </m:rPr>
                          <m:t>+</m:t>
                        </m:r>
                        <m:sSup>
                          <m:e>
                            <m:r>
                              <m:t>X</m:t>
                            </m:r>
                          </m:e>
                          <m:sup>
                            <m:r>
                              <m:t>2</m:t>
                            </m:r>
                          </m:sup>
                        </m:sSup>
                      </m:e>
                    </m:rad>
                  </m:oMath>
                </a14:m>
              </mc:Choice>
            </mc:AlternateContent>
            <a:r>
              <a:rPr lang="en-US" sz="1800" b="1">
                <a:solidFill>
                  <a:srgbClr val="FAD02C"/>
                </a:solidFill>
                <a:latin typeface="Arial"/>
              </a:rPr>
              <a:t>| + C. with respect to</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x</m:t>
                    </m:r>
                  </m:oMath>
                </a14:m>
              </mc:Choice>
            </mc:AlternateContent>
            <a:r>
              <a:rPr lang="en-US" sz="1800" b="1">
                <a:solidFill>
                  <a:srgbClr val="FAD02C"/>
                </a:solidFill>
                <a:latin typeface="Arial"/>
              </a:rPr>
              <a:t> </a:t>
            </a:r>
            <a:r>
              <a:rPr lang="en-US" sz="1800" b="1">
                <a:solidFill>
                  <a:srgbClr val="FAD02C"/>
                </a:solidFill>
                <a:latin typeface="Arial"/>
              </a:rPr>
              <a:t>is</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f>
                      <m:fPr>
                        <m:type m:val="bar"/>
                      </m:fPr>
                      <m:num>
                        <m:r>
                          <m:t>1</m:t>
                        </m:r>
                      </m:num>
                      <m:den>
                        <m:rad>
                          <m:radPr>
                            <m:degHide m:val="on"/>
                          </m:radPr>
                          <m:deg/>
                          <m:e>
                            <m:r>
                              <m:t>1</m:t>
                            </m:r>
                            <m:r>
                              <m:rPr>
                                <m:sty m:val="p"/>
                              </m:rPr>
                              <m:t>+</m:t>
                            </m:r>
                            <m:sSup>
                              <m:e>
                                <m:r>
                                  <m:t>X</m:t>
                                </m:r>
                              </m:e>
                              <m:sup>
                                <m:r>
                                  <m:t>2</m:t>
                                </m:r>
                              </m:sup>
                            </m:sSup>
                          </m:e>
                        </m:rad>
                      </m:den>
                    </m:f>
                  </m:oMath>
                </a14:m>
              </mc:Choice>
            </mc:AlternateContent>
          </a:p>
        </p:txBody>
      </p:sp>
      <p:sp>
        <p:nvSpPr>
          <p:cNvPr id="7" name="TextBox 6"/>
          <p:cNvSpPr txBox="1"/>
          <p:nvPr/>
        </p:nvSpPr>
        <p:spPr>
          <a:xfrm>
            <a:off x="457200" y="2114092"/>
            <a:ext cx="5477256" cy="541324"/>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Statement 1 is true, and Statement 2 is false.</a:t>
            </a:r>
          </a:p>
        </p:txBody>
      </p:sp>
      <p:sp>
        <p:nvSpPr>
          <p:cNvPr id="8" name="TextBox 7"/>
          <p:cNvSpPr txBox="1"/>
          <p:nvPr/>
        </p:nvSpPr>
        <p:spPr>
          <a:xfrm>
            <a:off x="6254496" y="2114092"/>
            <a:ext cx="5477256" cy="541324"/>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B. </a:t>
            </a:r>
            <a:r>
              <a:rPr lang="en-US" sz="1600">
                <a:solidFill>
                  <a:srgbClr val="F0F0F0"/>
                </a:solidFill>
                <a:latin typeface="Arial"/>
              </a:rPr>
              <a:t>Statement 1 is true, and Statement 2 is true, Statement 2 is correct</a:t>
            </a:r>
            <a:r>
              <a:rPr lang="en-US" sz="1600">
                <a:solidFill>
                  <a:srgbClr val="F0F0F0"/>
                </a:solidFill>
                <a:latin typeface="Arial"/>
              </a:rPr>
              <a:t> </a:t>
            </a:r>
            <mc:AlternateContent xmlns:mc="http://schemas.openxmlformats.org/markup-compatibility/2006" xmlns:a14="http://schemas.microsoft.com/office/drawing/2010/main">
              <mc:Choice Requires="a14">
                <a14:m>
                  <m:oMath xmlns:m="http://schemas.openxmlformats.org/officeDocument/2006/math">
                    <m:r>
                      <m:rPr>
                        <m:sty m:val="p"/>
                      </m:rPr>
                      <m:t>exp</m:t>
                    </m:r>
                    <m:r>
                      <m:t>l</m:t>
                    </m:r>
                    <m:r>
                      <m:t>a</m:t>
                    </m:r>
                    <m:r>
                      <m:t>n</m:t>
                    </m:r>
                    <m:r>
                      <m:t>a</m:t>
                    </m:r>
                    <m:r>
                      <m:t>t</m:t>
                    </m:r>
                    <m:r>
                      <m:t>i</m:t>
                    </m:r>
                    <m:r>
                      <m:t>o</m:t>
                    </m:r>
                    <m:r>
                      <m:t>n</m:t>
                    </m:r>
                  </m:oMath>
                </a14:m>
              </mc:Choice>
            </mc:AlternateContent>
            <a:r>
              <a:rPr lang="en-US" sz="1600">
                <a:solidFill>
                  <a:srgbClr val="F0F0F0"/>
                </a:solidFill>
                <a:latin typeface="Arial"/>
              </a:rPr>
              <a:t> </a:t>
            </a:r>
            <a:r>
              <a:rPr lang="en-US" sz="1600">
                <a:solidFill>
                  <a:srgbClr val="F0F0F0"/>
                </a:solidFill>
                <a:latin typeface="Arial"/>
              </a:rPr>
              <a:t>for Statement</a:t>
            </a:r>
          </a:p>
        </p:txBody>
      </p:sp>
      <p:sp>
        <p:nvSpPr>
          <p:cNvPr id="9" name="TextBox 8"/>
          <p:cNvSpPr txBox="1"/>
          <p:nvPr/>
        </p:nvSpPr>
        <p:spPr>
          <a:xfrm>
            <a:off x="457200" y="2765145"/>
            <a:ext cx="5477256" cy="541324"/>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C. </a:t>
            </a:r>
            <a:r>
              <a:rPr lang="en-US" sz="1600">
                <a:solidFill>
                  <a:srgbClr val="F0F0F0"/>
                </a:solidFill>
                <a:latin typeface="Arial"/>
              </a:rPr>
              <a:t>Statement 1 is true, and Statement 2 is true, Statement 2 is not a correct</a:t>
            </a:r>
            <a:r>
              <a:rPr lang="en-US" sz="1600">
                <a:solidFill>
                  <a:srgbClr val="F0F0F0"/>
                </a:solidFill>
                <a:latin typeface="Arial"/>
              </a:rPr>
              <a:t> </a:t>
            </a:r>
            <mc:AlternateContent xmlns:mc="http://schemas.openxmlformats.org/markup-compatibility/2006" xmlns:a14="http://schemas.microsoft.com/office/drawing/2010/main">
              <mc:Choice Requires="a14">
                <a14:m>
                  <m:oMath xmlns:m="http://schemas.openxmlformats.org/officeDocument/2006/math">
                    <m:r>
                      <m:rPr>
                        <m:sty m:val="p"/>
                      </m:rPr>
                      <m:t>exp</m:t>
                    </m:r>
                    <m:r>
                      <m:t>l</m:t>
                    </m:r>
                    <m:r>
                      <m:t>a</m:t>
                    </m:r>
                    <m:r>
                      <m:t>n</m:t>
                    </m:r>
                    <m:r>
                      <m:t>a</m:t>
                    </m:r>
                    <m:r>
                      <m:t>t</m:t>
                    </m:r>
                    <m:r>
                      <m:t>i</m:t>
                    </m:r>
                    <m:r>
                      <m:t>o</m:t>
                    </m:r>
                    <m:r>
                      <m:t>n</m:t>
                    </m:r>
                  </m:oMath>
                </a14:m>
              </mc:Choice>
            </mc:AlternateContent>
            <a:r>
              <a:rPr lang="en-US" sz="1600">
                <a:solidFill>
                  <a:srgbClr val="F0F0F0"/>
                </a:solidFill>
                <a:latin typeface="Arial"/>
              </a:rPr>
              <a:t> </a:t>
            </a:r>
            <a:r>
              <a:rPr lang="en-US" sz="1600">
                <a:solidFill>
                  <a:srgbClr val="F0F0F0"/>
                </a:solidFill>
                <a:latin typeface="Arial"/>
              </a:rPr>
              <a:t>for Statement1</a:t>
            </a:r>
          </a:p>
        </p:txBody>
      </p:sp>
      <p:sp>
        <p:nvSpPr>
          <p:cNvPr id="10" name="TextBox 9"/>
          <p:cNvSpPr txBox="1"/>
          <p:nvPr/>
        </p:nvSpPr>
        <p:spPr>
          <a:xfrm>
            <a:off x="6254496" y="2765145"/>
            <a:ext cx="5477256" cy="541324"/>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Both statements are false.</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2026M</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defRPr sz="1800" b="1">
                <a:solidFill>
                  <a:srgbClr val="FAD02C"/>
                </a:solidFill>
                <a:latin typeface="Arial"/>
              </a:defRPr>
            </a:pPr>
            <a:r>
              <a:rPr lang="en-US" sz="1800" b="1">
                <a:solidFill>
                  <a:srgbClr val="FAD02C"/>
                </a:solidFill>
                <a:latin typeface="Arial"/>
              </a:rPr>
              <a:t>Find the value of</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nary>
                      <m:naryPr>
                        <m:chr m:val="∫"/>
                        <m:limLoc m:val="subSup"/>
                        <m:subHide m:val="off"/>
                        <m:supHide m:val="off"/>
                      </m:naryPr>
                      <m:sub>
                        <m:r>
                          <m:rPr>
                            <m:sty m:val="p"/>
                          </m:rPr>
                          <m:t>−</m:t>
                        </m:r>
                        <m:r>
                          <m:t>1</m:t>
                        </m:r>
                      </m:sub>
                      <m:sup>
                        <m:r>
                          <m:t>1</m:t>
                        </m:r>
                      </m:sup>
                      <m:e>
                        <m:sSup>
                          <m:e>
                            <m:r>
                              <m:t>x</m:t>
                            </m:r>
                          </m:e>
                          <m:sup>
                            <m:r>
                              <m:t>99</m:t>
                            </m:r>
                          </m:sup>
                        </m:sSup>
                      </m:e>
                    </m:nary>
                    <m:r>
                      <m:t> </m:t>
                    </m:r>
                    <m:r>
                      <m:t>d</m:t>
                    </m:r>
                    <m:r>
                      <m:t>x</m:t>
                    </m:r>
                    <m:r>
                      <m:rPr>
                        <m:sty m:val="p"/>
                      </m:rPr>
                      <m:t>=</m:t>
                    </m:r>
                  </m:oMath>
                </a14:m>
              </mc:Choice>
            </mc:AlternateContent>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2</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3</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0</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1</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2026-1</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defRPr sz="1800" b="1">
                <a:solidFill>
                  <a:srgbClr val="FAD02C"/>
                </a:solidFill>
                <a:latin typeface="Arial"/>
              </a:defRPr>
            </a:pPr>
            <a:r>
              <a:rPr lang="en-US" sz="1800" b="1">
                <a:solidFill>
                  <a:srgbClr val="FAD02C"/>
                </a:solidFill>
                <a:latin typeface="Arial"/>
              </a:rPr>
              <a:t>The anti-derivative of</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f>
                      <m:fPr>
                        <m:type m:val="bar"/>
                      </m:fPr>
                      <m:num>
                        <m:r>
                          <m:t>1</m:t>
                        </m:r>
                      </m:num>
                      <m:den>
                        <m:r>
                          <m:t>x</m:t>
                        </m:r>
                        <m:rad>
                          <m:radPr>
                            <m:degHide m:val="on"/>
                          </m:radPr>
                          <m:deg/>
                          <m:e>
                            <m:sSup>
                              <m:e>
                                <m:r>
                                  <m:t>x</m:t>
                                </m:r>
                              </m:e>
                              <m:sup>
                                <m:r>
                                  <m:t>2</m:t>
                                </m:r>
                              </m:sup>
                            </m:sSup>
                            <m:r>
                              <m:rPr>
                                <m:sty m:val="p"/>
                              </m:rPr>
                              <m:t>−</m:t>
                            </m:r>
                            <m:r>
                              <m:t>1</m:t>
                            </m:r>
                          </m:e>
                        </m:rad>
                      </m:den>
                    </m:f>
                    <m:r>
                      <m:rPr>
                        <m:sty m:val="p"/>
                      </m:rPr>
                      <m:t>,</m:t>
                    </m:r>
                    <m:r>
                      <m:t>x</m:t>
                    </m:r>
                    <m:r>
                      <m:rPr>
                        <m:sty m:val="p"/>
                      </m:rPr>
                      <m:t>&gt;</m:t>
                    </m:r>
                    <m:r>
                      <m:t>1</m:t>
                    </m:r>
                  </m:oMath>
                </a14:m>
              </mc:Choice>
            </mc:AlternateContent>
            <a:r>
              <a:rPr lang="en-US" sz="1800" b="1">
                <a:solidFill>
                  <a:srgbClr val="FAD02C"/>
                </a:solidFill>
                <a:latin typeface="Arial"/>
              </a:rPr>
              <a:t> </a:t>
            </a:r>
            <a:r>
              <a:rPr lang="en-US" sz="1800" b="1">
                <a:solidFill>
                  <a:srgbClr val="FAD02C"/>
                </a:solidFill>
                <a:latin typeface="Arial"/>
              </a:rPr>
              <a:t>with respective to</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x</m:t>
                    </m:r>
                  </m:oMath>
                </a14:m>
              </mc:Choice>
            </mc:AlternateContent>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A. </a:t>
            </a:r>
            <mc:AlternateContent xmlns:mc="http://schemas.openxmlformats.org/markup-compatibility/2006" xmlns:a14="http://schemas.microsoft.com/office/drawing/2010/main">
              <mc:Choice Requires="a14">
                <a14:m>
                  <m:oMath xmlns:m="http://schemas.openxmlformats.org/officeDocument/2006/math">
                    <m:sSup>
                      <m:e>
                        <m:r>
                          <m:rPr>
                            <m:sty m:val="p"/>
                          </m:rPr>
                          <m:t>sin</m:t>
                        </m:r>
                      </m:e>
                      <m:sup>
                        <m:r>
                          <m:rPr>
                            <m:sty m:val="p"/>
                          </m:rPr>
                          <m:t>−</m:t>
                        </m:r>
                        <m:r>
                          <m:t>1</m:t>
                        </m:r>
                      </m:sup>
                    </m:sSup>
                    <m:r>
                      <m:t>x</m:t>
                    </m:r>
                    <m:r>
                      <m:rPr>
                        <m:sty m:val="p"/>
                      </m:rPr>
                      <m:t>+</m:t>
                    </m:r>
                    <m:r>
                      <m:t>C</m:t>
                    </m:r>
                  </m:oMath>
                </a14:m>
              </mc:Choice>
            </mc:AlternateContent>
            <a:r>
              <a:rPr lang="en-US" sz="1600">
                <a:solidFill>
                  <a:srgbClr val="F0F0F0"/>
                </a:solidFill>
                <a:latin typeface="Arial"/>
              </a:rPr>
              <a:t>​</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B. </a:t>
            </a:r>
            <mc:AlternateContent xmlns:mc="http://schemas.openxmlformats.org/markup-compatibility/2006" xmlns:a14="http://schemas.microsoft.com/office/drawing/2010/main">
              <mc:Choice Requires="a14">
                <a14:m>
                  <m:oMath xmlns:m="http://schemas.openxmlformats.org/officeDocument/2006/math">
                    <m:sSup>
                      <m:e>
                        <m:r>
                          <m:rPr>
                            <m:sty m:val="p"/>
                          </m:rPr>
                          <m:t>cos</m:t>
                        </m:r>
                      </m:e>
                      <m:sup>
                        <m:r>
                          <m:rPr>
                            <m:sty m:val="p"/>
                          </m:rPr>
                          <m:t>−</m:t>
                        </m:r>
                        <m:r>
                          <m:t>1</m:t>
                        </m:r>
                      </m:sup>
                    </m:sSup>
                    <m:r>
                      <m:t>x</m:t>
                    </m:r>
                    <m:r>
                      <m:rPr>
                        <m:sty m:val="p"/>
                      </m:rPr>
                      <m:t>+</m:t>
                    </m:r>
                    <m:r>
                      <m:t>C</m:t>
                    </m:r>
                  </m:oMath>
                </a14:m>
              </mc:Choice>
            </mc:AlternateContent>
            <a:r>
              <a:rPr lang="en-US" sz="1600">
                <a:solidFill>
                  <a:srgbClr val="F0F0F0"/>
                </a:solidFill>
                <a:latin typeface="Arial"/>
              </a:rPr>
              <a:t>​</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C. </a:t>
            </a:r>
            <mc:AlternateContent xmlns:mc="http://schemas.openxmlformats.org/markup-compatibility/2006" xmlns:a14="http://schemas.microsoft.com/office/drawing/2010/main">
              <mc:Choice Requires="a14">
                <a14:m>
                  <m:oMath xmlns:m="http://schemas.openxmlformats.org/officeDocument/2006/math">
                    <m:r>
                      <m:rPr>
                        <m:sty m:val="p"/>
                      </m:rPr>
                      <m:t>−</m:t>
                    </m:r>
                    <m:sSup>
                      <m:e>
                        <m:r>
                          <m:rPr>
                            <m:sty m:val="p"/>
                          </m:rPr>
                          <m:t>csc</m:t>
                        </m:r>
                      </m:e>
                      <m:sup>
                        <m:r>
                          <m:rPr>
                            <m:sty m:val="p"/>
                          </m:rPr>
                          <m:t>−</m:t>
                        </m:r>
                        <m:r>
                          <m:t>1</m:t>
                        </m:r>
                      </m:sup>
                    </m:sSup>
                    <m:r>
                      <m:t>x</m:t>
                    </m:r>
                    <m:r>
                      <m:rPr>
                        <m:sty m:val="p"/>
                      </m:rPr>
                      <m:t>+</m:t>
                    </m:r>
                    <m:r>
                      <m:t>C</m:t>
                    </m:r>
                  </m:oMath>
                </a14:m>
              </mc:Choice>
            </mc:AlternateContent>
            <a:r>
              <a:rPr lang="en-US" sz="1600">
                <a:solidFill>
                  <a:srgbClr val="F0F0F0"/>
                </a:solidFill>
                <a:latin typeface="Arial"/>
              </a:rPr>
              <a:t>​</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D. </a:t>
            </a:r>
            <mc:AlternateContent xmlns:mc="http://schemas.openxmlformats.org/markup-compatibility/2006" xmlns:a14="http://schemas.microsoft.com/office/drawing/2010/main">
              <mc:Choice Requires="a14">
                <a14:m>
                  <m:oMath xmlns:m="http://schemas.openxmlformats.org/officeDocument/2006/math">
                    <m:sSup>
                      <m:e>
                        <m:r>
                          <m:rPr>
                            <m:sty m:val="p"/>
                          </m:rPr>
                          <m:t>cot</m:t>
                        </m:r>
                      </m:e>
                      <m:sup>
                        <m:r>
                          <m:rPr>
                            <m:sty m:val="p"/>
                          </m:rPr>
                          <m:t>−</m:t>
                        </m:r>
                        <m:r>
                          <m:t>1</m:t>
                        </m:r>
                      </m:sup>
                    </m:sSup>
                    <m:r>
                      <m:t>x</m:t>
                    </m:r>
                    <m:r>
                      <m:rPr>
                        <m:sty m:val="p"/>
                      </m:rPr>
                      <m:t>+</m:t>
                    </m:r>
                    <m:r>
                      <m:t>C</m:t>
                    </m:r>
                  </m:oMath>
                </a14:m>
              </mc:Choice>
            </mc:AlternateContent>
            <a:r>
              <a:rPr lang="en-US" sz="1600">
                <a:solidFill>
                  <a:srgbClr val="F0F0F0"/>
                </a:solidFill>
                <a:latin typeface="Arial"/>
              </a:rPr>
              <a:t>​</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2026M</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defRPr sz="1800" b="1">
                <a:solidFill>
                  <a:srgbClr val="FAD02C"/>
                </a:solidFill>
                <a:latin typeface="Arial"/>
              </a:defRPr>
            </a:pPr>
            <mc:AlternateContent xmlns:mc="http://schemas.openxmlformats.org/markup-compatibility/2006" xmlns:a14="http://schemas.microsoft.com/office/drawing/2010/main">
              <mc:Choice Requires="a14">
                <a14:m>
                  <m:oMath xmlns:m="http://schemas.openxmlformats.org/officeDocument/2006/math">
                    <m:r>
                      <m:rPr>
                        <m:sty m:val="p"/>
                      </m:rPr>
                      <m:t>∫</m:t>
                    </m:r>
                    <m:f>
                      <m:fPr>
                        <m:type m:val="bar"/>
                      </m:fPr>
                      <m:num>
                        <m:r>
                          <m:t>2</m:t>
                        </m:r>
                        <m:r>
                          <m:rPr>
                            <m:sty m:val="p"/>
                          </m:rPr>
                          <m:t>−</m:t>
                        </m:r>
                        <m:r>
                          <m:t>3</m:t>
                        </m:r>
                        <m:r>
                          <m:rPr>
                            <m:sty m:val="p"/>
                          </m:rPr>
                          <m:t>sin</m:t>
                        </m:r>
                        <m:r>
                          <m:t>x</m:t>
                        </m:r>
                      </m:num>
                      <m:den>
                        <m:sSup>
                          <m:e>
                            <m:r>
                              <m:rPr>
                                <m:sty m:val="p"/>
                              </m:rPr>
                              <m:t>cos</m:t>
                            </m:r>
                          </m:e>
                          <m:sup>
                            <m:r>
                              <m:t>2</m:t>
                            </m:r>
                          </m:sup>
                        </m:sSup>
                        <m:r>
                          <m:t>x</m:t>
                        </m:r>
                      </m:den>
                    </m:f>
                  </m:oMath>
                </a14:m>
              </mc:Choice>
            </mc:AlternateContent>
            <a:r>
              <a:rPr lang="en-US" sz="1800" b="1">
                <a:solidFill>
                  <a:srgbClr val="FAD02C"/>
                </a:solidFill>
                <a:latin typeface="Arial"/>
              </a:rPr>
              <a:t> </a:t>
            </a:r>
            <a:r>
              <a:rPr lang="en-US" sz="1800" b="1">
                <a:solidFill>
                  <a:srgbClr val="FAD02C"/>
                </a:solidFill>
                <a:latin typeface="Arial"/>
              </a:rPr>
              <a:t>dx =</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A. </a:t>
            </a:r>
            <mc:AlternateContent xmlns:mc="http://schemas.openxmlformats.org/markup-compatibility/2006" xmlns:a14="http://schemas.microsoft.com/office/drawing/2010/main">
              <mc:Choice Requires="a14">
                <a14:m>
                  <m:oMath xmlns:m="http://schemas.openxmlformats.org/officeDocument/2006/math">
                    <m:r>
                      <m:t>2</m:t>
                    </m:r>
                    <m:r>
                      <m:rPr>
                        <m:sty m:val="p"/>
                      </m:rPr>
                      <m:t>tan</m:t>
                    </m:r>
                    <m:r>
                      <m:t>x</m:t>
                    </m:r>
                    <m:r>
                      <m:rPr>
                        <m:sty m:val="p"/>
                      </m:rPr>
                      <m:t>−</m:t>
                    </m:r>
                    <m:r>
                      <m:t>3</m:t>
                    </m:r>
                    <m:r>
                      <m:rPr>
                        <m:sty m:val="p"/>
                      </m:rPr>
                      <m:t>sec</m:t>
                    </m:r>
                    <m:r>
                      <m:t>x</m:t>
                    </m:r>
                    <m:r>
                      <m:rPr>
                        <m:sty m:val="p"/>
                      </m:rPr>
                      <m:t>+</m:t>
                    </m:r>
                    <m:r>
                      <m:t>c</m:t>
                    </m:r>
                  </m:oMath>
                </a14:m>
              </mc:Choice>
            </mc:AlternateContent>
            <a:r>
              <a:rPr lang="en-US" sz="1600">
                <a:solidFill>
                  <a:srgbClr val="F0F0F0"/>
                </a:solidFill>
                <a:latin typeface="Arial"/>
              </a:rPr>
              <a:t>​</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B. </a:t>
            </a:r>
            <mc:AlternateContent xmlns:mc="http://schemas.openxmlformats.org/markup-compatibility/2006" xmlns:a14="http://schemas.microsoft.com/office/drawing/2010/main">
              <mc:Choice Requires="a14">
                <a14:m>
                  <m:oMath xmlns:m="http://schemas.openxmlformats.org/officeDocument/2006/math">
                    <m:r>
                      <m:t>2</m:t>
                    </m:r>
                    <m:r>
                      <m:rPr>
                        <m:sty m:val="p"/>
                      </m:rPr>
                      <m:t>tan</m:t>
                    </m:r>
                    <m:r>
                      <m:t>x</m:t>
                    </m:r>
                    <m:r>
                      <m:rPr>
                        <m:sty m:val="p"/>
                      </m:rPr>
                      <m:t>+</m:t>
                    </m:r>
                    <m:r>
                      <m:t>3</m:t>
                    </m:r>
                    <m:r>
                      <m:rPr>
                        <m:sty m:val="p"/>
                      </m:rPr>
                      <m:t>sec</m:t>
                    </m:r>
                    <m:r>
                      <m:t>x</m:t>
                    </m:r>
                    <m:r>
                      <m:rPr>
                        <m:sty m:val="p"/>
                      </m:rPr>
                      <m:t>+</m:t>
                    </m:r>
                    <m:r>
                      <m:t>c</m:t>
                    </m:r>
                  </m:oMath>
                </a14:m>
              </mc:Choice>
            </mc:AlternateContent>
            <a:r>
              <a:rPr lang="en-US" sz="1600">
                <a:solidFill>
                  <a:srgbClr val="F0F0F0"/>
                </a:solidFill>
                <a:latin typeface="Arial"/>
              </a:rPr>
              <a:t>​</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C. </a:t>
            </a:r>
            <mc:AlternateContent xmlns:mc="http://schemas.openxmlformats.org/markup-compatibility/2006" xmlns:a14="http://schemas.microsoft.com/office/drawing/2010/main">
              <mc:Choice Requires="a14">
                <a14:m>
                  <m:oMath xmlns:m="http://schemas.openxmlformats.org/officeDocument/2006/math">
                    <m:r>
                      <m:t>2</m:t>
                    </m:r>
                    <m:r>
                      <m:rPr>
                        <m:sty m:val="p"/>
                      </m:rPr>
                      <m:t>tan</m:t>
                    </m:r>
                    <m:r>
                      <m:t>x</m:t>
                    </m:r>
                    <m:r>
                      <m:rPr>
                        <m:sty m:val="p"/>
                      </m:rPr>
                      <m:t>−</m:t>
                    </m:r>
                    <m:r>
                      <m:t>2</m:t>
                    </m:r>
                    <m:r>
                      <m:rPr>
                        <m:sty m:val="p"/>
                      </m:rPr>
                      <m:t>sec</m:t>
                    </m:r>
                    <m:r>
                      <m:t>x</m:t>
                    </m:r>
                    <m:r>
                      <m:rPr>
                        <m:sty m:val="p"/>
                      </m:rPr>
                      <m:t>+</m:t>
                    </m:r>
                    <m:r>
                      <m:t>c</m:t>
                    </m:r>
                  </m:oMath>
                </a14:m>
              </mc:Choice>
            </mc:AlternateContent>
            <a:r>
              <a:rPr lang="en-US" sz="1600">
                <a:solidFill>
                  <a:srgbClr val="F0F0F0"/>
                </a:solidFill>
                <a:latin typeface="Arial"/>
              </a:rPr>
              <a:t>​</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D. </a:t>
            </a:r>
            <mc:AlternateContent xmlns:mc="http://schemas.openxmlformats.org/markup-compatibility/2006" xmlns:a14="http://schemas.microsoft.com/office/drawing/2010/main">
              <mc:Choice Requires="a14">
                <a14:m>
                  <m:oMath xmlns:m="http://schemas.openxmlformats.org/officeDocument/2006/math">
                    <m:r>
                      <m:t>2</m:t>
                    </m:r>
                    <m:r>
                      <m:rPr>
                        <m:sty m:val="p"/>
                      </m:rPr>
                      <m:t>sec</m:t>
                    </m:r>
                    <m:r>
                      <m:t>x</m:t>
                    </m:r>
                    <m:r>
                      <m:rPr>
                        <m:sty m:val="p"/>
                      </m:rPr>
                      <m:t>−</m:t>
                    </m:r>
                    <m:r>
                      <m:t>3</m:t>
                    </m:r>
                    <m:r>
                      <m:rPr>
                        <m:sty m:val="p"/>
                      </m:rPr>
                      <m:t>tan</m:t>
                    </m:r>
                    <m:r>
                      <m:t>x</m:t>
                    </m:r>
                    <m:r>
                      <m:rPr>
                        <m:sty m:val="p"/>
                      </m:rPr>
                      <m:t>+</m:t>
                    </m:r>
                    <m:r>
                      <m:t>c</m:t>
                    </m:r>
                  </m:oMath>
                </a14:m>
              </mc:Choice>
            </mc:AlternateContent>
            <a:r>
              <a:rPr lang="en-US" sz="1600">
                <a:solidFill>
                  <a:srgbClr val="F0F0F0"/>
                </a:solidFill>
                <a:latin typeface="Arial"/>
              </a:rPr>
              <a:t>​</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1545336"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1380744" cy="402336"/>
          </a:xfrm>
          <a:prstGeom prst="rect">
            <a:avLst/>
          </a:prstGeom>
          <a:noFill/>
        </p:spPr>
        <p:txBody>
          <a:bodyPr wrap="none" anchor="ctr" lIns="0" rIns="0" tIns="0" bIns="0">
            <a:spAutoFit/>
          </a:bodyPr>
          <a:lstStyle/>
          <a:p>
            <a:pPr algn="l"/>
            <a:r>
              <a:rPr sz="1500" b="1">
                <a:solidFill>
                  <a:srgbClr val="FAD02C"/>
                </a:solidFill>
                <a:latin typeface="Arial"/>
              </a:rPr>
              <a:t>2026M,2025-2</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defRPr sz="1800" b="1">
                <a:solidFill>
                  <a:srgbClr val="FAD02C"/>
                </a:solidFill>
                <a:latin typeface="Arial"/>
              </a:defRPr>
            </a:pPr>
            <mc:AlternateContent xmlns:mc="http://schemas.openxmlformats.org/markup-compatibility/2006" xmlns:a14="http://schemas.microsoft.com/office/drawing/2010/main">
              <mc:Choice Requires="a14">
                <a14:m>
                  <m:oMath xmlns:m="http://schemas.openxmlformats.org/officeDocument/2006/math">
                    <m:nary>
                      <m:naryPr>
                        <m:chr m:val="∫"/>
                        <m:limLoc m:val="subSup"/>
                        <m:subHide m:val="off"/>
                        <m:supHide m:val="off"/>
                      </m:naryPr>
                      <m:sub>
                        <m:r>
                          <m:t>1</m:t>
                        </m:r>
                      </m:sub>
                      <m:sup>
                        <m:rad>
                          <m:radPr>
                            <m:degHide m:val="on"/>
                          </m:radPr>
                          <m:deg/>
                          <m:e>
                            <m:r>
                              <m:t>3</m:t>
                            </m:r>
                          </m:e>
                        </m:rad>
                      </m:sup>
                      <m:e>
                        <m:r>
                          <m:t>3</m:t>
                        </m:r>
                      </m:e>
                    </m:nary>
                  </m:oMath>
                </a14:m>
              </mc:Choice>
            </mc:AlternateContent>
            <a:r>
              <a:rPr lang="en-US" sz="1800" b="1">
                <a:solidFill>
                  <a:srgbClr val="FAD02C"/>
                </a:solidFill>
                <a:latin typeface="Arial"/>
              </a:rPr>
              <a:t>​</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A. </a:t>
            </a:r>
            <mc:AlternateContent xmlns:mc="http://schemas.openxmlformats.org/markup-compatibility/2006" xmlns:a14="http://schemas.microsoft.com/office/drawing/2010/main">
              <mc:Choice Requires="a14">
                <a14:m>
                  <m:oMath xmlns:m="http://schemas.openxmlformats.org/officeDocument/2006/math">
                    <m:f>
                      <m:fPr>
                        <m:type m:val="bar"/>
                      </m:fPr>
                      <m:num>
                        <m:r>
                          <m:t>π</m:t>
                        </m:r>
                      </m:num>
                      <m:den>
                        <m:r>
                          <m:t>3</m:t>
                        </m:r>
                      </m:den>
                    </m:f>
                  </m:oMath>
                </a14:m>
              </mc:Choice>
            </mc:AlternateContent>
            <a:r>
              <a:rPr lang="en-US" sz="1600">
                <a:solidFill>
                  <a:srgbClr val="F0F0F0"/>
                </a:solidFill>
                <a:latin typeface="Arial"/>
              </a:rPr>
              <a:t>​</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B. </a:t>
            </a:r>
            <mc:AlternateContent xmlns:mc="http://schemas.openxmlformats.org/markup-compatibility/2006" xmlns:a14="http://schemas.microsoft.com/office/drawing/2010/main">
              <mc:Choice Requires="a14">
                <a14:m>
                  <m:oMath xmlns:m="http://schemas.openxmlformats.org/officeDocument/2006/math">
                    <m:f>
                      <m:fPr>
                        <m:type m:val="bar"/>
                      </m:fPr>
                      <m:num>
                        <m:r>
                          <m:t>2</m:t>
                        </m:r>
                        <m:r>
                          <m:t>π</m:t>
                        </m:r>
                      </m:num>
                      <m:den>
                        <m:r>
                          <m:t>3</m:t>
                        </m:r>
                      </m:den>
                    </m:f>
                  </m:oMath>
                </a14:m>
              </mc:Choice>
            </mc:AlternateContent>
            <a:r>
              <a:rPr lang="en-US" sz="1600">
                <a:solidFill>
                  <a:srgbClr val="F0F0F0"/>
                </a:solidFill>
                <a:latin typeface="Arial"/>
              </a:rPr>
              <a:t>​</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C. </a:t>
            </a:r>
            <mc:AlternateContent xmlns:mc="http://schemas.openxmlformats.org/markup-compatibility/2006" xmlns:a14="http://schemas.microsoft.com/office/drawing/2010/main">
              <mc:Choice Requires="a14">
                <a14:m>
                  <m:oMath xmlns:m="http://schemas.openxmlformats.org/officeDocument/2006/math">
                    <m:f>
                      <m:fPr>
                        <m:type m:val="bar"/>
                      </m:fPr>
                      <m:num>
                        <m:r>
                          <m:t>π</m:t>
                        </m:r>
                      </m:num>
                      <m:den>
                        <m:r>
                          <m:t>6</m:t>
                        </m:r>
                      </m:den>
                    </m:f>
                  </m:oMath>
                </a14:m>
              </mc:Choice>
            </mc:AlternateContent>
            <a:r>
              <a:rPr lang="en-US" sz="1600">
                <a:solidFill>
                  <a:srgbClr val="F0F0F0"/>
                </a:solidFill>
                <a:latin typeface="Arial"/>
              </a:rPr>
              <a:t>​</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D. </a:t>
            </a:r>
            <mc:AlternateContent xmlns:mc="http://schemas.openxmlformats.org/markup-compatibility/2006" xmlns:a14="http://schemas.microsoft.com/office/drawing/2010/main">
              <mc:Choice Requires="a14">
                <a14:m>
                  <m:oMath xmlns:m="http://schemas.openxmlformats.org/officeDocument/2006/math">
                    <m:f>
                      <m:fPr>
                        <m:type m:val="bar"/>
                      </m:fPr>
                      <m:num>
                        <m:r>
                          <m:t>π</m:t>
                        </m:r>
                      </m:num>
                      <m:den>
                        <m:r>
                          <m:t>12</m:t>
                        </m:r>
                      </m:den>
                    </m:f>
                  </m:oMath>
                </a14:m>
              </mc:Choice>
            </mc:AlternateContent>
            <a:r>
              <a:rPr lang="en-US" sz="1600">
                <a:solidFill>
                  <a:srgbClr val="F0F0F0"/>
                </a:solidFill>
                <a:latin typeface="Arial"/>
              </a:rPr>
              <a:t>​</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2026M</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defRPr sz="1800" b="1">
                <a:solidFill>
                  <a:srgbClr val="FAD02C"/>
                </a:solidFill>
                <a:latin typeface="Arial"/>
              </a:defRPr>
            </a:pPr>
            <mc:AlternateContent xmlns:mc="http://schemas.openxmlformats.org/markup-compatibility/2006" xmlns:a14="http://schemas.microsoft.com/office/drawing/2010/main">
              <mc:Choice Requires="a14">
                <a14:m>
                  <m:oMath xmlns:m="http://schemas.openxmlformats.org/officeDocument/2006/math">
                    <m:r>
                      <m:rPr>
                        <m:sty m:val="p"/>
                      </m:rPr>
                      <m:t>∫</m:t>
                    </m:r>
                    <m:f>
                      <m:fPr>
                        <m:type m:val="bar"/>
                      </m:fPr>
                      <m:num>
                        <m:r>
                          <m:t>1</m:t>
                        </m:r>
                        <m:r>
                          <m:rPr>
                            <m:sty m:val="p"/>
                          </m:rPr>
                          <m:t>−</m:t>
                        </m:r>
                        <m:r>
                          <m:t>x</m:t>
                        </m:r>
                      </m:num>
                      <m:den>
                        <m:rad>
                          <m:radPr>
                            <m:degHide m:val="on"/>
                          </m:radPr>
                          <m:deg/>
                          <m:e>
                            <m:r>
                              <m:t>x</m:t>
                            </m:r>
                          </m:e>
                        </m:rad>
                      </m:den>
                    </m:f>
                    <m:r>
                      <m:t> </m:t>
                    </m:r>
                    <m:r>
                      <m:t>d</m:t>
                    </m:r>
                    <m:r>
                      <m:t>x</m:t>
                    </m:r>
                  </m:oMath>
                </a14:m>
              </mc:Choice>
            </mc:AlternateContent>
            <a:r>
              <a:rPr lang="en-US" sz="1800" b="1">
                <a:solidFill>
                  <a:srgbClr val="FAD02C"/>
                </a:solidFill>
                <a:latin typeface="Arial"/>
              </a:rPr>
              <a:t>is</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A. </a:t>
            </a:r>
            <mc:AlternateContent xmlns:mc="http://schemas.openxmlformats.org/markup-compatibility/2006" xmlns:a14="http://schemas.microsoft.com/office/drawing/2010/main">
              <mc:Choice Requires="a14">
                <a14:m>
                  <m:oMath xmlns:m="http://schemas.openxmlformats.org/officeDocument/2006/math">
                    <m:r>
                      <m:t>2</m:t>
                    </m:r>
                    <m:rad>
                      <m:radPr>
                        <m:degHide m:val="on"/>
                      </m:radPr>
                      <m:deg/>
                      <m:e>
                        <m:r>
                          <m:t>x</m:t>
                        </m:r>
                      </m:e>
                    </m:rad>
                    <m:r>
                      <m:rPr>
                        <m:sty m:val="p"/>
                      </m:rPr>
                      <m:t>+</m:t>
                    </m:r>
                    <m:f>
                      <m:fPr>
                        <m:type m:val="bar"/>
                      </m:fPr>
                      <m:num>
                        <m:r>
                          <m:t>3</m:t>
                        </m:r>
                        <m:sSup>
                          <m:e>
                            <m:r>
                              <m:t>x</m:t>
                            </m:r>
                          </m:e>
                          <m:sup>
                            <m:r>
                              <m:t>3</m:t>
                            </m:r>
                            <m:r>
                              <m:rPr>
                                <m:sty m:val="p"/>
                              </m:rPr>
                              <m:t>/</m:t>
                            </m:r>
                            <m:r>
                              <m:t>2</m:t>
                            </m:r>
                          </m:sup>
                        </m:sSup>
                      </m:num>
                      <m:den>
                        <m:r>
                          <m:t>2</m:t>
                        </m:r>
                      </m:den>
                    </m:f>
                    <m:r>
                      <m:rPr>
                        <m:sty m:val="p"/>
                      </m:rPr>
                      <m:t>+</m:t>
                    </m:r>
                    <m:r>
                      <m:t>C</m:t>
                    </m:r>
                  </m:oMath>
                </a14:m>
              </mc:Choice>
            </mc:AlternateContent>
            <a:r>
              <a:rPr lang="en-US" sz="1600">
                <a:solidFill>
                  <a:srgbClr val="F0F0F0"/>
                </a:solidFill>
                <a:latin typeface="Arial"/>
              </a:rPr>
              <a:t>​</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B. </a:t>
            </a:r>
            <mc:AlternateContent xmlns:mc="http://schemas.openxmlformats.org/markup-compatibility/2006" xmlns:a14="http://schemas.microsoft.com/office/drawing/2010/main">
              <mc:Choice Requires="a14">
                <a14:m>
                  <m:oMath xmlns:m="http://schemas.openxmlformats.org/officeDocument/2006/math">
                    <m:r>
                      <m:t>2</m:t>
                    </m:r>
                    <m:rad>
                      <m:radPr>
                        <m:degHide m:val="on"/>
                      </m:radPr>
                      <m:deg/>
                      <m:e>
                        <m:r>
                          <m:t>x</m:t>
                        </m:r>
                      </m:e>
                    </m:rad>
                    <m:r>
                      <m:rPr>
                        <m:sty m:val="p"/>
                      </m:rPr>
                      <m:t>−</m:t>
                    </m:r>
                    <m:f>
                      <m:fPr>
                        <m:type m:val="bar"/>
                      </m:fPr>
                      <m:num>
                        <m:r>
                          <m:t>2</m:t>
                        </m:r>
                        <m:sSup>
                          <m:e>
                            <m:r>
                              <m:t>x</m:t>
                            </m:r>
                          </m:e>
                          <m:sup>
                            <m:r>
                              <m:t>3</m:t>
                            </m:r>
                            <m:r>
                              <m:rPr>
                                <m:sty m:val="p"/>
                              </m:rPr>
                              <m:t>/</m:t>
                            </m:r>
                            <m:r>
                              <m:t>2</m:t>
                            </m:r>
                          </m:sup>
                        </m:sSup>
                      </m:num>
                      <m:den>
                        <m:r>
                          <m:t>3</m:t>
                        </m:r>
                      </m:den>
                    </m:f>
                    <m:r>
                      <m:rPr>
                        <m:sty m:val="p"/>
                      </m:rPr>
                      <m:t>+</m:t>
                    </m:r>
                    <m:r>
                      <m:t>C</m:t>
                    </m:r>
                  </m:oMath>
                </a14:m>
              </mc:Choice>
            </mc:AlternateContent>
            <a:r>
              <a:rPr lang="en-US" sz="1600">
                <a:solidFill>
                  <a:srgbClr val="F0F0F0"/>
                </a:solidFill>
                <a:latin typeface="Arial"/>
              </a:rPr>
              <a:t>​</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C. </a:t>
            </a:r>
            <mc:AlternateContent xmlns:mc="http://schemas.openxmlformats.org/markup-compatibility/2006" xmlns:a14="http://schemas.microsoft.com/office/drawing/2010/main">
              <mc:Choice Requires="a14">
                <a14:m>
                  <m:oMath xmlns:m="http://schemas.openxmlformats.org/officeDocument/2006/math">
                    <m:r>
                      <m:t>2</m:t>
                    </m:r>
                    <m:rad>
                      <m:radPr>
                        <m:degHide m:val="on"/>
                      </m:radPr>
                      <m:deg/>
                      <m:e>
                        <m:r>
                          <m:t>x</m:t>
                        </m:r>
                      </m:e>
                    </m:rad>
                    <m:r>
                      <m:rPr>
                        <m:sty m:val="p"/>
                      </m:rPr>
                      <m:t>+</m:t>
                    </m:r>
                    <m:f>
                      <m:fPr>
                        <m:type m:val="bar"/>
                      </m:fPr>
                      <m:num>
                        <m:r>
                          <m:t>2</m:t>
                        </m:r>
                        <m:sSup>
                          <m:e>
                            <m:r>
                              <m:t>x</m:t>
                            </m:r>
                          </m:e>
                          <m:sup>
                            <m:r>
                              <m:t>3</m:t>
                            </m:r>
                            <m:r>
                              <m:rPr>
                                <m:sty m:val="p"/>
                              </m:rPr>
                              <m:t>/</m:t>
                            </m:r>
                            <m:r>
                              <m:t>2</m:t>
                            </m:r>
                          </m:sup>
                        </m:sSup>
                      </m:num>
                      <m:den>
                        <m:r>
                          <m:t>3</m:t>
                        </m:r>
                      </m:den>
                    </m:f>
                    <m:r>
                      <m:rPr>
                        <m:sty m:val="p"/>
                      </m:rPr>
                      <m:t>+</m:t>
                    </m:r>
                    <m:r>
                      <m:t>C</m:t>
                    </m:r>
                  </m:oMath>
                </a14:m>
              </mc:Choice>
            </mc:AlternateContent>
            <a:r>
              <a:rPr lang="en-US" sz="1600">
                <a:solidFill>
                  <a:srgbClr val="F0F0F0"/>
                </a:solidFill>
                <a:latin typeface="Arial"/>
              </a:rPr>
              <a:t>​</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D. </a:t>
            </a:r>
            <mc:AlternateContent xmlns:mc="http://schemas.openxmlformats.org/markup-compatibility/2006" xmlns:a14="http://schemas.microsoft.com/office/drawing/2010/main">
              <mc:Choice Requires="a14">
                <a14:m>
                  <m:oMath xmlns:m="http://schemas.openxmlformats.org/officeDocument/2006/math">
                    <m:r>
                      <m:t>2</m:t>
                    </m:r>
                    <m:rad>
                      <m:radPr>
                        <m:degHide m:val="on"/>
                      </m:radPr>
                      <m:deg/>
                      <m:e>
                        <m:r>
                          <m:t>x</m:t>
                        </m:r>
                      </m:e>
                    </m:rad>
                    <m:r>
                      <m:rPr>
                        <m:sty m:val="p"/>
                      </m:rPr>
                      <m:t>−</m:t>
                    </m:r>
                    <m:f>
                      <m:fPr>
                        <m:type m:val="bar"/>
                      </m:fPr>
                      <m:num>
                        <m:r>
                          <m:t>3</m:t>
                        </m:r>
                        <m:sSup>
                          <m:e>
                            <m:r>
                              <m:t>x</m:t>
                            </m:r>
                          </m:e>
                          <m:sup>
                            <m:r>
                              <m:t>3</m:t>
                            </m:r>
                            <m:r>
                              <m:rPr>
                                <m:sty m:val="p"/>
                              </m:rPr>
                              <m:t>/</m:t>
                            </m:r>
                            <m:r>
                              <m:t>2</m:t>
                            </m:r>
                          </m:sup>
                        </m:sSup>
                      </m:num>
                      <m:den>
                        <m:r>
                          <m:t>2</m:t>
                        </m:r>
                      </m:den>
                    </m:f>
                    <m:r>
                      <m:rPr>
                        <m:sty m:val="p"/>
                      </m:rPr>
                      <m:t>+</m:t>
                    </m:r>
                    <m:r>
                      <m:t>C</m:t>
                    </m:r>
                  </m:oMath>
                </a14:m>
              </mc:Choice>
            </mc:AlternateContent>
            <a:r>
              <a:rPr lang="en-US" sz="1600">
                <a:solidFill>
                  <a:srgbClr val="F0F0F0"/>
                </a:solidFill>
                <a:latin typeface="Arial"/>
              </a:rPr>
              <a:t>​</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2026M</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defRPr sz="1800" b="1">
                <a:solidFill>
                  <a:srgbClr val="FAD02C"/>
                </a:solidFill>
                <a:latin typeface="Arial"/>
              </a:defRPr>
            </a:pPr>
            <mc:AlternateContent xmlns:mc="http://schemas.openxmlformats.org/markup-compatibility/2006" xmlns:a14="http://schemas.microsoft.com/office/drawing/2010/main">
              <mc:Choice Requires="a14">
                <a14:m>
                  <m:oMath xmlns:m="http://schemas.openxmlformats.org/officeDocument/2006/math">
                    <m:nary>
                      <m:naryPr>
                        <m:chr m:val="∫"/>
                        <m:limLoc m:val="subSup"/>
                        <m:subHide m:val="off"/>
                        <m:supHide m:val="off"/>
                      </m:naryPr>
                      <m:sub>
                        <m:r>
                          <m:t>0</m:t>
                        </m:r>
                      </m:sub>
                      <m:sup>
                        <m:r>
                          <m:t>π</m:t>
                        </m:r>
                      </m:sup>
                      <m:e>
                        <m:r>
                          <m:rPr>
                            <m:sty m:val="p"/>
                          </m:rPr>
                          <m:t>(</m:t>
                        </m:r>
                      </m:e>
                    </m:nary>
                    <m:sSup>
                      <m:e>
                        <m:r>
                          <m:rPr>
                            <m:sty m:val="p"/>
                          </m:rPr>
                          <m:t>sin</m:t>
                        </m:r>
                      </m:e>
                      <m:sup>
                        <m:r>
                          <m:t>2</m:t>
                        </m:r>
                      </m:sup>
                    </m:sSup>
                    <m:f>
                      <m:fPr>
                        <m:type m:val="bar"/>
                      </m:fPr>
                      <m:num>
                        <m:r>
                          <m:t>x</m:t>
                        </m:r>
                      </m:num>
                      <m:den>
                        <m:r>
                          <m:t>2</m:t>
                        </m:r>
                      </m:den>
                    </m:f>
                    <m:r>
                      <m:rPr>
                        <m:sty m:val="p"/>
                      </m:rPr>
                      <m:t>−</m:t>
                    </m:r>
                    <m:sSup>
                      <m:e>
                        <m:r>
                          <m:rPr>
                            <m:sty m:val="p"/>
                          </m:rPr>
                          <m:t>cos</m:t>
                        </m:r>
                      </m:e>
                      <m:sup>
                        <m:r>
                          <m:t>2</m:t>
                        </m:r>
                      </m:sup>
                    </m:sSup>
                    <m:f>
                      <m:fPr>
                        <m:type m:val="bar"/>
                      </m:fPr>
                      <m:num>
                        <m:r>
                          <m:t>x</m:t>
                        </m:r>
                      </m:num>
                      <m:den>
                        <m:r>
                          <m:t>2</m:t>
                        </m:r>
                      </m:den>
                    </m:f>
                    <m:r>
                      <m:rPr>
                        <m:sty m:val="p"/>
                      </m:rPr>
                      <m:t>)</m:t>
                    </m:r>
                    <m:r>
                      <m:t> </m:t>
                    </m:r>
                    <m:r>
                      <m:t>d</m:t>
                    </m:r>
                    <m:r>
                      <m:t>x</m:t>
                    </m:r>
                    <m:r>
                      <m:rPr>
                        <m:sty m:val="p"/>
                      </m:rPr>
                      <m:t>=</m:t>
                    </m:r>
                  </m:oMath>
                </a14:m>
              </mc:Choice>
            </mc:AlternateContent>
            <a:r>
              <a:rPr lang="en-US" sz="1800" b="1">
                <a:solidFill>
                  <a:srgbClr val="FAD02C"/>
                </a:solidFill>
                <a:latin typeface="Arial"/>
              </a:rPr>
              <a:t>​</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0</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1</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–1</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–2</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1380744"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1216152" cy="402336"/>
          </a:xfrm>
          <a:prstGeom prst="rect">
            <a:avLst/>
          </a:prstGeom>
          <a:noFill/>
        </p:spPr>
        <p:txBody>
          <a:bodyPr wrap="none" anchor="ctr" lIns="0" rIns="0" tIns="0" bIns="0">
            <a:spAutoFit/>
          </a:bodyPr>
          <a:lstStyle/>
          <a:p>
            <a:pPr algn="l"/>
            <a:r>
              <a:rPr sz="1500" b="1">
                <a:solidFill>
                  <a:srgbClr val="FAD02C"/>
                </a:solidFill>
                <a:latin typeface="Arial"/>
              </a:rPr>
              <a:t>2024,2026M</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defRPr sz="1800" b="1">
                <a:solidFill>
                  <a:srgbClr val="FAD02C"/>
                </a:solidFill>
                <a:latin typeface="Arial"/>
              </a:defRPr>
            </a:pPr>
            <mc:AlternateContent xmlns:mc="http://schemas.openxmlformats.org/markup-compatibility/2006" xmlns:a14="http://schemas.microsoft.com/office/drawing/2010/main">
              <mc:Choice Requires="a14">
                <a14:m>
                  <m:oMath xmlns:m="http://schemas.openxmlformats.org/officeDocument/2006/math">
                    <m:r>
                      <m:rPr>
                        <m:sty m:val="p"/>
                      </m:rPr>
                      <m:t>∫</m:t>
                    </m:r>
                    <m:sSup>
                      <m:e>
                        <m:r>
                          <m:t>e</m:t>
                        </m:r>
                      </m:e>
                      <m:sup>
                        <m:r>
                          <m:t>x</m:t>
                        </m:r>
                      </m:sup>
                    </m:sSup>
                    <m:r>
                      <m:rPr>
                        <m:sty m:val="p"/>
                      </m:rPr>
                      <m:t>sec</m:t>
                    </m:r>
                    <m:r>
                      <m:t>x</m:t>
                    </m:r>
                    <m:r>
                      <m:rPr>
                        <m:sty m:val="p"/>
                      </m:rPr>
                      <m:t>(</m:t>
                    </m:r>
                    <m:r>
                      <m:t>1</m:t>
                    </m:r>
                    <m:r>
                      <m:rPr>
                        <m:sty m:val="p"/>
                      </m:rPr>
                      <m:t>+</m:t>
                    </m:r>
                    <m:r>
                      <m:rPr>
                        <m:sty m:val="p"/>
                      </m:rPr>
                      <m:t>tan</m:t>
                    </m:r>
                    <m:r>
                      <m:t>x</m:t>
                    </m:r>
                    <m:r>
                      <m:rPr>
                        <m:sty m:val="p"/>
                      </m:rPr>
                      <m:t>)</m:t>
                    </m:r>
                    <m:r>
                      <m:t> </m:t>
                    </m:r>
                    <m:r>
                      <m:t>d</m:t>
                    </m:r>
                    <m:r>
                      <m:t>x</m:t>
                    </m:r>
                    <m:r>
                      <m:rPr>
                        <m:sty m:val="p"/>
                      </m:rPr>
                      <m:t>=</m:t>
                    </m:r>
                  </m:oMath>
                </a14:m>
              </mc:Choice>
            </mc:AlternateContent>
            <a:r>
              <a:rPr lang="en-US" sz="1800" b="1">
                <a:solidFill>
                  <a:srgbClr val="FAD02C"/>
                </a:solidFill>
                <a:latin typeface="Arial"/>
              </a:rPr>
              <a:t>​</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A. </a:t>
            </a:r>
            <mc:AlternateContent xmlns:mc="http://schemas.openxmlformats.org/markup-compatibility/2006" xmlns:a14="http://schemas.microsoft.com/office/drawing/2010/main">
              <mc:Choice Requires="a14">
                <a14:m>
                  <m:oMath xmlns:m="http://schemas.openxmlformats.org/officeDocument/2006/math">
                    <m:sSup>
                      <m:e>
                        <m:r>
                          <m:t>e</m:t>
                        </m:r>
                      </m:e>
                      <m:sup>
                        <m:r>
                          <m:t>x</m:t>
                        </m:r>
                      </m:sup>
                    </m:sSup>
                    <m:r>
                      <m:rPr>
                        <m:sty m:val="p"/>
                      </m:rPr>
                      <m:t>sec</m:t>
                    </m:r>
                    <m:r>
                      <m:t>x</m:t>
                    </m:r>
                    <m:r>
                      <m:rPr>
                        <m:sty m:val="p"/>
                      </m:rPr>
                      <m:t>+</m:t>
                    </m:r>
                    <m:r>
                      <m:t>c</m:t>
                    </m:r>
                  </m:oMath>
                </a14:m>
              </mc:Choice>
            </mc:AlternateContent>
            <a:r>
              <a:rPr lang="en-US" sz="1600">
                <a:solidFill>
                  <a:srgbClr val="F0F0F0"/>
                </a:solidFill>
                <a:latin typeface="Arial"/>
              </a:rPr>
              <a:t>​</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B. </a:t>
            </a:r>
            <mc:AlternateContent xmlns:mc="http://schemas.openxmlformats.org/markup-compatibility/2006" xmlns:a14="http://schemas.microsoft.com/office/drawing/2010/main">
              <mc:Choice Requires="a14">
                <a14:m>
                  <m:oMath xmlns:m="http://schemas.openxmlformats.org/officeDocument/2006/math">
                    <m:sSup>
                      <m:e>
                        <m:r>
                          <m:t>e</m:t>
                        </m:r>
                      </m:e>
                      <m:sup>
                        <m:r>
                          <m:t>x</m:t>
                        </m:r>
                      </m:sup>
                    </m:sSup>
                    <m:sSup>
                      <m:e>
                        <m:r>
                          <m:rPr>
                            <m:sty m:val="p"/>
                          </m:rPr>
                          <m:t>sec</m:t>
                        </m:r>
                      </m:e>
                      <m:sup>
                        <m:r>
                          <m:t>2</m:t>
                        </m:r>
                      </m:sup>
                    </m:sSup>
                    <m:r>
                      <m:t>x</m:t>
                    </m:r>
                    <m:r>
                      <m:rPr>
                        <m:sty m:val="p"/>
                      </m:rPr>
                      <m:t>+</m:t>
                    </m:r>
                    <m:r>
                      <m:t>c</m:t>
                    </m:r>
                  </m:oMath>
                </a14:m>
              </mc:Choice>
            </mc:AlternateContent>
            <a:r>
              <a:rPr lang="en-US" sz="1600">
                <a:solidFill>
                  <a:srgbClr val="F0F0F0"/>
                </a:solidFill>
                <a:latin typeface="Arial"/>
              </a:rPr>
              <a:t>​</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C. </a:t>
            </a:r>
            <mc:AlternateContent xmlns:mc="http://schemas.openxmlformats.org/markup-compatibility/2006" xmlns:a14="http://schemas.microsoft.com/office/drawing/2010/main">
              <mc:Choice Requires="a14">
                <a14:m>
                  <m:oMath xmlns:m="http://schemas.openxmlformats.org/officeDocument/2006/math">
                    <m:sSup>
                      <m:e>
                        <m:r>
                          <m:t>e</m:t>
                        </m:r>
                      </m:e>
                      <m:sup>
                        <m:r>
                          <m:t>x</m:t>
                        </m:r>
                      </m:sup>
                    </m:sSup>
                    <m:r>
                      <m:rPr>
                        <m:sty m:val="p"/>
                      </m:rPr>
                      <m:t>tan</m:t>
                    </m:r>
                    <m:r>
                      <m:t>x</m:t>
                    </m:r>
                    <m:r>
                      <m:rPr>
                        <m:sty m:val="p"/>
                      </m:rPr>
                      <m:t>+</m:t>
                    </m:r>
                    <m:r>
                      <m:t>c</m:t>
                    </m:r>
                  </m:oMath>
                </a14:m>
              </mc:Choice>
            </mc:AlternateContent>
            <a:r>
              <a:rPr lang="en-US" sz="1600">
                <a:solidFill>
                  <a:srgbClr val="F0F0F0"/>
                </a:solidFill>
                <a:latin typeface="Arial"/>
              </a:rPr>
              <a:t>​</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D. </a:t>
            </a:r>
            <mc:AlternateContent xmlns:mc="http://schemas.openxmlformats.org/markup-compatibility/2006" xmlns:a14="http://schemas.microsoft.com/office/drawing/2010/main">
              <mc:Choice Requires="a14">
                <a14:m>
                  <m:oMath xmlns:m="http://schemas.openxmlformats.org/officeDocument/2006/math">
                    <m:sSup>
                      <m:e>
                        <m:r>
                          <m:t>e</m:t>
                        </m:r>
                      </m:e>
                      <m:sup>
                        <m:r>
                          <m:t>x</m:t>
                        </m:r>
                      </m:sup>
                    </m:sSup>
                    <m:r>
                      <m:rPr>
                        <m:sty m:val="p"/>
                      </m:rPr>
                      <m:t>(</m:t>
                    </m:r>
                    <m:r>
                      <m:t>1</m:t>
                    </m:r>
                    <m:r>
                      <m:rPr>
                        <m:sty m:val="p"/>
                      </m:rPr>
                      <m:t>+</m:t>
                    </m:r>
                    <m:r>
                      <m:rPr>
                        <m:sty m:val="p"/>
                      </m:rPr>
                      <m:t>tan</m:t>
                    </m:r>
                    <m:r>
                      <m:t>x</m:t>
                    </m:r>
                    <m:r>
                      <m:rPr>
                        <m:sty m:val="p"/>
                      </m:rPr>
                      <m:t>)</m:t>
                    </m:r>
                    <m:r>
                      <m:rPr>
                        <m:sty m:val="p"/>
                      </m:rPr>
                      <m:t>+</m:t>
                    </m:r>
                    <m:r>
                      <m:t>c</m:t>
                    </m:r>
                  </m:oMath>
                </a14:m>
              </mc:Choice>
            </mc:AlternateContent>
            <a:r>
              <a:rPr lang="en-US" sz="1600">
                <a:solidFill>
                  <a:srgbClr val="F0F0F0"/>
                </a:solidFill>
                <a:latin typeface="Arial"/>
              </a:rPr>
              <a:t>​</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2026M</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defRPr sz="1800" b="1">
                <a:solidFill>
                  <a:srgbClr val="FAD02C"/>
                </a:solidFill>
                <a:latin typeface="Arial"/>
              </a:defRPr>
            </a:pPr>
            <mc:AlternateContent xmlns:mc="http://schemas.openxmlformats.org/markup-compatibility/2006" xmlns:a14="http://schemas.microsoft.com/office/drawing/2010/main">
              <mc:Choice Requires="a14">
                <a14:m>
                  <m:oMath xmlns:m="http://schemas.openxmlformats.org/officeDocument/2006/math">
                    <m:r>
                      <m:rPr>
                        <m:sty m:val="p"/>
                      </m:rPr>
                      <m:t>∫</m:t>
                    </m:r>
                    <m:r>
                      <m:t>x</m:t>
                    </m:r>
                    <m:r>
                      <m:rPr>
                        <m:sty m:val="p"/>
                      </m:rPr>
                      <m:t>cos</m:t>
                    </m:r>
                    <m:r>
                      <m:t>x</m:t>
                    </m:r>
                    <m:r>
                      <m:t> </m:t>
                    </m:r>
                    <m:r>
                      <m:t>d</m:t>
                    </m:r>
                    <m:r>
                      <m:t>x</m:t>
                    </m:r>
                    <m:r>
                      <m:rPr>
                        <m:sty m:val="p"/>
                      </m:rPr>
                      <m:t>=</m:t>
                    </m:r>
                  </m:oMath>
                </a14:m>
              </mc:Choice>
            </mc:AlternateContent>
            <a:r>
              <a:rPr lang="en-US" sz="1800" b="1">
                <a:solidFill>
                  <a:srgbClr val="FAD02C"/>
                </a:solidFill>
                <a:latin typeface="Arial"/>
              </a:rPr>
              <a:t>​</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A. </a:t>
            </a:r>
            <mc:AlternateContent xmlns:mc="http://schemas.openxmlformats.org/markup-compatibility/2006" xmlns:a14="http://schemas.microsoft.com/office/drawing/2010/main">
              <mc:Choice Requires="a14">
                <a14:m>
                  <m:oMath xmlns:m="http://schemas.openxmlformats.org/officeDocument/2006/math">
                    <m:r>
                      <m:rPr>
                        <m:sty m:val="p"/>
                      </m:rPr>
                      <m:t>−</m:t>
                    </m:r>
                    <m:r>
                      <m:t>x</m:t>
                    </m:r>
                    <m:r>
                      <m:rPr>
                        <m:sty m:val="p"/>
                      </m:rPr>
                      <m:t>sin</m:t>
                    </m:r>
                    <m:r>
                      <m:t>x</m:t>
                    </m:r>
                    <m:r>
                      <m:rPr>
                        <m:sty m:val="p"/>
                      </m:rPr>
                      <m:t>+</m:t>
                    </m:r>
                    <m:r>
                      <m:rPr>
                        <m:sty m:val="p"/>
                      </m:rPr>
                      <m:t>cos</m:t>
                    </m:r>
                    <m:r>
                      <m:t>x</m:t>
                    </m:r>
                    <m:r>
                      <m:rPr>
                        <m:sty m:val="p"/>
                      </m:rPr>
                      <m:t>+</m:t>
                    </m:r>
                    <m:r>
                      <m:t>c</m:t>
                    </m:r>
                  </m:oMath>
                </a14:m>
              </mc:Choice>
            </mc:AlternateContent>
            <a:r>
              <a:rPr lang="en-US" sz="1600">
                <a:solidFill>
                  <a:srgbClr val="F0F0F0"/>
                </a:solidFill>
                <a:latin typeface="Arial"/>
              </a:rPr>
              <a:t>​</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B. </a:t>
            </a:r>
            <mc:AlternateContent xmlns:mc="http://schemas.openxmlformats.org/markup-compatibility/2006" xmlns:a14="http://schemas.microsoft.com/office/drawing/2010/main">
              <mc:Choice Requires="a14">
                <a14:m>
                  <m:oMath xmlns:m="http://schemas.openxmlformats.org/officeDocument/2006/math">
                    <m:r>
                      <m:t>x</m:t>
                    </m:r>
                    <m:r>
                      <m:rPr>
                        <m:sty m:val="p"/>
                      </m:rPr>
                      <m:t>cos</m:t>
                    </m:r>
                    <m:r>
                      <m:t>x</m:t>
                    </m:r>
                    <m:r>
                      <m:rPr>
                        <m:sty m:val="p"/>
                      </m:rPr>
                      <m:t>−</m:t>
                    </m:r>
                    <m:r>
                      <m:rPr>
                        <m:sty m:val="p"/>
                      </m:rPr>
                      <m:t>sin</m:t>
                    </m:r>
                    <m:r>
                      <m:t>x</m:t>
                    </m:r>
                    <m:r>
                      <m:rPr>
                        <m:sty m:val="p"/>
                      </m:rPr>
                      <m:t>+</m:t>
                    </m:r>
                    <m:r>
                      <m:t>c</m:t>
                    </m:r>
                  </m:oMath>
                </a14:m>
              </mc:Choice>
            </mc:AlternateContent>
            <a:r>
              <a:rPr lang="en-US" sz="1600">
                <a:solidFill>
                  <a:srgbClr val="F0F0F0"/>
                </a:solidFill>
                <a:latin typeface="Arial"/>
              </a:rPr>
              <a:t>​</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C. </a:t>
            </a:r>
            <mc:AlternateContent xmlns:mc="http://schemas.openxmlformats.org/markup-compatibility/2006" xmlns:a14="http://schemas.microsoft.com/office/drawing/2010/main">
              <mc:Choice Requires="a14">
                <a14:m>
                  <m:oMath xmlns:m="http://schemas.openxmlformats.org/officeDocument/2006/math">
                    <m:r>
                      <m:t>x</m:t>
                    </m:r>
                    <m:r>
                      <m:rPr>
                        <m:sty m:val="p"/>
                      </m:rPr>
                      <m:t>sin</m:t>
                    </m:r>
                    <m:r>
                      <m:t>x</m:t>
                    </m:r>
                    <m:r>
                      <m:rPr>
                        <m:sty m:val="p"/>
                      </m:rPr>
                      <m:t>−</m:t>
                    </m:r>
                    <m:r>
                      <m:rPr>
                        <m:sty m:val="p"/>
                      </m:rPr>
                      <m:t>cos</m:t>
                    </m:r>
                    <m:r>
                      <m:t>x</m:t>
                    </m:r>
                    <m:r>
                      <m:rPr>
                        <m:sty m:val="p"/>
                      </m:rPr>
                      <m:t>+</m:t>
                    </m:r>
                    <m:r>
                      <m:t>c</m:t>
                    </m:r>
                  </m:oMath>
                </a14:m>
              </mc:Choice>
            </mc:AlternateContent>
            <a:r>
              <a:rPr lang="en-US" sz="1600">
                <a:solidFill>
                  <a:srgbClr val="F0F0F0"/>
                </a:solidFill>
                <a:latin typeface="Arial"/>
              </a:rPr>
              <a:t>​</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D. </a:t>
            </a:r>
            <mc:AlternateContent xmlns:mc="http://schemas.openxmlformats.org/markup-compatibility/2006" xmlns:a14="http://schemas.microsoft.com/office/drawing/2010/main">
              <mc:Choice Requires="a14">
                <a14:m>
                  <m:oMath xmlns:m="http://schemas.openxmlformats.org/officeDocument/2006/math">
                    <m:r>
                      <m:t>x</m:t>
                    </m:r>
                    <m:r>
                      <m:rPr>
                        <m:sty m:val="p"/>
                      </m:rPr>
                      <m:t>sin</m:t>
                    </m:r>
                    <m:r>
                      <m:t>x</m:t>
                    </m:r>
                    <m:r>
                      <m:rPr>
                        <m:sty m:val="p"/>
                      </m:rPr>
                      <m:t>+</m:t>
                    </m:r>
                    <m:r>
                      <m:rPr>
                        <m:sty m:val="p"/>
                      </m:rPr>
                      <m:t>cos</m:t>
                    </m:r>
                    <m:r>
                      <m:t>x</m:t>
                    </m:r>
                    <m:r>
                      <m:rPr>
                        <m:sty m:val="p"/>
                      </m:rPr>
                      <m:t>+</m:t>
                    </m:r>
                    <m:r>
                      <m:t>c</m:t>
                    </m:r>
                  </m:oMath>
                </a14:m>
              </mc:Choice>
            </mc:AlternateContent>
            <a:r>
              <a:rPr lang="en-US" sz="1600">
                <a:solidFill>
                  <a:srgbClr val="F0F0F0"/>
                </a:solidFill>
                <a:latin typeface="Arial"/>
              </a:rPr>
              <a:t>​</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2026M</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defRPr sz="1800" b="1">
                <a:solidFill>
                  <a:srgbClr val="FAD02C"/>
                </a:solidFill>
                <a:latin typeface="Arial"/>
              </a:defRPr>
            </a:pPr>
            <a:r>
              <a:rPr lang="en-US" sz="1800" b="1">
                <a:solidFill>
                  <a:srgbClr val="FAD02C"/>
                </a:solidFill>
                <a:latin typeface="Arial"/>
              </a:rPr>
              <a:t>The value of</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nary>
                      <m:naryPr>
                        <m:chr m:val="∫"/>
                        <m:limLoc m:val="subSup"/>
                        <m:subHide m:val="off"/>
                        <m:supHide m:val="off"/>
                      </m:naryPr>
                      <m:sub>
                        <m:r>
                          <m:t>0</m:t>
                        </m:r>
                      </m:sub>
                      <m:sup>
                        <m:r>
                          <m:t>π</m:t>
                        </m:r>
                        <m:r>
                          <m:rPr>
                            <m:sty m:val="p"/>
                          </m:rPr>
                          <m:t>/</m:t>
                        </m:r>
                        <m:r>
                          <m:t>3</m:t>
                        </m:r>
                      </m:sup>
                      <m:e>
                        <m:f>
                          <m:fPr>
                            <m:type m:val="bar"/>
                          </m:fPr>
                          <m:num>
                            <m:rad>
                              <m:radPr>
                                <m:degHide m:val="on"/>
                              </m:radPr>
                              <m:deg/>
                              <m:e>
                                <m:r>
                                  <m:t>3</m:t>
                                </m:r>
                              </m:e>
                            </m:rad>
                          </m:num>
                          <m:den>
                            <m:r>
                              <m:t>1</m:t>
                            </m:r>
                            <m:r>
                              <m:rPr>
                                <m:sty m:val="p"/>
                              </m:rPr>
                              <m:t>+</m:t>
                            </m:r>
                            <m:sSup>
                              <m:e>
                                <m:r>
                                  <m:t>x</m:t>
                                </m:r>
                              </m:e>
                              <m:sup>
                                <m:r>
                                  <m:t>2</m:t>
                                </m:r>
                              </m:sup>
                            </m:sSup>
                          </m:den>
                        </m:f>
                      </m:e>
                    </m:nary>
                    <m:r>
                      <m:t> </m:t>
                    </m:r>
                    <m:r>
                      <m:t>d</m:t>
                    </m:r>
                    <m:r>
                      <m:t>x</m:t>
                    </m:r>
                  </m:oMath>
                </a14:m>
              </mc:Choice>
            </mc:AlternateContent>
            <a:r>
              <a:rPr lang="en-US" sz="1800" b="1">
                <a:solidFill>
                  <a:srgbClr val="FAD02C"/>
                </a:solidFill>
                <a:latin typeface="Arial"/>
              </a:rPr>
              <a:t> </a:t>
            </a:r>
            <a:r>
              <a:rPr lang="en-US" sz="1800" b="1">
                <a:solidFill>
                  <a:srgbClr val="FAD02C"/>
                </a:solidFill>
                <a:latin typeface="Arial"/>
              </a:rPr>
              <a:t>is</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A. </a:t>
            </a:r>
            <mc:AlternateContent xmlns:mc="http://schemas.openxmlformats.org/markup-compatibility/2006" xmlns:a14="http://schemas.microsoft.com/office/drawing/2010/main">
              <mc:Choice Requires="a14">
                <a14:m>
                  <m:oMath xmlns:m="http://schemas.openxmlformats.org/officeDocument/2006/math">
                    <m:f>
                      <m:fPr>
                        <m:type m:val="bar"/>
                      </m:fPr>
                      <m:num>
                        <m:r>
                          <m:t>π</m:t>
                        </m:r>
                      </m:num>
                      <m:den>
                        <m:r>
                          <m:t>2</m:t>
                        </m:r>
                      </m:den>
                    </m:f>
                  </m:oMath>
                </a14:m>
              </mc:Choice>
            </mc:AlternateContent>
            <a:r>
              <a:rPr lang="en-US" sz="1600">
                <a:solidFill>
                  <a:srgbClr val="F0F0F0"/>
                </a:solidFill>
                <a:latin typeface="Arial"/>
              </a:rPr>
              <a:t>​</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B. </a:t>
            </a:r>
            <mc:AlternateContent xmlns:mc="http://schemas.openxmlformats.org/markup-compatibility/2006" xmlns:a14="http://schemas.microsoft.com/office/drawing/2010/main">
              <mc:Choice Requires="a14">
                <a14:m>
                  <m:oMath xmlns:m="http://schemas.openxmlformats.org/officeDocument/2006/math">
                    <m:f>
                      <m:fPr>
                        <m:type m:val="bar"/>
                      </m:fPr>
                      <m:num>
                        <m:r>
                          <m:t>π</m:t>
                        </m:r>
                      </m:num>
                      <m:den>
                        <m:r>
                          <m:t>4</m:t>
                        </m:r>
                      </m:den>
                    </m:f>
                  </m:oMath>
                </a14:m>
              </mc:Choice>
            </mc:AlternateContent>
            <a:r>
              <a:rPr lang="en-US" sz="1600">
                <a:solidFill>
                  <a:srgbClr val="F0F0F0"/>
                </a:solidFill>
                <a:latin typeface="Arial"/>
              </a:rPr>
              <a:t>​</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C. </a:t>
            </a:r>
            <mc:AlternateContent xmlns:mc="http://schemas.openxmlformats.org/markup-compatibility/2006" xmlns:a14="http://schemas.microsoft.com/office/drawing/2010/main">
              <mc:Choice Requires="a14">
                <a14:m>
                  <m:oMath xmlns:m="http://schemas.openxmlformats.org/officeDocument/2006/math">
                    <m:f>
                      <m:fPr>
                        <m:type m:val="bar"/>
                      </m:fPr>
                      <m:num>
                        <m:r>
                          <m:t>π</m:t>
                        </m:r>
                      </m:num>
                      <m:den>
                        <m:r>
                          <m:t>6</m:t>
                        </m:r>
                      </m:den>
                    </m:f>
                  </m:oMath>
                </a14:m>
              </mc:Choice>
            </mc:AlternateContent>
            <a:r>
              <a:rPr lang="en-US" sz="1600">
                <a:solidFill>
                  <a:srgbClr val="F0F0F0"/>
                </a:solidFill>
                <a:latin typeface="Arial"/>
              </a:rPr>
              <a:t>​</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D. </a:t>
            </a:r>
            <mc:AlternateContent xmlns:mc="http://schemas.openxmlformats.org/markup-compatibility/2006" xmlns:a14="http://schemas.microsoft.com/office/drawing/2010/main">
              <mc:Choice Requires="a14">
                <a14:m>
                  <m:oMath xmlns:m="http://schemas.openxmlformats.org/officeDocument/2006/math">
                    <m:f>
                      <m:fPr>
                        <m:type m:val="bar"/>
                      </m:fPr>
                      <m:num>
                        <m:r>
                          <m:t>π</m:t>
                        </m:r>
                      </m:num>
                      <m:den>
                        <m:r>
                          <m:t>12</m:t>
                        </m:r>
                      </m:den>
                    </m:f>
                  </m:oMath>
                </a14:m>
              </mc:Choice>
            </mc:AlternateContent>
            <a:r>
              <a:rPr lang="en-US" sz="1600">
                <a:solidFill>
                  <a:srgbClr val="F0F0F0"/>
                </a:solidFill>
                <a:latin typeface="Arial"/>
              </a:rPr>
              <a:t>​</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2026M</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defRPr sz="1800" b="1">
                <a:solidFill>
                  <a:srgbClr val="FAD02C"/>
                </a:solidFill>
                <a:latin typeface="Arial"/>
              </a:defRPr>
            </a:pPr>
            <a:r>
              <a:rPr lang="en-US" sz="1800" b="1">
                <a:solidFill>
                  <a:srgbClr val="FAD02C"/>
                </a:solidFill>
                <a:latin typeface="Arial"/>
              </a:rPr>
              <a:t>The anti-derivative of</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rPr>
                        <m:sty m:val="p"/>
                      </m:rPr>
                      <m:t>(</m:t>
                    </m:r>
                    <m:rad>
                      <m:radPr>
                        <m:degHide m:val="on"/>
                      </m:radPr>
                      <m:deg/>
                      <m:e>
                        <m:r>
                          <m:t>x</m:t>
                        </m:r>
                      </m:e>
                    </m:rad>
                    <m:r>
                      <m:rPr>
                        <m:sty m:val="p"/>
                      </m:rPr>
                      <m:t>)</m:t>
                    </m:r>
                  </m:oMath>
                </a14:m>
              </mc:Choice>
            </mc:AlternateContent>
            <a:r>
              <a:rPr lang="en-US" sz="1800" b="1">
                <a:solidFill>
                  <a:srgbClr val="FAD02C"/>
                </a:solidFill>
                <a:latin typeface="Arial"/>
              </a:rPr>
              <a:t> </a:t>
            </a:r>
            <a:r>
              <a:rPr lang="en-US" sz="1800" b="1">
                <a:solidFill>
                  <a:srgbClr val="FAD02C"/>
                </a:solidFill>
                <a:latin typeface="Arial"/>
              </a:rPr>
              <a:t>is</a:t>
            </a:r>
          </a:p>
        </p:txBody>
      </p:sp>
      <p:sp>
        <p:nvSpPr>
          <p:cNvPr id="7" name="TextBox 6"/>
          <p:cNvSpPr txBox="1"/>
          <p:nvPr/>
        </p:nvSpPr>
        <p:spPr>
          <a:xfrm>
            <a:off x="457200" y="1216151"/>
            <a:ext cx="5477256"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A. </a:t>
            </a:r>
            <mc:AlternateContent xmlns:mc="http://schemas.openxmlformats.org/markup-compatibility/2006" xmlns:a14="http://schemas.microsoft.com/office/drawing/2010/main">
              <mc:Choice Requires="a14">
                <a14:m>
                  <m:oMath xmlns:m="http://schemas.openxmlformats.org/officeDocument/2006/math">
                    <m:f>
                      <m:fPr>
                        <m:type m:val="bar"/>
                      </m:fPr>
                      <m:num>
                        <m:r>
                          <m:t>1</m:t>
                        </m:r>
                      </m:num>
                      <m:den>
                        <m:r>
                          <m:t>3</m:t>
                        </m:r>
                      </m:den>
                    </m:f>
                    <m:sSup>
                      <m:e>
                        <m:r>
                          <m:t>x</m:t>
                        </m:r>
                      </m:e>
                      <m:sup>
                        <m:r>
                          <m:t>3</m:t>
                        </m:r>
                        <m:r>
                          <m:rPr>
                            <m:sty m:val="p"/>
                          </m:rPr>
                          <m:t>/</m:t>
                        </m:r>
                        <m:r>
                          <m:t>2</m:t>
                        </m:r>
                      </m:sup>
                    </m:sSup>
                    <m:r>
                      <m:rPr>
                        <m:sty m:val="p"/>
                      </m:rPr>
                      <m:t>+</m:t>
                    </m:r>
                    <m:r>
                      <m:t>2</m:t>
                    </m:r>
                    <m:sSup>
                      <m:e>
                        <m:r>
                          <m:t>x</m:t>
                        </m:r>
                      </m:e>
                      <m:sup>
                        <m:r>
                          <m:t>1</m:t>
                        </m:r>
                        <m:r>
                          <m:rPr>
                            <m:sty m:val="p"/>
                          </m:rPr>
                          <m:t>/</m:t>
                        </m:r>
                        <m:r>
                          <m:t>2</m:t>
                        </m:r>
                      </m:sup>
                    </m:sSup>
                    <m:r>
                      <m:rPr>
                        <m:sty m:val="p"/>
                      </m:rPr>
                      <m:t>+</m:t>
                    </m:r>
                    <m:r>
                      <m:t>c</m:t>
                    </m:r>
                  </m:oMath>
                </a14:m>
              </mc:Choice>
            </mc:AlternateContent>
            <a:r>
              <a:rPr lang="en-US" sz="1600">
                <a:solidFill>
                  <a:srgbClr val="F0F0F0"/>
                </a:solidFill>
                <a:latin typeface="Arial"/>
              </a:rPr>
              <a:t>​</a:t>
            </a:r>
          </a:p>
        </p:txBody>
      </p:sp>
      <p:sp>
        <p:nvSpPr>
          <p:cNvPr id="8" name="TextBox 7"/>
          <p:cNvSpPr txBox="1"/>
          <p:nvPr/>
        </p:nvSpPr>
        <p:spPr>
          <a:xfrm>
            <a:off x="6254496" y="1216151"/>
            <a:ext cx="5477256"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B. </a:t>
            </a:r>
            <mc:AlternateContent xmlns:mc="http://schemas.openxmlformats.org/markup-compatibility/2006" xmlns:a14="http://schemas.microsoft.com/office/drawing/2010/main">
              <mc:Choice Requires="a14">
                <a14:m>
                  <m:oMath xmlns:m="http://schemas.openxmlformats.org/officeDocument/2006/math">
                    <m:f>
                      <m:fPr>
                        <m:type m:val="bar"/>
                      </m:fPr>
                      <m:num>
                        <m:r>
                          <m:t>2</m:t>
                        </m:r>
                      </m:num>
                      <m:den>
                        <m:r>
                          <m:t>3</m:t>
                        </m:r>
                      </m:den>
                    </m:f>
                    <m:sSup>
                      <m:e>
                        <m:r>
                          <m:t>x</m:t>
                        </m:r>
                      </m:e>
                      <m:sup>
                        <m:r>
                          <m:t>3</m:t>
                        </m:r>
                        <m:r>
                          <m:rPr>
                            <m:sty m:val="p"/>
                          </m:rPr>
                          <m:t>/</m:t>
                        </m:r>
                        <m:r>
                          <m:t>2</m:t>
                        </m:r>
                      </m:sup>
                    </m:sSup>
                    <m:r>
                      <m:rPr>
                        <m:sty m:val="p"/>
                      </m:rPr>
                      <m:t>+</m:t>
                    </m:r>
                    <m:f>
                      <m:fPr>
                        <m:type m:val="bar"/>
                      </m:fPr>
                      <m:num>
                        <m:r>
                          <m:t>1</m:t>
                        </m:r>
                      </m:num>
                      <m:den>
                        <m:r>
                          <m:t>2</m:t>
                        </m:r>
                      </m:den>
                    </m:f>
                    <m:sSup>
                      <m:e>
                        <m:r>
                          <m:t>x</m:t>
                        </m:r>
                      </m:e>
                      <m:sup>
                        <m:r>
                          <m:t>2</m:t>
                        </m:r>
                      </m:sup>
                    </m:sSup>
                    <m:r>
                      <m:rPr>
                        <m:sty m:val="p"/>
                      </m:rPr>
                      <m:t>+</m:t>
                    </m:r>
                    <m:r>
                      <m:t>c</m:t>
                    </m:r>
                  </m:oMath>
                </a14:m>
              </mc:Choice>
            </mc:AlternateContent>
            <a:r>
              <a:rPr lang="en-US" sz="1600">
                <a:solidFill>
                  <a:srgbClr val="F0F0F0"/>
                </a:solidFill>
                <a:latin typeface="Arial"/>
              </a:rPr>
              <a:t>​</a:t>
            </a:r>
          </a:p>
        </p:txBody>
      </p:sp>
      <p:sp>
        <p:nvSpPr>
          <p:cNvPr id="9" name="TextBox 8"/>
          <p:cNvSpPr txBox="1"/>
          <p:nvPr/>
        </p:nvSpPr>
        <p:spPr>
          <a:xfrm>
            <a:off x="457200" y="1783079"/>
            <a:ext cx="5477256"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C. </a:t>
            </a:r>
            <mc:AlternateContent xmlns:mc="http://schemas.openxmlformats.org/markup-compatibility/2006" xmlns:a14="http://schemas.microsoft.com/office/drawing/2010/main">
              <mc:Choice Requires="a14">
                <a14:m>
                  <m:oMath xmlns:m="http://schemas.openxmlformats.org/officeDocument/2006/math">
                    <m:f>
                      <m:fPr>
                        <m:type m:val="bar"/>
                      </m:fPr>
                      <m:num>
                        <m:r>
                          <m:t>2</m:t>
                        </m:r>
                      </m:num>
                      <m:den>
                        <m:r>
                          <m:t>3</m:t>
                        </m:r>
                      </m:den>
                    </m:f>
                    <m:sSup>
                      <m:e>
                        <m:r>
                          <m:t>x</m:t>
                        </m:r>
                      </m:e>
                      <m:sup>
                        <m:r>
                          <m:t>3</m:t>
                        </m:r>
                        <m:r>
                          <m:rPr>
                            <m:sty m:val="p"/>
                          </m:rPr>
                          <m:t>/</m:t>
                        </m:r>
                        <m:r>
                          <m:t>2</m:t>
                        </m:r>
                      </m:sup>
                    </m:sSup>
                    <m:r>
                      <m:rPr>
                        <m:sty m:val="p"/>
                      </m:rPr>
                      <m:t>+</m:t>
                    </m:r>
                    <m:r>
                      <m:t>2</m:t>
                    </m:r>
                    <m:sSup>
                      <m:e>
                        <m:r>
                          <m:t>x</m:t>
                        </m:r>
                      </m:e>
                      <m:sup>
                        <m:r>
                          <m:t>1</m:t>
                        </m:r>
                        <m:r>
                          <m:rPr>
                            <m:sty m:val="p"/>
                          </m:rPr>
                          <m:t>/</m:t>
                        </m:r>
                        <m:r>
                          <m:t>2</m:t>
                        </m:r>
                      </m:sup>
                    </m:sSup>
                    <m:r>
                      <m:rPr>
                        <m:sty m:val="p"/>
                      </m:rPr>
                      <m:t>+</m:t>
                    </m:r>
                    <m:r>
                      <m:t>c</m:t>
                    </m:r>
                  </m:oMath>
                </a14:m>
              </mc:Choice>
            </mc:AlternateContent>
            <a:r>
              <a:rPr lang="en-US" sz="1600">
                <a:solidFill>
                  <a:srgbClr val="F0F0F0"/>
                </a:solidFill>
                <a:latin typeface="Arial"/>
              </a:rPr>
              <a:t>​</a:t>
            </a:r>
          </a:p>
        </p:txBody>
      </p:sp>
      <p:sp>
        <p:nvSpPr>
          <p:cNvPr id="10" name="TextBox 9"/>
          <p:cNvSpPr txBox="1"/>
          <p:nvPr/>
        </p:nvSpPr>
        <p:spPr>
          <a:xfrm>
            <a:off x="6254496" y="1783079"/>
            <a:ext cx="5477256"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D. </a:t>
            </a:r>
            <mc:AlternateContent xmlns:mc="http://schemas.openxmlformats.org/markup-compatibility/2006" xmlns:a14="http://schemas.microsoft.com/office/drawing/2010/main">
              <mc:Choice Requires="a14">
                <a14:m>
                  <m:oMath xmlns:m="http://schemas.openxmlformats.org/officeDocument/2006/math">
                    <m:f>
                      <m:fPr>
                        <m:type m:val="bar"/>
                      </m:fPr>
                      <m:num>
                        <m:r>
                          <m:t>3</m:t>
                        </m:r>
                      </m:num>
                      <m:den>
                        <m:r>
                          <m:t>2</m:t>
                        </m:r>
                      </m:den>
                    </m:f>
                    <m:sSup>
                      <m:e>
                        <m:r>
                          <m:t>x</m:t>
                        </m:r>
                      </m:e>
                      <m:sup>
                        <m:r>
                          <m:t>3</m:t>
                        </m:r>
                        <m:r>
                          <m:rPr>
                            <m:sty m:val="p"/>
                          </m:rPr>
                          <m:t>/</m:t>
                        </m:r>
                        <m:r>
                          <m:t>2</m:t>
                        </m:r>
                      </m:sup>
                    </m:sSup>
                    <m:r>
                      <m:rPr>
                        <m:sty m:val="p"/>
                      </m:rPr>
                      <m:t>+</m:t>
                    </m:r>
                    <m:f>
                      <m:fPr>
                        <m:type m:val="bar"/>
                      </m:fPr>
                      <m:num>
                        <m:r>
                          <m:t>1</m:t>
                        </m:r>
                      </m:num>
                      <m:den>
                        <m:r>
                          <m:t>2</m:t>
                        </m:r>
                      </m:den>
                    </m:f>
                    <m:sSup>
                      <m:e>
                        <m:r>
                          <m:t>x</m:t>
                        </m:r>
                      </m:e>
                      <m:sup>
                        <m:r>
                          <m:t>1</m:t>
                        </m:r>
                        <m:r>
                          <m:rPr>
                            <m:sty m:val="p"/>
                          </m:rPr>
                          <m:t>/</m:t>
                        </m:r>
                        <m:r>
                          <m:t>2</m:t>
                        </m:r>
                      </m:sup>
                    </m:sSup>
                    <m:r>
                      <m:rPr>
                        <m:sty m:val="p"/>
                      </m:rPr>
                      <m:t>+</m:t>
                    </m:r>
                    <m:r>
                      <m:t>c</m:t>
                    </m:r>
                  </m:oMath>
                </a14:m>
              </mc:Choice>
            </mc:AlternateContent>
            <a:r>
              <a:rPr lang="en-US" sz="1600">
                <a:solidFill>
                  <a:srgbClr val="F0F0F0"/>
                </a:solidFill>
                <a:latin typeface="Arial"/>
              </a:rPr>
              <a:t>​</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2026M</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defRPr sz="1800" b="1">
                <a:solidFill>
                  <a:srgbClr val="FAD02C"/>
                </a:solidFill>
                <a:latin typeface="Arial"/>
              </a:defRPr>
            </a:pPr>
            <a:r>
              <a:rPr lang="en-US" sz="1800" b="1">
                <a:solidFill>
                  <a:srgbClr val="FAD02C"/>
                </a:solidFill>
                <a:latin typeface="Arial"/>
              </a:rPr>
              <a:t>The value of</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rPr>
                        <m:sty m:val="p"/>
                      </m:rPr>
                      <m:t>∫</m:t>
                    </m:r>
                    <m:f>
                      <m:fPr>
                        <m:type m:val="bar"/>
                      </m:fPr>
                      <m:num>
                        <m:r>
                          <m:rPr>
                            <m:sty m:val="p"/>
                          </m:rPr>
                          <m:t>cos</m:t>
                        </m:r>
                        <m:r>
                          <m:t>2</m:t>
                        </m:r>
                        <m:r>
                          <m:t>x</m:t>
                        </m:r>
                        <m:r>
                          <m:rPr>
                            <m:sty m:val="p"/>
                          </m:rPr>
                          <m:t>+</m:t>
                        </m:r>
                        <m:r>
                          <m:t>2</m:t>
                        </m:r>
                        <m:sSup>
                          <m:e>
                            <m:r>
                              <m:rPr>
                                <m:sty m:val="p"/>
                              </m:rPr>
                              <m:t>sin</m:t>
                            </m:r>
                          </m:e>
                          <m:sup>
                            <m:r>
                              <m:t>2</m:t>
                            </m:r>
                          </m:sup>
                        </m:sSup>
                        <m:r>
                          <m:t>x</m:t>
                        </m:r>
                      </m:num>
                      <m:den>
                        <m:sSup>
                          <m:e>
                            <m:r>
                              <m:rPr>
                                <m:sty m:val="p"/>
                              </m:rPr>
                              <m:t>cos</m:t>
                            </m:r>
                          </m:e>
                          <m:sup>
                            <m:r>
                              <m:t>2</m:t>
                            </m:r>
                          </m:sup>
                        </m:sSup>
                        <m:r>
                          <m:t>x</m:t>
                        </m:r>
                      </m:den>
                    </m:f>
                  </m:oMath>
                </a14:m>
              </mc:Choice>
            </mc:AlternateContent>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A. </a:t>
            </a:r>
            <mc:AlternateContent xmlns:mc="http://schemas.openxmlformats.org/markup-compatibility/2006" xmlns:a14="http://schemas.microsoft.com/office/drawing/2010/main">
              <mc:Choice Requires="a14">
                <a14:m>
                  <m:oMath xmlns:m="http://schemas.openxmlformats.org/officeDocument/2006/math">
                    <m:r>
                      <m:rPr>
                        <m:sty m:val="p"/>
                      </m:rPr>
                      <m:t>tan</m:t>
                    </m:r>
                    <m:r>
                      <m:t>x</m:t>
                    </m:r>
                    <m:r>
                      <m:rPr>
                        <m:sty m:val="p"/>
                      </m:rPr>
                      <m:t>+</m:t>
                    </m:r>
                    <m:r>
                      <m:t>c</m:t>
                    </m:r>
                  </m:oMath>
                </a14:m>
              </mc:Choice>
            </mc:AlternateContent>
            <a:r>
              <a:rPr lang="en-US" sz="1600">
                <a:solidFill>
                  <a:srgbClr val="F0F0F0"/>
                </a:solidFill>
                <a:latin typeface="Arial"/>
              </a:rPr>
              <a:t>​</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B. </a:t>
            </a:r>
            <mc:AlternateContent xmlns:mc="http://schemas.openxmlformats.org/markup-compatibility/2006" xmlns:a14="http://schemas.microsoft.com/office/drawing/2010/main">
              <mc:Choice Requires="a14">
                <a14:m>
                  <m:oMath xmlns:m="http://schemas.openxmlformats.org/officeDocument/2006/math">
                    <m:r>
                      <m:rPr>
                        <m:sty m:val="p"/>
                      </m:rPr>
                      <m:t>cos</m:t>
                    </m:r>
                    <m:r>
                      <m:t>2</m:t>
                    </m:r>
                    <m:r>
                      <m:t>x</m:t>
                    </m:r>
                    <m:r>
                      <m:rPr>
                        <m:sty m:val="p"/>
                      </m:rPr>
                      <m:t>+</m:t>
                    </m:r>
                    <m:r>
                      <m:t>c</m:t>
                    </m:r>
                  </m:oMath>
                </a14:m>
              </mc:Choice>
            </mc:AlternateContent>
            <a:r>
              <a:rPr lang="en-US" sz="1600">
                <a:solidFill>
                  <a:srgbClr val="F0F0F0"/>
                </a:solidFill>
                <a:latin typeface="Arial"/>
              </a:rPr>
              <a:t>​</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C. </a:t>
            </a:r>
            <mc:AlternateContent xmlns:mc="http://schemas.openxmlformats.org/markup-compatibility/2006" xmlns:a14="http://schemas.microsoft.com/office/drawing/2010/main">
              <mc:Choice Requires="a14">
                <a14:m>
                  <m:oMath xmlns:m="http://schemas.openxmlformats.org/officeDocument/2006/math">
                    <m:r>
                      <m:rPr>
                        <m:sty m:val="p"/>
                      </m:rPr>
                      <m:t>sin</m:t>
                    </m:r>
                    <m:r>
                      <m:t>2</m:t>
                    </m:r>
                    <m:r>
                      <m:t>x</m:t>
                    </m:r>
                    <m:r>
                      <m:rPr>
                        <m:sty m:val="p"/>
                      </m:rPr>
                      <m:t>+</m:t>
                    </m:r>
                    <m:r>
                      <m:t>c</m:t>
                    </m:r>
                  </m:oMath>
                </a14:m>
              </mc:Choice>
            </mc:AlternateContent>
            <a:r>
              <a:rPr lang="en-US" sz="1600">
                <a:solidFill>
                  <a:srgbClr val="F0F0F0"/>
                </a:solidFill>
                <a:latin typeface="Arial"/>
              </a:rPr>
              <a:t>​</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D. </a:t>
            </a:r>
            <mc:AlternateContent xmlns:mc="http://schemas.openxmlformats.org/markup-compatibility/2006" xmlns:a14="http://schemas.microsoft.com/office/drawing/2010/main">
              <mc:Choice Requires="a14">
                <a14:m>
                  <m:oMath xmlns:m="http://schemas.openxmlformats.org/officeDocument/2006/math">
                    <m:r>
                      <m:rPr>
                        <m:sty m:val="p"/>
                      </m:rPr>
                      <m:t>tan</m:t>
                    </m:r>
                    <m:r>
                      <m:t>2</m:t>
                    </m:r>
                    <m:r>
                      <m:t>x</m:t>
                    </m:r>
                    <m:r>
                      <m:rPr>
                        <m:sty m:val="p"/>
                      </m:rPr>
                      <m:t>+</m:t>
                    </m:r>
                    <m:r>
                      <m:t>c</m:t>
                    </m:r>
                  </m:oMath>
                </a14:m>
              </mc:Choice>
            </mc:AlternateContent>
            <a:r>
              <a:rPr lang="en-US" sz="1600">
                <a:solidFill>
                  <a:srgbClr val="F0F0F0"/>
                </a:solidFill>
                <a:latin typeface="Arial"/>
              </a:rPr>
              <a:t>​</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2024-1</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defRPr sz="1800" b="1">
                <a:solidFill>
                  <a:srgbClr val="FAD02C"/>
                </a:solidFill>
                <a:latin typeface="Arial"/>
              </a:defRPr>
            </a:pPr>
            <mc:AlternateContent xmlns:mc="http://schemas.openxmlformats.org/markup-compatibility/2006" xmlns:a14="http://schemas.microsoft.com/office/drawing/2010/main">
              <mc:Choice Requires="a14">
                <a14:m>
                  <m:oMath xmlns:m="http://schemas.openxmlformats.org/officeDocument/2006/math">
                    <m:r>
                      <m:rPr>
                        <m:sty m:val="p"/>
                      </m:rPr>
                      <m:t>∫</m:t>
                    </m:r>
                    <m:sSup>
                      <m:e>
                        <m:r>
                          <m:t>e</m:t>
                        </m:r>
                      </m:e>
                      <m:sup>
                        <m:r>
                          <m:t>x</m:t>
                        </m:r>
                      </m:sup>
                    </m:sSup>
                  </m:oMath>
                </a14:m>
              </mc:Choice>
            </mc:AlternateContent>
            <a:r>
              <a:rPr lang="en-US" sz="1800" b="1">
                <a:solidFill>
                  <a:srgbClr val="FAD02C"/>
                </a:solidFill>
                <a:latin typeface="Arial"/>
              </a:rPr>
              <a:t>(</a:t>
            </a:r>
            <mc:AlternateContent xmlns:mc="http://schemas.openxmlformats.org/markup-compatibility/2006" xmlns:a14="http://schemas.microsoft.com/office/drawing/2010/main">
              <mc:Choice Requires="a14">
                <a14:m>
                  <m:oMath xmlns:m="http://schemas.openxmlformats.org/officeDocument/2006/math">
                    <m:r>
                      <m:rPr>
                        <m:sty m:val="p"/>
                      </m:rPr>
                      <m:t>sin</m:t>
                    </m:r>
                    <m:r>
                      <m:t>x</m:t>
                    </m:r>
                    <m:r>
                      <m:rPr>
                        <m:sty m:val="p"/>
                      </m:rPr>
                      <m:t>+</m:t>
                    </m:r>
                    <m:r>
                      <m:rPr>
                        <m:sty m:val="p"/>
                      </m:rPr>
                      <m:t>cos</m:t>
                    </m:r>
                    <m:r>
                      <m:t>x</m:t>
                    </m:r>
                  </m:oMath>
                </a14:m>
              </mc:Choice>
            </mc:AlternateContent>
            <a:r>
              <a:rPr lang="en-US" sz="1800" b="1">
                <a:solidFill>
                  <a:srgbClr val="FAD02C"/>
                </a:solidFill>
                <a:latin typeface="Arial"/>
              </a:rPr>
              <a:t>) dx is equal to</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A. </a:t>
            </a:r>
            <mc:AlternateContent xmlns:mc="http://schemas.openxmlformats.org/markup-compatibility/2006" xmlns:a14="http://schemas.microsoft.com/office/drawing/2010/main">
              <mc:Choice Requires="a14">
                <a14:m>
                  <m:oMath xmlns:m="http://schemas.openxmlformats.org/officeDocument/2006/math">
                    <m:sSup>
                      <m:e>
                        <m:r>
                          <m:t>e</m:t>
                        </m:r>
                      </m:e>
                      <m:sup>
                        <m:r>
                          <m:t>x</m:t>
                        </m:r>
                      </m:sup>
                    </m:sSup>
                    <m:r>
                      <m:rPr>
                        <m:sty m:val="p"/>
                      </m:rPr>
                      <m:t>cos</m:t>
                    </m:r>
                    <m:r>
                      <m:t>x</m:t>
                    </m:r>
                  </m:oMath>
                </a14:m>
              </mc:Choice>
            </mc:AlternateContent>
            <a:r>
              <a:rPr lang="en-US" sz="1600">
                <a:solidFill>
                  <a:srgbClr val="F0F0F0"/>
                </a:solidFill>
                <a:latin typeface="Arial"/>
              </a:rPr>
              <a:t> </a:t>
            </a:r>
            <a:r>
              <a:rPr lang="en-US" sz="1600">
                <a:solidFill>
                  <a:srgbClr val="F0F0F0"/>
                </a:solidFill>
                <a:latin typeface="Arial"/>
              </a:rPr>
              <a:t>+ c</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B. </a:t>
            </a:r>
            <mc:AlternateContent xmlns:mc="http://schemas.openxmlformats.org/markup-compatibility/2006" xmlns:a14="http://schemas.microsoft.com/office/drawing/2010/main">
              <mc:Choice Requires="a14">
                <a14:m>
                  <m:oMath xmlns:m="http://schemas.openxmlformats.org/officeDocument/2006/math">
                    <m:sSup>
                      <m:e>
                        <m:r>
                          <m:t>e</m:t>
                        </m:r>
                      </m:e>
                      <m:sup>
                        <m:r>
                          <m:t>x</m:t>
                        </m:r>
                      </m:sup>
                    </m:sSup>
                    <m:r>
                      <m:rPr>
                        <m:sty m:val="p"/>
                      </m:rPr>
                      <m:t>tan</m:t>
                    </m:r>
                    <m:r>
                      <m:t>x</m:t>
                    </m:r>
                  </m:oMath>
                </a14:m>
              </mc:Choice>
            </mc:AlternateContent>
            <a:r>
              <a:rPr lang="en-US" sz="1600">
                <a:solidFill>
                  <a:srgbClr val="F0F0F0"/>
                </a:solidFill>
                <a:latin typeface="Arial"/>
              </a:rPr>
              <a:t> </a:t>
            </a:r>
            <a:r>
              <a:rPr lang="en-US" sz="1600">
                <a:solidFill>
                  <a:srgbClr val="F0F0F0"/>
                </a:solidFill>
                <a:latin typeface="Arial"/>
              </a:rPr>
              <a:t>+ c</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C. </a:t>
            </a:r>
            <mc:AlternateContent xmlns:mc="http://schemas.openxmlformats.org/markup-compatibility/2006" xmlns:a14="http://schemas.microsoft.com/office/drawing/2010/main">
              <mc:Choice Requires="a14">
                <a14:m>
                  <m:oMath xmlns:m="http://schemas.openxmlformats.org/officeDocument/2006/math">
                    <m:sSup>
                      <m:e>
                        <m:r>
                          <m:t>e</m:t>
                        </m:r>
                      </m:e>
                      <m:sup>
                        <m:r>
                          <m:t>x</m:t>
                        </m:r>
                      </m:sup>
                    </m:sSup>
                    <m:r>
                      <m:rPr>
                        <m:sty m:val="p"/>
                      </m:rPr>
                      <m:t>sin</m:t>
                    </m:r>
                    <m:r>
                      <m:t>x</m:t>
                    </m:r>
                  </m:oMath>
                </a14:m>
              </mc:Choice>
            </mc:AlternateContent>
            <a:r>
              <a:rPr lang="en-US" sz="1600">
                <a:solidFill>
                  <a:srgbClr val="F0F0F0"/>
                </a:solidFill>
                <a:latin typeface="Arial"/>
              </a:rPr>
              <a:t> </a:t>
            </a:r>
            <a:r>
              <a:rPr lang="en-US" sz="1600">
                <a:solidFill>
                  <a:srgbClr val="F0F0F0"/>
                </a:solidFill>
                <a:latin typeface="Arial"/>
              </a:rPr>
              <a:t>+ c</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D. </a:t>
            </a:r>
            <a:r>
              <a:rPr lang="en-US" sz="1600">
                <a:solidFill>
                  <a:srgbClr val="F0F0F0"/>
                </a:solidFill>
                <a:latin typeface="Arial"/>
              </a:rPr>
              <a:t>−</a:t>
            </a:r>
            <mc:AlternateContent xmlns:mc="http://schemas.openxmlformats.org/markup-compatibility/2006" xmlns:a14="http://schemas.microsoft.com/office/drawing/2010/main">
              <mc:Choice Requires="a14">
                <a14:m>
                  <m:oMath xmlns:m="http://schemas.openxmlformats.org/officeDocument/2006/math">
                    <m:sSup>
                      <m:e>
                        <m:r>
                          <m:t>e</m:t>
                        </m:r>
                      </m:e>
                      <m:sup>
                        <m:r>
                          <m:t>x</m:t>
                        </m:r>
                      </m:sup>
                    </m:sSup>
                    <m:r>
                      <m:rPr>
                        <m:sty m:val="p"/>
                      </m:rPr>
                      <m:t>cos</m:t>
                    </m:r>
                    <m:r>
                      <m:t>x</m:t>
                    </m:r>
                  </m:oMath>
                </a14:m>
              </mc:Choice>
            </mc:AlternateContent>
            <a:r>
              <a:rPr lang="en-US" sz="1600">
                <a:solidFill>
                  <a:srgbClr val="F0F0F0"/>
                </a:solidFill>
                <a:latin typeface="Arial"/>
              </a:rPr>
              <a:t> </a:t>
            </a:r>
            <a:r>
              <a:rPr lang="en-US" sz="1600">
                <a:solidFill>
                  <a:srgbClr val="F0F0F0"/>
                </a:solidFill>
                <a:latin typeface="Arial"/>
              </a:rPr>
              <a:t>+ c</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2024-1</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defRPr sz="1800" b="1">
                <a:solidFill>
                  <a:srgbClr val="FAD02C"/>
                </a:solidFill>
                <a:latin typeface="Arial"/>
              </a:defRPr>
            </a:pPr>
            <mc:AlternateContent xmlns:mc="http://schemas.openxmlformats.org/markup-compatibility/2006" xmlns:a14="http://schemas.microsoft.com/office/drawing/2010/main">
              <mc:Choice Requires="a14">
                <a14:m>
                  <m:oMath xmlns:m="http://schemas.openxmlformats.org/officeDocument/2006/math">
                    <m:r>
                      <m:rPr>
                        <m:sty m:val="p"/>
                      </m:rPr>
                      <m:t>∫</m:t>
                    </m:r>
                    <m:r>
                      <m:rPr>
                        <m:sty m:val="p"/>
                      </m:rPr>
                      <m:t>sec</m:t>
                    </m:r>
                    <m:r>
                      <m:t>x</m:t>
                    </m:r>
                  </m:oMath>
                </a14:m>
              </mc:Choice>
            </mc:AlternateContent>
            <a:r>
              <a:rPr lang="en-US" sz="1800" b="1">
                <a:solidFill>
                  <a:srgbClr val="FAD02C"/>
                </a:solidFill>
                <a:latin typeface="Arial"/>
              </a:rPr>
              <a:t> </a:t>
            </a:r>
            <a:r>
              <a:rPr lang="en-US" sz="1800" b="1">
                <a:solidFill>
                  <a:srgbClr val="FAD02C"/>
                </a:solidFill>
                <a:latin typeface="Arial"/>
              </a:rPr>
              <a:t>(</a:t>
            </a:r>
            <mc:AlternateContent xmlns:mc="http://schemas.openxmlformats.org/markup-compatibility/2006" xmlns:a14="http://schemas.microsoft.com/office/drawing/2010/main">
              <mc:Choice Requires="a14">
                <a14:m>
                  <m:oMath xmlns:m="http://schemas.openxmlformats.org/officeDocument/2006/math">
                    <m:r>
                      <m:rPr>
                        <m:sty m:val="p"/>
                      </m:rPr>
                      <m:t>sec</m:t>
                    </m:r>
                    <m:r>
                      <m:t>x</m:t>
                    </m:r>
                    <m:r>
                      <m:rPr>
                        <m:sty m:val="p"/>
                      </m:rPr>
                      <m:t>+</m:t>
                    </m:r>
                    <m:r>
                      <m:rPr>
                        <m:sty m:val="p"/>
                      </m:rPr>
                      <m:t>tan</m:t>
                    </m:r>
                    <m:r>
                      <m:t>x</m:t>
                    </m:r>
                  </m:oMath>
                </a14:m>
              </mc:Choice>
            </mc:AlternateContent>
            <a:r>
              <a:rPr lang="en-US" sz="1800" b="1">
                <a:solidFill>
                  <a:srgbClr val="FAD02C"/>
                </a:solidFill>
                <a:latin typeface="Arial"/>
              </a:rPr>
              <a:t>) dx is</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A. </a:t>
            </a:r>
            <mc:AlternateContent xmlns:mc="http://schemas.openxmlformats.org/markup-compatibility/2006" xmlns:a14="http://schemas.microsoft.com/office/drawing/2010/main">
              <mc:Choice Requires="a14">
                <a14:m>
                  <m:oMath xmlns:m="http://schemas.openxmlformats.org/officeDocument/2006/math">
                    <m:sSup>
                      <m:e>
                        <m:r>
                          <m:rPr>
                            <m:sty m:val="p"/>
                          </m:rPr>
                          <m:t>sec</m:t>
                        </m:r>
                      </m:e>
                      <m:sup>
                        <m:r>
                          <m:t>2</m:t>
                        </m:r>
                      </m:sup>
                    </m:sSup>
                    <m:r>
                      <m:t>x</m:t>
                    </m:r>
                    <m:r>
                      <m:rPr>
                        <m:sty m:val="p"/>
                      </m:rPr>
                      <m:t>+</m:t>
                    </m:r>
                    <m:r>
                      <m:rPr>
                        <m:sty m:val="p"/>
                      </m:rPr>
                      <m:t>tan</m:t>
                    </m:r>
                    <m:r>
                      <m:t>x</m:t>
                    </m:r>
                  </m:oMath>
                </a14:m>
              </mc:Choice>
            </mc:AlternateContent>
            <a:r>
              <a:rPr lang="en-US" sz="1600">
                <a:solidFill>
                  <a:srgbClr val="F0F0F0"/>
                </a:solidFill>
                <a:latin typeface="Arial"/>
              </a:rPr>
              <a:t> </a:t>
            </a:r>
            <a:r>
              <a:rPr lang="en-US" sz="1600">
                <a:solidFill>
                  <a:srgbClr val="F0F0F0"/>
                </a:solidFill>
                <a:latin typeface="Arial"/>
              </a:rPr>
              <a:t>+ c</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B. </a:t>
            </a:r>
            <mc:AlternateContent xmlns:mc="http://schemas.openxmlformats.org/markup-compatibility/2006" xmlns:a14="http://schemas.microsoft.com/office/drawing/2010/main">
              <mc:Choice Requires="a14">
                <a14:m>
                  <m:oMath xmlns:m="http://schemas.openxmlformats.org/officeDocument/2006/math">
                    <m:r>
                      <m:rPr>
                        <m:sty m:val="p"/>
                      </m:rPr>
                      <m:t>sec</m:t>
                    </m:r>
                    <m:r>
                      <m:t>x</m:t>
                    </m:r>
                    <m:r>
                      <m:rPr>
                        <m:sty m:val="p"/>
                      </m:rPr>
                      <m:t>+</m:t>
                    </m:r>
                    <m:r>
                      <m:rPr>
                        <m:sty m:val="p"/>
                      </m:rPr>
                      <m:t>tan</m:t>
                    </m:r>
                    <m:r>
                      <m:t>x</m:t>
                    </m:r>
                  </m:oMath>
                </a14:m>
              </mc:Choice>
            </mc:AlternateContent>
            <a:r>
              <a:rPr lang="en-US" sz="1600">
                <a:solidFill>
                  <a:srgbClr val="F0F0F0"/>
                </a:solidFill>
                <a:latin typeface="Arial"/>
              </a:rPr>
              <a:t> </a:t>
            </a:r>
            <a:r>
              <a:rPr lang="en-US" sz="1600">
                <a:solidFill>
                  <a:srgbClr val="F0F0F0"/>
                </a:solidFill>
                <a:latin typeface="Arial"/>
              </a:rPr>
              <a:t>+ c</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C. </a:t>
            </a:r>
            <mc:AlternateContent xmlns:mc="http://schemas.openxmlformats.org/markup-compatibility/2006" xmlns:a14="http://schemas.microsoft.com/office/drawing/2010/main">
              <mc:Choice Requires="a14">
                <a14:m>
                  <m:oMath xmlns:m="http://schemas.openxmlformats.org/officeDocument/2006/math">
                    <m:r>
                      <m:rPr>
                        <m:sty m:val="p"/>
                      </m:rPr>
                      <m:t>sec</m:t>
                    </m:r>
                    <m:r>
                      <m:t>x</m:t>
                    </m:r>
                    <m:r>
                      <m:rPr>
                        <m:sty m:val="p"/>
                      </m:rPr>
                      <m:t>−</m:t>
                    </m:r>
                    <m:r>
                      <m:rPr>
                        <m:sty m:val="p"/>
                      </m:rPr>
                      <m:t>tan</m:t>
                    </m:r>
                    <m:r>
                      <m:t>x</m:t>
                    </m:r>
                  </m:oMath>
                </a14:m>
              </mc:Choice>
            </mc:AlternateContent>
            <a:r>
              <a:rPr lang="en-US" sz="1600">
                <a:solidFill>
                  <a:srgbClr val="F0F0F0"/>
                </a:solidFill>
                <a:latin typeface="Arial"/>
              </a:rPr>
              <a:t> </a:t>
            </a:r>
            <a:r>
              <a:rPr lang="en-US" sz="1600">
                <a:solidFill>
                  <a:srgbClr val="F0F0F0"/>
                </a:solidFill>
                <a:latin typeface="Arial"/>
              </a:rPr>
              <a:t>+ c</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D. </a:t>
            </a:r>
            <mc:AlternateContent xmlns:mc="http://schemas.openxmlformats.org/markup-compatibility/2006" xmlns:a14="http://schemas.microsoft.com/office/drawing/2010/main">
              <mc:Choice Requires="a14">
                <a14:m>
                  <m:oMath xmlns:m="http://schemas.openxmlformats.org/officeDocument/2006/math">
                    <m:r>
                      <m:rPr>
                        <m:sty m:val="p"/>
                      </m:rPr>
                      <m:t>tan</m:t>
                    </m:r>
                    <m:r>
                      <m:t>x</m:t>
                    </m:r>
                    <m:r>
                      <m:rPr>
                        <m:sty m:val="p"/>
                      </m:rPr>
                      <m:t>−</m:t>
                    </m:r>
                    <m:r>
                      <m:rPr>
                        <m:sty m:val="p"/>
                      </m:rPr>
                      <m:t>sec</m:t>
                    </m:r>
                    <m:r>
                      <m:t>x</m:t>
                    </m:r>
                  </m:oMath>
                </a14:m>
              </mc:Choice>
            </mc:AlternateContent>
            <a:r>
              <a:rPr lang="en-US" sz="1600">
                <a:solidFill>
                  <a:srgbClr val="F0F0F0"/>
                </a:solidFill>
                <a:latin typeface="Arial"/>
              </a:rPr>
              <a:t> </a:t>
            </a:r>
            <a:r>
              <a:rPr lang="en-US" sz="1600">
                <a:solidFill>
                  <a:srgbClr val="F0F0F0"/>
                </a:solidFill>
                <a:latin typeface="Arial"/>
              </a:rPr>
              <a:t>+ c</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923544"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58952" cy="402336"/>
          </a:xfrm>
          <a:prstGeom prst="rect">
            <a:avLst/>
          </a:prstGeom>
          <a:noFill/>
        </p:spPr>
        <p:txBody>
          <a:bodyPr wrap="none" anchor="ctr" lIns="0" rIns="0" tIns="0" bIns="0">
            <a:spAutoFit/>
          </a:bodyPr>
          <a:lstStyle/>
          <a:p>
            <a:pPr algn="l"/>
            <a:r>
              <a:rPr sz="1500" b="1">
                <a:solidFill>
                  <a:srgbClr val="FAD02C"/>
                </a:solidFill>
                <a:latin typeface="Arial"/>
              </a:rPr>
              <a:t>2024-2</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defRPr sz="1800" b="1">
                <a:solidFill>
                  <a:srgbClr val="FAD02C"/>
                </a:solidFill>
                <a:latin typeface="Arial"/>
              </a:defRPr>
            </a:pPr>
            <a:r>
              <a:rPr lang="en-US" sz="1800" b="1">
                <a:solidFill>
                  <a:srgbClr val="FAD02C"/>
                </a:solidFill>
                <a:latin typeface="Arial"/>
              </a:rPr>
              <a:t>The value of</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rPr>
                        <m:sty m:val="p"/>
                      </m:rPr>
                      <m:t>∫</m:t>
                    </m:r>
                    <m:r>
                      <m:rPr>
                        <m:sty m:val="p"/>
                      </m:rPr>
                      <m:t>csc</m:t>
                    </m:r>
                    <m:r>
                      <m:t>x</m:t>
                    </m:r>
                  </m:oMath>
                </a14:m>
              </mc:Choice>
            </mc:AlternateContent>
            <a:r>
              <a:rPr lang="en-US" sz="1800" b="1">
                <a:solidFill>
                  <a:srgbClr val="FAD02C"/>
                </a:solidFill>
                <a:latin typeface="Arial"/>
              </a:rPr>
              <a:t> </a:t>
            </a:r>
            <a:r>
              <a:rPr lang="en-US" sz="1800" b="1">
                <a:solidFill>
                  <a:srgbClr val="FAD02C"/>
                </a:solidFill>
                <a:latin typeface="Arial"/>
              </a:rPr>
              <a:t>(</a:t>
            </a:r>
            <mc:AlternateContent xmlns:mc="http://schemas.openxmlformats.org/markup-compatibility/2006" xmlns:a14="http://schemas.microsoft.com/office/drawing/2010/main">
              <mc:Choice Requires="a14">
                <a14:m>
                  <m:oMath xmlns:m="http://schemas.openxmlformats.org/officeDocument/2006/math">
                    <m:r>
                      <m:rPr>
                        <m:sty m:val="p"/>
                      </m:rPr>
                      <m:t>csc</m:t>
                    </m:r>
                    <m:r>
                      <m:t>x</m:t>
                    </m:r>
                    <m:r>
                      <m:rPr>
                        <m:sty m:val="p"/>
                      </m:rPr>
                      <m:t>+</m:t>
                    </m:r>
                    <m:r>
                      <m:rPr>
                        <m:sty m:val="p"/>
                      </m:rPr>
                      <m:t>cot</m:t>
                    </m:r>
                    <m:r>
                      <m:t>x</m:t>
                    </m:r>
                  </m:oMath>
                </a14:m>
              </mc:Choice>
            </mc:AlternateContent>
            <a:r>
              <a:rPr lang="en-US" sz="1800" b="1">
                <a:solidFill>
                  <a:srgbClr val="FAD02C"/>
                </a:solidFill>
                <a:latin typeface="Arial"/>
              </a:rPr>
              <a:t>) dx is</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A. </a:t>
            </a:r>
            <mc:AlternateContent xmlns:mc="http://schemas.openxmlformats.org/markup-compatibility/2006" xmlns:a14="http://schemas.microsoft.com/office/drawing/2010/main">
              <mc:Choice Requires="a14">
                <a14:m>
                  <m:oMath xmlns:m="http://schemas.openxmlformats.org/officeDocument/2006/math">
                    <m:r>
                      <m:rPr>
                        <m:sty m:val="p"/>
                      </m:rPr>
                      <m:t>cot</m:t>
                    </m:r>
                    <m:r>
                      <m:t>x</m:t>
                    </m:r>
                    <m:r>
                      <m:rPr>
                        <m:sty m:val="p"/>
                      </m:rPr>
                      <m:t>+</m:t>
                    </m:r>
                    <m:r>
                      <m:rPr>
                        <m:sty m:val="p"/>
                      </m:rPr>
                      <m:t>csc</m:t>
                    </m:r>
                    <m:r>
                      <m:t>x</m:t>
                    </m:r>
                  </m:oMath>
                </a14:m>
              </mc:Choice>
            </mc:AlternateContent>
            <a:r>
              <a:rPr lang="en-US" sz="1600">
                <a:solidFill>
                  <a:srgbClr val="F0F0F0"/>
                </a:solidFill>
                <a:latin typeface="Arial"/>
              </a:rPr>
              <a:t> </a:t>
            </a:r>
            <a:r>
              <a:rPr lang="en-US" sz="1600">
                <a:solidFill>
                  <a:srgbClr val="F0F0F0"/>
                </a:solidFill>
                <a:latin typeface="Arial"/>
              </a:rPr>
              <a:t>+ c</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B. </a:t>
            </a:r>
            <a:r>
              <a:rPr lang="en-US" sz="1600">
                <a:solidFill>
                  <a:srgbClr val="F0F0F0"/>
                </a:solidFill>
                <a:latin typeface="Arial"/>
              </a:rPr>
              <a:t>−</a:t>
            </a:r>
            <a:r>
              <a:rPr lang="en-US" sz="1600">
                <a:solidFill>
                  <a:srgbClr val="F0F0F0"/>
                </a:solidFill>
                <a:latin typeface="Arial"/>
              </a:rPr>
              <a:t> </a:t>
            </a:r>
            <mc:AlternateContent xmlns:mc="http://schemas.openxmlformats.org/markup-compatibility/2006" xmlns:a14="http://schemas.microsoft.com/office/drawing/2010/main">
              <mc:Choice Requires="a14">
                <a14:m>
                  <m:oMath xmlns:m="http://schemas.openxmlformats.org/officeDocument/2006/math">
                    <m:r>
                      <m:rPr>
                        <m:sty m:val="p"/>
                      </m:rPr>
                      <m:t>cot</m:t>
                    </m:r>
                    <m:r>
                      <m:t>x</m:t>
                    </m:r>
                    <m:r>
                      <m:rPr>
                        <m:sty m:val="p"/>
                      </m:rPr>
                      <m:t>+</m:t>
                    </m:r>
                    <m:r>
                      <m:rPr>
                        <m:sty m:val="p"/>
                      </m:rPr>
                      <m:t>csc</m:t>
                    </m:r>
                    <m:r>
                      <m:t>x</m:t>
                    </m:r>
                  </m:oMath>
                </a14:m>
              </mc:Choice>
            </mc:AlternateContent>
            <a:r>
              <a:rPr lang="en-US" sz="1600">
                <a:solidFill>
                  <a:srgbClr val="F0F0F0"/>
                </a:solidFill>
                <a:latin typeface="Arial"/>
              </a:rPr>
              <a:t> </a:t>
            </a:r>
            <a:r>
              <a:rPr lang="en-US" sz="1600">
                <a:solidFill>
                  <a:srgbClr val="F0F0F0"/>
                </a:solidFill>
                <a:latin typeface="Arial"/>
              </a:rPr>
              <a:t>+ c</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C. </a:t>
            </a:r>
            <a:r>
              <a:rPr lang="en-US" sz="1600">
                <a:solidFill>
                  <a:srgbClr val="F0F0F0"/>
                </a:solidFill>
                <a:latin typeface="Arial"/>
              </a:rPr>
              <a:t>−</a:t>
            </a:r>
            <a:r>
              <a:rPr lang="en-US" sz="1600">
                <a:solidFill>
                  <a:srgbClr val="F0F0F0"/>
                </a:solidFill>
                <a:latin typeface="Arial"/>
              </a:rPr>
              <a:t> </a:t>
            </a:r>
            <mc:AlternateContent xmlns:mc="http://schemas.openxmlformats.org/markup-compatibility/2006" xmlns:a14="http://schemas.microsoft.com/office/drawing/2010/main">
              <mc:Choice Requires="a14">
                <a14:m>
                  <m:oMath xmlns:m="http://schemas.openxmlformats.org/officeDocument/2006/math">
                    <m:r>
                      <m:rPr>
                        <m:sty m:val="p"/>
                      </m:rPr>
                      <m:t>cot</m:t>
                    </m:r>
                    <m:r>
                      <m:t>x</m:t>
                    </m:r>
                  </m:oMath>
                </a14:m>
              </mc:Choice>
            </mc:AlternateContent>
            <a:r>
              <a:rPr lang="en-US" sz="1600">
                <a:solidFill>
                  <a:srgbClr val="F0F0F0"/>
                </a:solidFill>
                <a:latin typeface="Arial"/>
              </a:rPr>
              <a:t> </a:t>
            </a:r>
            <a:r>
              <a:rPr lang="en-US" sz="1600">
                <a:solidFill>
                  <a:srgbClr val="F0F0F0"/>
                </a:solidFill>
                <a:latin typeface="Arial"/>
              </a:rPr>
              <a:t>−</a:t>
            </a:r>
            <a:r>
              <a:rPr lang="en-US" sz="1600">
                <a:solidFill>
                  <a:srgbClr val="F0F0F0"/>
                </a:solidFill>
                <a:latin typeface="Arial"/>
              </a:rPr>
              <a:t> </a:t>
            </a:r>
            <mc:AlternateContent xmlns:mc="http://schemas.openxmlformats.org/markup-compatibility/2006" xmlns:a14="http://schemas.microsoft.com/office/drawing/2010/main">
              <mc:Choice Requires="a14">
                <a14:m>
                  <m:oMath xmlns:m="http://schemas.openxmlformats.org/officeDocument/2006/math">
                    <m:r>
                      <m:rPr>
                        <m:sty m:val="p"/>
                      </m:rPr>
                      <m:t>csc</m:t>
                    </m:r>
                    <m:r>
                      <m:t>x</m:t>
                    </m:r>
                  </m:oMath>
                </a14:m>
              </mc:Choice>
            </mc:AlternateContent>
            <a:r>
              <a:rPr lang="en-US" sz="1600">
                <a:solidFill>
                  <a:srgbClr val="F0F0F0"/>
                </a:solidFill>
                <a:latin typeface="Arial"/>
              </a:rPr>
              <a:t> </a:t>
            </a:r>
            <a:r>
              <a:rPr lang="en-US" sz="1600">
                <a:solidFill>
                  <a:srgbClr val="F0F0F0"/>
                </a:solidFill>
                <a:latin typeface="Arial"/>
              </a:rPr>
              <a:t>+ c</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D. </a:t>
            </a:r>
            <mc:AlternateContent xmlns:mc="http://schemas.openxmlformats.org/markup-compatibility/2006" xmlns:a14="http://schemas.microsoft.com/office/drawing/2010/main">
              <mc:Choice Requires="a14">
                <a14:m>
                  <m:oMath xmlns:m="http://schemas.openxmlformats.org/officeDocument/2006/math">
                    <m:r>
                      <m:rPr>
                        <m:sty m:val="p"/>
                      </m:rPr>
                      <m:t>cot</m:t>
                    </m:r>
                    <m:r>
                      <m:t>x</m:t>
                    </m:r>
                  </m:oMath>
                </a14:m>
              </mc:Choice>
            </mc:AlternateContent>
            <a:r>
              <a:rPr lang="en-US" sz="1600">
                <a:solidFill>
                  <a:srgbClr val="F0F0F0"/>
                </a:solidFill>
                <a:latin typeface="Arial"/>
              </a:rPr>
              <a:t> </a:t>
            </a:r>
            <a:r>
              <a:rPr lang="en-US" sz="1600">
                <a:solidFill>
                  <a:srgbClr val="F0F0F0"/>
                </a:solidFill>
                <a:latin typeface="Arial"/>
              </a:rPr>
              <a:t>−</a:t>
            </a:r>
            <a:r>
              <a:rPr lang="en-US" sz="1600">
                <a:solidFill>
                  <a:srgbClr val="F0F0F0"/>
                </a:solidFill>
                <a:latin typeface="Arial"/>
              </a:rPr>
              <a:t> </a:t>
            </a:r>
            <mc:AlternateContent xmlns:mc="http://schemas.openxmlformats.org/markup-compatibility/2006" xmlns:a14="http://schemas.microsoft.com/office/drawing/2010/main">
              <mc:Choice Requires="a14">
                <a14:m>
                  <m:oMath xmlns:m="http://schemas.openxmlformats.org/officeDocument/2006/math">
                    <m:r>
                      <m:rPr>
                        <m:sty m:val="p"/>
                      </m:rPr>
                      <m:t>csc</m:t>
                    </m:r>
                    <m:r>
                      <m:t>x</m:t>
                    </m:r>
                  </m:oMath>
                </a14:m>
              </mc:Choice>
            </mc:AlternateContent>
            <a:r>
              <a:rPr lang="en-US" sz="1600">
                <a:solidFill>
                  <a:srgbClr val="F0F0F0"/>
                </a:solidFill>
                <a:latin typeface="Arial"/>
              </a:rPr>
              <a:t> </a:t>
            </a:r>
            <a:r>
              <a:rPr lang="en-US" sz="1600">
                <a:solidFill>
                  <a:srgbClr val="F0F0F0"/>
                </a:solidFill>
                <a:latin typeface="Arial"/>
              </a:rPr>
              <a:t>+ c</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923544"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58952" cy="402336"/>
          </a:xfrm>
          <a:prstGeom prst="rect">
            <a:avLst/>
          </a:prstGeom>
          <a:noFill/>
        </p:spPr>
        <p:txBody>
          <a:bodyPr wrap="none" anchor="ctr" lIns="0" rIns="0" tIns="0" bIns="0">
            <a:spAutoFit/>
          </a:bodyPr>
          <a:lstStyle/>
          <a:p>
            <a:pPr algn="l"/>
            <a:r>
              <a:rPr sz="1500" b="1">
                <a:solidFill>
                  <a:srgbClr val="FAD02C"/>
                </a:solidFill>
                <a:latin typeface="Arial"/>
              </a:rPr>
              <a:t>2024-2</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defRPr sz="1800" b="1">
                <a:solidFill>
                  <a:srgbClr val="FAD02C"/>
                </a:solidFill>
                <a:latin typeface="Arial"/>
              </a:defRPr>
            </a:pPr>
            <mc:AlternateContent xmlns:mc="http://schemas.openxmlformats.org/markup-compatibility/2006" xmlns:a14="http://schemas.microsoft.com/office/drawing/2010/main">
              <mc:Choice Requires="a14">
                <a14:m>
                  <m:oMath xmlns:m="http://schemas.openxmlformats.org/officeDocument/2006/math">
                    <m:nary>
                      <m:naryPr>
                        <m:chr m:val="∫"/>
                        <m:limLoc m:val="subSup"/>
                        <m:subHide m:val="off"/>
                        <m:supHide m:val="off"/>
                      </m:naryPr>
                      <m:sub>
                        <m:r>
                          <m:t>0</m:t>
                        </m:r>
                      </m:sub>
                      <m:sup>
                        <m:r>
                          <m:t>1</m:t>
                        </m:r>
                      </m:sup>
                      <m:e>
                        <m:f>
                          <m:fPr>
                            <m:type m:val="bar"/>
                          </m:fPr>
                          <m:num>
                            <m:r>
                              <m:t>1</m:t>
                            </m:r>
                          </m:num>
                          <m:den>
                            <m:r>
                              <m:rPr>
                                <m:sty m:val="p"/>
                              </m:rPr>
                              <m:t>(</m:t>
                            </m:r>
                            <m:r>
                              <m:t>1</m:t>
                            </m:r>
                            <m:r>
                              <m:rPr>
                                <m:sty m:val="p"/>
                              </m:rPr>
                              <m:t>+</m:t>
                            </m:r>
                            <m:sSup>
                              <m:e>
                                <m:r>
                                  <m:t>x</m:t>
                                </m:r>
                              </m:e>
                              <m:sup>
                                <m:r>
                                  <m:t>2</m:t>
                                </m:r>
                              </m:sup>
                            </m:sSup>
                            <m:r>
                              <m:rPr>
                                <m:sty m:val="p"/>
                              </m:rPr>
                              <m:t>)</m:t>
                            </m:r>
                          </m:den>
                        </m:f>
                      </m:e>
                    </m:nary>
                  </m:oMath>
                </a14:m>
              </mc:Choice>
            </mc:AlternateContent>
            <a:r>
              <a:rPr lang="en-US" sz="1800" b="1">
                <a:solidFill>
                  <a:srgbClr val="FAD02C"/>
                </a:solidFill>
                <a:latin typeface="Arial"/>
              </a:rPr>
              <a:t> </a:t>
            </a:r>
            <a:r>
              <a:rPr lang="en-US" sz="1800" b="1">
                <a:solidFill>
                  <a:srgbClr val="FAD02C"/>
                </a:solidFill>
                <a:latin typeface="Arial"/>
              </a:rPr>
              <a:t>dx is</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A. </a:t>
            </a:r>
            <mc:AlternateContent xmlns:mc="http://schemas.openxmlformats.org/markup-compatibility/2006" xmlns:a14="http://schemas.microsoft.com/office/drawing/2010/main">
              <mc:Choice Requires="a14">
                <a14:m>
                  <m:oMath xmlns:m="http://schemas.openxmlformats.org/officeDocument/2006/math">
                    <m:f>
                      <m:fPr>
                        <m:type m:val="bar"/>
                      </m:fPr>
                      <m:num>
                        <m:r>
                          <m:t>π</m:t>
                        </m:r>
                      </m:num>
                      <m:den>
                        <m:r>
                          <m:t>3</m:t>
                        </m:r>
                      </m:den>
                    </m:f>
                  </m:oMath>
                </a14:m>
              </mc:Choice>
            </mc:AlternateContent>
            <a:r>
              <a:rPr lang="en-US" sz="1600">
                <a:solidFill>
                  <a:srgbClr val="F0F0F0"/>
                </a:solidFill>
                <a:latin typeface="Arial"/>
              </a:rPr>
              <a:t>​</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B. </a:t>
            </a:r>
            <mc:AlternateContent xmlns:mc="http://schemas.openxmlformats.org/markup-compatibility/2006" xmlns:a14="http://schemas.microsoft.com/office/drawing/2010/main">
              <mc:Choice Requires="a14">
                <a14:m>
                  <m:oMath xmlns:m="http://schemas.openxmlformats.org/officeDocument/2006/math">
                    <m:f>
                      <m:fPr>
                        <m:type m:val="bar"/>
                      </m:fPr>
                      <m:num>
                        <m:r>
                          <m:t>π</m:t>
                        </m:r>
                      </m:num>
                      <m:den>
                        <m:r>
                          <m:t>6</m:t>
                        </m:r>
                      </m:den>
                    </m:f>
                  </m:oMath>
                </a14:m>
              </mc:Choice>
            </mc:AlternateContent>
            <a:r>
              <a:rPr lang="en-US" sz="1600">
                <a:solidFill>
                  <a:srgbClr val="F0F0F0"/>
                </a:solidFill>
                <a:latin typeface="Arial"/>
              </a:rPr>
              <a:t>​</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C. </a:t>
            </a:r>
            <mc:AlternateContent xmlns:mc="http://schemas.openxmlformats.org/markup-compatibility/2006" xmlns:a14="http://schemas.microsoft.com/office/drawing/2010/main">
              <mc:Choice Requires="a14">
                <a14:m>
                  <m:oMath xmlns:m="http://schemas.openxmlformats.org/officeDocument/2006/math">
                    <m:f>
                      <m:fPr>
                        <m:type m:val="bar"/>
                      </m:fPr>
                      <m:num>
                        <m:r>
                          <m:t>π</m:t>
                        </m:r>
                      </m:num>
                      <m:den>
                        <m:r>
                          <m:t>2</m:t>
                        </m:r>
                      </m:den>
                    </m:f>
                  </m:oMath>
                </a14:m>
              </mc:Choice>
            </mc:AlternateContent>
            <a:r>
              <a:rPr lang="en-US" sz="1600">
                <a:solidFill>
                  <a:srgbClr val="F0F0F0"/>
                </a:solidFill>
                <a:latin typeface="Arial"/>
              </a:rPr>
              <a:t>​</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D. </a:t>
            </a:r>
            <mc:AlternateContent xmlns:mc="http://schemas.openxmlformats.org/markup-compatibility/2006" xmlns:a14="http://schemas.microsoft.com/office/drawing/2010/main">
              <mc:Choice Requires="a14">
                <a14:m>
                  <m:oMath xmlns:m="http://schemas.openxmlformats.org/officeDocument/2006/math">
                    <m:f>
                      <m:fPr>
                        <m:type m:val="bar"/>
                      </m:fPr>
                      <m:num>
                        <m:r>
                          <m:t>π</m:t>
                        </m:r>
                      </m:num>
                      <m:den>
                        <m:r>
                          <m:t>4</m:t>
                        </m:r>
                      </m:den>
                    </m:f>
                  </m:oMath>
                </a14:m>
              </mc:Choice>
            </mc:AlternateContent>
            <a:r>
              <a:rPr lang="en-US" sz="1600">
                <a:solidFill>
                  <a:srgbClr val="F0F0F0"/>
                </a:solidFill>
                <a:latin typeface="Arial"/>
              </a:rPr>
              <a:t>​</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923544"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58952" cy="402336"/>
          </a:xfrm>
          <a:prstGeom prst="rect">
            <a:avLst/>
          </a:prstGeom>
          <a:noFill/>
        </p:spPr>
        <p:txBody>
          <a:bodyPr wrap="none" anchor="ctr" lIns="0" rIns="0" tIns="0" bIns="0">
            <a:spAutoFit/>
          </a:bodyPr>
          <a:lstStyle/>
          <a:p>
            <a:pPr algn="l"/>
            <a:r>
              <a:rPr sz="1500" b="1">
                <a:solidFill>
                  <a:srgbClr val="FAD02C"/>
                </a:solidFill>
                <a:latin typeface="Arial"/>
              </a:rPr>
              <a:t>2024-3</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defRPr sz="1800" b="1">
                <a:solidFill>
                  <a:srgbClr val="FAD02C"/>
                </a:solidFill>
                <a:latin typeface="Arial"/>
              </a:defRPr>
            </a:pPr>
            <mc:AlternateContent xmlns:mc="http://schemas.openxmlformats.org/markup-compatibility/2006" xmlns:a14="http://schemas.microsoft.com/office/drawing/2010/main">
              <mc:Choice Requires="a14">
                <a14:m>
                  <m:oMath xmlns:m="http://schemas.openxmlformats.org/officeDocument/2006/math">
                    <m:r>
                      <m:rPr>
                        <m:sty m:val="p"/>
                      </m:rPr>
                      <m:t>∫</m:t>
                    </m:r>
                    <m:r>
                      <m:rPr>
                        <m:sty m:val="p"/>
                      </m:rPr>
                      <m:t>tan</m:t>
                    </m:r>
                    <m:r>
                      <m:t>2</m:t>
                    </m:r>
                    <m:r>
                      <m:t>x</m:t>
                    </m:r>
                  </m:oMath>
                </a14:m>
              </mc:Choice>
            </mc:AlternateContent>
            <a:r>
              <a:rPr lang="en-US" sz="1800" b="1">
                <a:solidFill>
                  <a:srgbClr val="FAD02C"/>
                </a:solidFill>
                <a:latin typeface="Arial"/>
              </a:rPr>
              <a:t> </a:t>
            </a:r>
            <a:r>
              <a:rPr lang="en-US" sz="1800" b="1">
                <a:solidFill>
                  <a:srgbClr val="FAD02C"/>
                </a:solidFill>
                <a:latin typeface="Arial"/>
              </a:rPr>
              <a:t>dx is equal to</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A. </a:t>
            </a:r>
            <mc:AlternateContent xmlns:mc="http://schemas.openxmlformats.org/markup-compatibility/2006" xmlns:a14="http://schemas.microsoft.com/office/drawing/2010/main">
              <mc:Choice Requires="a14">
                <a14:m>
                  <m:oMath xmlns:m="http://schemas.openxmlformats.org/officeDocument/2006/math">
                    <m:r>
                      <m:t>x</m:t>
                    </m:r>
                    <m:r>
                      <m:rPr>
                        <m:sty m:val="p"/>
                      </m:rPr>
                      <m:t>−</m:t>
                    </m:r>
                    <m:r>
                      <m:rPr>
                        <m:sty m:val="p"/>
                      </m:rPr>
                      <m:t>tan</m:t>
                    </m:r>
                    <m:r>
                      <m:t>x</m:t>
                    </m:r>
                  </m:oMath>
                </a14:m>
              </mc:Choice>
            </mc:AlternateContent>
            <a:r>
              <a:rPr lang="en-US" sz="1600">
                <a:solidFill>
                  <a:srgbClr val="F0F0F0"/>
                </a:solidFill>
                <a:latin typeface="Arial"/>
              </a:rPr>
              <a:t> </a:t>
            </a:r>
            <a:r>
              <a:rPr lang="en-US" sz="1600">
                <a:solidFill>
                  <a:srgbClr val="F0F0F0"/>
                </a:solidFill>
                <a:latin typeface="Arial"/>
              </a:rPr>
              <a:t>+c</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B. </a:t>
            </a:r>
            <mc:AlternateContent xmlns:mc="http://schemas.openxmlformats.org/markup-compatibility/2006" xmlns:a14="http://schemas.microsoft.com/office/drawing/2010/main">
              <mc:Choice Requires="a14">
                <a14:m>
                  <m:oMath xmlns:m="http://schemas.openxmlformats.org/officeDocument/2006/math">
                    <m:r>
                      <m:rPr>
                        <m:sty m:val="p"/>
                      </m:rPr>
                      <m:t>tan</m:t>
                    </m:r>
                    <m:r>
                      <m:t>x</m:t>
                    </m:r>
                    <m:r>
                      <m:rPr>
                        <m:sty m:val="p"/>
                      </m:rPr>
                      <m:t>−</m:t>
                    </m:r>
                    <m:r>
                      <m:t>x</m:t>
                    </m:r>
                  </m:oMath>
                </a14:m>
              </mc:Choice>
            </mc:AlternateContent>
            <a:r>
              <a:rPr lang="en-US" sz="1600">
                <a:solidFill>
                  <a:srgbClr val="F0F0F0"/>
                </a:solidFill>
                <a:latin typeface="Arial"/>
              </a:rPr>
              <a:t> </a:t>
            </a:r>
            <a:r>
              <a:rPr lang="en-US" sz="1600">
                <a:solidFill>
                  <a:srgbClr val="F0F0F0"/>
                </a:solidFill>
                <a:latin typeface="Arial"/>
              </a:rPr>
              <a:t>+c</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C. </a:t>
            </a:r>
            <mc:AlternateContent xmlns:mc="http://schemas.openxmlformats.org/markup-compatibility/2006" xmlns:a14="http://schemas.microsoft.com/office/drawing/2010/main">
              <mc:Choice Requires="a14">
                <a14:m>
                  <m:oMath xmlns:m="http://schemas.openxmlformats.org/officeDocument/2006/math">
                    <m:r>
                      <m:rPr>
                        <m:sty m:val="p"/>
                      </m:rPr>
                      <m:t>sec</m:t>
                    </m:r>
                    <m:r>
                      <m:t>2</m:t>
                    </m:r>
                    <m:r>
                      <m:t>x</m:t>
                    </m:r>
                    <m:r>
                      <m:rPr>
                        <m:sty m:val="p"/>
                      </m:rPr>
                      <m:t>−</m:t>
                    </m:r>
                    <m:r>
                      <m:t>x</m:t>
                    </m:r>
                  </m:oMath>
                </a14:m>
              </mc:Choice>
            </mc:AlternateContent>
            <a:r>
              <a:rPr lang="en-US" sz="1600">
                <a:solidFill>
                  <a:srgbClr val="F0F0F0"/>
                </a:solidFill>
                <a:latin typeface="Arial"/>
              </a:rPr>
              <a:t> </a:t>
            </a:r>
            <a:r>
              <a:rPr lang="en-US" sz="1600">
                <a:solidFill>
                  <a:srgbClr val="F0F0F0"/>
                </a:solidFill>
                <a:latin typeface="Arial"/>
              </a:rPr>
              <a:t>+ c</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D. </a:t>
            </a:r>
            <mc:AlternateContent xmlns:mc="http://schemas.openxmlformats.org/markup-compatibility/2006" xmlns:a14="http://schemas.microsoft.com/office/drawing/2010/main">
              <mc:Choice Requires="a14">
                <a14:m>
                  <m:oMath xmlns:m="http://schemas.openxmlformats.org/officeDocument/2006/math">
                    <m:r>
                      <m:t>x</m:t>
                    </m:r>
                  </m:oMath>
                </a14:m>
              </mc:Choice>
            </mc:AlternateContent>
            <a:r>
              <a:rPr lang="en-US" sz="1600">
                <a:solidFill>
                  <a:srgbClr val="F0F0F0"/>
                </a:solidFill>
                <a:latin typeface="Arial"/>
              </a:rPr>
              <a:t> </a:t>
            </a:r>
            <a:r>
              <a:rPr lang="en-US" sz="1600">
                <a:solidFill>
                  <a:srgbClr val="F0F0F0"/>
                </a:solidFill>
                <a:latin typeface="Arial"/>
              </a:rPr>
              <a:t>–</a:t>
            </a:r>
            <a:r>
              <a:rPr lang="en-US" sz="1600">
                <a:solidFill>
                  <a:srgbClr val="F0F0F0"/>
                </a:solidFill>
                <a:latin typeface="Arial"/>
              </a:rPr>
              <a:t> </a:t>
            </a:r>
            <mc:AlternateContent xmlns:mc="http://schemas.openxmlformats.org/markup-compatibility/2006" xmlns:a14="http://schemas.microsoft.com/office/drawing/2010/main">
              <mc:Choice Requires="a14">
                <a14:m>
                  <m:oMath xmlns:m="http://schemas.openxmlformats.org/officeDocument/2006/math">
                    <m:r>
                      <m:rPr>
                        <m:sty m:val="p"/>
                      </m:rPr>
                      <m:t>sec</m:t>
                    </m:r>
                    <m:r>
                      <m:t>2</m:t>
                    </m:r>
                    <m:r>
                      <m:t>x</m:t>
                    </m:r>
                  </m:oMath>
                </a14:m>
              </mc:Choice>
            </mc:AlternateContent>
            <a:r>
              <a:rPr lang="en-US" sz="1600">
                <a:solidFill>
                  <a:srgbClr val="F0F0F0"/>
                </a:solidFill>
                <a:latin typeface="Arial"/>
              </a:rPr>
              <a:t> </a:t>
            </a:r>
            <a:r>
              <a:rPr lang="en-US" sz="1600">
                <a:solidFill>
                  <a:srgbClr val="F0F0F0"/>
                </a:solidFill>
                <a:latin typeface="Arial"/>
              </a:rPr>
              <a:t>+ c</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2025-1</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defRPr sz="1800" b="1">
                <a:solidFill>
                  <a:srgbClr val="FAD02C"/>
                </a:solidFill>
                <a:latin typeface="Arial"/>
              </a:defRPr>
            </a:pPr>
            <mc:AlternateContent xmlns:mc="http://schemas.openxmlformats.org/markup-compatibility/2006" xmlns:a14="http://schemas.microsoft.com/office/drawing/2010/main">
              <mc:Choice Requires="a14">
                <a14:m>
                  <m:oMath xmlns:m="http://schemas.openxmlformats.org/officeDocument/2006/math">
                    <m:r>
                      <m:rPr>
                        <m:sty m:val="p"/>
                      </m:rPr>
                      <m:t>∫</m:t>
                    </m:r>
                    <m:sSup>
                      <m:e>
                        <m:r>
                          <m:t>e</m:t>
                        </m:r>
                      </m:e>
                      <m:sup>
                        <m:r>
                          <m:t>x</m:t>
                        </m:r>
                      </m:sup>
                    </m:sSup>
                    <m:r>
                      <m:rPr>
                        <m:sty m:val="p"/>
                      </m:rPr>
                      <m:t>(</m:t>
                    </m:r>
                    <m:r>
                      <m:rPr>
                        <m:sty m:val="p"/>
                      </m:rPr>
                      <m:t>sin</m:t>
                    </m:r>
                    <m:r>
                      <m:t>x</m:t>
                    </m:r>
                    <m:r>
                      <m:rPr>
                        <m:sty m:val="p"/>
                      </m:rPr>
                      <m:t>−</m:t>
                    </m:r>
                    <m:r>
                      <m:rPr>
                        <m:sty m:val="p"/>
                      </m:rPr>
                      <m:t>cos</m:t>
                    </m:r>
                    <m:r>
                      <m:t>x</m:t>
                    </m:r>
                    <m:r>
                      <m:rPr>
                        <m:sty m:val="p"/>
                      </m:rPr>
                      <m:t>)</m:t>
                    </m:r>
                    <m:r>
                      <m:t> </m:t>
                    </m:r>
                    <m:r>
                      <m:t>d</m:t>
                    </m:r>
                    <m:r>
                      <m:t>x</m:t>
                    </m:r>
                  </m:oMath>
                </a14:m>
              </mc:Choice>
            </mc:AlternateContent>
            <a:r>
              <a:rPr lang="en-US" sz="1800" b="1">
                <a:solidFill>
                  <a:srgbClr val="FAD02C"/>
                </a:solidFill>
                <a:latin typeface="Arial"/>
              </a:rPr>
              <a:t> </a:t>
            </a:r>
            <a:r>
              <a:rPr lang="en-US" sz="1800" b="1">
                <a:solidFill>
                  <a:srgbClr val="FAD02C"/>
                </a:solidFill>
                <a:latin typeface="Arial"/>
              </a:rPr>
              <a:t>is</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A. </a:t>
            </a:r>
            <mc:AlternateContent xmlns:mc="http://schemas.openxmlformats.org/markup-compatibility/2006" xmlns:a14="http://schemas.microsoft.com/office/drawing/2010/main">
              <mc:Choice Requires="a14">
                <a14:m>
                  <m:oMath xmlns:m="http://schemas.openxmlformats.org/officeDocument/2006/math">
                    <m:r>
                      <m:rPr>
                        <m:sty m:val="p"/>
                      </m:rPr>
                      <m:t>−</m:t>
                    </m:r>
                    <m:sSup>
                      <m:e>
                        <m:r>
                          <m:t>e</m:t>
                        </m:r>
                      </m:e>
                      <m:sup>
                        <m:r>
                          <m:t>x</m:t>
                        </m:r>
                      </m:sup>
                    </m:sSup>
                    <m:r>
                      <m:rPr>
                        <m:sty m:val="p"/>
                      </m:rPr>
                      <m:t>cos</m:t>
                    </m:r>
                    <m:r>
                      <m:t>x</m:t>
                    </m:r>
                  </m:oMath>
                </a14:m>
              </mc:Choice>
            </mc:AlternateContent>
            <a:r>
              <a:rPr lang="en-US" sz="1600">
                <a:solidFill>
                  <a:srgbClr val="F0F0F0"/>
                </a:solidFill>
                <a:latin typeface="Arial"/>
              </a:rPr>
              <a:t>​</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B. </a:t>
            </a:r>
            <mc:AlternateContent xmlns:mc="http://schemas.openxmlformats.org/markup-compatibility/2006" xmlns:a14="http://schemas.microsoft.com/office/drawing/2010/main">
              <mc:Choice Requires="a14">
                <a14:m>
                  <m:oMath xmlns:m="http://schemas.openxmlformats.org/officeDocument/2006/math">
                    <m:sSup>
                      <m:e>
                        <m:r>
                          <m:t>e</m:t>
                        </m:r>
                      </m:e>
                      <m:sup>
                        <m:r>
                          <m:t>x</m:t>
                        </m:r>
                      </m:sup>
                    </m:sSup>
                    <m:r>
                      <m:rPr>
                        <m:sty m:val="p"/>
                      </m:rPr>
                      <m:t>cos</m:t>
                    </m:r>
                    <m:r>
                      <m:t>x</m:t>
                    </m:r>
                  </m:oMath>
                </a14:m>
              </mc:Choice>
            </mc:AlternateContent>
            <a:r>
              <a:rPr lang="en-US" sz="1600">
                <a:solidFill>
                  <a:srgbClr val="F0F0F0"/>
                </a:solidFill>
                <a:latin typeface="Arial"/>
              </a:rPr>
              <a:t>​</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C. </a:t>
            </a:r>
            <mc:AlternateContent xmlns:mc="http://schemas.openxmlformats.org/markup-compatibility/2006" xmlns:a14="http://schemas.microsoft.com/office/drawing/2010/main">
              <mc:Choice Requires="a14">
                <a14:m>
                  <m:oMath xmlns:m="http://schemas.openxmlformats.org/officeDocument/2006/math">
                    <m:sSup>
                      <m:e>
                        <m:r>
                          <m:t>e</m:t>
                        </m:r>
                      </m:e>
                      <m:sup>
                        <m:r>
                          <m:t>x</m:t>
                        </m:r>
                      </m:sup>
                    </m:sSup>
                    <m:r>
                      <m:rPr>
                        <m:sty m:val="p"/>
                      </m:rPr>
                      <m:t>sin</m:t>
                    </m:r>
                    <m:r>
                      <m:t>x</m:t>
                    </m:r>
                  </m:oMath>
                </a14:m>
              </mc:Choice>
            </mc:AlternateContent>
            <a:r>
              <a:rPr lang="en-US" sz="1600">
                <a:solidFill>
                  <a:srgbClr val="F0F0F0"/>
                </a:solidFill>
                <a:latin typeface="Arial"/>
              </a:rPr>
              <a:t>​</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D. </a:t>
            </a:r>
            <mc:AlternateContent xmlns:mc="http://schemas.openxmlformats.org/markup-compatibility/2006" xmlns:a14="http://schemas.microsoft.com/office/drawing/2010/main">
              <mc:Choice Requires="a14">
                <a14:m>
                  <m:oMath xmlns:m="http://schemas.openxmlformats.org/officeDocument/2006/math">
                    <m:sSup>
                      <m:e>
                        <m:r>
                          <m:t>e</m:t>
                        </m:r>
                      </m:e>
                      <m:sup>
                        <m:r>
                          <m:t>x</m:t>
                        </m:r>
                      </m:sup>
                    </m:sSup>
                    <m:sSup>
                      <m:e>
                        <m:r>
                          <m:rPr>
                            <m:sty m:val="p"/>
                          </m:rPr>
                          <m:t>sin</m:t>
                        </m:r>
                      </m:e>
                      <m:sup>
                        <m:r>
                          <m:t>2</m:t>
                        </m:r>
                      </m:sup>
                    </m:sSup>
                    <m:r>
                      <m:t>x</m:t>
                    </m:r>
                  </m:oMath>
                </a14:m>
              </mc:Choice>
            </mc:AlternateContent>
            <a:r>
              <a:rPr lang="en-US" sz="1600">
                <a:solidFill>
                  <a:srgbClr val="F0F0F0"/>
                </a:solidFill>
                <a:latin typeface="Arial"/>
              </a:rPr>
              <a:t>​</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923544"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58952" cy="402336"/>
          </a:xfrm>
          <a:prstGeom prst="rect">
            <a:avLst/>
          </a:prstGeom>
          <a:noFill/>
        </p:spPr>
        <p:txBody>
          <a:bodyPr wrap="none" anchor="ctr" lIns="0" rIns="0" tIns="0" bIns="0">
            <a:spAutoFit/>
          </a:bodyPr>
          <a:lstStyle/>
          <a:p>
            <a:pPr algn="l"/>
            <a:r>
              <a:rPr sz="1500" b="1">
                <a:solidFill>
                  <a:srgbClr val="FAD02C"/>
                </a:solidFill>
                <a:latin typeface="Arial"/>
              </a:rPr>
              <a:t>2025-3</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defRPr sz="1800" b="1">
                <a:solidFill>
                  <a:srgbClr val="FAD02C"/>
                </a:solidFill>
                <a:latin typeface="Arial"/>
              </a:defRPr>
            </a:pPr>
            <mc:AlternateContent xmlns:mc="http://schemas.openxmlformats.org/markup-compatibility/2006" xmlns:a14="http://schemas.microsoft.com/office/drawing/2010/main">
              <mc:Choice Requires="a14">
                <a14:m>
                  <m:oMath xmlns:m="http://schemas.openxmlformats.org/officeDocument/2006/math">
                    <m:r>
                      <m:rPr>
                        <m:sty m:val="p"/>
                      </m:rPr>
                      <m:t>∫</m:t>
                    </m:r>
                    <m:sSup>
                      <m:e>
                        <m:r>
                          <m:t>e</m:t>
                        </m:r>
                      </m:e>
                      <m:sup>
                        <m:r>
                          <m:t>x</m:t>
                        </m:r>
                      </m:sup>
                    </m:sSup>
                    <m:r>
                      <m:rPr>
                        <m:sty m:val="p"/>
                      </m:rPr>
                      <m:t>(</m:t>
                    </m:r>
                    <m:r>
                      <m:t>1</m:t>
                    </m:r>
                    <m:r>
                      <m:rPr>
                        <m:sty m:val="p"/>
                      </m:rPr>
                      <m:t>+</m:t>
                    </m:r>
                    <m:r>
                      <m:rPr>
                        <m:sty m:val="p"/>
                      </m:rPr>
                      <m:t>tan</m:t>
                    </m:r>
                    <m:r>
                      <m:t>x</m:t>
                    </m:r>
                    <m:r>
                      <m:rPr>
                        <m:sty m:val="p"/>
                      </m:rPr>
                      <m:t>+</m:t>
                    </m:r>
                    <m:sSup>
                      <m:e>
                        <m:r>
                          <m:rPr>
                            <m:sty m:val="p"/>
                          </m:rPr>
                          <m:t>tan</m:t>
                        </m:r>
                      </m:e>
                      <m:sup>
                        <m:r>
                          <m:t>2</m:t>
                        </m:r>
                      </m:sup>
                    </m:sSup>
                    <m:r>
                      <m:t>x</m:t>
                    </m:r>
                    <m:r>
                      <m:rPr>
                        <m:sty m:val="p"/>
                      </m:rPr>
                      <m:t>)</m:t>
                    </m:r>
                    <m:r>
                      <m:t> </m:t>
                    </m:r>
                    <m:r>
                      <m:t>d</m:t>
                    </m:r>
                    <m:r>
                      <m:t>x</m:t>
                    </m:r>
                    <m:r>
                      <m:rPr>
                        <m:sty m:val="p"/>
                      </m:rPr>
                      <m:t>=</m:t>
                    </m:r>
                  </m:oMath>
                </a14:m>
              </mc:Choice>
            </mc:AlternateContent>
            <a:r>
              <a:rPr lang="en-US" sz="1800" b="1">
                <a:solidFill>
                  <a:srgbClr val="FAD02C"/>
                </a:solidFill>
                <a:latin typeface="Arial"/>
              </a:rPr>
              <a:t>​</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A. </a:t>
            </a:r>
            <mc:AlternateContent xmlns:mc="http://schemas.openxmlformats.org/markup-compatibility/2006" xmlns:a14="http://schemas.microsoft.com/office/drawing/2010/main">
              <mc:Choice Requires="a14">
                <a14:m>
                  <m:oMath xmlns:m="http://schemas.openxmlformats.org/officeDocument/2006/math">
                    <m:r>
                      <m:rPr>
                        <m:sty m:val="p"/>
                      </m:rPr>
                      <m:t>tan</m:t>
                    </m:r>
                    <m:r>
                      <m:t>x</m:t>
                    </m:r>
                    <m:r>
                      <m:rPr>
                        <m:sty m:val="p"/>
                      </m:rPr>
                      <m:t>+</m:t>
                    </m:r>
                    <m:r>
                      <m:t>C</m:t>
                    </m:r>
                  </m:oMath>
                </a14:m>
              </mc:Choice>
            </mc:AlternateContent>
            <a:r>
              <a:rPr lang="en-US" sz="1600">
                <a:solidFill>
                  <a:srgbClr val="F0F0F0"/>
                </a:solidFill>
                <a:latin typeface="Arial"/>
              </a:rPr>
              <a:t>​</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B. </a:t>
            </a:r>
            <mc:AlternateContent xmlns:mc="http://schemas.openxmlformats.org/markup-compatibility/2006" xmlns:a14="http://schemas.microsoft.com/office/drawing/2010/main">
              <mc:Choice Requires="a14">
                <a14:m>
                  <m:oMath xmlns:m="http://schemas.openxmlformats.org/officeDocument/2006/math">
                    <m:sSup>
                      <m:e>
                        <m:r>
                          <m:t>e</m:t>
                        </m:r>
                      </m:e>
                      <m:sup>
                        <m:r>
                          <m:t>x</m:t>
                        </m:r>
                      </m:sup>
                    </m:sSup>
                    <m:r>
                      <m:rPr>
                        <m:sty m:val="p"/>
                      </m:rPr>
                      <m:t>tan</m:t>
                    </m:r>
                    <m:r>
                      <m:t>x</m:t>
                    </m:r>
                    <m:r>
                      <m:rPr>
                        <m:sty m:val="p"/>
                      </m:rPr>
                      <m:t>+</m:t>
                    </m:r>
                    <m:r>
                      <m:t>C</m:t>
                    </m:r>
                  </m:oMath>
                </a14:m>
              </mc:Choice>
            </mc:AlternateContent>
            <a:r>
              <a:rPr lang="en-US" sz="1600">
                <a:solidFill>
                  <a:srgbClr val="F0F0F0"/>
                </a:solidFill>
                <a:latin typeface="Arial"/>
              </a:rPr>
              <a:t>​</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C. </a:t>
            </a:r>
            <mc:AlternateContent xmlns:mc="http://schemas.openxmlformats.org/markup-compatibility/2006" xmlns:a14="http://schemas.microsoft.com/office/drawing/2010/main">
              <mc:Choice Requires="a14">
                <a14:m>
                  <m:oMath xmlns:m="http://schemas.openxmlformats.org/officeDocument/2006/math">
                    <m:sSup>
                      <m:e>
                        <m:r>
                          <m:t>e</m:t>
                        </m:r>
                      </m:e>
                      <m:sup>
                        <m:r>
                          <m:t>x</m:t>
                        </m:r>
                      </m:sup>
                    </m:sSup>
                    <m:r>
                      <m:rPr>
                        <m:sty m:val="p"/>
                      </m:rPr>
                      <m:t>sec</m:t>
                    </m:r>
                    <m:r>
                      <m:t>x</m:t>
                    </m:r>
                    <m:r>
                      <m:rPr>
                        <m:sty m:val="p"/>
                      </m:rPr>
                      <m:t>+</m:t>
                    </m:r>
                    <m:r>
                      <m:t>C</m:t>
                    </m:r>
                  </m:oMath>
                </a14:m>
              </mc:Choice>
            </mc:AlternateContent>
            <a:r>
              <a:rPr lang="en-US" sz="1600">
                <a:solidFill>
                  <a:srgbClr val="F0F0F0"/>
                </a:solidFill>
                <a:latin typeface="Arial"/>
              </a:rPr>
              <a:t>​</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D. </a:t>
            </a:r>
            <mc:AlternateContent xmlns:mc="http://schemas.openxmlformats.org/markup-compatibility/2006" xmlns:a14="http://schemas.microsoft.com/office/drawing/2010/main">
              <mc:Choice Requires="a14">
                <a14:m>
                  <m:oMath xmlns:m="http://schemas.openxmlformats.org/officeDocument/2006/math">
                    <m:r>
                      <m:rPr>
                        <m:sty m:val="p"/>
                      </m:rPr>
                      <m:t>sec</m:t>
                    </m:r>
                    <m:r>
                      <m:t>x</m:t>
                    </m:r>
                    <m:r>
                      <m:rPr>
                        <m:sty m:val="p"/>
                      </m:rPr>
                      <m:t>+</m:t>
                    </m:r>
                    <m:r>
                      <m:t>C</m:t>
                    </m:r>
                  </m:oMath>
                </a14:m>
              </mc:Choice>
            </mc:AlternateContent>
            <a:r>
              <a:rPr lang="en-US" sz="1600">
                <a:solidFill>
                  <a:srgbClr val="F0F0F0"/>
                </a:solidFill>
                <a:latin typeface="Arial"/>
              </a:rPr>
              <a:t>​</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1545336"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1380744" cy="402336"/>
          </a:xfrm>
          <a:prstGeom prst="rect">
            <a:avLst/>
          </a:prstGeom>
          <a:noFill/>
        </p:spPr>
        <p:txBody>
          <a:bodyPr wrap="none" anchor="ctr" lIns="0" rIns="0" tIns="0" bIns="0">
            <a:spAutoFit/>
          </a:bodyPr>
          <a:lstStyle/>
          <a:p>
            <a:pPr algn="l"/>
            <a:r>
              <a:rPr sz="1500" b="1">
                <a:solidFill>
                  <a:srgbClr val="FAD02C"/>
                </a:solidFill>
                <a:latin typeface="Arial"/>
              </a:rPr>
              <a:t>2024-3,2026-1</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defRPr sz="1800" b="1">
                <a:solidFill>
                  <a:srgbClr val="FAD02C"/>
                </a:solidFill>
                <a:latin typeface="Arial"/>
              </a:defRPr>
            </a:pPr>
            <a:r>
              <a:rPr lang="en-US" sz="1800" b="1">
                <a:solidFill>
                  <a:srgbClr val="FAD02C"/>
                </a:solidFill>
                <a:latin typeface="Arial"/>
              </a:rPr>
              <a:t>The value of</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nary>
                      <m:naryPr>
                        <m:chr m:val="∫"/>
                        <m:limLoc m:val="subSup"/>
                        <m:subHide m:val="off"/>
                        <m:supHide m:val="off"/>
                      </m:naryPr>
                      <m:sub>
                        <m:r>
                          <m:rPr>
                            <m:sty m:val="p"/>
                          </m:rPr>
                          <m:t>−</m:t>
                        </m:r>
                        <m:f>
                          <m:fPr>
                            <m:type m:val="bar"/>
                          </m:fPr>
                          <m:num>
                            <m:r>
                              <m:t>π</m:t>
                            </m:r>
                          </m:num>
                          <m:den>
                            <m:r>
                              <m:t>2</m:t>
                            </m:r>
                          </m:den>
                        </m:f>
                      </m:sub>
                      <m:sup>
                        <m:f>
                          <m:fPr>
                            <m:type m:val="bar"/>
                          </m:fPr>
                          <m:num>
                            <m:r>
                              <m:t>π</m:t>
                            </m:r>
                          </m:num>
                          <m:den>
                            <m:r>
                              <m:t>2</m:t>
                            </m:r>
                          </m:den>
                        </m:f>
                      </m:sup>
                      <m:e>
                        <m:sSup>
                          <m:e>
                            <m:r>
                              <m:rPr>
                                <m:sty m:val="p"/>
                              </m:rPr>
                              <m:t>sin</m:t>
                            </m:r>
                          </m:e>
                          <m:sup>
                            <m:r>
                              <m:t>7</m:t>
                            </m:r>
                          </m:sup>
                        </m:sSup>
                      </m:e>
                    </m:nary>
                    <m:r>
                      <m:t>x</m:t>
                    </m:r>
                  </m:oMath>
                </a14:m>
              </mc:Choice>
            </mc:AlternateContent>
            <a:r>
              <a:rPr lang="en-US" sz="1800" b="1">
                <a:solidFill>
                  <a:srgbClr val="FAD02C"/>
                </a:solidFill>
                <a:latin typeface="Arial"/>
              </a:rPr>
              <a:t> </a:t>
            </a:r>
            <a:r>
              <a:rPr lang="en-US" sz="1800" b="1">
                <a:solidFill>
                  <a:srgbClr val="FAD02C"/>
                </a:solidFill>
                <a:latin typeface="Arial"/>
              </a:rPr>
              <a:t>dx is</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1</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0</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-1</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7 ss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