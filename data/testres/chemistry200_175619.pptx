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91.png"/><Relationship Id="rId6" Type="http://schemas.openxmlformats.org/officeDocument/2006/relationships/image" Target="../media/image9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3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5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0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Relationship Id="rId5" Type="http://schemas.openxmlformats.org/officeDocument/2006/relationships/image" Target="../media/image125.png"/><Relationship Id="rId6" Type="http://schemas.openxmlformats.org/officeDocument/2006/relationships/image" Target="../media/image12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8.png"/><Relationship Id="rId4" Type="http://schemas.openxmlformats.org/officeDocument/2006/relationships/image" Target="../media/image139.png"/><Relationship Id="rId5" Type="http://schemas.openxmlformats.org/officeDocument/2006/relationships/image" Target="../media/image140.png"/><Relationship Id="rId6" Type="http://schemas.openxmlformats.org/officeDocument/2006/relationships/image" Target="../media/image14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2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6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7.png"/><Relationship Id="rId4" Type="http://schemas.openxmlformats.org/officeDocument/2006/relationships/image" Target="../media/image148.png"/><Relationship Id="rId5" Type="http://schemas.openxmlformats.org/officeDocument/2006/relationships/image" Target="../media/image120.png"/><Relationship Id="rId6" Type="http://schemas.openxmlformats.org/officeDocument/2006/relationships/image" Target="../media/image149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0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9.png"/><Relationship Id="rId4" Type="http://schemas.openxmlformats.org/officeDocument/2006/relationships/image" Target="../media/image160.png"/><Relationship Id="rId5" Type="http://schemas.openxmlformats.org/officeDocument/2006/relationships/image" Target="../media/image161.png"/><Relationship Id="rId6" Type="http://schemas.openxmlformats.org/officeDocument/2006/relationships/image" Target="../media/image162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3.png"/><Relationship Id="rId4" Type="http://schemas.openxmlformats.org/officeDocument/2006/relationships/image" Target="../media/image135.png"/><Relationship Id="rId5" Type="http://schemas.openxmlformats.org/officeDocument/2006/relationships/image" Target="../media/image158.png"/><Relationship Id="rId6" Type="http://schemas.openxmlformats.org/officeDocument/2006/relationships/image" Target="../media/image157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4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8.png"/><Relationship Id="rId4" Type="http://schemas.openxmlformats.org/officeDocument/2006/relationships/image" Target="../media/image169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2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77.png"/><Relationship Id="rId6" Type="http://schemas.openxmlformats.org/officeDocument/2006/relationships/image" Target="../media/image178.png"/><Relationship Id="rId7" Type="http://schemas.openxmlformats.org/officeDocument/2006/relationships/image" Target="../media/image179.png"/><Relationship Id="rId8" Type="http://schemas.openxmlformats.org/officeDocument/2006/relationships/image" Target="../media/image180.png"/><Relationship Id="rId9" Type="http://schemas.openxmlformats.org/officeDocument/2006/relationships/image" Target="../media/image181.png"/><Relationship Id="rId10" Type="http://schemas.openxmlformats.org/officeDocument/2006/relationships/image" Target="../media/image182.png"/><Relationship Id="rId11" Type="http://schemas.openxmlformats.org/officeDocument/2006/relationships/image" Target="../media/image183.png"/><Relationship Id="rId12" Type="http://schemas.openxmlformats.org/officeDocument/2006/relationships/image" Target="../media/image184.png"/><Relationship Id="rId13" Type="http://schemas.openxmlformats.org/officeDocument/2006/relationships/image" Target="../media/image185.png"/><Relationship Id="rId14" Type="http://schemas.openxmlformats.org/officeDocument/2006/relationships/image" Target="../media/image186.png"/><Relationship Id="rId15" Type="http://schemas.openxmlformats.org/officeDocument/2006/relationships/image" Target="../media/image187.png"/><Relationship Id="rId16" Type="http://schemas.openxmlformats.org/officeDocument/2006/relationships/image" Target="../media/image188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9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4.png"/><Relationship Id="rId4" Type="http://schemas.openxmlformats.org/officeDocument/2006/relationships/image" Target="../media/image19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6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Relationship Id="rId6" Type="http://schemas.openxmlformats.org/officeDocument/2006/relationships/image" Target="../media/image200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2.png"/><Relationship Id="rId4" Type="http://schemas.openxmlformats.org/officeDocument/2006/relationships/image" Target="../media/image203.png"/><Relationship Id="rId5" Type="http://schemas.openxmlformats.org/officeDocument/2006/relationships/image" Target="../media/image204.png"/><Relationship Id="rId6" Type="http://schemas.openxmlformats.org/officeDocument/2006/relationships/image" Target="../media/image205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6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7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8.png"/><Relationship Id="rId4" Type="http://schemas.openxmlformats.org/officeDocument/2006/relationships/image" Target="../media/image209.png"/><Relationship Id="rId5" Type="http://schemas.openxmlformats.org/officeDocument/2006/relationships/image" Target="../media/image210.png"/><Relationship Id="rId6" Type="http://schemas.openxmlformats.org/officeDocument/2006/relationships/image" Target="../media/image211.png"/><Relationship Id="rId7" Type="http://schemas.openxmlformats.org/officeDocument/2006/relationships/image" Target="../media/image212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3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4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9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0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1.png"/><Relationship Id="rId4" Type="http://schemas.openxmlformats.org/officeDocument/2006/relationships/image" Target="../media/image222.png"/><Relationship Id="rId5" Type="http://schemas.openxmlformats.org/officeDocument/2006/relationships/image" Target="../media/image223.png"/><Relationship Id="rId6" Type="http://schemas.openxmlformats.org/officeDocument/2006/relationships/image" Target="../media/image22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9.png"/><Relationship Id="rId4" Type="http://schemas.openxmlformats.org/officeDocument/2006/relationships/image" Target="../media/image230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6.png"/><Relationship Id="rId4" Type="http://schemas.openxmlformats.org/officeDocument/2006/relationships/image" Target="../media/image237.png"/><Relationship Id="rId5" Type="http://schemas.openxmlformats.org/officeDocument/2006/relationships/image" Target="../media/image238.png"/><Relationship Id="rId6" Type="http://schemas.openxmlformats.org/officeDocument/2006/relationships/image" Target="../media/image239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5.png"/><Relationship Id="rId4" Type="http://schemas.openxmlformats.org/officeDocument/2006/relationships/image" Target="../media/image237.png"/><Relationship Id="rId5" Type="http://schemas.openxmlformats.org/officeDocument/2006/relationships/image" Target="../media/image240.png"/><Relationship Id="rId6" Type="http://schemas.openxmlformats.org/officeDocument/2006/relationships/image" Target="../media/image13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1.png"/><Relationship Id="rId4" Type="http://schemas.openxmlformats.org/officeDocument/2006/relationships/image" Target="../media/image242.png"/><Relationship Id="rId5" Type="http://schemas.openxmlformats.org/officeDocument/2006/relationships/image" Target="../media/image243.png"/><Relationship Id="rId6" Type="http://schemas.openxmlformats.org/officeDocument/2006/relationships/image" Target="../media/image244.png"/><Relationship Id="rId7" Type="http://schemas.openxmlformats.org/officeDocument/2006/relationships/image" Target="../media/image245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6.png"/><Relationship Id="rId4" Type="http://schemas.openxmlformats.org/officeDocument/2006/relationships/image" Target="../media/image247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Relationship Id="rId7" Type="http://schemas.openxmlformats.org/officeDocument/2006/relationships/image" Target="../media/image250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Relationship Id="rId6" Type="http://schemas.openxmlformats.org/officeDocument/2006/relationships/image" Target="../media/image25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6.png"/><Relationship Id="rId4" Type="http://schemas.openxmlformats.org/officeDocument/2006/relationships/image" Target="../media/image257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8.png"/><Relationship Id="rId4" Type="http://schemas.openxmlformats.org/officeDocument/2006/relationships/image" Target="../media/image259.png"/><Relationship Id="rId5" Type="http://schemas.openxmlformats.org/officeDocument/2006/relationships/image" Target="../media/image260.png"/><Relationship Id="rId6" Type="http://schemas.openxmlformats.org/officeDocument/2006/relationships/image" Target="../media/image261.png"/><Relationship Id="rId7" Type="http://schemas.openxmlformats.org/officeDocument/2006/relationships/image" Target="../media/image262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3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4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5.png"/><Relationship Id="rId4" Type="http://schemas.openxmlformats.org/officeDocument/2006/relationships/image" Target="../media/image266.png"/><Relationship Id="rId5" Type="http://schemas.openxmlformats.org/officeDocument/2006/relationships/image" Target="../media/image267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8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9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0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2.png"/><Relationship Id="rId4" Type="http://schemas.openxmlformats.org/officeDocument/2006/relationships/image" Target="../media/image273.png"/><Relationship Id="rId5" Type="http://schemas.openxmlformats.org/officeDocument/2006/relationships/image" Target="../media/image250.png"/><Relationship Id="rId6" Type="http://schemas.openxmlformats.org/officeDocument/2006/relationships/image" Target="../media/image249.png"/><Relationship Id="rId7" Type="http://schemas.openxmlformats.org/officeDocument/2006/relationships/image" Target="../media/image274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5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6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7.png"/><Relationship Id="rId4" Type="http://schemas.openxmlformats.org/officeDocument/2006/relationships/image" Target="../media/image278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2.png"/><Relationship Id="rId4" Type="http://schemas.openxmlformats.org/officeDocument/2006/relationships/image" Target="../media/image283.png"/><Relationship Id="rId5" Type="http://schemas.openxmlformats.org/officeDocument/2006/relationships/image" Target="../media/image284.png"/><Relationship Id="rId6" Type="http://schemas.openxmlformats.org/officeDocument/2006/relationships/image" Target="../media/image285.png"/><Relationship Id="rId7" Type="http://schemas.openxmlformats.org/officeDocument/2006/relationships/image" Target="../media/image286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7.png"/><Relationship Id="rId4" Type="http://schemas.openxmlformats.org/officeDocument/2006/relationships/image" Target="../media/image288.png"/><Relationship Id="rId5" Type="http://schemas.openxmlformats.org/officeDocument/2006/relationships/image" Target="../media/image289.png"/><Relationship Id="rId6" Type="http://schemas.openxmlformats.org/officeDocument/2006/relationships/image" Target="../media/image290.png"/><Relationship Id="rId7" Type="http://schemas.openxmlformats.org/officeDocument/2006/relationships/image" Target="../media/image29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2.png"/><Relationship Id="rId4" Type="http://schemas.openxmlformats.org/officeDocument/2006/relationships/image" Target="../media/image288.png"/><Relationship Id="rId5" Type="http://schemas.openxmlformats.org/officeDocument/2006/relationships/image" Target="../media/image290.png"/><Relationship Id="rId6" Type="http://schemas.openxmlformats.org/officeDocument/2006/relationships/image" Target="../media/image293.png"/><Relationship Id="rId7" Type="http://schemas.openxmlformats.org/officeDocument/2006/relationships/image" Target="../media/image29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5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7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8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5.png"/><Relationship Id="rId4" Type="http://schemas.openxmlformats.org/officeDocument/2006/relationships/image" Target="../media/image233.png"/><Relationship Id="rId5" Type="http://schemas.openxmlformats.org/officeDocument/2006/relationships/image" Target="../media/image299.png"/><Relationship Id="rId6" Type="http://schemas.openxmlformats.org/officeDocument/2006/relationships/image" Target="../media/image236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0.png"/><Relationship Id="rId4" Type="http://schemas.openxmlformats.org/officeDocument/2006/relationships/image" Target="../media/image301.png"/><Relationship Id="rId5" Type="http://schemas.openxmlformats.org/officeDocument/2006/relationships/image" Target="../media/image302.png"/><Relationship Id="rId6" Type="http://schemas.openxmlformats.org/officeDocument/2006/relationships/image" Target="../media/image303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4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5.png"/><Relationship Id="rId4" Type="http://schemas.openxmlformats.org/officeDocument/2006/relationships/image" Target="../media/image306.png"/><Relationship Id="rId5" Type="http://schemas.openxmlformats.org/officeDocument/2006/relationships/image" Target="../media/image235.png"/><Relationship Id="rId6" Type="http://schemas.openxmlformats.org/officeDocument/2006/relationships/image" Target="../media/image307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8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9.png"/><Relationship Id="rId4" Type="http://schemas.openxmlformats.org/officeDocument/2006/relationships/image" Target="../media/image310.png"/><Relationship Id="rId5" Type="http://schemas.openxmlformats.org/officeDocument/2006/relationships/image" Target="../media/image311.png"/><Relationship Id="rId6" Type="http://schemas.openxmlformats.org/officeDocument/2006/relationships/image" Target="../media/image3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f17034d967677d89ca97fdc72e4a4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45920"/>
            <a:ext cx="11454384" cy="1139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195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3625d87f79833859665cb03ef46f2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e86bf567b2329b0f3ba013f92917d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662f6d84dd9dd21088f1229fe507b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e5a52c8555a5994854a49ec0af7ce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2831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27851b2c06140effcd56f706940456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519172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52831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44992d6621e3dcbaee6d5a40a97233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519172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6c4fc5786677c526e6419605c6f4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61c671a9d428a24def51a6fb8a412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f468df4550610506a56f9e331c190b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c3ecdfa80d9911850b2469a89bfe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e45e6e42e61cf779d4d8cc519b711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 lowering of vapor pressure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4c3f92326c5db092941b9209e24a0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809a3150a198a6bdfb6f27876977a2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70532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333ac57d2099f1ffefa4958d8e84f1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70532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54d338a03315bfa120204a6f2528e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610612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ae26dd88a3b399901ee71bbc9a95fa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610612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 liquid solvent does not depend upon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5568a0b91675ed91aff52e879e0c0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432ffcbf1dfa95f3695b0db0d5976a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3a846f142c41a07c882a999e5a3ced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650686108478ba947af3226b1c37b85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a1d495a340e692ec7c746ab29d718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76932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76932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c06805fd764ba7601fc49bc7811d4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25f33f0054eaa34d227bdb7cbb444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766763a3b20bc54a31808e2f6aa26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 results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76932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76932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bade9b0bf2e776c53e7a322f566450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991af9b6ff1c9bab24007d418515a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dfed3a580ae8ec1cdaf3cf93d19b2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a18b907ddc337570d191c0b0756da1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 engine?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SOLUTIONS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one of the following is not a solid solution?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 to this cell, what will happen to the cell reaction and current flowing through the cell?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5883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65883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 Reason: The number of ions per unit volume that carry the current in a solution decreases on dilution.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b7257d6003463027dae848d6800a1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8254"/>
            <a:ext cx="5175504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87398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80ee69a3003c5dbc4b729734a695d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578254"/>
            <a:ext cx="5175504" cy="121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63895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263895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e8b162739b86eea750ed4337b3cba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b45e684d69a97c8a841bdb45f143a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11226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b1fa25845111d10635cfe63d9c066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103120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11226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4c5a94de0696e9561c8360f1cf8773f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103120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82a163ddec7fce11932fd1fb41bfb0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E0cell for a given reaction has a negative value, then which of the following is the correct relationship for the value of ΔG0 and Keq?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ΔG0&gt;0 and Keq&gt;1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ΔG0&lt;0 and Keq&lt;1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ΔG0&gt;0 and Keq&lt;1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ΔG0&lt;0 and Keq&gt;1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pic>
        <p:nvPicPr>
          <p:cNvPr id="7" name="Picture 6" descr="beb458945f987e4a312d9f6a3db47c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5724144" cy="548640"/>
          </a:xfrm>
          <a:prstGeom prst="rect">
            <a:avLst/>
          </a:prstGeom>
        </p:spPr>
      </p:pic>
      <p:pic>
        <p:nvPicPr>
          <p:cNvPr id="8" name="Picture 7" descr="5af920b47e3dde24c10492c5dc7159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261872"/>
            <a:ext cx="5724144" cy="548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261872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6362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0652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(ii)  Mercury cell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9424"/>
            <a:ext cx="5545836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(iii)  Lead storage battery</a:t>
            </a:r>
          </a:p>
        </p:txBody>
      </p:sp>
      <p:pic>
        <p:nvPicPr>
          <p:cNvPr id="13" name="Picture 12" descr="70e12e45ac3374e7c03a11e0472ea24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92324"/>
            <a:ext cx="5724144" cy="548640"/>
          </a:xfrm>
          <a:prstGeom prst="rect">
            <a:avLst/>
          </a:prstGeom>
        </p:spPr>
      </p:pic>
      <p:pic>
        <p:nvPicPr>
          <p:cNvPr id="14" name="Picture 13" descr="9fd5f1ab5434de77f4755aea7f2f89d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5916" y="1563624"/>
            <a:ext cx="5724144" cy="548640"/>
          </a:xfrm>
          <a:prstGeom prst="rect">
            <a:avLst/>
          </a:prstGeom>
        </p:spPr>
      </p:pic>
      <p:pic>
        <p:nvPicPr>
          <p:cNvPr id="15" name="Picture 14" descr="f96e320ff1966555cae5ac7d36dd74b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5916" y="1906524"/>
            <a:ext cx="5724144" cy="548640"/>
          </a:xfrm>
          <a:prstGeom prst="rect">
            <a:avLst/>
          </a:prstGeom>
        </p:spPr>
      </p:pic>
      <p:pic>
        <p:nvPicPr>
          <p:cNvPr id="16" name="Picture 15" descr="81166b49445da3a95d5cab24a92ccb8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5916" y="2249424"/>
            <a:ext cx="5724144" cy="548640"/>
          </a:xfrm>
          <a:prstGeom prst="rect">
            <a:avLst/>
          </a:prstGeom>
        </p:spPr>
      </p:pic>
      <p:pic>
        <p:nvPicPr>
          <p:cNvPr id="17" name="Picture 16" descr="a28561344854fac09c80343249f65e5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2592324"/>
            <a:ext cx="5724144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309981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sz="1400">
                <a:solidFill>
                  <a:srgbClr val="F0F0F0"/>
                </a:solidFill>
                <a:latin typeface="Arial"/>
              </a:rPr>
              <a:t>i-a, ii-b, iii-c, iv-d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112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sz="1400">
                <a:solidFill>
                  <a:srgbClr val="F0F0F0"/>
                </a:solidFill>
                <a:latin typeface="Arial"/>
              </a:rPr>
              <a:t>i-b, ii-a, iii-d, iv-c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227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sz="1400">
                <a:solidFill>
                  <a:srgbClr val="F0F0F0"/>
                </a:solidFill>
                <a:latin typeface="Arial"/>
              </a:rPr>
              <a:t>i-c, ii-d, iii-a, iv-b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342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sz="14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0da2867282c94e3b802efa341cd1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a7726049892a032f3e076b0e86a01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b602de245274a2bcf6c28f0fd34d94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6314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9d27aa9f8a532266de02800d1eceff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253996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6314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76ad0abe274601bb15def67f8f99c8b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253996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59963de1acb83e7f3cb587c2ee5a3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44a649862b209b8f72c06171820a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70532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eb11629179473de2a36eeb3666788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70532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61975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701c5ab5e1b7dad87feef78c05bf30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610612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61975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d594f69da1fe85b89473869e6938b4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610612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c46b6599842dee13c8e8e42ceb195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ba6d49f6c87aef9614a873af0651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dae30bbe6564287e473838d62eec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354579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22812616df1ec5c006ee316c37576c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345435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354579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92627352245cd6944a24725269407d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345435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70688b9a98a3e73b9e59508632a42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ELECTROCHEMISTRY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da9414052d71405185aac53162509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d768c9ef1407b4c8c61cd4977686b87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e56b00c729136d6ec71bd4a9262213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bcaefb02428e67d10a0077284731ea5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5c8effdc87ebc628849e1dcc7aa87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76932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76932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 mass of the metal?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15baad81c8185f3180cde23c7de48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8f7954402312315abee8f5587523f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05cc3eb7a49549698a2492e7ba58e3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671bcf251f0ba1a2320bfaf14932fb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these statements about a galvanic cell are not true? i) The cathode carries a positive sign. ii) Oxidation occurs at the anode. iii) Electrons flow from cathode to anode in the external circuit. iv) The anode carries a negative 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9189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89189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3197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53197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74e43db2bc64c5545f75a4e35fec43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050c95ba4347942e8754f7fca27c6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a1dace384109b19fa2f8bea7a4253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5c896e2b6974ab07a870a08d8de21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345435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d263c5625348efb3643e7ff74323e7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345435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b87bdec1fb3206e95d8566ea7117e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f571528c0489a8a328d9a8d613b5a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4559251d46c2679db8fdd491951eee4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121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00884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04f92facf7d734f72fe3eed128d50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491740"/>
            <a:ext cx="5175504" cy="1219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500884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9adaf01641f293077b906359d9966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491740"/>
            <a:ext cx="5175504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 concentration of A is doubled.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 equal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log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2b6ce28564c484eedc613e72b86c4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c10ef66eec2beb73287bd78a25105d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b77ab5d39ca4e40185ae87528d945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2149328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a8c01f94321961ce8cbc01f04d86b3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70532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924856b8e37ab51275780b822d1e98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70532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eec5d54f7774078c43ff2db8fc71e4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610612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03dddac6da1774635ca26f392f785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610612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361f8f54b47a4d96c7bfa0d9aed1d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ec29486d4a8186997238aaffe4a091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63da3ea1ef53025da41f88df07d8e6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3dd239155f66ae46634453c2a2ba3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 rate of reaction was four times.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A catalyst does not alter Gibb’s energy (ΔG) of a reaction. Statement II: A catalyst alters the activation energy (Ea) of a reaction by providing an alternate pathway.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ba6d49f6c87aef9614a873af06514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825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dae30bbe6564287e473838d62eec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57825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27478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7c1abd0b2aaedab93831b2fe9c3ead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18334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27478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59772934d9dcc3458a50b541963262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218334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4a4daccd2c7dc565299163d5c9ad1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844528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ba6d49f6c87aef9614a873af06514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70532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dae30bbe6564287e473838d62eec0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70532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61975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5d39012a975b656331bb3b6242ab4e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610612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61975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480bf5dd8aa22fa6f7b94e30481ecc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610612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 one hour will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4f450f730ea5eacb8cc9535d5822c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4e5ef8a54949cfdf8d5353d91187b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e70764df7b8ba8a8d05ffb386d6b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b7b6384c47d2710a1c8dd202e0a7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2c3aa0ab81778b93b4f549a014a1f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528db7dc841141b8e802344e23a1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6c00d600c24ef41e50482ccc07ab7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609abe1845106c8186faa787619b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987bf6870566fdd1381a7bdf45de16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9021acd06f662cd0e7249c8a1128c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558016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38,314.5 J mol−1 (or 38.3 kJ mol−1)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19,157.2 J mol−1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76,629.0 J mol−1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8,314.0 J mol−1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9a057d14d7009b7ebd79a3e9a24c8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92475b310d1bd164897a0f60c3150f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f2ce945c8547fa408424efb115a58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13b2d82dd7324ee0926a10e5facf46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 reaction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286000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148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CHEMICAL KINETICS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a5ff641120eb0e03314c3a350cc49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correct for a zero-order reaction?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2d269f79c00f74ba35b409ef0b106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75f198ef4b3c7af507bce9d975ddbf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ac9c0f231ae5125b9c3af702169e4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c82738c680ba2a26a97b98185e59f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4549b23afc4ca02fa759d1db0ed40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3708f1fee00a324c922609a86a82d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281c679cbdcc972e01922326eaa614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cab6cb30a129948c7757b16a8f832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919d439f6d2fe8fa9e7d979d337f7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3d982d8dd4cdea08a064cc3dc0ba7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285b78978653ae0e713aec4e4950c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b5fab1f65f3f7b440845fb199e99c3c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bf66eaf7e4393bd0b9e2b7a71244e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4ce366c7dba7e8d7f79d775ecfb96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8c37a517db8a3c6802e6686b83dedb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7c18f0f5376da14dad17b307e577f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c63179d402aed942b8b400a56d60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8b4113ee51c66d6c7484872d8be27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98ff44816301c84277f3404bb19c8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9" name="Picture 8" descr="6cf7f9ea3434fe3f42ce5b4d116ff34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1" name="Picture 10" descr="8fc195cbb54c73e9115f269baaf8a3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ab330ff67bb747075034b56d5fe9e3e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d35ab951399e6cea5658871ffec5e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41a359a81228ec66085f4a41496419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37d219827d3eec8b49b76a56e87b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4b18ee6f8a016ac75222d852c30d9cc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24f220a0b02198527e2e33e4e80977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84568b6dccb3c4f2ad8130de076c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89cffd05f9ddab9515ddab82ffdf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49837e35ee4af506740f29db13130f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d0b4b17256d2ff8dbe3717b656c28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575276e12753fa1c2da02f3a396c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890b185afd0941a5fe4e674a6e9686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aecf11d91842b689c36c10414e8247d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354579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2354579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f8ccb7dc0d1bec1b6f0a6ffb05d655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345435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fc7502f54f9e2605aeb39b09d6ef5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655552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e35752e481d3ff496768b953a32a57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730511a9c61233e4d01dc5ee828e2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3d982d8dd4cdea08a064cc3dc0ba7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fe4427cf4bf3c6c1e135a69ada9597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e247b3610181cf7102cb45609edfb6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c7a8ae478ba56b5759d63ca3e5ad7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0e9a00bfcdf3e20362aca0d707e18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5b3f6bb726ef6903bb477c73701f1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806931d42b301f82220d67347cffd7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f1af04daf70e7b8a61d272bb6546e6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7b2068f0ac0368550cf843be9b04a2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cc3920b23ded4b35bbba2f21b718cc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00a199c51e891c552cc9292de3555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 (Atomic numbers: Ti = 22, Mn = 25, Ni = 28, Cu = 29)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2c3557de8c355a729a5475fdd9aaa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825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24a9ebfce89ed6887d6668247476e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57825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f5abd105f89fade7ae9efa1143e7b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1833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625d8309c5f27cabcbf6fa1b4f438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21833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D AND F BLOCK ELEMENTS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transition metal ions is colorless?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26ae1ca2465d4c9f46a495bfdfc65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037d219827d3eec8b49b76a56e87b4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00a199c51e891c552cc9292de35556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1cc3920b23ded4b35bbba2f21b718cc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7f83e5b3b98e11cda1d4914899a3c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a92beade5b8ec22cd32dab7e080e1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597233d5f64fe6e590b139f3b23d5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121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d31a658c6a536e1c0e7f2af1e66190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1219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76606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276606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d7873fb1d4b21063b289ba85672c9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139103aaa4596a39927cab9969045e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34ee4c310c9df85195ffb84a5e1dea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6fb2e2aed989031fbf49d0a7d3b3a6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76932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76932"/>
            <a:ext cx="5408676" cy="9144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1" name="Picture 10" descr="9a7ffa525aac6b5e2140679d678c74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116" y="1967788"/>
            <a:ext cx="5175504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 points of 24.2°C, 38°C, 3.56°C, and 101.6°C respectively. Among the four compounds, N is most likely to 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5368f636ac8c986c76942d6eeaf28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825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182fa65ae770bfe00bbf3f8f9ca7f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57825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c733155a9d8b343700ae8cdb2391a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21833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69f110ac9a7cb95a23fff4ace1358a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21833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sp3 hybridization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sp2 hybridization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dsp2 hybridization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pic>
        <p:nvPicPr>
          <p:cNvPr id="7" name="Picture 6" descr="beb458945f987e4a312d9f6a3db47c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5724144" cy="548640"/>
          </a:xfrm>
          <a:prstGeom prst="rect">
            <a:avLst/>
          </a:prstGeom>
        </p:spPr>
      </p:pic>
      <p:pic>
        <p:nvPicPr>
          <p:cNvPr id="8" name="Picture 7" descr="5af920b47e3dde24c10492c5dc7159b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916" y="1261872"/>
            <a:ext cx="5724144" cy="548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067044" y="1261872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e1e6ff85e73a14b80f91c6cbd686e7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563624"/>
            <a:ext cx="5724144" cy="548640"/>
          </a:xfrm>
          <a:prstGeom prst="rect">
            <a:avLst/>
          </a:prstGeom>
        </p:spPr>
      </p:pic>
      <p:pic>
        <p:nvPicPr>
          <p:cNvPr id="11" name="Picture 10" descr="9785fbeb68f63870bb47d5ab8be95a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906524"/>
            <a:ext cx="5724144" cy="548640"/>
          </a:xfrm>
          <a:prstGeom prst="rect">
            <a:avLst/>
          </a:prstGeom>
        </p:spPr>
      </p:pic>
      <p:pic>
        <p:nvPicPr>
          <p:cNvPr id="12" name="Picture 11" descr="ed2d6ca48d460beabf845868e2589e5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249424"/>
            <a:ext cx="5724144" cy="548640"/>
          </a:xfrm>
          <a:prstGeom prst="rect">
            <a:avLst/>
          </a:prstGeom>
        </p:spPr>
      </p:pic>
      <p:pic>
        <p:nvPicPr>
          <p:cNvPr id="13" name="Picture 12" descr="86cdc9e2b8eaabe0868b7dec74bc380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2592324"/>
            <a:ext cx="5724144" cy="548640"/>
          </a:xfrm>
          <a:prstGeom prst="rect">
            <a:avLst/>
          </a:prstGeom>
        </p:spPr>
      </p:pic>
      <p:pic>
        <p:nvPicPr>
          <p:cNvPr id="14" name="Picture 13" descr="c844b7908e4b58eca70a820f0e6b02a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5916" y="1563624"/>
            <a:ext cx="5724144" cy="548640"/>
          </a:xfrm>
          <a:prstGeom prst="rect">
            <a:avLst/>
          </a:prstGeom>
        </p:spPr>
      </p:pic>
      <p:pic>
        <p:nvPicPr>
          <p:cNvPr id="15" name="Picture 14" descr="9e0898cd752e2675db5d1b0147d9e03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85916" y="1906524"/>
            <a:ext cx="5724144" cy="548640"/>
          </a:xfrm>
          <a:prstGeom prst="rect">
            <a:avLst/>
          </a:prstGeom>
        </p:spPr>
      </p:pic>
      <p:pic>
        <p:nvPicPr>
          <p:cNvPr id="16" name="Picture 15" descr="f6a734ae4daebe83e69060760588fe5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5916" y="2249424"/>
            <a:ext cx="5724144" cy="548640"/>
          </a:xfrm>
          <a:prstGeom prst="rect">
            <a:avLst/>
          </a:prstGeom>
        </p:spPr>
      </p:pic>
      <p:pic>
        <p:nvPicPr>
          <p:cNvPr id="17" name="Picture 16" descr="4af2630383ca9eafee0f722ebbec152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85916" y="2592324"/>
            <a:ext cx="5724144" cy="548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7200" y="309981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19" name="Picture 18" descr="3f8d2d19ae6cf3db9882b0fafd94c1cb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240" y="3099816"/>
            <a:ext cx="11045952" cy="5486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57200" y="351129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21" name="Picture 20" descr="1ae1c80cd5a630c67d1700ea8de9e37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3511296"/>
            <a:ext cx="11045952" cy="5486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" y="392277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23" name="Picture 22" descr="395b978af93061eb33aaa970fd60f62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7240" y="3922776"/>
            <a:ext cx="11045952" cy="5486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57200" y="4334256"/>
            <a:ext cx="11274552" cy="41148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/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25" name="Picture 24" descr="a05505d2ef2c44123c906c5fc9d0d161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7240" y="4334256"/>
            <a:ext cx="11045952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e4bcab5260f59a0256817b9d2f3f6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2536dced4c1f42032c7ef5d559c23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6714330b5ad5d5b0a14d938f85da5b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fdf5cf06d12d75b06d5264e8036f6e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3957c4b26c2f465ea0561f139d022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1a91cc3694a07d711e03daf27fda13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e0f1a0ae476d04607969949ce9f4fb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59d924440249dcbce1ba1e066a79e1f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1ab441f813de22c429daa5e9622e46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59d924440249dcbce1ba1e066a79e1f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91334eb337a55ea466ed445c09350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bf5197343bde5dd9e023cbe9914caa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a0d68b8aa3e9fae08777ff73e7b13c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ef8868d6ed7fd083bed2b0dd6221ad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fddff968cd0eebc0a387d14bd778b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312df40dbece0ba3e99f28aa3a18668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a1a33947369a6a1ca2cc981a107a737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2f495afa5e429f62438426010ef685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9ac71d101405b4c5b4d1c750c296d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022daced7e7fd8000f182ae08f8dd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072384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935224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HALOALKANES AND HALOARENES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ee44aff6d6c204e9029d936637eac6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cb6864e1d091d92bbf2616fddab9a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8b8d875f8b30d30bb4a4bdea824e3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13026f7006d92a628181d94788464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3761494b1d26b4e49556303d77cdf0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09fc6e40794fa61d14c9194b70095b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9fe5518c133b4e9b3645e3487b7ac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2027408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6520804f08aa692de887585d198d6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970532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83defa2d756d78d138e853d0d92988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970532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04a31c61d6ce900777a565d1b0d9a7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610612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abbac89907a5b7e743e720f23dc40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610612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bd2d77ddbd5b4fbcb68c8360c746b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 phenol occurs even in the absence of Lewis acid due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588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6588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cf784e27d43dd54f6cf3ff610e6ba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fa075f3bd831058ae97aee4277ba8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142001699b6e7750651ee3d9586f2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600719a79e5ef4a39a1afbed094e25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45e4584a63c11ec03c00efe36e817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Three -NO2 groups are present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 -NO2 group is present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 respectively. Compound P, Q, and R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a02f6c51e07f7837ec4a1013880fd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1afbbf2e3533e848581ef6ed1b7f75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1416e17352fd6733da198da15fbb3f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215eaef5dc0d9cc913bbd3dd81d3c3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 (i) o-bromophenol (ii) p-bromophenol (iii) picric acid (2,4,6-trinitrophenol) (iv) 2,4,6-tribromophenol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9855fc7b8e5a6cecf45ed50c4418e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dc6d2f257c72b81d8ec5de120c7ea6b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345435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d851c6619db20a14481da70e6e676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 carbon atoms?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 confirms the presence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58739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22747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 acidification, the product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273552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136392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ALCOHOLS, PHENOLS AND ETHERS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treated with bromine water, a white precipitate of the product obtained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39887044327cd3ce9d118ac2ebaefeb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6fe62e4e73c14d4b6f9ca983ff86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55e167e3ba7e9cd44f6bd46209fab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5be08b6b5e073782b72196b614d448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17a4c1da699b94b63fb5546fe7f4bb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f0aab8e67c4528f3a99a3fcc1041d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0aa9e8a328b65b2145a26c7b6166b5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5b428e8b684f62ca1f3962f516e7dd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be08b6b5e073782b72196b614d44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f0aab8e67c4528f3a99a3fcc1041d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4507671beddd4ce8230c7dd9cc184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8fc195cbb54c73e9115f269baaf8a3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0992272983909a3e558bee1df9984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36407a5fb8b73cbe5f787a9b5007a3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db2b4e8aff9f50c63e893b22c72ea2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3f1ea25db9bfbf3ea72fe284913ba2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345435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5e7071d7cde2eadb89c72c4ca459016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345435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095a2a2acb7d39f6166c09dd8ce9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4b4dea8c83b85987c12661c0ae2bb7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bf1cb3b60e54b5f5f3b7f09d00dc3cd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f5b1d6258f6e4c3fc5e0ae60431e6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345435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4073e72b6fb0eda4bd03f57db93533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345435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8cf3ee0b21ad668c8117e26ce689e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ed98997f660eafa8b64f7336d4206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4bae8f32caf5256f89209aec03bed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2f8e803691185b465d083a45cc8698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3" name="Picture 12" descr="2a9ffc11fd5d2ca60fa26a8d94feb0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 electrons on the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efd005b2115d5eb177a65bc01f045d8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29384"/>
            <a:ext cx="5175504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1938528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cd05c110851b3878a109b5ee45e9c0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929384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34de7034af383011d698ddafb2bbde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91e4178680a735f4fd5b95754ea04c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b4555e07668bb0cd3ee6f58e4ec35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6314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106b771661676882604a6a51055744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253996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6314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2f1c9e579a2e74b993272123f14687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253996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ac555ac5fd0bcbfc40daee134bb12a3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f83a56567a9bf24bb243a4e5762d3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582400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6b91bafa2ed1a89ab09e7479ffb8e81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0" name="Picture 9" descr="c64c6d633a98b2369adcd90ffaac7c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2" name="Picture 11" descr="357ba4240b4b5780fb2dfd9d1c9a09b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3e860681108e5737cf1464861a7d4a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f82ca04f9b8de6f805ef73a83d89c5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97967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619756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8eff7e614b4198d2b806a66db92aa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f03f4dad6d2ed2ae8ef5dbe294734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cead5e3bec84081696f9c0438db86dd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85586eb384f10e89a87081af6a4b72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d4073e72b6fb0eda4bd03f57db93533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bf5b1d6258f6e4c3fc5e0ae60431e6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8d9e35fcd5047b73c151e214436b41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19c0ddd0c1997cfa3826a89702a76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d57d79c3f5868d4e1a7132416e9ac7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0960270b991449d13701f412d20038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eda73ecac711f9795592e714a6225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24eb3695c3a7bc2a35e90214002075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26314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d892626b46ecb0e5158661737385216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253996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26314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c74235d32fd1535e418f21bb258a9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253996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457d71ee2b6174aad28c17af1aa5df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0983fb8afed6b36169a7f592027da54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440180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87703baa3ecc4673c160d0fb6799bdf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440180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089403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096ead0bb8f556023e2e65facca56d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80259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089403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aeab22373daffa84f05f709ff01c97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080259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2da9f22d743690bc3f5e72591d4a69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347a9d4e5d8b3225b82cdebcbc7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cc4940463c5b1fff20f146bc93ea2eb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2831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7443a8f73108666163114356a92934b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519172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52831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d3ecfa64a10c2f5cca6feb19d3a4b40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519172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1e0edc9c6bf4649282489075895db9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70e347a9d4e5d8b3225b82cdebcbc7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05356"/>
            <a:ext cx="5175504" cy="9022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714500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7443a8f73108666163114356a92934b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116" y="1705356"/>
            <a:ext cx="5175504" cy="9022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2831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e0a388f8cdeb99bbea6838b537125a6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519172"/>
            <a:ext cx="5175504" cy="9022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2528316"/>
            <a:ext cx="5408676" cy="676656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a031d8acc41532300f433a53942a9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116" y="2519172"/>
            <a:ext cx="5175504" cy="902208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8b4a56b63ca7fbd845dae11410b566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58026640264febc825393c1087645b8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75c5720d775946911e09c428ca78c6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54579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d219a1ef6b0dd939ad0656d43bb50b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6278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449324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089403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c5be08b6b5e073782b72196b614d44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6fe62e4e73c14d4b6f9ca983ff86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35c5dcb3db729f1ae7da9ec3ec3455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917a4c1da699b94b63fb5546fe7f4bb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 spectrochemical series of ligands?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e17a2037157dbc7af603cdd500874b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0739209fff1ea5bdc1855c19d849e1a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2a6dd6fe1c92acf7f4d0054d7f824d7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f1528bb7a9dc896468f93f7da67009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2ebaea55563e956e96b6e906ea22e5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f36fe62e4e73c14d4b6f9ca983ff86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955e167e3ba7e9cd44f6bd46209fabd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c5be08b6b5e073782b72196b614d448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63ed2764c9e75314664b915d4d2ac42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579751fab62839efced2beb39da0b8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c5be08b6b5e073782b72196b614d44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0faf27b10d5a81e9ce8aa5041198e6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267004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253288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COORDINATION COMPOUNDS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pic>
        <p:nvPicPr>
          <p:cNvPr id="6" name="Picture 5" descr="b4ba115dee36157b6393937291613d1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11454384" cy="9814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714500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3076" y="1714500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2984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3076" y="2392984"/>
            <a:ext cx="540867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>
                <a:solidFill>
                  <a:srgbClr val="F0F0F0"/>
                </a:solidFill>
                <a:latin typeface="Arial"/>
              </a:rPr>
              <a:t>Both Primary and Secondary Valencies are ionisable.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8600"/>
            <a:ext cx="3172968" cy="320040"/>
          </a:xfrm>
          <a:prstGeom prst="rect">
            <a:avLst/>
          </a:prstGeom>
          <a:solidFill>
            <a:srgbClr val="1613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28600"/>
            <a:ext cx="36576" cy="32004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65176"/>
            <a:ext cx="3035808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AD02C"/>
                </a:solidFill>
                <a:latin typeface="Arial"/>
              </a:rPr>
              <a:t>APPLICATION BASED QUESTIONS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13716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7724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</a:p>
        </p:txBody>
      </p:sp>
      <p:pic>
        <p:nvPicPr>
          <p:cNvPr id="8" name="Picture 7" descr="862cd690e90af1aa137112fb61804e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89304"/>
            <a:ext cx="5175504" cy="5852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3076" y="129844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</a:p>
        </p:txBody>
      </p:sp>
      <p:pic>
        <p:nvPicPr>
          <p:cNvPr id="10" name="Picture 9" descr="6a31dc58261ad16e7c1ec0de5c9250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3116" y="1289304"/>
            <a:ext cx="5175504" cy="5852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</a:p>
        </p:txBody>
      </p:sp>
      <p:pic>
        <p:nvPicPr>
          <p:cNvPr id="12" name="Picture 11" descr="80b3c561f3a2407adda48bc51b91060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929384"/>
            <a:ext cx="5175504" cy="5852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3076" y="1938528"/>
            <a:ext cx="5408676" cy="50292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</a:p>
        </p:txBody>
      </p:sp>
      <p:pic>
        <p:nvPicPr>
          <p:cNvPr id="14" name="Picture 13" descr="e1824da85dce918c0f933acfaa89a84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116" y="1929384"/>
            <a:ext cx="5175504" cy="585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