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pic>
        <p:nvPicPr>
          <p:cNvPr id="2" name="Picture 1"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3" name="Rectangle 2"/>
          <p:cNvSpPr/>
          <p:nvPr/>
        </p:nvSpPr>
        <p:spPr>
          <a:xfrm>
            <a:off x="457200" y="2880360"/>
            <a:ext cx="11274552" cy="3657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0"/>
            <a:ext cx="11274552" cy="1097280"/>
          </a:xfrm>
          <a:prstGeom prst="rect">
            <a:avLst/>
          </a:prstGeom>
          <a:noFill/>
        </p:spPr>
        <p:txBody>
          <a:bodyPr wrap="square" lIns="0" rIns="0" tIns="0" bIns="0">
            <a:spAutoFit/>
          </a:bodyPr>
          <a:lstStyle/>
          <a:p>
            <a:pPr algn="ctr"/>
            <a:r>
              <a:rPr sz="4400" b="1">
                <a:solidFill>
                  <a:srgbClr val="FAD02C"/>
                </a:solidFill>
                <a:latin typeface="Arial"/>
              </a:rPr>
              <a:t>Chemistry Midterm —MCQ Practice</a:t>
            </a:r>
          </a:p>
        </p:txBody>
      </p:sp>
      <p:sp>
        <p:nvSpPr>
          <p:cNvPr id="5" name="TextBox 4"/>
          <p:cNvSpPr txBox="1"/>
          <p:nvPr/>
        </p:nvSpPr>
        <p:spPr>
          <a:xfrm>
            <a:off x="457200" y="3063240"/>
            <a:ext cx="11274552" cy="594360"/>
          </a:xfrm>
          <a:prstGeom prst="rect">
            <a:avLst/>
          </a:prstGeom>
          <a:noFill/>
        </p:spPr>
        <p:txBody>
          <a:bodyPr wrap="square" lIns="0" rIns="0" tIns="0" bIns="0">
            <a:spAutoFit/>
          </a:bodyPr>
          <a:lstStyle/>
          <a:p>
            <a:pPr algn="ctr"/>
            <a:r>
              <a:rPr sz="2400" b="0">
                <a:solidFill>
                  <a:srgbClr val="AAAAAA"/>
                </a:solidFill>
                <a:latin typeface="Arial"/>
              </a:rPr>
              <a:t>47 Questions  ·  For: Boards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758952"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594359" cy="402336"/>
          </a:xfrm>
          <a:prstGeom prst="rect">
            <a:avLst/>
          </a:prstGeom>
          <a:noFill/>
        </p:spPr>
        <p:txBody>
          <a:bodyPr wrap="none" anchor="ctr" lIns="0" rIns="0" tIns="0" bIns="0">
            <a:spAutoFit/>
          </a:bodyPr>
          <a:lstStyle/>
          <a:p>
            <a:pPr algn="l"/>
            <a:r>
              <a:rPr sz="1500" b="1">
                <a:solidFill>
                  <a:srgbClr val="FAD02C"/>
                </a:solidFill>
                <a:latin typeface="Arial"/>
              </a:rPr>
              <a:t>2023</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320040"/>
          </a:xfrm>
          <a:prstGeom prst="rect">
            <a:avLst/>
          </a:prstGeom>
          <a:noFill/>
        </p:spPr>
        <p:txBody>
          <a:bodyPr wrap="square" lIns="0" rIns="0" tIns="0" bIns="0">
            <a:spAutoFit/>
          </a:bodyPr>
          <a:lstStyle/>
          <a:p>
            <a:pPr algn="l"/>
            <a:r>
              <a:rPr sz="1800" b="1">
                <a:solidFill>
                  <a:srgbClr val="FAD02C"/>
                </a:solidFill>
                <a:latin typeface="Arial"/>
              </a:rPr>
              <a:t>In photoelectric exp eriment, increase in the intensity of light (ν&gt;ν0)</a:t>
            </a:r>
          </a:p>
        </p:txBody>
      </p:sp>
      <p:sp>
        <p:nvSpPr>
          <p:cNvPr id="7" name="TextBox 6"/>
          <p:cNvSpPr txBox="1"/>
          <p:nvPr/>
        </p:nvSpPr>
        <p:spPr>
          <a:xfrm>
            <a:off x="457200" y="1216151"/>
            <a:ext cx="5477256" cy="457200"/>
          </a:xfrm>
          <a:prstGeom prst="rect">
            <a:avLst/>
          </a:prstGeom>
          <a:noFill/>
        </p:spPr>
        <p:txBody>
          <a:bodyPr wrap="square" lIns="0" rIns="73152" tIns="0" bIns="0" anchor="t">
            <a:spAutoFit/>
          </a:bodyPr>
          <a:lstStyle/>
          <a:p>
            <a:pPr algn="l"/>
            <a:r>
              <a:rPr b="1" sz="1600">
                <a:solidFill>
                  <a:srgbClr val="00B0F0"/>
                </a:solidFill>
                <a:latin typeface="Arial"/>
              </a:rPr>
              <a:t>A. </a:t>
            </a:r>
            <a:r>
              <a:rPr sz="1600" b="0">
                <a:solidFill>
                  <a:srgbClr val="F0F0F0"/>
                </a:solidFill>
                <a:latin typeface="Arial"/>
              </a:rPr>
              <a:t>increases kinetic energy of photoelectrons</a:t>
            </a:r>
          </a:p>
        </p:txBody>
      </p:sp>
      <p:sp>
        <p:nvSpPr>
          <p:cNvPr id="8" name="TextBox 7"/>
          <p:cNvSpPr txBox="1"/>
          <p:nvPr/>
        </p:nvSpPr>
        <p:spPr>
          <a:xfrm>
            <a:off x="6254496" y="1216151"/>
            <a:ext cx="5477256" cy="457200"/>
          </a:xfrm>
          <a:prstGeom prst="rect">
            <a:avLst/>
          </a:prstGeom>
          <a:noFill/>
        </p:spPr>
        <p:txBody>
          <a:bodyPr wrap="square" lIns="0" rIns="73152" tIns="0" bIns="0" anchor="t">
            <a:spAutoFit/>
          </a:bodyPr>
          <a:lstStyle/>
          <a:p>
            <a:pPr algn="l"/>
            <a:r>
              <a:rPr b="1" sz="1600">
                <a:solidFill>
                  <a:srgbClr val="00B0F0"/>
                </a:solidFill>
                <a:latin typeface="Arial"/>
              </a:rPr>
              <a:t>B. </a:t>
            </a:r>
            <a:r>
              <a:rPr sz="1600" b="0">
                <a:solidFill>
                  <a:srgbClr val="F0F0F0"/>
                </a:solidFill>
                <a:latin typeface="Arial"/>
              </a:rPr>
              <a:t>increases photoelectric current</a:t>
            </a:r>
          </a:p>
        </p:txBody>
      </p:sp>
      <p:sp>
        <p:nvSpPr>
          <p:cNvPr id="9" name="TextBox 8"/>
          <p:cNvSpPr txBox="1"/>
          <p:nvPr/>
        </p:nvSpPr>
        <p:spPr>
          <a:xfrm>
            <a:off x="457200" y="1783079"/>
            <a:ext cx="5477256" cy="457200"/>
          </a:xfrm>
          <a:prstGeom prst="rect">
            <a:avLst/>
          </a:prstGeom>
          <a:noFill/>
        </p:spPr>
        <p:txBody>
          <a:bodyPr wrap="square" lIns="0" rIns="73152" tIns="0" bIns="0" anchor="t">
            <a:spAutoFit/>
          </a:bodyPr>
          <a:lstStyle/>
          <a:p>
            <a:pPr algn="l"/>
            <a:r>
              <a:rPr b="1" sz="1600">
                <a:solidFill>
                  <a:srgbClr val="00B0F0"/>
                </a:solidFill>
                <a:latin typeface="Arial"/>
              </a:rPr>
              <a:t>C. </a:t>
            </a:r>
            <a:r>
              <a:rPr sz="1600" b="0">
                <a:solidFill>
                  <a:srgbClr val="F0F0F0"/>
                </a:solidFill>
                <a:latin typeface="Arial"/>
              </a:rPr>
              <a:t>decreases kinetic energy of photoelectrons</a:t>
            </a:r>
          </a:p>
        </p:txBody>
      </p:sp>
      <p:sp>
        <p:nvSpPr>
          <p:cNvPr id="10" name="TextBox 9"/>
          <p:cNvSpPr txBox="1"/>
          <p:nvPr/>
        </p:nvSpPr>
        <p:spPr>
          <a:xfrm>
            <a:off x="6254496" y="1783079"/>
            <a:ext cx="5477256" cy="457200"/>
          </a:xfrm>
          <a:prstGeom prst="rect">
            <a:avLst/>
          </a:prstGeom>
          <a:noFill/>
        </p:spPr>
        <p:txBody>
          <a:bodyPr wrap="square" lIns="0" rIns="73152" tIns="0" bIns="0" anchor="t">
            <a:spAutoFit/>
          </a:bodyPr>
          <a:lstStyle/>
          <a:p>
            <a:pPr algn="l"/>
            <a:r>
              <a:rPr b="1" sz="1600">
                <a:solidFill>
                  <a:srgbClr val="00B0F0"/>
                </a:solidFill>
                <a:latin typeface="Arial"/>
              </a:rPr>
              <a:t>D. </a:t>
            </a:r>
            <a:r>
              <a:rPr sz="1600" b="0">
                <a:solidFill>
                  <a:srgbClr val="F0F0F0"/>
                </a:solidFill>
                <a:latin typeface="Arial"/>
              </a:rPr>
              <a:t>photoelectric current remains constant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923544"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758952" cy="402336"/>
          </a:xfrm>
          <a:prstGeom prst="rect">
            <a:avLst/>
          </a:prstGeom>
          <a:noFill/>
        </p:spPr>
        <p:txBody>
          <a:bodyPr wrap="none" anchor="ctr" lIns="0" rIns="0" tIns="0" bIns="0">
            <a:spAutoFit/>
          </a:bodyPr>
          <a:lstStyle/>
          <a:p>
            <a:pPr algn="l"/>
            <a:r>
              <a:rPr sz="1500" b="1">
                <a:solidFill>
                  <a:srgbClr val="FAD02C"/>
                </a:solidFill>
                <a:latin typeface="Arial"/>
              </a:rPr>
              <a:t>2024-3</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913485"/>
          </a:xfrm>
          <a:prstGeom prst="rect">
            <a:avLst/>
          </a:prstGeom>
          <a:noFill/>
        </p:spPr>
        <p:txBody>
          <a:bodyPr wrap="square" lIns="0" rIns="0" tIns="0" bIns="0">
            <a:spAutoFit/>
          </a:bodyPr>
          <a:lstStyle/>
          <a:p>
            <a:pPr algn="l"/>
            <a:r>
              <a:rPr sz="1800" b="1">
                <a:solidFill>
                  <a:srgbClr val="FAD02C"/>
                </a:solidFill>
                <a:latin typeface="Arial"/>
              </a:rPr>
              <a:t>The statements given below are related to the properties of photons: I. photons are electrically neutral.II. photons are undeflected by electric and magnetic fields.III. photons are light waves.IV. In photon particle collision, total energy and momentum are not conserved.</a:t>
            </a:r>
          </a:p>
        </p:txBody>
      </p:sp>
      <p:sp>
        <p:nvSpPr>
          <p:cNvPr id="7" name="TextBox 6"/>
          <p:cNvSpPr txBox="1"/>
          <p:nvPr/>
        </p:nvSpPr>
        <p:spPr>
          <a:xfrm>
            <a:off x="457200" y="1809597"/>
            <a:ext cx="5477256" cy="457200"/>
          </a:xfrm>
          <a:prstGeom prst="rect">
            <a:avLst/>
          </a:prstGeom>
          <a:noFill/>
        </p:spPr>
        <p:txBody>
          <a:bodyPr wrap="square" lIns="0" rIns="73152" tIns="0" bIns="0" anchor="t">
            <a:spAutoFit/>
          </a:bodyPr>
          <a:lstStyle/>
          <a:p>
            <a:pPr algn="l"/>
            <a:r>
              <a:rPr b="1" sz="1600">
                <a:solidFill>
                  <a:srgbClr val="00B0F0"/>
                </a:solidFill>
                <a:latin typeface="Arial"/>
              </a:rPr>
              <a:t>A. </a:t>
            </a:r>
            <a:r>
              <a:rPr sz="1600" b="0">
                <a:solidFill>
                  <a:srgbClr val="F0F0F0"/>
                </a:solidFill>
                <a:latin typeface="Arial"/>
              </a:rPr>
              <a:t>Only statements I and III are correct</a:t>
            </a:r>
          </a:p>
        </p:txBody>
      </p:sp>
      <p:sp>
        <p:nvSpPr>
          <p:cNvPr id="8" name="TextBox 7"/>
          <p:cNvSpPr txBox="1"/>
          <p:nvPr/>
        </p:nvSpPr>
        <p:spPr>
          <a:xfrm>
            <a:off x="6254496" y="1809597"/>
            <a:ext cx="5477256" cy="457200"/>
          </a:xfrm>
          <a:prstGeom prst="rect">
            <a:avLst/>
          </a:prstGeom>
          <a:noFill/>
        </p:spPr>
        <p:txBody>
          <a:bodyPr wrap="square" lIns="0" rIns="73152" tIns="0" bIns="0" anchor="t">
            <a:spAutoFit/>
          </a:bodyPr>
          <a:lstStyle/>
          <a:p>
            <a:pPr algn="l"/>
            <a:r>
              <a:rPr b="1" sz="1600">
                <a:solidFill>
                  <a:srgbClr val="00B0F0"/>
                </a:solidFill>
                <a:latin typeface="Arial"/>
              </a:rPr>
              <a:t>B. </a:t>
            </a:r>
            <a:r>
              <a:rPr sz="1600" b="0">
                <a:solidFill>
                  <a:srgbClr val="F0F0F0"/>
                </a:solidFill>
                <a:latin typeface="Arial"/>
              </a:rPr>
              <a:t>Only statements II and IV are correct</a:t>
            </a:r>
          </a:p>
        </p:txBody>
      </p:sp>
      <p:sp>
        <p:nvSpPr>
          <p:cNvPr id="9" name="TextBox 8"/>
          <p:cNvSpPr txBox="1"/>
          <p:nvPr/>
        </p:nvSpPr>
        <p:spPr>
          <a:xfrm>
            <a:off x="457200" y="2376525"/>
            <a:ext cx="5477256" cy="457200"/>
          </a:xfrm>
          <a:prstGeom prst="rect">
            <a:avLst/>
          </a:prstGeom>
          <a:noFill/>
        </p:spPr>
        <p:txBody>
          <a:bodyPr wrap="square" lIns="0" rIns="73152" tIns="0" bIns="0" anchor="t">
            <a:spAutoFit/>
          </a:bodyPr>
          <a:lstStyle/>
          <a:p>
            <a:pPr algn="l"/>
            <a:r>
              <a:rPr b="1" sz="1600">
                <a:solidFill>
                  <a:srgbClr val="00B0F0"/>
                </a:solidFill>
                <a:latin typeface="Arial"/>
              </a:rPr>
              <a:t>C. </a:t>
            </a:r>
            <a:r>
              <a:rPr sz="1600" b="0">
                <a:solidFill>
                  <a:srgbClr val="F0F0F0"/>
                </a:solidFill>
                <a:latin typeface="Arial"/>
              </a:rPr>
              <a:t>Only statements I and II are correct</a:t>
            </a:r>
          </a:p>
        </p:txBody>
      </p:sp>
      <p:sp>
        <p:nvSpPr>
          <p:cNvPr id="10" name="TextBox 9"/>
          <p:cNvSpPr txBox="1"/>
          <p:nvPr/>
        </p:nvSpPr>
        <p:spPr>
          <a:xfrm>
            <a:off x="6254496" y="2376525"/>
            <a:ext cx="5477256" cy="457200"/>
          </a:xfrm>
          <a:prstGeom prst="rect">
            <a:avLst/>
          </a:prstGeom>
          <a:noFill/>
        </p:spPr>
        <p:txBody>
          <a:bodyPr wrap="square" lIns="0" rIns="73152" tIns="0" bIns="0" anchor="t">
            <a:spAutoFit/>
          </a:bodyPr>
          <a:lstStyle/>
          <a:p>
            <a:pPr algn="l"/>
            <a:r>
              <a:rPr b="1" sz="1600">
                <a:solidFill>
                  <a:srgbClr val="00B0F0"/>
                </a:solidFill>
                <a:latin typeface="Arial"/>
              </a:rPr>
              <a:t>D. </a:t>
            </a:r>
            <a:r>
              <a:rPr sz="1600" b="0">
                <a:solidFill>
                  <a:srgbClr val="F0F0F0"/>
                </a:solidFill>
                <a:latin typeface="Arial"/>
              </a:rPr>
              <a:t>Only statements I and IV are correct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923544"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758952" cy="402336"/>
          </a:xfrm>
          <a:prstGeom prst="rect">
            <a:avLst/>
          </a:prstGeom>
          <a:noFill/>
        </p:spPr>
        <p:txBody>
          <a:bodyPr wrap="none" anchor="ctr" lIns="0" rIns="0" tIns="0" bIns="0">
            <a:spAutoFit/>
          </a:bodyPr>
          <a:lstStyle/>
          <a:p>
            <a:pPr algn="l"/>
            <a:r>
              <a:rPr sz="1500" b="1">
                <a:solidFill>
                  <a:srgbClr val="FAD02C"/>
                </a:solidFill>
                <a:latin typeface="Arial"/>
              </a:rPr>
              <a:t>2024-2</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320040"/>
          </a:xfrm>
          <a:prstGeom prst="rect">
            <a:avLst/>
          </a:prstGeom>
          <a:noFill/>
        </p:spPr>
        <p:txBody>
          <a:bodyPr wrap="square" lIns="0" rIns="0" tIns="0" bIns="0">
            <a:spAutoFit/>
          </a:bodyPr>
          <a:lstStyle/>
          <a:p>
            <a:pPr algn="l"/>
            <a:r>
              <a:rPr sz="1800" b="1">
                <a:solidFill>
                  <a:srgbClr val="FAD02C"/>
                </a:solidFill>
                <a:latin typeface="Arial"/>
              </a:rPr>
              <a:t>Following particles are moving with same speed, which one of them has longest de Broglie wavelength?</a:t>
            </a:r>
          </a:p>
        </p:txBody>
      </p:sp>
      <p:sp>
        <p:nvSpPr>
          <p:cNvPr id="7" name="TextBox 6"/>
          <p:cNvSpPr txBox="1"/>
          <p:nvPr/>
        </p:nvSpPr>
        <p:spPr>
          <a:xfrm>
            <a:off x="457200" y="1216151"/>
            <a:ext cx="2681478" cy="457200"/>
          </a:xfrm>
          <a:prstGeom prst="rect">
            <a:avLst/>
          </a:prstGeom>
          <a:noFill/>
        </p:spPr>
        <p:txBody>
          <a:bodyPr wrap="square" lIns="0" rIns="73152" tIns="0" bIns="0" anchor="t">
            <a:spAutoFit/>
          </a:bodyPr>
          <a:lstStyle/>
          <a:p>
            <a:pPr algn="l"/>
            <a:r>
              <a:rPr b="1" sz="1600">
                <a:solidFill>
                  <a:srgbClr val="00B0F0"/>
                </a:solidFill>
                <a:latin typeface="Arial"/>
              </a:rPr>
              <a:t>A. </a:t>
            </a:r>
            <a:r>
              <a:rPr sz="1600" b="0">
                <a:solidFill>
                  <a:srgbClr val="F0F0F0"/>
                </a:solidFill>
                <a:latin typeface="Arial"/>
              </a:rPr>
              <a:t>proton</a:t>
            </a:r>
          </a:p>
        </p:txBody>
      </p:sp>
      <p:sp>
        <p:nvSpPr>
          <p:cNvPr id="8" name="TextBox 7"/>
          <p:cNvSpPr txBox="1"/>
          <p:nvPr/>
        </p:nvSpPr>
        <p:spPr>
          <a:xfrm>
            <a:off x="3321558" y="1216151"/>
            <a:ext cx="2681478" cy="457200"/>
          </a:xfrm>
          <a:prstGeom prst="rect">
            <a:avLst/>
          </a:prstGeom>
          <a:noFill/>
        </p:spPr>
        <p:txBody>
          <a:bodyPr wrap="square" lIns="0" rIns="73152" tIns="0" bIns="0" anchor="t">
            <a:spAutoFit/>
          </a:bodyPr>
          <a:lstStyle/>
          <a:p>
            <a:pPr algn="l"/>
            <a:r>
              <a:rPr b="1" sz="1600">
                <a:solidFill>
                  <a:srgbClr val="00B0F0"/>
                </a:solidFill>
                <a:latin typeface="Arial"/>
              </a:rPr>
              <a:t>B. </a:t>
            </a:r>
            <a:r>
              <a:rPr sz="1600" b="0">
                <a:solidFill>
                  <a:srgbClr val="F0F0F0"/>
                </a:solidFill>
                <a:latin typeface="Arial"/>
              </a:rPr>
              <a:t>neutron</a:t>
            </a:r>
          </a:p>
        </p:txBody>
      </p:sp>
      <p:sp>
        <p:nvSpPr>
          <p:cNvPr id="9" name="TextBox 8"/>
          <p:cNvSpPr txBox="1"/>
          <p:nvPr/>
        </p:nvSpPr>
        <p:spPr>
          <a:xfrm>
            <a:off x="6185916" y="1216151"/>
            <a:ext cx="2681478" cy="457200"/>
          </a:xfrm>
          <a:prstGeom prst="rect">
            <a:avLst/>
          </a:prstGeom>
          <a:noFill/>
        </p:spPr>
        <p:txBody>
          <a:bodyPr wrap="square" lIns="0" rIns="73152" tIns="0" bIns="0" anchor="t">
            <a:spAutoFit/>
          </a:bodyPr>
          <a:lstStyle/>
          <a:p>
            <a:pPr algn="l"/>
            <a:r>
              <a:rPr b="1" sz="1600">
                <a:solidFill>
                  <a:srgbClr val="00B0F0"/>
                </a:solidFill>
                <a:latin typeface="Arial"/>
              </a:rPr>
              <a:t>C. </a:t>
            </a:r>
            <a:r>
              <a:rPr sz="1600" b="0">
                <a:solidFill>
                  <a:srgbClr val="F0F0F0"/>
                </a:solidFill>
                <a:latin typeface="Arial"/>
              </a:rPr>
              <a:t>alpha particle</a:t>
            </a:r>
          </a:p>
        </p:txBody>
      </p:sp>
      <p:sp>
        <p:nvSpPr>
          <p:cNvPr id="10" name="TextBox 9"/>
          <p:cNvSpPr txBox="1"/>
          <p:nvPr/>
        </p:nvSpPr>
        <p:spPr>
          <a:xfrm>
            <a:off x="9050274" y="1216151"/>
            <a:ext cx="2681478" cy="457200"/>
          </a:xfrm>
          <a:prstGeom prst="rect">
            <a:avLst/>
          </a:prstGeom>
          <a:noFill/>
        </p:spPr>
        <p:txBody>
          <a:bodyPr wrap="square" lIns="0" rIns="73152" tIns="0" bIns="0" anchor="t">
            <a:spAutoFit/>
          </a:bodyPr>
          <a:lstStyle/>
          <a:p>
            <a:pPr algn="l"/>
            <a:r>
              <a:rPr b="1" sz="1600">
                <a:solidFill>
                  <a:srgbClr val="00B0F0"/>
                </a:solidFill>
                <a:latin typeface="Arial"/>
              </a:rPr>
              <a:t>D. </a:t>
            </a:r>
            <a:r>
              <a:rPr sz="1600" b="0">
                <a:solidFill>
                  <a:srgbClr val="F0F0F0"/>
                </a:solidFill>
                <a:latin typeface="Arial"/>
              </a:rPr>
              <a:t>electron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886968"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722376" cy="402336"/>
          </a:xfrm>
          <a:prstGeom prst="rect">
            <a:avLst/>
          </a:prstGeom>
          <a:noFill/>
        </p:spPr>
        <p:txBody>
          <a:bodyPr wrap="none" anchor="ctr" lIns="0" rIns="0" tIns="0" bIns="0">
            <a:spAutoFit/>
          </a:bodyPr>
          <a:lstStyle/>
          <a:p>
            <a:pPr algn="l"/>
            <a:r>
              <a:rPr sz="1500" b="1">
                <a:solidFill>
                  <a:srgbClr val="FAD02C"/>
                </a:solidFill>
                <a:latin typeface="Arial"/>
              </a:rPr>
              <a:t>2024-1</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320040"/>
          </a:xfrm>
          <a:prstGeom prst="rect">
            <a:avLst/>
          </a:prstGeom>
          <a:noFill/>
        </p:spPr>
        <p:txBody>
          <a:bodyPr wrap="square" lIns="0" rIns="0" tIns="0" bIns="0">
            <a:spAutoFit/>
          </a:bodyPr>
          <a:lstStyle/>
          <a:p>
            <a:pPr algn="l"/>
            <a:r>
              <a:rPr sz="1800" b="1">
                <a:solidFill>
                  <a:srgbClr val="FAD02C"/>
                </a:solidFill>
                <a:latin typeface="Arial"/>
              </a:rPr>
              <a:t>Macroscopic particles in our daily life do not show wave-like properties because</a:t>
            </a:r>
          </a:p>
        </p:txBody>
      </p:sp>
      <p:sp>
        <p:nvSpPr>
          <p:cNvPr id="7" name="TextBox 6"/>
          <p:cNvSpPr txBox="1"/>
          <p:nvPr/>
        </p:nvSpPr>
        <p:spPr>
          <a:xfrm>
            <a:off x="457200" y="1216151"/>
            <a:ext cx="5477256" cy="457200"/>
          </a:xfrm>
          <a:prstGeom prst="rect">
            <a:avLst/>
          </a:prstGeom>
          <a:noFill/>
        </p:spPr>
        <p:txBody>
          <a:bodyPr wrap="square" lIns="0" rIns="73152" tIns="0" bIns="0" anchor="t">
            <a:spAutoFit/>
          </a:bodyPr>
          <a:lstStyle/>
          <a:p>
            <a:pPr algn="l"/>
            <a:r>
              <a:rPr b="1" sz="1600">
                <a:solidFill>
                  <a:srgbClr val="00B0F0"/>
                </a:solidFill>
                <a:latin typeface="Arial"/>
              </a:rPr>
              <a:t>A. </a:t>
            </a:r>
            <a:r>
              <a:rPr sz="1600" b="0">
                <a:solidFill>
                  <a:srgbClr val="F0F0F0"/>
                </a:solidFill>
                <a:latin typeface="Arial"/>
              </a:rPr>
              <a:t>they are not associated with waves</a:t>
            </a:r>
          </a:p>
        </p:txBody>
      </p:sp>
      <p:sp>
        <p:nvSpPr>
          <p:cNvPr id="8" name="TextBox 7"/>
          <p:cNvSpPr txBox="1"/>
          <p:nvPr/>
        </p:nvSpPr>
        <p:spPr>
          <a:xfrm>
            <a:off x="6254496" y="1216151"/>
            <a:ext cx="5477256" cy="457200"/>
          </a:xfrm>
          <a:prstGeom prst="rect">
            <a:avLst/>
          </a:prstGeom>
          <a:noFill/>
        </p:spPr>
        <p:txBody>
          <a:bodyPr wrap="square" lIns="0" rIns="73152" tIns="0" bIns="0" anchor="t">
            <a:spAutoFit/>
          </a:bodyPr>
          <a:lstStyle/>
          <a:p>
            <a:pPr algn="l"/>
            <a:r>
              <a:rPr b="1" sz="1600">
                <a:solidFill>
                  <a:srgbClr val="00B0F0"/>
                </a:solidFill>
                <a:latin typeface="Arial"/>
              </a:rPr>
              <a:t>B. </a:t>
            </a:r>
            <a:r>
              <a:rPr sz="1600" b="0">
                <a:solidFill>
                  <a:srgbClr val="F0F0F0"/>
                </a:solidFill>
                <a:latin typeface="Arial"/>
              </a:rPr>
              <a:t>their wavelength is extremely high</a:t>
            </a:r>
          </a:p>
        </p:txBody>
      </p:sp>
      <p:sp>
        <p:nvSpPr>
          <p:cNvPr id="9" name="TextBox 8"/>
          <p:cNvSpPr txBox="1"/>
          <p:nvPr/>
        </p:nvSpPr>
        <p:spPr>
          <a:xfrm>
            <a:off x="457200" y="1783079"/>
            <a:ext cx="5477256" cy="457200"/>
          </a:xfrm>
          <a:prstGeom prst="rect">
            <a:avLst/>
          </a:prstGeom>
          <a:noFill/>
        </p:spPr>
        <p:txBody>
          <a:bodyPr wrap="square" lIns="0" rIns="73152" tIns="0" bIns="0" anchor="t">
            <a:spAutoFit/>
          </a:bodyPr>
          <a:lstStyle/>
          <a:p>
            <a:pPr algn="l"/>
            <a:r>
              <a:rPr b="1" sz="1600">
                <a:solidFill>
                  <a:srgbClr val="00B0F0"/>
                </a:solidFill>
                <a:latin typeface="Arial"/>
              </a:rPr>
              <a:t>C. </a:t>
            </a:r>
            <a:r>
              <a:rPr sz="1600" b="0">
                <a:solidFill>
                  <a:srgbClr val="F0F0F0"/>
                </a:solidFill>
                <a:latin typeface="Arial"/>
              </a:rPr>
              <a:t>their wavelength is zero</a:t>
            </a:r>
          </a:p>
        </p:txBody>
      </p:sp>
      <p:sp>
        <p:nvSpPr>
          <p:cNvPr id="10" name="TextBox 9"/>
          <p:cNvSpPr txBox="1"/>
          <p:nvPr/>
        </p:nvSpPr>
        <p:spPr>
          <a:xfrm>
            <a:off x="6254496" y="1783079"/>
            <a:ext cx="5477256" cy="457200"/>
          </a:xfrm>
          <a:prstGeom prst="rect">
            <a:avLst/>
          </a:prstGeom>
          <a:noFill/>
        </p:spPr>
        <p:txBody>
          <a:bodyPr wrap="square" lIns="0" rIns="73152" tIns="0" bIns="0" anchor="t">
            <a:spAutoFit/>
          </a:bodyPr>
          <a:lstStyle/>
          <a:p>
            <a:pPr algn="l"/>
            <a:r>
              <a:rPr b="1" sz="1600">
                <a:solidFill>
                  <a:srgbClr val="00B0F0"/>
                </a:solidFill>
                <a:latin typeface="Arial"/>
              </a:rPr>
              <a:t>D. </a:t>
            </a:r>
            <a:r>
              <a:rPr sz="1600" b="0">
                <a:solidFill>
                  <a:srgbClr val="F0F0F0"/>
                </a:solidFill>
                <a:latin typeface="Arial"/>
              </a:rPr>
              <a:t>their wavelength is negligibly small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923544"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758952" cy="402336"/>
          </a:xfrm>
          <a:prstGeom prst="rect">
            <a:avLst/>
          </a:prstGeom>
          <a:noFill/>
        </p:spPr>
        <p:txBody>
          <a:bodyPr wrap="none" anchor="ctr" lIns="0" rIns="0" tIns="0" bIns="0">
            <a:spAutoFit/>
          </a:bodyPr>
          <a:lstStyle/>
          <a:p>
            <a:pPr algn="l"/>
            <a:r>
              <a:rPr sz="1500" b="1">
                <a:solidFill>
                  <a:srgbClr val="FAD02C"/>
                </a:solidFill>
                <a:latin typeface="Arial"/>
              </a:rPr>
              <a:t>2025-3</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913485"/>
          </a:xfrm>
          <a:prstGeom prst="rect">
            <a:avLst/>
          </a:prstGeom>
          <a:noFill/>
        </p:spPr>
        <p:txBody>
          <a:bodyPr wrap="square" lIns="0" rIns="0" tIns="0" bIns="0">
            <a:spAutoFit/>
          </a:bodyPr>
          <a:lstStyle/>
          <a:p>
            <a:pPr algn="l"/>
            <a:r>
              <a:rPr sz="1800" b="1">
                <a:solidFill>
                  <a:srgbClr val="FAD02C"/>
                </a:solidFill>
                <a:latin typeface="Arial"/>
              </a:rPr>
              <a:t>If Planck’s constant and basic unit of electric charge are ’h’ and ’e’ respectively, then in photoelectric effect, the graph between stopping potential (V₀) and frequency (γ) is a straight line with slope equal to _______.</a:t>
            </a:r>
          </a:p>
        </p:txBody>
      </p:sp>
      <p:sp>
        <p:nvSpPr>
          <p:cNvPr id="7" name="TextBox 6"/>
          <p:cNvSpPr txBox="1"/>
          <p:nvPr/>
        </p:nvSpPr>
        <p:spPr>
          <a:xfrm>
            <a:off x="457200" y="1809597"/>
            <a:ext cx="2681478" cy="457200"/>
          </a:xfrm>
          <a:prstGeom prst="rect">
            <a:avLst/>
          </a:prstGeom>
          <a:noFill/>
        </p:spPr>
        <p:txBody>
          <a:bodyPr wrap="square" lIns="0" rIns="73152" tIns="0" bIns="0" anchor="t">
            <a:spAutoFit/>
          </a:bodyPr>
          <a:lstStyle/>
          <a:p>
            <a:pPr algn="l"/>
            <a:r>
              <a:rPr b="1" sz="1600">
                <a:solidFill>
                  <a:srgbClr val="00B0F0"/>
                </a:solidFill>
                <a:latin typeface="Arial"/>
              </a:rPr>
              <a:t>A. </a:t>
            </a:r>
            <a:r>
              <a:rPr sz="1600" b="0">
                <a:solidFill>
                  <a:srgbClr val="F0F0F0"/>
                </a:solidFill>
                <a:latin typeface="Arial"/>
              </a:rPr>
              <a:t>h/e</a:t>
            </a:r>
          </a:p>
        </p:txBody>
      </p:sp>
      <p:sp>
        <p:nvSpPr>
          <p:cNvPr id="8" name="TextBox 7"/>
          <p:cNvSpPr txBox="1"/>
          <p:nvPr/>
        </p:nvSpPr>
        <p:spPr>
          <a:xfrm>
            <a:off x="3321558" y="1809597"/>
            <a:ext cx="2681478" cy="457200"/>
          </a:xfrm>
          <a:prstGeom prst="rect">
            <a:avLst/>
          </a:prstGeom>
          <a:noFill/>
        </p:spPr>
        <p:txBody>
          <a:bodyPr wrap="square" lIns="0" rIns="73152" tIns="0" bIns="0" anchor="t">
            <a:spAutoFit/>
          </a:bodyPr>
          <a:lstStyle/>
          <a:p>
            <a:pPr algn="l"/>
            <a:r>
              <a:rPr b="1" sz="1600">
                <a:solidFill>
                  <a:srgbClr val="00B0F0"/>
                </a:solidFill>
                <a:latin typeface="Arial"/>
              </a:rPr>
              <a:t>B. </a:t>
            </a:r>
            <a:r>
              <a:rPr sz="1600" b="0">
                <a:solidFill>
                  <a:srgbClr val="F0F0F0"/>
                </a:solidFill>
                <a:latin typeface="Arial"/>
              </a:rPr>
              <a:t>e/h</a:t>
            </a:r>
          </a:p>
        </p:txBody>
      </p:sp>
      <p:sp>
        <p:nvSpPr>
          <p:cNvPr id="9" name="TextBox 8"/>
          <p:cNvSpPr txBox="1"/>
          <p:nvPr/>
        </p:nvSpPr>
        <p:spPr>
          <a:xfrm>
            <a:off x="6185916" y="1809597"/>
            <a:ext cx="2681478" cy="457200"/>
          </a:xfrm>
          <a:prstGeom prst="rect">
            <a:avLst/>
          </a:prstGeom>
          <a:noFill/>
        </p:spPr>
        <p:txBody>
          <a:bodyPr wrap="square" lIns="0" rIns="73152" tIns="0" bIns="0" anchor="t">
            <a:spAutoFit/>
          </a:bodyPr>
          <a:lstStyle/>
          <a:p>
            <a:pPr algn="l"/>
            <a:r>
              <a:rPr b="1" sz="1600">
                <a:solidFill>
                  <a:srgbClr val="00B0F0"/>
                </a:solidFill>
                <a:latin typeface="Arial"/>
              </a:rPr>
              <a:t>C. </a:t>
            </a:r>
            <a:r>
              <a:rPr sz="1600" b="0">
                <a:solidFill>
                  <a:srgbClr val="F0F0F0"/>
                </a:solidFill>
                <a:latin typeface="Arial"/>
              </a:rPr>
              <a:t>e</a:t>
            </a:r>
          </a:p>
        </p:txBody>
      </p:sp>
      <p:sp>
        <p:nvSpPr>
          <p:cNvPr id="10" name="TextBox 9"/>
          <p:cNvSpPr txBox="1"/>
          <p:nvPr/>
        </p:nvSpPr>
        <p:spPr>
          <a:xfrm>
            <a:off x="9050274" y="1809597"/>
            <a:ext cx="2681478" cy="457200"/>
          </a:xfrm>
          <a:prstGeom prst="rect">
            <a:avLst/>
          </a:prstGeom>
          <a:noFill/>
        </p:spPr>
        <p:txBody>
          <a:bodyPr wrap="square" lIns="0" rIns="73152" tIns="0" bIns="0" anchor="t">
            <a:spAutoFit/>
          </a:bodyPr>
          <a:lstStyle/>
          <a:p>
            <a:pPr algn="l"/>
            <a:r>
              <a:rPr b="1" sz="1600">
                <a:solidFill>
                  <a:srgbClr val="00B0F0"/>
                </a:solidFill>
                <a:latin typeface="Arial"/>
              </a:rPr>
              <a:t>D. </a:t>
            </a:r>
            <a:r>
              <a:rPr sz="1600" b="0">
                <a:solidFill>
                  <a:srgbClr val="F0F0F0"/>
                </a:solidFill>
                <a:latin typeface="Arial"/>
              </a:rPr>
              <a:t>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923544"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758952" cy="402336"/>
          </a:xfrm>
          <a:prstGeom prst="rect">
            <a:avLst/>
          </a:prstGeom>
          <a:noFill/>
        </p:spPr>
        <p:txBody>
          <a:bodyPr wrap="none" anchor="ctr" lIns="0" rIns="0" tIns="0" bIns="0">
            <a:spAutoFit/>
          </a:bodyPr>
          <a:lstStyle/>
          <a:p>
            <a:pPr algn="l"/>
            <a:r>
              <a:rPr sz="1500" b="1">
                <a:solidFill>
                  <a:srgbClr val="FAD02C"/>
                </a:solidFill>
                <a:latin typeface="Arial"/>
              </a:rPr>
              <a:t>2025-2</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320040"/>
          </a:xfrm>
          <a:prstGeom prst="rect">
            <a:avLst/>
          </a:prstGeom>
          <a:noFill/>
        </p:spPr>
        <p:txBody>
          <a:bodyPr wrap="square" lIns="0" rIns="0" tIns="0" bIns="0">
            <a:spAutoFit/>
          </a:bodyPr>
          <a:lstStyle/>
          <a:p>
            <a:pPr algn="l"/>
            <a:r>
              <a:rPr sz="1800" b="1">
                <a:solidFill>
                  <a:srgbClr val="FAD02C"/>
                </a:solidFill>
                <a:latin typeface="Arial"/>
              </a:rPr>
              <a:t>Emission of electrons from a metal surface by heating is called as</a:t>
            </a:r>
          </a:p>
        </p:txBody>
      </p:sp>
      <p:sp>
        <p:nvSpPr>
          <p:cNvPr id="7" name="TextBox 6"/>
          <p:cNvSpPr txBox="1"/>
          <p:nvPr/>
        </p:nvSpPr>
        <p:spPr>
          <a:xfrm>
            <a:off x="457200" y="1216151"/>
            <a:ext cx="2681478" cy="457200"/>
          </a:xfrm>
          <a:prstGeom prst="rect">
            <a:avLst/>
          </a:prstGeom>
          <a:noFill/>
        </p:spPr>
        <p:txBody>
          <a:bodyPr wrap="square" lIns="0" rIns="73152" tIns="0" bIns="0" anchor="t">
            <a:spAutoFit/>
          </a:bodyPr>
          <a:lstStyle/>
          <a:p>
            <a:pPr algn="l"/>
            <a:r>
              <a:rPr b="1" sz="1600">
                <a:solidFill>
                  <a:srgbClr val="00B0F0"/>
                </a:solidFill>
                <a:latin typeface="Arial"/>
              </a:rPr>
              <a:t>A. </a:t>
            </a:r>
            <a:r>
              <a:rPr sz="1600" b="0">
                <a:solidFill>
                  <a:srgbClr val="F0F0F0"/>
                </a:solidFill>
                <a:latin typeface="Arial"/>
              </a:rPr>
              <a:t>Photo-electric emission</a:t>
            </a:r>
          </a:p>
        </p:txBody>
      </p:sp>
      <p:sp>
        <p:nvSpPr>
          <p:cNvPr id="8" name="TextBox 7"/>
          <p:cNvSpPr txBox="1"/>
          <p:nvPr/>
        </p:nvSpPr>
        <p:spPr>
          <a:xfrm>
            <a:off x="3321558" y="1216151"/>
            <a:ext cx="2681478" cy="457200"/>
          </a:xfrm>
          <a:prstGeom prst="rect">
            <a:avLst/>
          </a:prstGeom>
          <a:noFill/>
        </p:spPr>
        <p:txBody>
          <a:bodyPr wrap="square" lIns="0" rIns="73152" tIns="0" bIns="0" anchor="t">
            <a:spAutoFit/>
          </a:bodyPr>
          <a:lstStyle/>
          <a:p>
            <a:pPr algn="l"/>
            <a:r>
              <a:rPr b="1" sz="1600">
                <a:solidFill>
                  <a:srgbClr val="00B0F0"/>
                </a:solidFill>
                <a:latin typeface="Arial"/>
              </a:rPr>
              <a:t>B. </a:t>
            </a:r>
            <a:r>
              <a:rPr sz="1600" b="0">
                <a:solidFill>
                  <a:srgbClr val="F0F0F0"/>
                </a:solidFill>
                <a:latin typeface="Arial"/>
              </a:rPr>
              <a:t>Secondary emission</a:t>
            </a:r>
          </a:p>
        </p:txBody>
      </p:sp>
      <p:sp>
        <p:nvSpPr>
          <p:cNvPr id="9" name="TextBox 8"/>
          <p:cNvSpPr txBox="1"/>
          <p:nvPr/>
        </p:nvSpPr>
        <p:spPr>
          <a:xfrm>
            <a:off x="6185916" y="1216151"/>
            <a:ext cx="2681478" cy="457200"/>
          </a:xfrm>
          <a:prstGeom prst="rect">
            <a:avLst/>
          </a:prstGeom>
          <a:noFill/>
        </p:spPr>
        <p:txBody>
          <a:bodyPr wrap="square" lIns="0" rIns="73152" tIns="0" bIns="0" anchor="t">
            <a:spAutoFit/>
          </a:bodyPr>
          <a:lstStyle/>
          <a:p>
            <a:pPr algn="l"/>
            <a:r>
              <a:rPr b="1" sz="1600">
                <a:solidFill>
                  <a:srgbClr val="00B0F0"/>
                </a:solidFill>
                <a:latin typeface="Arial"/>
              </a:rPr>
              <a:t>C. </a:t>
            </a:r>
            <a:r>
              <a:rPr sz="1600" b="0">
                <a:solidFill>
                  <a:srgbClr val="F0F0F0"/>
                </a:solidFill>
                <a:latin typeface="Arial"/>
              </a:rPr>
              <a:t>Field emission</a:t>
            </a:r>
          </a:p>
        </p:txBody>
      </p:sp>
      <p:sp>
        <p:nvSpPr>
          <p:cNvPr id="10" name="TextBox 9"/>
          <p:cNvSpPr txBox="1"/>
          <p:nvPr/>
        </p:nvSpPr>
        <p:spPr>
          <a:xfrm>
            <a:off x="9050274" y="1216151"/>
            <a:ext cx="2681478" cy="457200"/>
          </a:xfrm>
          <a:prstGeom prst="rect">
            <a:avLst/>
          </a:prstGeom>
          <a:noFill/>
        </p:spPr>
        <p:txBody>
          <a:bodyPr wrap="square" lIns="0" rIns="73152" tIns="0" bIns="0" anchor="t">
            <a:spAutoFit/>
          </a:bodyPr>
          <a:lstStyle/>
          <a:p>
            <a:pPr algn="l"/>
            <a:r>
              <a:rPr b="1" sz="1600">
                <a:solidFill>
                  <a:srgbClr val="00B0F0"/>
                </a:solidFill>
                <a:latin typeface="Arial"/>
              </a:rPr>
              <a:t>D. </a:t>
            </a:r>
            <a:r>
              <a:rPr sz="1600" b="0">
                <a:solidFill>
                  <a:srgbClr val="F0F0F0"/>
                </a:solidFill>
                <a:latin typeface="Arial"/>
              </a:rPr>
              <a:t>Thermionic emission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886968"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722376" cy="402336"/>
          </a:xfrm>
          <a:prstGeom prst="rect">
            <a:avLst/>
          </a:prstGeom>
          <a:noFill/>
        </p:spPr>
        <p:txBody>
          <a:bodyPr wrap="none" anchor="ctr" lIns="0" rIns="0" tIns="0" bIns="0">
            <a:spAutoFit/>
          </a:bodyPr>
          <a:lstStyle/>
          <a:p>
            <a:pPr algn="l"/>
            <a:r>
              <a:rPr sz="1500" b="1">
                <a:solidFill>
                  <a:srgbClr val="FAD02C"/>
                </a:solidFill>
                <a:latin typeface="Arial"/>
              </a:rPr>
              <a:t>2025-1</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608990"/>
          </a:xfrm>
          <a:prstGeom prst="rect">
            <a:avLst/>
          </a:prstGeom>
          <a:noFill/>
        </p:spPr>
        <p:txBody>
          <a:bodyPr wrap="square" lIns="0" rIns="0" tIns="0" bIns="0">
            <a:spAutoFit/>
          </a:bodyPr>
          <a:lstStyle/>
          <a:p>
            <a:pPr algn="l"/>
            <a:r>
              <a:rPr sz="1800" b="1">
                <a:solidFill>
                  <a:srgbClr val="FAD02C"/>
                </a:solidFill>
                <a:latin typeface="Arial"/>
              </a:rPr>
              <a:t>A ball is dropped from a certain height and it falls freely under gravity. During the fall, the de Broglie wavelength associated with it</a:t>
            </a:r>
          </a:p>
        </p:txBody>
      </p:sp>
      <p:sp>
        <p:nvSpPr>
          <p:cNvPr id="7" name="TextBox 6"/>
          <p:cNvSpPr txBox="1"/>
          <p:nvPr/>
        </p:nvSpPr>
        <p:spPr>
          <a:xfrm>
            <a:off x="457200" y="1505102"/>
            <a:ext cx="2681478" cy="457200"/>
          </a:xfrm>
          <a:prstGeom prst="rect">
            <a:avLst/>
          </a:prstGeom>
          <a:noFill/>
        </p:spPr>
        <p:txBody>
          <a:bodyPr wrap="square" lIns="0" rIns="73152" tIns="0" bIns="0" anchor="t">
            <a:spAutoFit/>
          </a:bodyPr>
          <a:lstStyle/>
          <a:p>
            <a:pPr algn="l"/>
            <a:r>
              <a:rPr b="1" sz="1600">
                <a:solidFill>
                  <a:srgbClr val="00B0F0"/>
                </a:solidFill>
                <a:latin typeface="Arial"/>
              </a:rPr>
              <a:t>A. </a:t>
            </a:r>
            <a:r>
              <a:rPr sz="1600" b="0">
                <a:solidFill>
                  <a:srgbClr val="F0F0F0"/>
                </a:solidFill>
                <a:latin typeface="Arial"/>
              </a:rPr>
              <a:t>keeps increasing</a:t>
            </a:r>
          </a:p>
        </p:txBody>
      </p:sp>
      <p:sp>
        <p:nvSpPr>
          <p:cNvPr id="8" name="TextBox 7"/>
          <p:cNvSpPr txBox="1"/>
          <p:nvPr/>
        </p:nvSpPr>
        <p:spPr>
          <a:xfrm>
            <a:off x="3321558" y="1505102"/>
            <a:ext cx="2681478" cy="457200"/>
          </a:xfrm>
          <a:prstGeom prst="rect">
            <a:avLst/>
          </a:prstGeom>
          <a:noFill/>
        </p:spPr>
        <p:txBody>
          <a:bodyPr wrap="square" lIns="0" rIns="73152" tIns="0" bIns="0" anchor="t">
            <a:spAutoFit/>
          </a:bodyPr>
          <a:lstStyle/>
          <a:p>
            <a:pPr algn="l"/>
            <a:r>
              <a:rPr b="1" sz="1600">
                <a:solidFill>
                  <a:srgbClr val="00B0F0"/>
                </a:solidFill>
                <a:latin typeface="Arial"/>
              </a:rPr>
              <a:t>B. </a:t>
            </a:r>
            <a:r>
              <a:rPr sz="1600" b="0">
                <a:solidFill>
                  <a:srgbClr val="F0F0F0"/>
                </a:solidFill>
                <a:latin typeface="Arial"/>
              </a:rPr>
              <a:t>keeps decreasing</a:t>
            </a:r>
          </a:p>
        </p:txBody>
      </p:sp>
      <p:sp>
        <p:nvSpPr>
          <p:cNvPr id="9" name="TextBox 8"/>
          <p:cNvSpPr txBox="1"/>
          <p:nvPr/>
        </p:nvSpPr>
        <p:spPr>
          <a:xfrm>
            <a:off x="6185916" y="1505102"/>
            <a:ext cx="2681478" cy="457200"/>
          </a:xfrm>
          <a:prstGeom prst="rect">
            <a:avLst/>
          </a:prstGeom>
          <a:noFill/>
        </p:spPr>
        <p:txBody>
          <a:bodyPr wrap="square" lIns="0" rIns="73152" tIns="0" bIns="0" anchor="t">
            <a:spAutoFit/>
          </a:bodyPr>
          <a:lstStyle/>
          <a:p>
            <a:pPr algn="l"/>
            <a:r>
              <a:rPr b="1" sz="1600">
                <a:solidFill>
                  <a:srgbClr val="00B0F0"/>
                </a:solidFill>
                <a:latin typeface="Arial"/>
              </a:rPr>
              <a:t>C. </a:t>
            </a:r>
            <a:r>
              <a:rPr sz="1600" b="0">
                <a:solidFill>
                  <a:srgbClr val="F0F0F0"/>
                </a:solidFill>
                <a:latin typeface="Arial"/>
              </a:rPr>
              <a:t>is zero</a:t>
            </a:r>
          </a:p>
        </p:txBody>
      </p:sp>
      <p:sp>
        <p:nvSpPr>
          <p:cNvPr id="10" name="TextBox 9"/>
          <p:cNvSpPr txBox="1"/>
          <p:nvPr/>
        </p:nvSpPr>
        <p:spPr>
          <a:xfrm>
            <a:off x="9050274" y="1505102"/>
            <a:ext cx="2681478" cy="457200"/>
          </a:xfrm>
          <a:prstGeom prst="rect">
            <a:avLst/>
          </a:prstGeom>
          <a:noFill/>
        </p:spPr>
        <p:txBody>
          <a:bodyPr wrap="square" lIns="0" rIns="73152" tIns="0" bIns="0" anchor="t">
            <a:spAutoFit/>
          </a:bodyPr>
          <a:lstStyle/>
          <a:p>
            <a:pPr algn="l"/>
            <a:r>
              <a:rPr b="1" sz="1600">
                <a:solidFill>
                  <a:srgbClr val="00B0F0"/>
                </a:solidFill>
                <a:latin typeface="Arial"/>
              </a:rPr>
              <a:t>D. </a:t>
            </a:r>
            <a:r>
              <a:rPr sz="1600" b="0">
                <a:solidFill>
                  <a:srgbClr val="F0F0F0"/>
                </a:solidFill>
                <a:latin typeface="Arial"/>
              </a:rPr>
              <a:t>may increase or decrease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886968"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722376" cy="402336"/>
          </a:xfrm>
          <a:prstGeom prst="rect">
            <a:avLst/>
          </a:prstGeom>
          <a:noFill/>
        </p:spPr>
        <p:txBody>
          <a:bodyPr wrap="none" anchor="ctr" lIns="0" rIns="0" tIns="0" bIns="0">
            <a:spAutoFit/>
          </a:bodyPr>
          <a:lstStyle/>
          <a:p>
            <a:pPr algn="l"/>
            <a:r>
              <a:rPr sz="1500" b="1">
                <a:solidFill>
                  <a:srgbClr val="FAD02C"/>
                </a:solidFill>
                <a:latin typeface="Arial"/>
              </a:rPr>
              <a:t>2026-1</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608990"/>
          </a:xfrm>
          <a:prstGeom prst="rect">
            <a:avLst/>
          </a:prstGeom>
          <a:noFill/>
        </p:spPr>
        <p:txBody>
          <a:bodyPr wrap="square" lIns="0" rIns="0" tIns="0" bIns="0">
            <a:spAutoFit/>
          </a:bodyPr>
          <a:lstStyle/>
          <a:p>
            <a:pPr algn="l"/>
            <a:r>
              <a:rPr sz="1800" b="1">
                <a:solidFill>
                  <a:srgbClr val="FAD02C"/>
                </a:solidFill>
                <a:latin typeface="Arial"/>
              </a:rPr>
              <a:t>An α-particle, a proton, an electron and a neutron are moving with the same velocity. Then the particle having longest de Broglie wavelength is</a:t>
            </a:r>
          </a:p>
        </p:txBody>
      </p:sp>
      <p:sp>
        <p:nvSpPr>
          <p:cNvPr id="7" name="TextBox 6"/>
          <p:cNvSpPr txBox="1"/>
          <p:nvPr/>
        </p:nvSpPr>
        <p:spPr>
          <a:xfrm>
            <a:off x="457200" y="1505102"/>
            <a:ext cx="2681478" cy="457200"/>
          </a:xfrm>
          <a:prstGeom prst="rect">
            <a:avLst/>
          </a:prstGeom>
          <a:noFill/>
        </p:spPr>
        <p:txBody>
          <a:bodyPr wrap="square" lIns="0" rIns="73152" tIns="0" bIns="0" anchor="t">
            <a:spAutoFit/>
          </a:bodyPr>
          <a:lstStyle/>
          <a:p>
            <a:pPr algn="l"/>
            <a:r>
              <a:rPr b="1" sz="1600">
                <a:solidFill>
                  <a:srgbClr val="00B0F0"/>
                </a:solidFill>
                <a:latin typeface="Arial"/>
              </a:rPr>
              <a:t>A. </a:t>
            </a:r>
            <a:r>
              <a:rPr sz="1600" b="0">
                <a:solidFill>
                  <a:srgbClr val="F0F0F0"/>
                </a:solidFill>
                <a:latin typeface="Arial"/>
              </a:rPr>
              <a:t>proton.</a:t>
            </a:r>
          </a:p>
        </p:txBody>
      </p:sp>
      <p:sp>
        <p:nvSpPr>
          <p:cNvPr id="8" name="TextBox 7"/>
          <p:cNvSpPr txBox="1"/>
          <p:nvPr/>
        </p:nvSpPr>
        <p:spPr>
          <a:xfrm>
            <a:off x="3321558" y="1505102"/>
            <a:ext cx="2681478" cy="457200"/>
          </a:xfrm>
          <a:prstGeom prst="rect">
            <a:avLst/>
          </a:prstGeom>
          <a:noFill/>
        </p:spPr>
        <p:txBody>
          <a:bodyPr wrap="square" lIns="0" rIns="73152" tIns="0" bIns="0" anchor="t">
            <a:spAutoFit/>
          </a:bodyPr>
          <a:lstStyle/>
          <a:p>
            <a:pPr algn="l"/>
            <a:r>
              <a:rPr b="1" sz="1600">
                <a:solidFill>
                  <a:srgbClr val="00B0F0"/>
                </a:solidFill>
                <a:latin typeface="Arial"/>
              </a:rPr>
              <a:t>B. </a:t>
            </a:r>
            <a:r>
              <a:rPr sz="1600" b="0">
                <a:solidFill>
                  <a:srgbClr val="F0F0F0"/>
                </a:solidFill>
                <a:latin typeface="Arial"/>
              </a:rPr>
              <a:t>electron.</a:t>
            </a:r>
          </a:p>
        </p:txBody>
      </p:sp>
      <p:sp>
        <p:nvSpPr>
          <p:cNvPr id="9" name="TextBox 8"/>
          <p:cNvSpPr txBox="1"/>
          <p:nvPr/>
        </p:nvSpPr>
        <p:spPr>
          <a:xfrm>
            <a:off x="6185916" y="1505102"/>
            <a:ext cx="2681478" cy="457200"/>
          </a:xfrm>
          <a:prstGeom prst="rect">
            <a:avLst/>
          </a:prstGeom>
          <a:noFill/>
        </p:spPr>
        <p:txBody>
          <a:bodyPr wrap="square" lIns="0" rIns="73152" tIns="0" bIns="0" anchor="t">
            <a:spAutoFit/>
          </a:bodyPr>
          <a:lstStyle/>
          <a:p>
            <a:pPr algn="l"/>
            <a:r>
              <a:rPr b="1" sz="1600">
                <a:solidFill>
                  <a:srgbClr val="00B0F0"/>
                </a:solidFill>
                <a:latin typeface="Arial"/>
              </a:rPr>
              <a:t>C. </a:t>
            </a:r>
            <a:r>
              <a:rPr sz="1600" b="0">
                <a:solidFill>
                  <a:srgbClr val="F0F0F0"/>
                </a:solidFill>
                <a:latin typeface="Arial"/>
              </a:rPr>
              <a:t>neutron.</a:t>
            </a:r>
          </a:p>
        </p:txBody>
      </p:sp>
      <p:sp>
        <p:nvSpPr>
          <p:cNvPr id="10" name="TextBox 9"/>
          <p:cNvSpPr txBox="1"/>
          <p:nvPr/>
        </p:nvSpPr>
        <p:spPr>
          <a:xfrm>
            <a:off x="9050274" y="1505102"/>
            <a:ext cx="2681478" cy="457200"/>
          </a:xfrm>
          <a:prstGeom prst="rect">
            <a:avLst/>
          </a:prstGeom>
          <a:noFill/>
        </p:spPr>
        <p:txBody>
          <a:bodyPr wrap="square" lIns="0" rIns="73152" tIns="0" bIns="0" anchor="t">
            <a:spAutoFit/>
          </a:bodyPr>
          <a:lstStyle/>
          <a:p>
            <a:pPr algn="l"/>
            <a:r>
              <a:rPr b="1" sz="1600">
                <a:solidFill>
                  <a:srgbClr val="00B0F0"/>
                </a:solidFill>
                <a:latin typeface="Arial"/>
              </a:rPr>
              <a:t>D. </a:t>
            </a:r>
            <a:r>
              <a:rPr sz="1600" b="0">
                <a:solidFill>
                  <a:srgbClr val="F0F0F0"/>
                </a:solidFill>
                <a:latin typeface="Arial"/>
              </a:rPr>
              <a:t>α-particle.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923544"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758952" cy="402336"/>
          </a:xfrm>
          <a:prstGeom prst="rect">
            <a:avLst/>
          </a:prstGeom>
          <a:noFill/>
        </p:spPr>
        <p:txBody>
          <a:bodyPr wrap="none" anchor="ctr" lIns="0" rIns="0" tIns="0" bIns="0">
            <a:spAutoFit/>
          </a:bodyPr>
          <a:lstStyle/>
          <a:p>
            <a:pPr algn="l"/>
            <a:r>
              <a:rPr sz="1500" b="1">
                <a:solidFill>
                  <a:srgbClr val="FAD02C"/>
                </a:solidFill>
                <a:latin typeface="Arial"/>
              </a:rPr>
              <a:t>2026-2</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608990"/>
          </a:xfrm>
          <a:prstGeom prst="rect">
            <a:avLst/>
          </a:prstGeom>
          <a:noFill/>
        </p:spPr>
        <p:txBody>
          <a:bodyPr wrap="square" lIns="0" rIns="0" tIns="0" bIns="0">
            <a:spAutoFit/>
          </a:bodyPr>
          <a:lstStyle/>
          <a:p>
            <a:pPr algn="l"/>
            <a:r>
              <a:rPr sz="1800" b="1">
                <a:solidFill>
                  <a:srgbClr val="FAD02C"/>
                </a:solidFill>
                <a:latin typeface="Arial"/>
              </a:rPr>
              <a:t>An α-particle, a proton, an electron and a neutron are moving with the same speed. Then the particle having shortest de Broglie wavelength is</a:t>
            </a:r>
          </a:p>
        </p:txBody>
      </p:sp>
      <p:sp>
        <p:nvSpPr>
          <p:cNvPr id="7" name="TextBox 6"/>
          <p:cNvSpPr txBox="1"/>
          <p:nvPr/>
        </p:nvSpPr>
        <p:spPr>
          <a:xfrm>
            <a:off x="457200" y="1505102"/>
            <a:ext cx="2681478" cy="457200"/>
          </a:xfrm>
          <a:prstGeom prst="rect">
            <a:avLst/>
          </a:prstGeom>
          <a:noFill/>
        </p:spPr>
        <p:txBody>
          <a:bodyPr wrap="square" lIns="0" rIns="73152" tIns="0" bIns="0" anchor="t">
            <a:spAutoFit/>
          </a:bodyPr>
          <a:lstStyle/>
          <a:p>
            <a:pPr algn="l"/>
            <a:r>
              <a:rPr b="1" sz="1600">
                <a:solidFill>
                  <a:srgbClr val="00B0F0"/>
                </a:solidFill>
                <a:latin typeface="Arial"/>
              </a:rPr>
              <a:t>A. </a:t>
            </a:r>
            <a:r>
              <a:rPr sz="1600" b="0">
                <a:solidFill>
                  <a:srgbClr val="F0F0F0"/>
                </a:solidFill>
                <a:latin typeface="Arial"/>
              </a:rPr>
              <a:t>proton.</a:t>
            </a:r>
          </a:p>
        </p:txBody>
      </p:sp>
      <p:sp>
        <p:nvSpPr>
          <p:cNvPr id="8" name="TextBox 7"/>
          <p:cNvSpPr txBox="1"/>
          <p:nvPr/>
        </p:nvSpPr>
        <p:spPr>
          <a:xfrm>
            <a:off x="3321558" y="1505102"/>
            <a:ext cx="2681478" cy="457200"/>
          </a:xfrm>
          <a:prstGeom prst="rect">
            <a:avLst/>
          </a:prstGeom>
          <a:noFill/>
        </p:spPr>
        <p:txBody>
          <a:bodyPr wrap="square" lIns="0" rIns="73152" tIns="0" bIns="0" anchor="t">
            <a:spAutoFit/>
          </a:bodyPr>
          <a:lstStyle/>
          <a:p>
            <a:pPr algn="l"/>
            <a:r>
              <a:rPr b="1" sz="1600">
                <a:solidFill>
                  <a:srgbClr val="00B0F0"/>
                </a:solidFill>
                <a:latin typeface="Arial"/>
              </a:rPr>
              <a:t>B. </a:t>
            </a:r>
            <a:r>
              <a:rPr sz="1600" b="0">
                <a:solidFill>
                  <a:srgbClr val="F0F0F0"/>
                </a:solidFill>
                <a:latin typeface="Arial"/>
              </a:rPr>
              <a:t>electron.</a:t>
            </a:r>
          </a:p>
        </p:txBody>
      </p:sp>
      <p:sp>
        <p:nvSpPr>
          <p:cNvPr id="9" name="TextBox 8"/>
          <p:cNvSpPr txBox="1"/>
          <p:nvPr/>
        </p:nvSpPr>
        <p:spPr>
          <a:xfrm>
            <a:off x="6185916" y="1505102"/>
            <a:ext cx="2681478" cy="457200"/>
          </a:xfrm>
          <a:prstGeom prst="rect">
            <a:avLst/>
          </a:prstGeom>
          <a:noFill/>
        </p:spPr>
        <p:txBody>
          <a:bodyPr wrap="square" lIns="0" rIns="73152" tIns="0" bIns="0" anchor="t">
            <a:spAutoFit/>
          </a:bodyPr>
          <a:lstStyle/>
          <a:p>
            <a:pPr algn="l"/>
            <a:r>
              <a:rPr b="1" sz="1600">
                <a:solidFill>
                  <a:srgbClr val="00B0F0"/>
                </a:solidFill>
                <a:latin typeface="Arial"/>
              </a:rPr>
              <a:t>C. </a:t>
            </a:r>
            <a:r>
              <a:rPr sz="1600" b="0">
                <a:solidFill>
                  <a:srgbClr val="F0F0F0"/>
                </a:solidFill>
                <a:latin typeface="Arial"/>
              </a:rPr>
              <a:t>neutron.</a:t>
            </a:r>
          </a:p>
        </p:txBody>
      </p:sp>
      <p:sp>
        <p:nvSpPr>
          <p:cNvPr id="10" name="TextBox 9"/>
          <p:cNvSpPr txBox="1"/>
          <p:nvPr/>
        </p:nvSpPr>
        <p:spPr>
          <a:xfrm>
            <a:off x="9050274" y="1505102"/>
            <a:ext cx="2681478" cy="457200"/>
          </a:xfrm>
          <a:prstGeom prst="rect">
            <a:avLst/>
          </a:prstGeom>
          <a:noFill/>
        </p:spPr>
        <p:txBody>
          <a:bodyPr wrap="square" lIns="0" rIns="73152" tIns="0" bIns="0" anchor="t">
            <a:spAutoFit/>
          </a:bodyPr>
          <a:lstStyle/>
          <a:p>
            <a:pPr algn="l"/>
            <a:r>
              <a:rPr b="1" sz="1600">
                <a:solidFill>
                  <a:srgbClr val="00B0F0"/>
                </a:solidFill>
                <a:latin typeface="Arial"/>
              </a:rPr>
              <a:t>D. </a:t>
            </a:r>
            <a:r>
              <a:rPr sz="1600" b="0">
                <a:solidFill>
                  <a:srgbClr val="F0F0F0"/>
                </a:solidFill>
                <a:latin typeface="Arial"/>
              </a:rPr>
              <a:t>α-particle.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1545336"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1380744" cy="402336"/>
          </a:xfrm>
          <a:prstGeom prst="rect">
            <a:avLst/>
          </a:prstGeom>
          <a:noFill/>
        </p:spPr>
        <p:txBody>
          <a:bodyPr wrap="none" anchor="ctr" lIns="0" rIns="0" tIns="0" bIns="0">
            <a:spAutoFit/>
          </a:bodyPr>
          <a:lstStyle/>
          <a:p>
            <a:pPr algn="l"/>
            <a:r>
              <a:rPr sz="1500" b="1">
                <a:solidFill>
                  <a:srgbClr val="FAD02C"/>
                </a:solidFill>
                <a:latin typeface="Arial"/>
              </a:rPr>
              <a:t>2025-3,2026-1</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In interaction of radiation with matter, radiation behaves as if it is made up of packet of energy called ______.</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886968"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722376" cy="402336"/>
          </a:xfrm>
          <a:prstGeom prst="rect">
            <a:avLst/>
          </a:prstGeom>
          <a:noFill/>
        </p:spPr>
        <p:txBody>
          <a:bodyPr wrap="none" anchor="ctr" lIns="0" rIns="0" tIns="0" bIns="0">
            <a:spAutoFit/>
          </a:bodyPr>
          <a:lstStyle/>
          <a:p>
            <a:pPr algn="l"/>
            <a:r>
              <a:rPr sz="1500" b="1">
                <a:solidFill>
                  <a:srgbClr val="FAD02C"/>
                </a:solidFill>
                <a:latin typeface="Arial"/>
              </a:rPr>
              <a:t>2025-1</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Photoelectric effect is a/an _____________ effect.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923544"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758952" cy="402336"/>
          </a:xfrm>
          <a:prstGeom prst="rect">
            <a:avLst/>
          </a:prstGeom>
          <a:noFill/>
        </p:spPr>
        <p:txBody>
          <a:bodyPr wrap="none" anchor="ctr" lIns="0" rIns="0" tIns="0" bIns="0">
            <a:spAutoFit/>
          </a:bodyPr>
          <a:lstStyle/>
          <a:p>
            <a:pPr algn="l"/>
            <a:r>
              <a:rPr sz="1500" b="1">
                <a:solidFill>
                  <a:srgbClr val="FAD02C"/>
                </a:solidFill>
                <a:latin typeface="Arial"/>
              </a:rPr>
              <a:t>2026-2</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The tiny packet of energy of light is called ________.</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722376"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557784" cy="402336"/>
          </a:xfrm>
          <a:prstGeom prst="rect">
            <a:avLst/>
          </a:prstGeom>
          <a:noFill/>
        </p:spPr>
        <p:txBody>
          <a:bodyPr wrap="none" anchor="ctr" lIns="0" rIns="0" tIns="0" bIns="0">
            <a:spAutoFit/>
          </a:bodyPr>
          <a:lstStyle/>
          <a:p>
            <a:pPr algn="l"/>
            <a:r>
              <a:rPr sz="1500" b="1">
                <a:solidFill>
                  <a:srgbClr val="FAD02C"/>
                </a:solidFill>
                <a:latin typeface="Arial"/>
              </a:rPr>
              <a:t>2015</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What is the conclusion of Davison and Germar exp eriment on the nature of electron?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722376"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557784" cy="402336"/>
          </a:xfrm>
          <a:prstGeom prst="rect">
            <a:avLst/>
          </a:prstGeom>
          <a:noFill/>
        </p:spPr>
        <p:txBody>
          <a:bodyPr wrap="none" anchor="ctr" lIns="0" rIns="0" tIns="0" bIns="0">
            <a:spAutoFit/>
          </a:bodyPr>
          <a:lstStyle/>
          <a:p>
            <a:pPr algn="l"/>
            <a:r>
              <a:rPr sz="1500" b="1">
                <a:solidFill>
                  <a:srgbClr val="FAD02C"/>
                </a:solidFill>
                <a:latin typeface="Arial"/>
              </a:rPr>
              <a:t>2019</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Mention any one type of electron emission.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822960"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658368" cy="402336"/>
          </a:xfrm>
          <a:prstGeom prst="rect">
            <a:avLst/>
          </a:prstGeom>
          <a:noFill/>
        </p:spPr>
        <p:txBody>
          <a:bodyPr wrap="none" anchor="ctr" lIns="0" rIns="0" tIns="0" bIns="0">
            <a:spAutoFit/>
          </a:bodyPr>
          <a:lstStyle/>
          <a:p>
            <a:pPr algn="l"/>
            <a:r>
              <a:rPr sz="1500" b="1">
                <a:solidFill>
                  <a:srgbClr val="FAD02C"/>
                </a:solidFill>
                <a:latin typeface="Arial"/>
              </a:rPr>
              <a:t>2019S</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What is the rest mass of photon?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850392"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685800" cy="402336"/>
          </a:xfrm>
          <a:prstGeom prst="rect">
            <a:avLst/>
          </a:prstGeom>
          <a:noFill/>
        </p:spPr>
        <p:txBody>
          <a:bodyPr wrap="none" anchor="ctr" lIns="0" rIns="0" tIns="0" bIns="0">
            <a:spAutoFit/>
          </a:bodyPr>
          <a:lstStyle/>
          <a:p>
            <a:pPr algn="l"/>
            <a:r>
              <a:rPr sz="1500" b="1">
                <a:solidFill>
                  <a:srgbClr val="FAD02C"/>
                </a:solidFill>
                <a:latin typeface="Arial"/>
              </a:rPr>
              <a:t>2021M</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How does the stopping potential of a photosensitive material vary with intensity of incident radiation?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850392"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685800" cy="402336"/>
          </a:xfrm>
          <a:prstGeom prst="rect">
            <a:avLst/>
          </a:prstGeom>
          <a:noFill/>
        </p:spPr>
        <p:txBody>
          <a:bodyPr wrap="none" anchor="ctr" lIns="0" rIns="0" tIns="0" bIns="0">
            <a:spAutoFit/>
          </a:bodyPr>
          <a:lstStyle/>
          <a:p>
            <a:pPr algn="l"/>
            <a:r>
              <a:rPr sz="1500" b="1">
                <a:solidFill>
                  <a:srgbClr val="FAD02C"/>
                </a:solidFill>
                <a:latin typeface="Arial"/>
              </a:rPr>
              <a:t>2021M</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Write the exp ression for the de Broglie wavelength of a particle of mass m moving with a speed v.</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722376"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557784" cy="402336"/>
          </a:xfrm>
          <a:prstGeom prst="rect">
            <a:avLst/>
          </a:prstGeom>
          <a:noFill/>
        </p:spPr>
        <p:txBody>
          <a:bodyPr wrap="none" anchor="ctr" lIns="0" rIns="0" tIns="0" bIns="0">
            <a:spAutoFit/>
          </a:bodyPr>
          <a:lstStyle/>
          <a:p>
            <a:pPr algn="l"/>
            <a:r>
              <a:rPr sz="1500" b="1">
                <a:solidFill>
                  <a:srgbClr val="FAD02C"/>
                </a:solidFill>
                <a:latin typeface="Arial"/>
              </a:rPr>
              <a:t>2014</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Write any two types of electron emission?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722376"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557784" cy="402336"/>
          </a:xfrm>
          <a:prstGeom prst="rect">
            <a:avLst/>
          </a:prstGeom>
          <a:noFill/>
        </p:spPr>
        <p:txBody>
          <a:bodyPr wrap="none" anchor="ctr" lIns="0" rIns="0" tIns="0" bIns="0">
            <a:spAutoFit/>
          </a:bodyPr>
          <a:lstStyle/>
          <a:p>
            <a:pPr algn="l"/>
            <a:r>
              <a:rPr sz="1500" b="1">
                <a:solidFill>
                  <a:srgbClr val="FAD02C"/>
                </a:solidFill>
                <a:latin typeface="Arial"/>
              </a:rPr>
              <a:t>2015</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Mention two applications of infrared radiation.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822960"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658368" cy="402336"/>
          </a:xfrm>
          <a:prstGeom prst="rect">
            <a:avLst/>
          </a:prstGeom>
          <a:noFill/>
        </p:spPr>
        <p:txBody>
          <a:bodyPr wrap="none" anchor="ctr" lIns="0" rIns="0" tIns="0" bIns="0">
            <a:spAutoFit/>
          </a:bodyPr>
          <a:lstStyle/>
          <a:p>
            <a:pPr algn="l"/>
            <a:r>
              <a:rPr sz="1500" b="1">
                <a:solidFill>
                  <a:srgbClr val="FAD02C"/>
                </a:solidFill>
                <a:latin typeface="Arial"/>
              </a:rPr>
              <a:t>2016S</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Define: Photoelectric work function Electron volt(ev)</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822960"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658368" cy="402336"/>
          </a:xfrm>
          <a:prstGeom prst="rect">
            <a:avLst/>
          </a:prstGeom>
          <a:noFill/>
        </p:spPr>
        <p:txBody>
          <a:bodyPr wrap="none" anchor="ctr" lIns="0" rIns="0" tIns="0" bIns="0">
            <a:spAutoFit/>
          </a:bodyPr>
          <a:lstStyle/>
          <a:p>
            <a:pPr algn="l"/>
            <a:r>
              <a:rPr sz="1500" b="1">
                <a:solidFill>
                  <a:srgbClr val="FAD02C"/>
                </a:solidFill>
                <a:latin typeface="Arial"/>
              </a:rPr>
              <a:t>2017S</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What are De-Broglie Waves? How does the De-Broglie wavelength vary with momentum of moving particle?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722376"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557784" cy="402336"/>
          </a:xfrm>
          <a:prstGeom prst="rect">
            <a:avLst/>
          </a:prstGeom>
          <a:noFill/>
        </p:spPr>
        <p:txBody>
          <a:bodyPr wrap="none" anchor="ctr" lIns="0" rIns="0" tIns="0" bIns="0">
            <a:spAutoFit/>
          </a:bodyPr>
          <a:lstStyle/>
          <a:p>
            <a:pPr algn="l"/>
            <a:r>
              <a:rPr sz="1500" b="1">
                <a:solidFill>
                  <a:srgbClr val="FAD02C"/>
                </a:solidFill>
                <a:latin typeface="Arial"/>
              </a:rPr>
              <a:t>2019</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Write the exp ression for de-Broglie wave length of electrons in terms of electric potential and exp lain the terms used.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758952"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594359" cy="402336"/>
          </a:xfrm>
          <a:prstGeom prst="rect">
            <a:avLst/>
          </a:prstGeom>
          <a:noFill/>
        </p:spPr>
        <p:txBody>
          <a:bodyPr wrap="none" anchor="ctr" lIns="0" rIns="0" tIns="0" bIns="0">
            <a:spAutoFit/>
          </a:bodyPr>
          <a:lstStyle/>
          <a:p>
            <a:pPr algn="l"/>
            <a:r>
              <a:rPr sz="1500" b="1">
                <a:solidFill>
                  <a:srgbClr val="FAD02C"/>
                </a:solidFill>
                <a:latin typeface="Arial"/>
              </a:rPr>
              <a:t>2020</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An alpha particle, a proton and an electron are moving with equal kinetic energy. Which one of these particles has the longest de Broglie wavelength? Give reason.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722376"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557784" cy="402336"/>
          </a:xfrm>
          <a:prstGeom prst="rect">
            <a:avLst/>
          </a:prstGeom>
          <a:noFill/>
        </p:spPr>
        <p:txBody>
          <a:bodyPr wrap="none" anchor="ctr" lIns="0" rIns="0" tIns="0" bIns="0">
            <a:spAutoFit/>
          </a:bodyPr>
          <a:lstStyle/>
          <a:p>
            <a:pPr algn="l"/>
            <a:r>
              <a:rPr sz="1500" b="1">
                <a:solidFill>
                  <a:srgbClr val="FAD02C"/>
                </a:solidFill>
                <a:latin typeface="Arial"/>
              </a:rPr>
              <a:t>2014</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Give three characteristics of photon.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822960"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658368" cy="402336"/>
          </a:xfrm>
          <a:prstGeom prst="rect">
            <a:avLst/>
          </a:prstGeom>
          <a:noFill/>
        </p:spPr>
        <p:txBody>
          <a:bodyPr wrap="none" anchor="ctr" lIns="0" rIns="0" tIns="0" bIns="0">
            <a:spAutoFit/>
          </a:bodyPr>
          <a:lstStyle/>
          <a:p>
            <a:pPr algn="l"/>
            <a:r>
              <a:rPr sz="1500" b="1">
                <a:solidFill>
                  <a:srgbClr val="FAD02C"/>
                </a:solidFill>
                <a:latin typeface="Arial"/>
              </a:rPr>
              <a:t>2016S</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What are matter waves? Write the exp ression for De-Broglie wavelength of a particle and exp lain the terms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2551176"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2386584" cy="402336"/>
          </a:xfrm>
          <a:prstGeom prst="rect">
            <a:avLst/>
          </a:prstGeom>
          <a:noFill/>
        </p:spPr>
        <p:txBody>
          <a:bodyPr wrap="none" anchor="ctr" lIns="0" rIns="0" tIns="0" bIns="0">
            <a:spAutoFit/>
          </a:bodyPr>
          <a:lstStyle/>
          <a:p>
            <a:pPr algn="l"/>
            <a:r>
              <a:rPr sz="1500" b="1">
                <a:solidFill>
                  <a:srgbClr val="FAD02C"/>
                </a:solidFill>
                <a:latin typeface="Arial"/>
              </a:rPr>
              <a:t>2016,2018S,2025-3,2026-1</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Write the exp erimental observations of photo electric effect.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822960"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658368" cy="402336"/>
          </a:xfrm>
          <a:prstGeom prst="rect">
            <a:avLst/>
          </a:prstGeom>
          <a:noFill/>
        </p:spPr>
        <p:txBody>
          <a:bodyPr wrap="none" anchor="ctr" lIns="0" rIns="0" tIns="0" bIns="0">
            <a:spAutoFit/>
          </a:bodyPr>
          <a:lstStyle/>
          <a:p>
            <a:pPr algn="l"/>
            <a:r>
              <a:rPr sz="1500" b="1">
                <a:solidFill>
                  <a:srgbClr val="FAD02C"/>
                </a:solidFill>
                <a:latin typeface="Arial"/>
              </a:rPr>
              <a:t>2017S</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Define the terms: a) Threshold frequency b) Work function c) Stopping potential</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822960"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658368" cy="402336"/>
          </a:xfrm>
          <a:prstGeom prst="rect">
            <a:avLst/>
          </a:prstGeom>
          <a:noFill/>
        </p:spPr>
        <p:txBody>
          <a:bodyPr wrap="none" anchor="ctr" lIns="0" rIns="0" tIns="0" bIns="0">
            <a:spAutoFit/>
          </a:bodyPr>
          <a:lstStyle/>
          <a:p>
            <a:pPr algn="l"/>
            <a:r>
              <a:rPr sz="1500" b="1">
                <a:solidFill>
                  <a:srgbClr val="FAD02C"/>
                </a:solidFill>
                <a:latin typeface="Arial"/>
              </a:rPr>
              <a:t>2018S</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Calculate de Broglie wavelength associated with an electron moving with a speed of 2 ×105ms⁻¹. Given h = 6.625 ×10⁻³⁴JS, m = 9.11 ×10⁻³¹ kg.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1170432"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1005840" cy="402336"/>
          </a:xfrm>
          <a:prstGeom prst="rect">
            <a:avLst/>
          </a:prstGeom>
          <a:noFill/>
        </p:spPr>
        <p:txBody>
          <a:bodyPr wrap="none" anchor="ctr" lIns="0" rIns="0" tIns="0" bIns="0">
            <a:spAutoFit/>
          </a:bodyPr>
          <a:lstStyle/>
          <a:p>
            <a:pPr algn="l"/>
            <a:r>
              <a:rPr sz="1500" b="1">
                <a:solidFill>
                  <a:srgbClr val="FAD02C"/>
                </a:solidFill>
                <a:latin typeface="Arial"/>
              </a:rPr>
              <a:t>2017,2019</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Write any three exp erimental observations of photoelectric effect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822960"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658368" cy="402336"/>
          </a:xfrm>
          <a:prstGeom prst="rect">
            <a:avLst/>
          </a:prstGeom>
          <a:noFill/>
        </p:spPr>
        <p:txBody>
          <a:bodyPr wrap="none" anchor="ctr" lIns="0" rIns="0" tIns="0" bIns="0">
            <a:spAutoFit/>
          </a:bodyPr>
          <a:lstStyle/>
          <a:p>
            <a:pPr algn="l"/>
            <a:r>
              <a:rPr sz="1500" b="1">
                <a:solidFill>
                  <a:srgbClr val="FAD02C"/>
                </a:solidFill>
                <a:latin typeface="Arial"/>
              </a:rPr>
              <a:t>2019S</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Name the three types of electron Emission.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758952"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594359" cy="402336"/>
          </a:xfrm>
          <a:prstGeom prst="rect">
            <a:avLst/>
          </a:prstGeom>
          <a:noFill/>
        </p:spPr>
        <p:txBody>
          <a:bodyPr wrap="none" anchor="ctr" lIns="0" rIns="0" tIns="0" bIns="0">
            <a:spAutoFit/>
          </a:bodyPr>
          <a:lstStyle/>
          <a:p>
            <a:pPr algn="l"/>
            <a:r>
              <a:rPr sz="1500" b="1">
                <a:solidFill>
                  <a:srgbClr val="FAD02C"/>
                </a:solidFill>
                <a:latin typeface="Arial"/>
              </a:rPr>
              <a:t>2020</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Define work function. Write Einstein’s photoelectric equation and exp lain the terms.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758952"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594359" cy="402336"/>
          </a:xfrm>
          <a:prstGeom prst="rect">
            <a:avLst/>
          </a:prstGeom>
          <a:noFill/>
        </p:spPr>
        <p:txBody>
          <a:bodyPr wrap="none" anchor="ctr" lIns="0" rIns="0" tIns="0" bIns="0">
            <a:spAutoFit/>
          </a:bodyPr>
          <a:lstStyle/>
          <a:p>
            <a:pPr algn="l"/>
            <a:r>
              <a:rPr sz="1500" b="1">
                <a:solidFill>
                  <a:srgbClr val="FAD02C"/>
                </a:solidFill>
                <a:latin typeface="Arial"/>
              </a:rPr>
              <a:t>2025</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Deduce an exp ression for total energy of electron in an orbit of hydrogen atom in terms of radius of orbit.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1335024"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1170432" cy="402336"/>
          </a:xfrm>
          <a:prstGeom prst="rect">
            <a:avLst/>
          </a:prstGeom>
          <a:noFill/>
        </p:spPr>
        <p:txBody>
          <a:bodyPr wrap="none" anchor="ctr" lIns="0" rIns="0" tIns="0" bIns="0">
            <a:spAutoFit/>
          </a:bodyPr>
          <a:lstStyle/>
          <a:p>
            <a:pPr algn="l"/>
            <a:r>
              <a:rPr sz="1500" b="1">
                <a:solidFill>
                  <a:srgbClr val="FAD02C"/>
                </a:solidFill>
                <a:latin typeface="Arial"/>
              </a:rPr>
              <a:t>2015,2024-1</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Write Einstein’s equation of photoelectric effect. Give Einstein’s exp lanation of photoelectric effect.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pic>
        <p:nvPicPr>
          <p:cNvPr id="2" name="Picture 1"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3" name="TextBox 2"/>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Explain Hallwach’s and Lenard’s observations on photoelectric effect.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822960"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658368" cy="402336"/>
          </a:xfrm>
          <a:prstGeom prst="rect">
            <a:avLst/>
          </a:prstGeom>
          <a:noFill/>
        </p:spPr>
        <p:txBody>
          <a:bodyPr wrap="none" anchor="ctr" lIns="0" rIns="0" tIns="0" bIns="0">
            <a:spAutoFit/>
          </a:bodyPr>
          <a:lstStyle/>
          <a:p>
            <a:pPr algn="l"/>
            <a:r>
              <a:rPr sz="1500" b="1">
                <a:solidFill>
                  <a:srgbClr val="FAD02C"/>
                </a:solidFill>
                <a:latin typeface="Arial"/>
              </a:rPr>
              <a:t>2015S</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Define: Work function Threshold frequency Stopping potential.</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722376"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557784" cy="402336"/>
          </a:xfrm>
          <a:prstGeom prst="rect">
            <a:avLst/>
          </a:prstGeom>
          <a:noFill/>
        </p:spPr>
        <p:txBody>
          <a:bodyPr wrap="none" anchor="ctr" lIns="0" rIns="0" tIns="0" bIns="0">
            <a:spAutoFit/>
          </a:bodyPr>
          <a:lstStyle/>
          <a:p>
            <a:pPr algn="l"/>
            <a:r>
              <a:rPr sz="1500" b="1">
                <a:solidFill>
                  <a:srgbClr val="FAD02C"/>
                </a:solidFill>
                <a:latin typeface="Arial"/>
              </a:rPr>
              <a:t>2016</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Write the exp erimental observations of photo electric effect.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1417320"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1252728" cy="402336"/>
          </a:xfrm>
          <a:prstGeom prst="rect">
            <a:avLst/>
          </a:prstGeom>
          <a:noFill/>
        </p:spPr>
        <p:txBody>
          <a:bodyPr wrap="none" anchor="ctr" lIns="0" rIns="0" tIns="0" bIns="0">
            <a:spAutoFit/>
          </a:bodyPr>
          <a:lstStyle/>
          <a:p>
            <a:pPr algn="l"/>
            <a:r>
              <a:rPr sz="1500" b="1">
                <a:solidFill>
                  <a:srgbClr val="FAD02C"/>
                </a:solidFill>
                <a:latin typeface="Arial"/>
              </a:rPr>
              <a:t>2022,2024-3</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What is photoelectric effect? Write exp erimental observations of photoelectric effect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758952"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594359" cy="402336"/>
          </a:xfrm>
          <a:prstGeom prst="rect">
            <a:avLst/>
          </a:prstGeom>
          <a:noFill/>
        </p:spPr>
        <p:txBody>
          <a:bodyPr wrap="none" anchor="ctr" lIns="0" rIns="0" tIns="0" bIns="0">
            <a:spAutoFit/>
          </a:bodyPr>
          <a:lstStyle/>
          <a:p>
            <a:pPr algn="l"/>
            <a:r>
              <a:rPr sz="1500" b="1">
                <a:solidFill>
                  <a:srgbClr val="FAD02C"/>
                </a:solidFill>
                <a:latin typeface="Arial"/>
              </a:rPr>
              <a:t>2023</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(i) Give Einstein’s exp lanation of photoelectric effect.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pic>
        <p:nvPicPr>
          <p:cNvPr id="2" name="Picture 1"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3" name="TextBox 2"/>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(ii) Mention any two properties of photons.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1417320"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1252728" cy="402336"/>
          </a:xfrm>
          <a:prstGeom prst="rect">
            <a:avLst/>
          </a:prstGeom>
          <a:noFill/>
        </p:spPr>
        <p:txBody>
          <a:bodyPr wrap="none" anchor="ctr" lIns="0" rIns="0" tIns="0" bIns="0">
            <a:spAutoFit/>
          </a:bodyPr>
          <a:lstStyle/>
          <a:p>
            <a:pPr algn="l"/>
            <a:r>
              <a:rPr sz="1500" b="1">
                <a:solidFill>
                  <a:srgbClr val="FAD02C"/>
                </a:solidFill>
                <a:latin typeface="Arial"/>
              </a:rPr>
              <a:t>2023,2024-2</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a) What is meant by photoelectric effect? (b) Mention any two exp erimental observations of photoelectric effect. (c) Write Einstein’s photoelectric equation and exp lain the terms.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1316736"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1152144" cy="402336"/>
          </a:xfrm>
          <a:prstGeom prst="rect">
            <a:avLst/>
          </a:prstGeom>
          <a:noFill/>
        </p:spPr>
        <p:txBody>
          <a:bodyPr wrap="none" anchor="ctr" lIns="0" rIns="0" tIns="0" bIns="0">
            <a:spAutoFit/>
          </a:bodyPr>
          <a:lstStyle/>
          <a:p>
            <a:pPr algn="l"/>
            <a:r>
              <a:rPr sz="1500" b="1">
                <a:solidFill>
                  <a:srgbClr val="FAD02C"/>
                </a:solidFill>
                <a:latin typeface="Arial"/>
              </a:rPr>
              <a:t>2014S,2025</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The work function of cesium metal is 2.14 ev. When light of frequency 6 × 1014 Hz is incident on the metal surface, photoemission of electrons occurs. Find Energy of incident photons Maximum kinetic energy of photoelectrons. Given, Planck’s constant h = 6.63 ×10⁻³⁴ Js, 1 ev = 1.6 ×10⁻¹⁹</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722376"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557784" cy="402336"/>
          </a:xfrm>
          <a:prstGeom prst="rect">
            <a:avLst/>
          </a:prstGeom>
          <a:noFill/>
        </p:spPr>
        <p:txBody>
          <a:bodyPr wrap="none" anchor="ctr" lIns="0" rIns="0" tIns="0" bIns="0">
            <a:spAutoFit/>
          </a:bodyPr>
          <a:lstStyle/>
          <a:p>
            <a:pPr algn="l"/>
            <a:r>
              <a:rPr sz="1500" b="1">
                <a:solidFill>
                  <a:srgbClr val="FAD02C"/>
                </a:solidFill>
                <a:latin typeface="Arial"/>
              </a:rPr>
              <a:t>2018</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Light of frequency 8.41 × 1014 Hz is incident on a metal surface. Electrons with their maximum speed of 7.5 ×105ms⁻¹ are ejected from the surface. Calculate the threshold frequency for photoemission of electrons. Also find the work function of the metal in electron volt (eV). Given Planck’s constant h = 6.625 ×10⁻³⁴JS and mass of the electron 9.1 ×10⁻³¹ Kg.</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850392"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685800" cy="402336"/>
          </a:xfrm>
          <a:prstGeom prst="rect">
            <a:avLst/>
          </a:prstGeom>
          <a:noFill/>
        </p:spPr>
        <p:txBody>
          <a:bodyPr wrap="none" anchor="ctr" lIns="0" rIns="0" tIns="0" bIns="0">
            <a:spAutoFit/>
          </a:bodyPr>
          <a:lstStyle/>
          <a:p>
            <a:pPr algn="l"/>
            <a:r>
              <a:rPr sz="1500" b="1">
                <a:solidFill>
                  <a:srgbClr val="FAD02C"/>
                </a:solidFill>
                <a:latin typeface="Arial"/>
              </a:rPr>
              <a:t>2021M</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Light of frequency 7.21 × 1014 Hz is incident on a metal surface. The cut-off wavelength for photoelectric emission from the metal surface is 540 nm. Determine the maximum speed of the photoelectrons emitted from the surface. (Given: h =6.63 ×10⁻³⁴ Js, mass of an electron = 9.1 ×10⁻³¹ kg).</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850392"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685800" cy="402336"/>
          </a:xfrm>
          <a:prstGeom prst="rect">
            <a:avLst/>
          </a:prstGeom>
          <a:noFill/>
        </p:spPr>
        <p:txBody>
          <a:bodyPr wrap="none" anchor="ctr" lIns="0" rIns="0" tIns="0" bIns="0">
            <a:spAutoFit/>
          </a:bodyPr>
          <a:lstStyle/>
          <a:p>
            <a:pPr algn="l"/>
            <a:r>
              <a:rPr sz="1500" b="1">
                <a:solidFill>
                  <a:srgbClr val="FAD02C"/>
                </a:solidFill>
                <a:latin typeface="Arial"/>
              </a:rPr>
              <a:t>2021M</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The work function of caesium is 2.14 eV. Find (a) the threshold frequency for cesium and (b) the wavelength of the incident light if the photocurrent is brought to zero by a stopping potential of 0.60V.</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923544"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758952" cy="402336"/>
          </a:xfrm>
          <a:prstGeom prst="rect">
            <a:avLst/>
          </a:prstGeom>
          <a:noFill/>
        </p:spPr>
        <p:txBody>
          <a:bodyPr wrap="none" anchor="ctr" lIns="0" rIns="0" tIns="0" bIns="0">
            <a:spAutoFit/>
          </a:bodyPr>
          <a:lstStyle/>
          <a:p>
            <a:pPr algn="l"/>
            <a:r>
              <a:rPr sz="1500" b="1">
                <a:solidFill>
                  <a:srgbClr val="FAD02C"/>
                </a:solidFill>
                <a:latin typeface="Arial"/>
              </a:rPr>
              <a:t>2025-2</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The work function of a metal is 2.20 eV when radiation of frequency 6.50 ×1014Hz incident on the metal surface photo emission of electrons occurs. Calculate a) energy of incident photon and b) stopping potential of photoelectrons. (Given h = 6.63 × 10–34 Js and e = 1.6 × 10–19C)</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886968"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722376" cy="402336"/>
          </a:xfrm>
          <a:prstGeom prst="rect">
            <a:avLst/>
          </a:prstGeom>
          <a:noFill/>
        </p:spPr>
        <p:txBody>
          <a:bodyPr wrap="none" anchor="ctr" lIns="0" rIns="0" tIns="0" bIns="0">
            <a:spAutoFit/>
          </a:bodyPr>
          <a:lstStyle/>
          <a:p>
            <a:pPr algn="l"/>
            <a:r>
              <a:rPr sz="1500" b="1">
                <a:solidFill>
                  <a:srgbClr val="FAD02C"/>
                </a:solidFill>
                <a:latin typeface="Arial"/>
              </a:rPr>
              <a:t>2025-1</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When a light radiation of energy 3 eV falls on metal surface, photoelectrons with a maximum kinetic energy 1eV are emitted from the surface. Find the threshold frequency for the metal surface. (Given: Planck’s constant = 6.63×10⁻³⁴ Js;) Charge on the electron e = 1.6× 10–19C)</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923544"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758952" cy="402336"/>
          </a:xfrm>
          <a:prstGeom prst="rect">
            <a:avLst/>
          </a:prstGeom>
          <a:noFill/>
        </p:spPr>
        <p:txBody>
          <a:bodyPr wrap="none" anchor="ctr" lIns="0" rIns="0" tIns="0" bIns="0">
            <a:spAutoFit/>
          </a:bodyPr>
          <a:lstStyle/>
          <a:p>
            <a:pPr algn="l"/>
            <a:r>
              <a:rPr sz="1500" b="1">
                <a:solidFill>
                  <a:srgbClr val="FAD02C"/>
                </a:solidFill>
                <a:latin typeface="Arial"/>
              </a:rPr>
              <a:t>2026-2</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The work function of cesium metal is 2.14 ev. When light of frequency 6 × 1014 Hz is incident on cesium surface, find the maximum kinetic energy of photoelectrons emitted. (Given: Planck’s constant, h=6.63×10⁻³⁴ Js and e = 1.6 10–19C).</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