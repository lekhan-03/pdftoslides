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FAD02C"/>
                </a:solidFill>
                <a:latin typeface="Arial"/>
              </a:defRPr>
            </a:pPr>
            <a:r>
              <a:rPr lang="en-US" sz="4400" b="1">
                <a:solidFill>
                  <a:srgbClr val="FAD02C"/>
                </a:solidFill>
                <a:latin typeface="Arial"/>
              </a:rPr>
              <a:t>Chemistry Midterm —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C</m:t>
                    </m:r>
                    <m:r>
                      <m:t>Q</m:t>
                    </m:r>
                  </m:oMath>
                </a14:m>
              </mc:Choice>
            </mc:AlternateContent>
            <a:r>
              <a:rPr lang="en-US" sz="44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4400" b="1">
                <a:solidFill>
                  <a:srgbClr val="FAD02C"/>
                </a:solidFill>
                <a:latin typeface="Arial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205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r>
                      <m:t>L</m:t>
                    </m:r>
                    <m:r>
                      <m:t>U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1. 68% of nitric acid in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Has zero enthalpy of mixing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Cannot be separated by distillation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Follows Raoult's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Has zero volume change of mixing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Assuming complete dissociation, the value of van’t Hoff factor for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Consider a blood cell placed in a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solution of concentration more than 0.9% (w/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Which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one of the following statements is true in this case?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Osmosis takes place from the cell to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solution, and the cell shrinks.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Osmosis takes place from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solution to the cell, and the cell swells.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Osmosis takes place from the cell to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solution, and the cell swells.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Osmosis takes place from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solution to the cell, and the cell shrinks.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4. De-salination of sea water can be done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Dialysis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Evaporation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Reverse osmosis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5. During osmosis, the solvent molecules are moving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Hypertonic solution to isotonic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Hypertonic solution to hypotonic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Higher concentrated solution to lower concentrated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Hypotonic solution to hypertonic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For a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0.1</m:t>
                    </m:r>
                    <m:r>
                      <m:t>M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solution, the colligative property will follow the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P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P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≈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P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P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7. If abnormal molar mass is more than normal molar mass, the Van't Hoff factor (i)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 &gt;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i =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 &lt;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i ≥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8. In a solution containing a non-volatile solute, the mole fraction of solvent is 0.9. The relative
lowering of vapor pressure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0.9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9. Isotonic solutions have the same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Surface 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Vapour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Osmotic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Viscosity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10. Pick out the ideal solution among the following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Phenol and Aniline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 and Acetone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Chloroform and Acetone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n-Hexane and n-Heptane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11. The concentration term depends on temperature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mole fraction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molality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molarity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12. The condition caused when scuba divers go into deep sea water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Anoxia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Hemophilia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H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values for Ar(g)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,</m:t>
                    </m:r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(aq)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,</m:t>
                    </m:r>
                    <m:r>
                      <m:t>H</m:t>
                    </m:r>
                    <m:r>
                      <m:t>C</m:t>
                    </m:r>
                    <m:r>
                      <m:t>H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(aq),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(aq) are 40.39, 1.67, 1.83 ×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0.413 respectively. Arrange them in the order of their increasing solubility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C</m:t>
                    </m:r>
                    <m:r>
                      <m:t>H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C</m:t>
                    </m:r>
                    <m:r>
                      <m:t>H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 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C</m:t>
                    </m:r>
                    <m:r>
                      <m:t>H</m:t>
                    </m:r>
                    <m:r>
                      <m:t>O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 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C</m:t>
                    </m:r>
                    <m:r>
                      <m:t>H</m:t>
                    </m:r>
                    <m:r>
                      <m:t>O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14. The dissolution of a gas in a liquid is governed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Roult's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Henry's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Dalton's law of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Boyle's law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15. The maximum amount of a solid solute that can be dissolved in a specific amount of a given
liquid solvent does not depend upon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Nature of solvent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Nature of solute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16. The mixture which shows positive deviation from Raoult's law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 + Acetone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Benzene + Toluene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Acetone + Chloroform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Chlorobenzene + Bromoethane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most diluted solution is (molar mass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58.5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g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2% (w/w)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in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1</m:t>
                    </m:r>
                    <m:r>
                      <m:t>M</m:t>
                    </m:r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2 ppm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2 m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18. The pressure cooker reduces the cooking timing because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Heat is more evenly distributed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The boiling point of water inside the cooker is elevated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The boiling point of water inside the cooker is depressed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Higher pressure inside the cooker tenderizes food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19. The solubility of a gas in water depends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Nature of the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Pressure of the 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of the above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20. The solubility of a solid gas does not depend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Nature of the solute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Nature of the solvent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21. The solution which has lower osmotic pressure with respect to another is called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Isotonic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Hypotonic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22. The solutions which show a large positive deviation from Raoult's law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Minimum boiling point azeotrope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Maximum boiling point azeotrope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Minimum or maximum boiling point azeotrope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 azeotrope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k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used by most scuba divers are filled with air diluted with helium of around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88.3%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56.2%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32.1%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11.7%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 Henry’s constant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H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Greater for gases with higher solubility.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Greater for gases with lower solubility.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Constant for all gases.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Not related to the solubility of gases.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Value of Henry’s constant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K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Increases with increase in temperature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Decreases with increase in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Remains constant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First increases, then decreases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26. When a substance is dissolved in a solvent, the vapor pressure for the solvent is decreased. This
results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The solution having a lower osmotic pressure than the solvent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 decrease in the boiling point of the solvent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The solution having a higher freezing point than the solvent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An increase in the boiling point of the solution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27. Which of the following aqueous solutions should have the highest boiling 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1.0 M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O</m:t>
                    </m:r>
                    <m:r>
                      <m:t>H</m:t>
                    </m:r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1.0 M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1.0 M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1.0 M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28. Which of the following liquid-liquid solutions show negative deviation from Raoult's 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Benzene and Toluene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Water and Ethanol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Acetone and Chloroform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Chlorobenzene and Bromobenzene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29. Which of the following solutions is used as an antifreezing agent in car radiators to cool the
engine?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35% (v/v) solution of ethylene glycol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35% (m/m) solution of ethylene glycol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35% (m/v) solution of ethylene glycol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35% (v/m) solution of ethylene glycol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30. Which one of the following is not a solid solution?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Hydrogen in palladium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Camphor in nitrogen 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Amalgam of mercury &amp; sodium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Copper in gold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E</m:t>
                    </m:r>
                    <m:r>
                      <m:t>L</m:t>
                    </m:r>
                    <m:r>
                      <m:t>E</m:t>
                    </m:r>
                    <m:r>
                      <m:t>C</m:t>
                    </m:r>
                    <m:r>
                      <m:t>T</m:t>
                    </m:r>
                    <m:r>
                      <m:t>R</m:t>
                    </m:r>
                    <m:r>
                      <m:t>O</m:t>
                    </m:r>
                    <m:r>
                      <m:t>C</m:t>
                    </m:r>
                    <m:r>
                      <m:t>H</m:t>
                    </m:r>
                    <m:r>
                      <m:t>E</m:t>
                    </m:r>
                    <m:r>
                      <m:t>M</m:t>
                    </m:r>
                    <m:r>
                      <m:t>I</m:t>
                    </m:r>
                    <m:r>
                      <m:t>S</m:t>
                    </m:r>
                    <m:r>
                      <m:t>T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31. A galvanic cell has an electrical potential of 1.1 V. If an opposing potential of 1.1 V is applied
to this cell, what will happen to the cell reaction and current flowing through the cell?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The reaction stops and no current flows through the cell.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The reaction continues but current flows in the opposite direction.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The concentration of reactants becomes unity and current flows from cathode to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The cell does not function as a galvanic cell and zinc is deposited on the zinc plate.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32. An electrochemical cell can behave like an electrolytic cell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Ecell =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Ecell &gt; Eext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Ecell &lt; Eext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Ecell = Eext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33. Assertion: The specific conductivity decreases with dilution.
Reason: The number of ions per unit volume that carry the current in a solution decreases on
dilution.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assertion and reason are true, and the reason is the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of the assertion.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assertion and reason are true, but the reason is not the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of the assertion.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065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Assertion is true, but the reason is false.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46065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assertion and reason are false.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34. Ecell of Daniel cell is calculated by using the following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Ecell = E°cell - 0.0295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/Z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Ecell = E°cell - 0.0295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u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/Z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Ecell = E°cell - 0.0295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Z</m:t>
                    </m:r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/C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Ecell = E°cell - 0.0295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Z</m:t>
                    </m:r>
                    <m:r>
                      <m:t>n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35. Fluorine has the highest standard electrode potential, indicating that fluorine gas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Strongest reducing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Strongest oxidizing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Weak oxidizing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E</m:t>
                    </m:r>
                    <m:r>
                      <m:t>P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value is zero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If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cell for a given reaction has a negative value, then which of the following is the correct relationship for 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sSup>
                      <m:e>
                        <m:r>
                          <m:t>G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Keq?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sSup>
                      <m:e>
                        <m:r>
                          <m:t>G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&gt;0 and Keq&gt;1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sSup>
                      <m:e>
                        <m:r>
                          <m:t>G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&lt;0 and Keq&lt;1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sSup>
                      <m:e>
                        <m:r>
                          <m:t>G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&gt;0 and Keq&lt;1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sSup>
                      <m:e>
                        <m:r>
                          <m:t>G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&lt;0 and Keq&gt;1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37. In a galvanic cell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Chemical energy is converted into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Electrical energy is converted into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Chemical energy is converted into electrical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Electrical energy is converted into chemical energy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38. Match the batteries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5458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00B0F0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L</m:t>
                    </m:r>
                    <m:r>
                      <m:t>U</m:t>
                    </m:r>
                    <m:r>
                      <m:t>M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400" b="1">
                <a:solidFill>
                  <a:srgbClr val="00B0F0"/>
                </a:solidFill>
                <a:latin typeface="Arial"/>
              </a:rPr>
              <a:t> </a:t>
            </a:r>
            <a:r>
              <a:rPr lang="en-US" sz="1400" b="1">
                <a:solidFill>
                  <a:srgbClr val="00B0F0"/>
                </a:solidFill>
                <a:latin typeface="Arial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5916" y="1216151"/>
            <a:ext cx="55458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00B0F0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L</m:t>
                    </m:r>
                    <m:r>
                      <m:t>U</m:t>
                    </m:r>
                    <m:r>
                      <m:t>M</m:t>
                    </m:r>
                    <m:r>
                      <m:t>N</m:t>
                    </m:r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400" b="1">
                <a:solidFill>
                  <a:srgbClr val="00B0F0"/>
                </a:solidFill>
                <a:latin typeface="Arial"/>
              </a:rPr>
              <a:t>​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216151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554583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(i)  Leclanché cell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5409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Lead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P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(ii) Mercury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6557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Hydrogen(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gas (iii) Lead storage battery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7705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Zinc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Z</m:t>
                    </m:r>
                    <m:r>
                      <m:t>n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(iv)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-O2 fuel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88536"/>
            <a:ext cx="11274552" cy="473659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Zinc – Mercury amalgam(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Z</m:t>
                    </m:r>
                    <m:r>
                      <m:t>n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t>g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i-a, ii-b, iii-c, iv-d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i-b, ii-a, iii-d, iv-c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i-c, ii-d, iii-a, iv-b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i-d, ii-c, iii-a, iv-b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Saturated solution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used to make a salt bridge because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Velocity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K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greater than that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3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Velocity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3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greater than that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K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Velocity of both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K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3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nearly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highly soluble in water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I: Conductivity 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κ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of a solution decreases with dilution.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Statement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: Molar conductivity 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m) of solution increases with dilution.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Identify the correct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statements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statements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incorrect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correct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incorrect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incorrect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correct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I: Cu displaces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gas from dilute acids. Statement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: ions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get reduced more easily than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incorrect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correct and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incorrect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incorrect and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correct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E° values of 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Fe, Z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Zn, and 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Sn are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0.44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0.76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0.14</m:t>
                    </m:r>
                    <m:r>
                      <m:t>V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respectively. Which of these metals can displace iron from an 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solution?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Zn and Sn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Zn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Neither Zn nor Sn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43. The molar conductivity is maximum for the solution of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0.005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0.001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0.004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0.002 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product formed at the anode during the electrolysis of aqueous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P</m:t>
                    </m:r>
                    <m:r>
                      <m:t>P</m:t>
                    </m:r>
                    <m:r>
                      <m:t>L</m:t>
                    </m:r>
                    <m:r>
                      <m:t>I</m:t>
                    </m:r>
                    <m:r>
                      <m:t>C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B</m:t>
                    </m:r>
                    <m:r>
                      <m:t>A</m:t>
                    </m:r>
                    <m:r>
                      <m:t>S</m:t>
                    </m:r>
                    <m:r>
                      <m:t>E</m:t>
                    </m:r>
                    <m:r>
                      <m:t>D</m:t>
                    </m:r>
                    <m:r>
                      <m:t>Q</m:t>
                    </m:r>
                    <m:r>
                      <m:t>U</m:t>
                    </m:r>
                    <m:r>
                      <m:t>E</m:t>
                    </m:r>
                    <m:r>
                      <m:t>S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quantity of electricity required for the reduction of one mole of A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ions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 Faraday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 Faraday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 Faraday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4 Faraday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46. What will happen in the Daniel cell, when Eext&lt;1.1 V?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Electrons flow from Zn rod to Cu rod; hence current flows from Cu to Zn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Electrons flow from Cu rod to Zn rod; hence current flows from Cu to Zn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Electrons flow from Zn rod to Cu rod; hence current flows from Zn to 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Electrons flow from Cu rod to Zn rod; hence current flows from Zn to Cu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47. When one Faraday current is passed, which of the following would deposit one-gram atomic
mass of the metal?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Z</m:t>
                    </m:r>
                    <m:r>
                      <m:t>n</m:t>
                    </m:r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l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t>a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1522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48. Which of these statements about a galvanic cell are not true?
i) The cathode carries a positive sign.
ii) Oxidation occurs at the anode.
iii) Electrons flow from cathode to anode in the external circuit.
iv) The anode carries a negative 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 and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i and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ii and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ii and iv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H</m:t>
                    </m:r>
                    <m:r>
                      <m:t>E</m:t>
                    </m:r>
                    <m:r>
                      <m:t>M</m:t>
                    </m:r>
                    <m:r>
                      <m:t>I</m:t>
                    </m:r>
                    <m:r>
                      <m:t>C</m:t>
                    </m:r>
                    <m:r>
                      <m:t>A</m:t>
                    </m:r>
                    <m:r>
                      <m:t>L</m:t>
                    </m:r>
                    <m:r>
                      <m:t>K</m:t>
                    </m:r>
                    <m:r>
                      <m:t>I</m:t>
                    </m:r>
                    <m:r>
                      <m:t>N</m:t>
                    </m:r>
                    <m:r>
                      <m:t>E</m:t>
                    </m:r>
                    <m:r>
                      <m:t>T</m:t>
                    </m:r>
                    <m:r>
                      <m:t>I</m:t>
                    </m:r>
                    <m:r>
                      <m:t>C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49. Acid hydrolysis of ethyl acetate is an example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 order reaction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First order reaction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Second order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Pseudo first order reaction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50. All natural and artificial radioactive decay of unstable nuclei take place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 order kinetics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Half-order kinetics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First-order kinetics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Second-order kinetics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For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t>N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(g)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(g) 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(g), the following initial-rate data were obtained. Choose the 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equation.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O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Consider the Arrhenius equation k=e−Ea/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T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mark the correct 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constant increases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o</m:t>
                    </m:r>
                    <m:r>
                      <m:t>n</m:t>
                    </m:r>
                    <m:r>
                      <m:t>e</m:t>
                    </m:r>
                    <m:r>
                      <m:t>n</m:t>
                    </m:r>
                    <m:r>
                      <m:t>t</m:t>
                    </m:r>
                    <m:r>
                      <m:t>i</m:t>
                    </m:r>
                    <m:r>
                      <m:t>a</m:t>
                    </m:r>
                    <m:r>
                      <m:t>l</m:t>
                    </m:r>
                    <m:r>
                      <m:t>l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with increasing activation energy and decreasing temperature.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constant decreases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o</m:t>
                    </m:r>
                    <m:r>
                      <m:t>n</m:t>
                    </m:r>
                    <m:r>
                      <m:t>e</m:t>
                    </m:r>
                    <m:r>
                      <m:t>n</m:t>
                    </m:r>
                    <m:r>
                      <m:t>t</m:t>
                    </m:r>
                    <m:r>
                      <m:t>i</m:t>
                    </m:r>
                    <m:r>
                      <m:t>a</m:t>
                    </m:r>
                    <m:r>
                      <m:t>l</m:t>
                    </m:r>
                    <m:r>
                      <m:t>l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with increasing activation energy and decreasing temperature.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constant increases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o</m:t>
                    </m:r>
                    <m:r>
                      <m:t>n</m:t>
                    </m:r>
                    <m:r>
                      <m:t>e</m:t>
                    </m:r>
                    <m:r>
                      <m:t>n</m:t>
                    </m:r>
                    <m:r>
                      <m:t>t</m:t>
                    </m:r>
                    <m:r>
                      <m:t>i</m:t>
                    </m:r>
                    <m:r>
                      <m:t>a</m:t>
                    </m:r>
                    <m:r>
                      <m:t>l</m:t>
                    </m:r>
                    <m:r>
                      <m:t>l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with increasing activation energy and increasing temperature.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constant increases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o</m:t>
                    </m:r>
                    <m:r>
                      <m:t>n</m:t>
                    </m:r>
                    <m:r>
                      <m:t>e</m:t>
                    </m:r>
                    <m:r>
                      <m:t>n</m:t>
                    </m:r>
                    <m:r>
                      <m:t>t</m:t>
                    </m:r>
                    <m:r>
                      <m:t>i</m:t>
                    </m:r>
                    <m:r>
                      <m:t>a</m:t>
                    </m:r>
                    <m:r>
                      <m:t>l</m:t>
                    </m:r>
                    <m:r>
                      <m:t>l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with decreasing activation energy and decreasing temperature.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53. For a chemical reaction A → B, it is found that the rate of a reaction doubles when the
concentration of A is doubled. The order of the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54. For a zero-order reaction, the intercept for the plot of concentration of reactants vs. time is
equal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-k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\$\log {k}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 a reaction A + B → products, rate is doubled when the concentration of B is doubled,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rate increases by a factor of 8 when the concentrations of both the reactants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B. are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doubled. The rate law for the reaction can be written as: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= K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 a reaction Hg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g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rate of disappearance of Hg is equal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of disappearance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of appearance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g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Rate of appearance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57. In a reaction, when the concentration of a reactant is increased two times, the increase in the
rate of reaction was four times. The order of the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First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Zero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Pseudo first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Second order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58. In presence of a catalyst, the heat evolved or absorbed during the reaction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Increases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Decreases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Depends on the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59. Order of a reaction in which unit of rate of reaction and rate constant are the same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I: A catalyst does not alter Gibb’s energy 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Δ</m:t>
                    </m:r>
                    <m: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of a reaction.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Statement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: A catalyst alters the activation energy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of a reaction by providing an alternate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pathway.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incorrect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correct,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incorrect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incorrect,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correct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1217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I: If in a zero-order reaction, the concentration of the reactant is doubled, the half-life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period is also doubled.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Statement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: For a first-order reaction, the half-life period is independent of the initial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concentration of the reactant.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1409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211409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 Statement I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incorrect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102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correct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incorrect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68102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I is incorrect but Statement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correct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62. The collision frequency in a reaction depends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Number of moles of reactants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Proper orientation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Activated reactant molecules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(b) and (c)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63. The following factor which does not affect the rate of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64. The half-life period of a first-order reaction is 15 minutes. The amount of substance left after
one hour will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One-half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One-fourth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One-eighth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One-sixteenth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65. The molecularity of a reaction cannot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Whole number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number of collisions per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per unit volume of the reaction is known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Collision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Activation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Collision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Kinetic energy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order of a chemical reaction having the 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r</m:t>
                    </m:r>
                    <m:r>
                      <m:t>e</m:t>
                    </m:r>
                    <m:r>
                      <m:t>s</m:t>
                    </m:r>
                    <m:r>
                      <m:t>s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overall order of a reaction which has the 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r</m:t>
                    </m:r>
                    <m:r>
                      <m:t>e</m:t>
                    </m:r>
                    <m:r>
                      <m:t>s</m:t>
                    </m:r>
                    <m:r>
                      <m:t>s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Rate = 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1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/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/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 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order for a reaction with the rate law Rate=k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Two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rate constant of a reaction is k = 2.3 ×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L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order of the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71. The S.I. unit of the rate constant of a first-order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mol 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m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mol 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m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</m:sup>
                    </m:sSup>
                    <m:sSup>
                      <m:e>
                        <m:r>
                          <m:t>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sSup>
                      <m:e>
                        <m:r>
                          <m:t>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72. The slope of the Arrhenius plot (\$\log {k}$ versus $1/T)$ for a given reaction is found to be −2000 K. What
is the activation energy $(E$ₐ) of the reaction in J mo$l^{-1}$? (Given R = 8.314 J $K^{-1}$mo$l^{-1}$)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38,314.5 J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(or 38.3 kJ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19,157.2 J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76,629.0 J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8,314.0 J mo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73. The time required for 100 percent completion of a zero-order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2k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[</m:t>
                    </m:r>
                    <m:r>
                      <m:t>R</m:t>
                    </m:r>
                    <m:r>
                      <m:rPr>
                        <m:sty m:val="p"/>
                      </m:rPr>
                      <m:t>]</m:t>
                    </m:r>
                    <m:r>
                      <m:t>0</m:t>
                    </m:r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R</m:t>
                    </m:r>
                    <m:r>
                      <m:rPr>
                        <m:sty m:val="p"/>
                      </m:rPr>
                      <m:t>]</m:t>
                    </m:r>
                    <m:r>
                      <m:t>0</m:t>
                    </m:r>
                    <m:r>
                      <m:rPr>
                        <m:sty m:val="p"/>
                      </m:rPr>
                      <m:t>/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2k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R</m:t>
                    </m:r>
                    <m:r>
                      <m:rPr>
                        <m:sty m:val="p"/>
                      </m:rPr>
                      <m:t>]</m:t>
                    </m:r>
                    <m:r>
                      <m:t>0</m:t>
                    </m:r>
                    <m:r>
                      <m:rPr>
                        <m:sty m:val="p"/>
                      </m:rPr>
                      <m:t>/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R</m:t>
                    </m:r>
                    <m:r>
                      <m:rPr>
                        <m:sty m:val="p"/>
                      </m:rPr>
                      <m:t>]</m:t>
                    </m:r>
                    <m:r>
                      <m:t>0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k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74. The unit of the rate constant of a reaction is the same as that of its rate. The order of the
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Zero 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First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Second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Pseudo order.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What is the value of ‘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’ if the total order of the reaction, which has the 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r</m:t>
                    </m:r>
                    <m:r>
                      <m:t>e</m:t>
                    </m:r>
                    <m:r>
                      <m:t>s</m:t>
                    </m:r>
                    <m:r>
                      <m:t>s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: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Rate = k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3/2?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P</m:t>
                    </m:r>
                    <m:r>
                      <m:t>P</m:t>
                    </m:r>
                    <m:r>
                      <m:t>L</m:t>
                    </m:r>
                    <m:r>
                      <m:t>I</m:t>
                    </m:r>
                    <m:r>
                      <m:t>C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B</m:t>
                    </m:r>
                    <m:r>
                      <m:t>A</m:t>
                    </m:r>
                    <m:r>
                      <m:t>S</m:t>
                    </m:r>
                    <m:r>
                      <m:t>E</m:t>
                    </m:r>
                    <m:r>
                      <m:t>D</m:t>
                    </m:r>
                    <m:r>
                      <m:t>Q</m:t>
                    </m:r>
                    <m:r>
                      <m:t>U</m:t>
                    </m:r>
                    <m:r>
                      <m:t>E</m:t>
                    </m:r>
                    <m:r>
                      <m:t>S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76. When the initial concentration of the reactant is doubled, then the half-life of a zero-order
reaction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Is halved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Is doubled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Is tripled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77. Which of the following factors does not affect the rate of reaction?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78. Which of the following is correct for a zero-order reaction?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t½ ∝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0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t½ ∝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t½ ∝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t½ ∝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1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a:r>
              <a:rPr lang="en-US" sz="5000" b="1">
                <a:solidFill>
                  <a:srgbClr val="FAD02C"/>
                </a:solidFill>
                <a:latin typeface="Arial"/>
              </a:rPr>
              <a:t>D</a:t>
            </a:r>
            <a:r>
              <a:rPr lang="en-US" sz="50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N</m:t>
                    </m:r>
                    <m:r>
                      <m:t>D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5000" b="1">
                <a:solidFill>
                  <a:srgbClr val="FAD02C"/>
                </a:solidFill>
                <a:latin typeface="Arial"/>
              </a:rPr>
              <a:t>F</a:t>
            </a:r>
            <a:r>
              <a:rPr lang="en-US" sz="50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t>L</m:t>
                    </m:r>
                    <m:r>
                      <m:t>O</m:t>
                    </m:r>
                    <m:r>
                      <m:t>C</m:t>
                    </m:r>
                    <m:r>
                      <m:t>K</m:t>
                    </m:r>
                    <m:r>
                      <m:t>E</m:t>
                    </m:r>
                    <m:r>
                      <m:t>L</m:t>
                    </m:r>
                    <m:r>
                      <m:t>E</m:t>
                    </m:r>
                    <m:r>
                      <m:t>M</m:t>
                    </m:r>
                    <m:r>
                      <m:t>E</m:t>
                    </m:r>
                    <m:r>
                      <m:t>N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79. Actinoids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Radioactive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Prepared in nanograms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Having smaller half-lives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the above are correct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Among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c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T</m:t>
                    </m:r>
                    <m:r>
                      <m:t>i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Z</m:t>
                    </m:r>
                    <m:r>
                      <m:t>n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colored compound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c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T</m:t>
                    </m:r>
                    <m:r>
                      <m:t>i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Z</m:t>
                    </m:r>
                    <m:r>
                      <m:t>n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81. Diamagnetic compound among the following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F</m:t>
                    </m:r>
                    <m:r>
                      <m:t>e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82. Identify the correct sequence of the number of unpaired electrons of the following 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 a neutral or faintly alkaline medium,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M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oxidizes iodide ions into iodate.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change in oxidation state of manganese in this reaction is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+7 to +2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+7 to +4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+6 to +4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+7 to +6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 aqueous solution, copper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ions undergo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Oxidation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Reduction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Disproportionation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Redox reaction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Potassium permanganate oxidizes sulphurous acid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sSup>
                      <m:e>
                        <m:r>
                          <m:t>7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sSup>
                      <m:e>
                        <m:r>
                          <m:t>3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aqueous solution of a transition metal ion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M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colorless. The ion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M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M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V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87. The characteristic feature of transition metal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show variable oxidation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do not form complexes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are not good catalysts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exhibit only diamagnetism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88. The correct order of magnetic moment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89. The correct order of melting point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Cr &gt; Mn &gt; 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Fe &gt; Mn &gt;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Cr &gt; Fe &gt; 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Mn &gt; Fe &gt; Cr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electronic configuration of Cu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3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t>9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whereas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u</m:t>
                    </m:r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3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t>10</m:t>
                        </m:r>
                      </m:sup>
                    </m:sSup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Which of the following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correct?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Cu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less stable.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Cu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652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Stability of both depends upon the nature of their salts.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37652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u</m:t>
                    </m:r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 Cu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 equally stable.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magnetic moment of an element 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1.73</m:t>
                    </m:r>
                    <m:r>
                      <m:t>B</m:t>
                    </m:r>
                    <m:r>
                      <m:t>M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number of unpaired electrons in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92. The most stable manganese compound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O</m:t>
                        </m:r>
                      </m:e>
                      <m:sub>
                        <m:r>
                          <m:t>7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n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number of moles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C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O</m:t>
                        </m:r>
                      </m:e>
                      <m:sub>
                        <m:r>
                          <m:t>7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reduced by one mole of 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1/6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94. The set of 3d series elements that show anomalous electronic configurations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Cr and 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Cu and Zn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Cr and 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Mn and Zn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95. The transition metal present in bronze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Zinc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Silver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96. The transition metal present in the red pigment of blood haemoglobin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cobalt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Nickel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97. Which of the following actinoids show oxidation states up to +7?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Am (Americium)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Th (Thorium)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U (Uranium)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Np (Neptunium)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98. Which of the following ions has the least magnetic moment?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o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99. Which of the following is a colorless 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V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Z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100. Which of the following pairs have the same paramagnetic moment?
(Atomic numbers: Ti = 22, Mn = 25, Ni = 28, Cu = 29)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N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M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u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101. Which of the following statements about transition elements is incorrect?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show variable oxidation states.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the ions are colored.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exhibit diamagnetic and paramagnetic properties.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They exhibit catalytic properties.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102. Which of the following transition metal ions is colorless?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V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Z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i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A</m:t>
                    </m:r>
                    <m:r>
                      <m:t>L</m:t>
                    </m:r>
                    <m:r>
                      <m:t>O</m:t>
                    </m:r>
                    <m:r>
                      <m:t>A</m:t>
                    </m:r>
                    <m:r>
                      <m:t>L</m:t>
                    </m:r>
                    <m:r>
                      <m:t>K</m:t>
                    </m:r>
                    <m:r>
                      <m:t>A</m:t>
                    </m:r>
                    <m:r>
                      <m:t>N</m:t>
                    </m:r>
                    <m:r>
                      <m:t>E</m:t>
                    </m:r>
                    <m:r>
                      <m:t>S</m:t>
                    </m:r>
                    <m:r>
                      <m:t>A</m:t>
                    </m:r>
                    <m:r>
                      <m:t>N</m:t>
                    </m:r>
                    <m:r>
                      <m:t>D</m:t>
                    </m:r>
                    <m:r>
                      <m:t>H</m:t>
                    </m:r>
                    <m:r>
                      <m:t>A</m:t>
                    </m:r>
                    <m:r>
                      <m:t>L</m:t>
                    </m:r>
                    <m:r>
                      <m:t>O</m:t>
                    </m:r>
                    <m:r>
                      <m:t>A</m:t>
                    </m:r>
                    <m:r>
                      <m:t>R</m:t>
                    </m:r>
                    <m:r>
                      <m:t>E</m:t>
                    </m:r>
                    <m:r>
                      <m:t>N</m:t>
                    </m:r>
                    <m:r>
                      <m:t>E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103. A mixture of chloromethane and chlorobenzene are treated with sodium in dry ether,
the product obtained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Toluene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Diphenyl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Among the following alkyl halides, which is more reactive towards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reaction?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R-I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R-Cl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R-F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R-Br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Assertion: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reactions do not proceed with retention.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Reason: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reaction proceeds in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g</m:t>
                    </m:r>
                    <m:r>
                      <m:t>l</m:t>
                    </m:r>
                    <m:r>
                      <m:t>e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steps.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Identify the correct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 both assertion and reason are correct and reason is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for assertion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 both assertion and reason are correct but reason is not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for assertion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065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If assertion is correct but reason is incorrect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46065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If assertion is incorrect but reason is correct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106. Chlorobenzene reacts with magnesium in dry ether to give a compound A, which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r>
                      <m:t>H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M</m:t>
                    </m:r>
                    <m:r>
                      <m:t>g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M</m:t>
                    </m:r>
                    <m:r>
                      <m:t>g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g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107. Chloroform is stored completely filled in a closed dark-colored bottle. This is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Prevent the oxidation of chloroform by air in the presence of sunlight.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Prevent the evaporation of chloroform.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Prevent the reaction of chloroform with nitrogen in the air.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Prevent the reaction of chloroform with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to form extremely poisonous gas carbonyl chloride.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108. Four haloalkane compounds represented by the letters M, N, O, and P having boiling
points of 24.2°C, 38°C, 3.56°C, and 101.6°C respectively. Among the four compounds, N
is most likely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7</m:t>
                        </m:r>
                      </m:sub>
                    </m:sSub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109. Freon can be prepared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Friedel-Crafts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Swartz reaction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110. In vinylic halides, the halogen atom is attached to a carbon atom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3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hybridization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hybridization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sp hybridization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ds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hybridization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111. Match the organic compounds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5458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00B0F0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L</m:t>
                    </m:r>
                    <m:r>
                      <m:t>U</m:t>
                    </m:r>
                    <m:r>
                      <m:t>M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400" b="1">
                <a:solidFill>
                  <a:srgbClr val="00B0F0"/>
                </a:solidFill>
                <a:latin typeface="Arial"/>
              </a:rPr>
              <a:t> </a:t>
            </a:r>
            <a:r>
              <a:rPr lang="en-US" sz="1400" b="1">
                <a:solidFill>
                  <a:srgbClr val="00B0F0"/>
                </a:solidFill>
                <a:latin typeface="Arial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5916" y="1216151"/>
            <a:ext cx="55458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00B0F0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L</m:t>
                    </m:r>
                    <m:r>
                      <m:t>U</m:t>
                    </m:r>
                    <m:r>
                      <m:t>M</m:t>
                    </m:r>
                    <m:r>
                      <m:t>N</m:t>
                    </m:r>
                    <m:r>
                      <m:t>I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400" b="1">
                <a:solidFill>
                  <a:srgbClr val="00B0F0"/>
                </a:solidFill>
                <a:latin typeface="Arial"/>
              </a:rPr>
              <a:t>​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216151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554583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lang="en-US" sz="1400">
                <a:solidFill>
                  <a:srgbClr val="F0F0F0"/>
                </a:solidFill>
                <a:latin typeface="Arial"/>
              </a:rPr>
              <a:t>Carbon tetrachloride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8" name="TextBox 7"/>
          <p:cNvSpPr txBox="1"/>
          <p:nvPr/>
        </p:nvSpPr>
        <p:spPr>
          <a:xfrm>
            <a:off x="457200" y="305409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Fire extinguisher (2) Iodoform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H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6557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Antiseptic (3) Chloroform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H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7705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Solvent for fats (4) Methylene chloride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11" name="TextBox 10"/>
          <p:cNvSpPr txBox="1"/>
          <p:nvPr/>
        </p:nvSpPr>
        <p:spPr>
          <a:xfrm>
            <a:off x="457200" y="4288536"/>
            <a:ext cx="11274552" cy="473659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>
              <a:defRPr sz="1400">
                <a:solidFill>
                  <a:srgbClr val="F0F0F0"/>
                </a:solidFill>
                <a:latin typeface="Arial"/>
              </a:defRPr>
            </a:pPr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Paint remover</a:t>
            </a:r>
            <a:r>
              <a:rPr lang="en-US" sz="14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(1)-(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(2)-(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(3)-(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(4)-(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(1)-(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(2)-(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(3)-(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(4)-(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(1)-(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(2)-(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(3)-(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(4)-(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(1)-(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(2)-(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(3)-(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400">
                <a:solidFill>
                  <a:srgbClr val="F0F0F0"/>
                </a:solidFill>
                <a:latin typeface="Arial"/>
              </a:rPr>
              <a:t>(4)-(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R - X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t>N</m:t>
                    </m:r>
                    <m:r>
                      <m:t>a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(dry acetone) 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I</m:t>
                    </m:r>
                    <m:r>
                      <m:rPr>
                        <m:sty m:val="p"/>
                      </m:rPr>
                      <m:t>+</m:t>
                    </m:r>
                    <m:r>
                      <m:t>N</m:t>
                    </m:r>
                    <m:r>
                      <m:t>a</m:t>
                    </m:r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name the reaction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Fittig reaction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113. Select the incorrect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Swartz reaction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C</m:t>
                    </m:r>
                    <m:r>
                      <m:t>o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Finkelstein reaction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N</m:t>
                    </m:r>
                    <m:r>
                      <m:t>a</m:t>
                    </m:r>
                    <m:r>
                      <m:t>I</m:t>
                    </m:r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Sandmeyer’s reaction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C</m:t>
                    </m:r>
                    <m:r>
                      <m:t>u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Wurtz reaction - Na / dry ether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Tertiary alkyl halides are least reactive towards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reaction because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Inductive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Steric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Resonance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Electrometric effect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115. The best reagent used to produce pure alkyl halides from alcohol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Concentrated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Concentrated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H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116. The chemical formula of phosgene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117. The chemical name of phosgene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Acetyl chloride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Methyl chloride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Carbonyl chloride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Chloroform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118. The chiral molecule among the following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1-Bromo butane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2-Bromobutane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2-Bromo propane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2-Bromopropan-2-ol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compound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H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-Cl is an example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Allylic halides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Aryl halides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Benzylic halides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Vinylic halides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120. The increasing order of boiling points of alkyl halides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F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I</m:t>
                    </m:r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F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I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F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F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R</m:t>
                    </m:r>
                    <m:r>
                      <m:t>I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U</m:t>
                    </m:r>
                    <m:r>
                      <m:t>P</m:t>
                    </m:r>
                    <m:r>
                      <m:t>A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name of ethylidene chloride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1-Chloroethene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1-Chloroethyne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1,2-Dichloroethane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1,1-Dichloroethane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reaction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B</m:t>
                    </m:r>
                    <m:r>
                      <m:t>r</m:t>
                    </m:r>
                    <m:r>
                      <m:rPr>
                        <m:sty m:val="p"/>
                      </m:rPr>
                      <m:t>+</m:t>
                    </m:r>
                    <m:r>
                      <m:t>A</m:t>
                    </m:r>
                    <m:r>
                      <m:t>g</m:t>
                    </m:r>
                    <m:r>
                      <m:t>F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F</m:t>
                    </m:r>
                    <m:r>
                      <m:rPr>
                        <m:sty m:val="p"/>
                      </m:rPr>
                      <m:t>+</m:t>
                    </m:r>
                    <m:r>
                      <m:t>A</m:t>
                    </m:r>
                    <m:r>
                      <m:t>g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called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Gattermann reaction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123. When 2-Bromo pentane is treated with alcoholic potash, the major product produced
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1-Pentene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2-Pentene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2-Pentane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3-Pentene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Which of the following alkyl halides will undergo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N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reaction most readily?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L</m:t>
                    </m:r>
                    <m:r>
                      <m:t>C</m:t>
                    </m:r>
                    <m:r>
                      <m:t>O</m:t>
                    </m:r>
                    <m:r>
                      <m:t>H</m:t>
                    </m:r>
                    <m:r>
                      <m:t>O</m:t>
                    </m:r>
                    <m:r>
                      <m:t>L</m:t>
                    </m:r>
                    <m:r>
                      <m:t>S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t>H</m:t>
                    </m:r>
                    <m:r>
                      <m:t>E</m:t>
                    </m:r>
                    <m:r>
                      <m:t>N</m:t>
                    </m:r>
                    <m:r>
                      <m:t>O</m:t>
                    </m:r>
                    <m:r>
                      <m:t>L</m:t>
                    </m:r>
                    <m:r>
                      <m:t>S</m:t>
                    </m:r>
                    <m:r>
                      <m:t>A</m:t>
                    </m:r>
                    <m:r>
                      <m:t>N</m:t>
                    </m:r>
                    <m:r>
                      <m:t>D</m:t>
                    </m:r>
                    <m:r>
                      <m:t>E</m:t>
                    </m:r>
                    <m:r>
                      <m:t>T</m:t>
                    </m:r>
                    <m:r>
                      <m:t>H</m:t>
                    </m:r>
                    <m:r>
                      <m:t>E</m:t>
                    </m:r>
                    <m:r>
                      <m:t>R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 compound P with formula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6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on reaction with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in presence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gives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compound Q. Compound Q on heating with Cu 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573</m:t>
                    </m:r>
                    <m:r>
                      <m:t>K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produces the compound R.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Compounds P, Q, and R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 = Propan-1-ol, Q = Propene, R = Propanone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809597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 = Propene, Q = Propan-2-ol, R = Propene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 = Propene, Q = Propan-2-ol, R = Propanone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37652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 = Propanone, Q = Propan-1-ol, R = Propane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An organic compound ‘A’ containing C, H, and O has a pleasant odor with a boiling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point of 78°C. On boiling ‘A’ with conc.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 colorless gas is produced which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decolorizes bromine water and alkaline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K</m:t>
                    </m:r>
                    <m:r>
                      <m:t>M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The organic compound 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C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r>
                      <m:t>H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C</m:t>
                    </m:r>
                    <m:r>
                      <m:t>O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6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127. By which test can 1°, 2°, and 3° alcohols be detected?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Hinsberg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Tollen's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Lucas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128. Byproduct obtained during preparation of phenol from cumene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Ketone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Aldehyde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Alcohol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Cresol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129. Enantiomers only differ with respect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Melting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Boiling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Refractive 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The rotation of plane-polarized light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130. Ethane-1,2-diol is an example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Monohydric alcohol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Dihydric alcohol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Dihydric 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Monohydric phenol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out the product of the following reaction: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(Reaction involving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a</m:t>
                    </m:r>
                    <m:r>
                      <m:t>O</m:t>
                    </m:r>
                    <m:r>
                      <m:t>H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623</m:t>
                    </m:r>
                    <m:r>
                      <m:t>K</m:t>
                    </m:r>
                    <m:r>
                      <m:rPr>
                        <m:sty m:val="p"/>
                      </m:rPr>
                      <m:t>,</m:t>
                    </m:r>
                    <m:r>
                      <m:t>300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atm)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Aromatic amine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Aromatic hydroxyl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Aromatic dihydroxy compound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Aromatic nitro compound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132. Halogenation of benzene occurs in the presence of Lewis acid, but halogenation of
phenol occurs even in the absence of Lewis acid due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Highly deactivating effect of -OH group attached to the benzene 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Highly activating effect of -OH group attached to the benzene 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Highly deactivating effect of the benzene 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Highly activating effect of the benzene ring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How many alcohols with molecular formula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10</m:t>
                        </m:r>
                      </m:sub>
                    </m:sSub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are chiral in nature?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134. Identify the simple ether from the following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O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135. In Kolbe's reaction, phenol is converted into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Benzoic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Benzaldehyde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136. In picric acid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Three -OH groups are 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Two -OH groups are present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Three -NO</a:t>
            </a:r>
            <a:r>
              <a:rPr sz="1600" b="0" baseline="-25000">
                <a:solidFill>
                  <a:srgbClr val="F0F0F0"/>
                </a:solidFill>
                <a:latin typeface="Arial"/>
              </a:rPr>
              <a:t>2</a:t>
            </a:r>
            <a:r>
              <a:rPr sz="1600" b="0">
                <a:solidFill>
                  <a:srgbClr val="F0F0F0"/>
                </a:solidFill>
                <a:latin typeface="Arial"/>
              </a:rPr>
              <a:t> groups are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One -NO</a:t>
            </a:r>
            <a:r>
              <a:rPr sz="1600" b="0" baseline="-25000">
                <a:solidFill>
                  <a:srgbClr val="F0F0F0"/>
                </a:solidFill>
                <a:latin typeface="Arial"/>
              </a:rPr>
              <a:t>2</a:t>
            </a:r>
            <a:r>
              <a:rPr sz="1600" b="0">
                <a:solidFill>
                  <a:srgbClr val="F0F0F0"/>
                </a:solidFill>
                <a:latin typeface="Arial"/>
              </a:rPr>
              <a:t> group is present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137. O-nitrophenol and p-nitrophenol are separated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Sublimation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Fractional distillation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Crystallization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Steam distillation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138. Phenol is less acidic than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o-Methylphenol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o-Methoxyphenol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139. Phenol is more acidic than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m-Nitrophenol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p-Nitrophenol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140. Phenol on oxidation with chromic acid gives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Benzoquinone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Catechol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Hydroquinone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Phthalic acid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141. Salicylaldehyde can be prepared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Dow's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Reimer-Tiemann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Kolbe's reaction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142. The boiling points of alcohols increase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Increase in the number of C-atoms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Decrease in van der Waals forces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Increase of branching in the C-chain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Decrease in the surface area of the C-chain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143. The C-O bond angles of P, Q, and R are found to be 111.7°, 109°, and 108.9°,
respectively. Compound P, Q, and R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 = Phenol, Q = Methanol, R = Methoxy Methane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 = Methoxy Methane, Q = Methanol, R = Phenol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 = Methanol, Q = Phenol, R = Methoxy Methane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 = Methoxy Methane, Q = Phenol, R = Methanol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144. The chemicals used to convert commercial alcohol into denatured alcohol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u</m:t>
                    </m:r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 Pyrolidine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 Pyrolidine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u</m:t>
                    </m:r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 Pyridine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S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 Pyridine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145. The compound that reacts fastest with Luca’s reagent at room temperature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2-Methylpropan-2-ol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Butan-2-ol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2-Methylpropan-1-ol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Butan-1-ol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1522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146. The correct order of acid strength of the following compounds is:
(i) o-bromophenol
(ii) p-bromophenol
(iii) picric acid (2,4,6-trinitrophenol)
(iv) 2,4,6-tribromophenol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(iii) &gt; (iv) &gt; (i) &gt; (ii)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(iii) &gt; (iv) &gt; (ii) &gt; (i)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(iv) &gt; (iii) &gt; (i) &gt; (ii)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241858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(i) &gt; (ii) &gt; (iv) &gt; (iii)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147. The decreasing order of boiling points of ethanol, propane, and dimethyl ether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 &gt; Dimethyl ether &gt; Propane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 &gt; Propane &gt; Dimethyl 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Propane &gt; Dimethyl ether &gt; Ethanol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Propane &gt; Ethanol &gt; Dimethyl ether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high boiling point of ethanol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O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compared to methoxy methane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propane is due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Intra-molecular hydrogen bonding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Inter-molecular hydrogen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149. The major byproduct during the preparation of phenol from cumene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Acetone.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Cresol.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Alcohol.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Acetaldehyde.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150. The major product formed when phenol is treated with excess bromine water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o-Bromophenol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p-Bromophenol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Picric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role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in Kolbe’s reaction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acts as catalyst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act as nucleophile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act as weak electrophile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act as strong electrophile.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152. What is the correct order of boiling points of alcohols having the same number of
carbon atoms?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1° &gt; 2° &gt; 3°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3° &gt; 2° &gt; 1°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3° &gt; 1° &gt; 2°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2° &gt; 1° &gt; 3°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153. When an alcohol is treated with Luca’s reagent, if immediate turbidity appears, then it
confirms the presence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Primary alcohol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Secondary alcohol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Tertiary alcohol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154. When phenol is heated with chloroform in sodium hydroxide followed by
acidification, the product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Chlorobenzene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Benzyl chloride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155. When phenol is heated with Zn dust, it gives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Benzyl alcohol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Methanol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Benzene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156. When phenol is treated with bromine water, a white precipitate of the product
obtained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2-Bromophenol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4-Bromophenol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2-Bromophenol and 4-Bromophenol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O</m:t>
                    </m:r>
                    <m:r>
                      <m:t>R</m:t>
                    </m:r>
                    <m:r>
                      <m:t>D</m:t>
                    </m:r>
                    <m:r>
                      <m:t>I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C</m:t>
                    </m:r>
                    <m:r>
                      <m:t>O</m:t>
                    </m:r>
                    <m:r>
                      <m:t>M</m:t>
                    </m:r>
                    <m:r>
                      <m:t>P</m:t>
                    </m:r>
                    <m:r>
                      <m:t>O</m:t>
                    </m:r>
                    <m:r>
                      <m:t>U</m:t>
                    </m:r>
                    <m:r>
                      <m:t>N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157. According to the spectrochemical series, the strongest field ligand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158. According to Werner's theory, the primary valencies of the central atom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Satisfied by negative ions or neutral molecules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Satisfied by negative 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Are equal to coordination number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Decide the geometry of the complex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159. Among the following statements, which statement is correct about metal carbonyls?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Metal carbonyls are s-bonded organometallic compounds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Metal carbonyls are p-bonded organometallic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Metal carbonyls involve both s and p bonds between metal and oxygen of the carbonyl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Metal carbonyls involve both s and p bonds between metal and carbon of the carbonyl group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160. An ambidentate ligand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161. An example of an ambidentate ligand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3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Cobalt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chloride forms several octahedral complexes with ammonia. Which of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following will not give a test for chloride ion with silver nitrate solution?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.4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.5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.6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.3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o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&lt;P (Pairing energy), for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d</m:t>
                        </m:r>
                      </m:e>
                      <m:sup>
                        <m:r>
                          <m:t>4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ion, an entry of the 4th electron gives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Sup>
                      <m:e>
                        <m:r>
                          <m:t>t</m:t>
                        </m:r>
                      </m:e>
                      <m:sub>
                        <m:r>
                          <m:t>2</m:t>
                        </m:r>
                        <m:r>
                          <m:t>g</m:t>
                        </m:r>
                      </m:sub>
                      <m:sup>
                        <m:r>
                          <m:t>4</m:t>
                        </m:r>
                      </m:sup>
                    </m:sSub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Sup>
                      <m:e>
                        <m:r>
                          <m:t>t</m:t>
                        </m:r>
                      </m:e>
                      <m:sub>
                        <m:r>
                          <m:t>2</m:t>
                        </m:r>
                        <m:r>
                          <m:t>g</m:t>
                        </m:r>
                      </m:sub>
                      <m:sup>
                        <m:r>
                          <m:t>3</m:t>
                        </m:r>
                      </m:sup>
                    </m:sSub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 coordination compound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Br, the primary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valencies of Co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4 and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2 and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F</m:t>
                    </m:r>
                    <m:r>
                      <m:t>e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O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Fe-C bond processes involve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-character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Both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−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-characters.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Ionic character.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-character.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166. In metal carbonyls, the M-C sigma bond is formed by the donation of a lone pair of
electrons on the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Carbonyl carbon atom to filled orbital of metal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Carbonyl carbon atom to vacant orbital of metal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Filled d-orbital of metal to vacant antibonding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orbital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Filled d-orbital of metal to vacant bonding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orbital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167</m:t>
                    </m:r>
                    <m:r>
                      <m:rPr>
                        <m:sty m:val="p"/>
                      </m:rPr>
                      <m:t>.</m:t>
                    </m:r>
                    <m:r>
                      <m:t>I</m:t>
                    </m:r>
                    <m:r>
                      <m:t>U</m:t>
                    </m:r>
                    <m:r>
                      <m:t>P</m:t>
                    </m:r>
                    <m:r>
                      <m:t>A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name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r>
                      <m:t>N</m:t>
                    </m:r>
                    <m:r>
                      <m:t>O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Br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ChloridoethylenediaminenitroCobalt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Bromide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ChloridoethylenediaminenitroCobaltate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Bromide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Chloridobis(ethylenediamine)nitritoCobaltate(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Bromide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Chloridobis(ethylenediamine)nitritoCobalt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Bromide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Square planar complex of the type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r>
                      <m:t>A</m:t>
                    </m:r>
                    <m:r>
                      <m:t>B</m:t>
                    </m:r>
                    <m:r>
                      <m:t>X</m:t>
                    </m:r>
                    <m:r>
                      <m:t>L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(where A, B, X, L are unidentate)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Two Cis and Two Trans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One Cis and One Trans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Square planar complex of the type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A</m:t>
                    </m:r>
                    <m:r>
                      <m:t>B</m:t>
                    </m:r>
                    <m:r>
                      <m:t>X</m:t>
                    </m:r>
                    <m:r>
                      <m:t>L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(where A, B, X, L are unidentates) shows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three isomers. Among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three are cis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All three are trans only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bond between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metal in metal carbonyl is stronger due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Synergic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Chelating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Only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bond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Ambidentate nature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ligand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171. The central metal atoms/ions in coordination compounds are also called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Lewis 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Brønsted acids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Brønsted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Lewis acids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complex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P</m:t>
                    </m:r>
                    <m:r>
                      <m:t>t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exhibits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Fac-mer isomerism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Cis-trans isomerism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complex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P</m:t>
                    </m:r>
                    <m:r>
                      <m:t>t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.4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B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treated with excess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g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solution, and two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moles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g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precipitated. The primary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valency of this complex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complex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P</m:t>
                    </m:r>
                    <m:r>
                      <m:t>t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.4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t>B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treated with excess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g</m:t>
                    </m:r>
                    <m:r>
                      <m:t>N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solution, two mole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A</m:t>
                    </m:r>
                    <m:r>
                      <m:t>g</m:t>
                    </m:r>
                    <m:r>
                      <m:t>B</m:t>
                    </m:r>
                    <m:r>
                      <m:t>r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 precipitated. The primary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valence of this complex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complexes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are examples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which type of isomerism?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Geometrical isomerism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Linkage isomerism The electron configuration of an octahedral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d</m:t>
                        </m:r>
                      </m:e>
                      <m:sup>
                        <m:r>
                          <m:t>4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coordination entity with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P is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176.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g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geometry of the complex Fe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O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octahedral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tetrahedral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trigonal bipyramidal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square pyramidal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isomerism exhibited by complexes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Br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B</m:t>
                    </m:r>
                    <m:r>
                      <m:t>r</m:t>
                    </m:r>
                    <m:r>
                      <m:rPr>
                        <m:sty m:val="p"/>
                      </m:rPr>
                      <m:t>]</m:t>
                    </m:r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Ionisation isomerism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Solvate isomerism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U</m:t>
                    </m:r>
                    <m:r>
                      <m:t>P</m:t>
                    </m:r>
                    <m:r>
                      <m:t>A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name of the complex ion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t>C</m:t>
                    </m:r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179.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Di-chloridodiethylene diamine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Dichlorido bis(ethane-1,2-diamine)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Dichlorido bis(ethane-1,2-diamine)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V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Bis (ethane-1,2-diamine) dichlorido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I</m:t>
                    </m:r>
                    <m:r>
                      <m:t>U</m:t>
                    </m:r>
                    <m:r>
                      <m:t>P</m:t>
                    </m:r>
                    <m:r>
                      <m:t>A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name of the ionization isomer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(</m:t>
                    </m:r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5</m:t>
                        </m:r>
                      </m:sub>
                    </m:sSub>
                    <m:r>
                      <m:t>S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Br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Penta-ammine sulphato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bromide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Penta-ammine bromido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Penta-ammine sulphato cobalt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Penta-ammine bromido sulphato cobaltate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I</m:t>
                    </m:r>
                    <m:r>
                      <m:t>I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magnitude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F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(Crystal Field Splitting Energy) 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can be related to the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configuration of d-orbitals in a coordination entity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6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5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The magnitude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F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(Crystal Field Splitting Energy,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) can be related to the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d</m:t>
                        </m:r>
                      </m:e>
                      <m:sup>
                        <m:r>
                          <m:t>4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182.
configuration of the central metal in an octahedral coordination entity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1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5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&gt;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g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811987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Δ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P, the configuration is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Sup>
                      <m:e>
                        <m:r>
                          <m:t>t</m:t>
                        </m:r>
                      </m:e>
                      <m:sub>
                        <m:r>
                          <m:t>2</m:t>
                        </m:r>
                        <m:r>
                          <m:t>g</m:t>
                        </m:r>
                      </m:sub>
                      <m:sup>
                        <m:r>
                          <m:t>4</m:t>
                        </m:r>
                      </m:sup>
                    </m:sSubSup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g</m:t>
                        </m:r>
                      </m:sub>
                      <m:sup>
                        <m:r>
                          <m:t>0</m:t>
                        </m:r>
                      </m:sup>
                    </m:sSub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The oxidation number of Cu in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r>
                      <m:t>u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N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is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+4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+3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184. The oxidation state of metal in metal carbonyl complexes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0 The primary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valencies of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t>e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complexes are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224</m:t>
                    </m:r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t>n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O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Cl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0 and 3 The primary and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valencies of iron in the complex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t>e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O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are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187. The sum of coordination number and oxidation number of the metal M in the complex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terminal and bridged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ligands in the compound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C</m:t>
                    </m:r>
                    <m:sSub>
                      <m:e>
                        <m:r>
                          <m:t>o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t>O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are respectively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0, 2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6, 1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5, 2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6, 2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189. Which of the following is an ambidentate ligand?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C</m:t>
                    </m:r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190. Which of the following is the correct increasing order of strength in the
spectrochemical series of ligands?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E</m:t>
                    </m:r>
                    <m:r>
                      <m:t>D</m:t>
                    </m:r>
                    <m:r>
                      <m:t>T</m:t>
                    </m:r>
                    <m:sSup>
                      <m:e>
                        <m:r>
                          <m:t>A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E</m:t>
                    </m:r>
                    <m:r>
                      <m:t>D</m:t>
                    </m:r>
                    <m:r>
                      <m:t>T</m:t>
                    </m:r>
                    <m:sSup>
                      <m:e>
                        <m:r>
                          <m:t>A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E</m:t>
                    </m:r>
                    <m:r>
                      <m:t>D</m:t>
                    </m:r>
                    <m:r>
                      <m:t>T</m:t>
                    </m:r>
                    <m:sSup>
                      <m:e>
                        <m:r>
                          <m:t>A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O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E</m:t>
                    </m:r>
                    <m:r>
                      <m:t>D</m:t>
                    </m:r>
                    <m:r>
                      <m:t>T</m:t>
                    </m:r>
                    <m:sSup>
                      <m:e>
                        <m:r>
                          <m:t>A</m:t>
                        </m:r>
                      </m:e>
                      <m:sup>
                        <m:r>
                          <m:t>4</m:t>
                        </m:r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&lt; C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191. Which of the following ligands can exhibit linkage isomerism?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  <m:sSup>
                      <m:e>
                        <m: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192. Which of the following ligands produces a synergic effect in coordination complexes?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Oxalates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Carbon Monoxide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Nitrates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193. Which of the following species is not a ligand?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H</m:t>
                    </m:r>
                    <m:sSup>
                      <m:e>
                        <m:r>
                          <m:t>4</m:t>
                        </m:r>
                      </m:e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p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N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C</m:t>
                    </m:r>
                    <m:r>
                      <m:t>O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-CH2-CH2-NH2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Which of the following statements regarding primary and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valencies 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correct?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Primary Valencies are ionisable while Secondary Valencies are non-ionisable.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Primary Valencies are non-ionisable while Secondary Valencies are ionisable.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Primary and Secondary Valencies are non-ionisable.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Primary and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148840"/>
            <a:ext cx="64008" cy="256032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1073384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S</m:t>
                    </m:r>
                    <m:r>
                      <m:t>E</m:t>
                    </m:r>
                    <m:r>
                      <m:t>C</m:t>
                    </m:r>
                    <m:r>
                      <m:t>O</m:t>
                    </m:r>
                    <m:r>
                      <m:t>N</m:t>
                    </m:r>
                    <m:r>
                      <m:t>D</m:t>
                    </m:r>
                    <m:r>
                      <m:t>A</m:t>
                    </m:r>
                    <m:r>
                      <m:t>R</m:t>
                    </m:r>
                    <m:r>
                      <m:t>Y</m:t>
                    </m:r>
                    <m:r>
                      <m:t>V</m:t>
                    </m:r>
                    <m:r>
                      <m:t>A</m:t>
                    </m:r>
                    <m:r>
                      <m:t>L</m:t>
                    </m:r>
                    <m:r>
                      <m:t>E</m:t>
                    </m:r>
                    <m:r>
                      <m:t>N</m:t>
                    </m:r>
                    <m:r>
                      <m:t>C</m:t>
                    </m:r>
                    <m:r>
                      <m:t>I</m:t>
                    </m:r>
                    <m:r>
                      <m:t>E</m:t>
                    </m:r>
                    <m:r>
                      <m:t>S</m:t>
                    </m:r>
                    <m:r>
                      <m:t>A</m:t>
                    </m:r>
                    <m:r>
                      <m:t>R</m:t>
                    </m:r>
                    <m:r>
                      <m:t>E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I</m:t>
                    </m:r>
                    <m:r>
                      <m:t>S</m:t>
                    </m:r>
                    <m:r>
                      <m:t>A</m:t>
                    </m:r>
                    <m:r>
                      <m:t>B</m:t>
                    </m:r>
                    <m:r>
                      <m:t>L</m:t>
                    </m:r>
                    <m:r>
                      <m:t>E</m:t>
                    </m:r>
                    <m:r>
                      <m:rPr>
                        <m:sty m:val="p"/>
                      </m:rPr>
                      <m:t>.</m:t>
                    </m:r>
                    <m:r>
                      <m:t>A</m:t>
                    </m:r>
                    <m:r>
                      <m:t>P</m:t>
                    </m:r>
                    <m:r>
                      <m:t>P</m:t>
                    </m:r>
                    <m:r>
                      <m:t>L</m:t>
                    </m:r>
                    <m:r>
                      <m:t>I</m:t>
                    </m:r>
                    <m:r>
                      <m:t>C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B</m:t>
                    </m:r>
                    <m:r>
                      <m:t>A</m:t>
                    </m:r>
                    <m:r>
                      <m:t>S</m:t>
                    </m:r>
                    <m:r>
                      <m:t>E</m:t>
                    </m:r>
                    <m:r>
                      <m:t>D</m:t>
                    </m:r>
                    <m:r>
                      <m:t>Q</m:t>
                    </m:r>
                    <m:r>
                      <m:t>U</m:t>
                    </m:r>
                    <m:r>
                      <m:t>E</m:t>
                    </m:r>
                    <m:r>
                      <m:t>S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  <m:r>
                      <m:t>S</m:t>
                    </m:r>
                  </m:oMath>
                </a14:m>
              </mc:Choice>
            </mc:AlternateContent>
            <a:r>
              <a:rPr lang="en-US" sz="50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195. Which type of complexes doesn't show geometrical isomerism?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Tetrahedral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r>
                      <m:t>A</m:t>
                    </m:r>
                    <m:r>
                      <m:t>B</m:t>
                    </m:r>
                    <m:r>
                      <m:t>X</m:t>
                    </m:r>
                    <m:r>
                      <m:t>L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Square planar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Square planar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M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4</m:t>
                        </m:r>
                      </m:sub>
                    </m:sSub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Octahedral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