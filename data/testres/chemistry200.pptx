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Relationship Id="rId8" Type="http://schemas.openxmlformats.org/officeDocument/2006/relationships/image" Target="../media/image43.png"/><Relationship Id="rId9" Type="http://schemas.openxmlformats.org/officeDocument/2006/relationships/image" Target="../media/image4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Relationship Id="rId7" Type="http://schemas.openxmlformats.org/officeDocument/2006/relationships/image" Target="../media/image4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5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64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0.png"/><Relationship Id="rId4" Type="http://schemas.openxmlformats.org/officeDocument/2006/relationships/image" Target="../media/image71.png"/><Relationship Id="rId5" Type="http://schemas.openxmlformats.org/officeDocument/2006/relationships/image" Target="../media/image72.png"/><Relationship Id="rId6" Type="http://schemas.openxmlformats.org/officeDocument/2006/relationships/image" Target="../media/image73.png"/><Relationship Id="rId7" Type="http://schemas.openxmlformats.org/officeDocument/2006/relationships/image" Target="../media/image74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5.png"/><Relationship Id="rId4" Type="http://schemas.openxmlformats.org/officeDocument/2006/relationships/image" Target="../media/image76.png"/><Relationship Id="rId5" Type="http://schemas.openxmlformats.org/officeDocument/2006/relationships/image" Target="../media/image77.png"/><Relationship Id="rId6" Type="http://schemas.openxmlformats.org/officeDocument/2006/relationships/image" Target="../media/image78.png"/><Relationship Id="rId7" Type="http://schemas.openxmlformats.org/officeDocument/2006/relationships/image" Target="../media/image79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0.png"/><Relationship Id="rId4" Type="http://schemas.openxmlformats.org/officeDocument/2006/relationships/image" Target="../media/image8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2.png"/><Relationship Id="rId4" Type="http://schemas.openxmlformats.org/officeDocument/2006/relationships/image" Target="../media/image83.png"/><Relationship Id="rId5" Type="http://schemas.openxmlformats.org/officeDocument/2006/relationships/image" Target="../media/image84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7.png"/><Relationship Id="rId4" Type="http://schemas.openxmlformats.org/officeDocument/2006/relationships/image" Target="../media/image88.png"/><Relationship Id="rId5" Type="http://schemas.openxmlformats.org/officeDocument/2006/relationships/image" Target="../media/image89.png"/><Relationship Id="rId6" Type="http://schemas.openxmlformats.org/officeDocument/2006/relationships/image" Target="../media/image90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91.png"/><Relationship Id="rId6" Type="http://schemas.openxmlformats.org/officeDocument/2006/relationships/image" Target="../media/image9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3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6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7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8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9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0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1.png"/><Relationship Id="rId4" Type="http://schemas.openxmlformats.org/officeDocument/2006/relationships/image" Target="../media/image102.png"/><Relationship Id="rId5" Type="http://schemas.openxmlformats.org/officeDocument/2006/relationships/image" Target="../media/image103.png"/><Relationship Id="rId6" Type="http://schemas.openxmlformats.org/officeDocument/2006/relationships/image" Target="../media/image104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5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0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1.png"/><Relationship Id="rId4" Type="http://schemas.openxmlformats.org/officeDocument/2006/relationships/image" Target="../media/image112.png"/><Relationship Id="rId5" Type="http://schemas.openxmlformats.org/officeDocument/2006/relationships/image" Target="../media/image113.png"/><Relationship Id="rId6" Type="http://schemas.openxmlformats.org/officeDocument/2006/relationships/image" Target="../media/image114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5.png"/><Relationship Id="rId4" Type="http://schemas.openxmlformats.org/officeDocument/2006/relationships/image" Target="../media/image116.png"/><Relationship Id="rId5" Type="http://schemas.openxmlformats.org/officeDocument/2006/relationships/image" Target="../media/image117.png"/><Relationship Id="rId6" Type="http://schemas.openxmlformats.org/officeDocument/2006/relationships/image" Target="../media/image118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9.png"/><Relationship Id="rId4" Type="http://schemas.openxmlformats.org/officeDocument/2006/relationships/image" Target="../media/image120.png"/><Relationship Id="rId5" Type="http://schemas.openxmlformats.org/officeDocument/2006/relationships/image" Target="../media/image121.png"/><Relationship Id="rId6" Type="http://schemas.openxmlformats.org/officeDocument/2006/relationships/image" Target="../media/image12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3.png"/><Relationship Id="rId4" Type="http://schemas.openxmlformats.org/officeDocument/2006/relationships/image" Target="../media/image124.png"/><Relationship Id="rId5" Type="http://schemas.openxmlformats.org/officeDocument/2006/relationships/image" Target="../media/image125.png"/><Relationship Id="rId6" Type="http://schemas.openxmlformats.org/officeDocument/2006/relationships/image" Target="../media/image126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7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8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9.png"/><Relationship Id="rId4" Type="http://schemas.openxmlformats.org/officeDocument/2006/relationships/image" Target="../media/image130.png"/><Relationship Id="rId5" Type="http://schemas.openxmlformats.org/officeDocument/2006/relationships/image" Target="../media/image131.png"/><Relationship Id="rId6" Type="http://schemas.openxmlformats.org/officeDocument/2006/relationships/image" Target="../media/image132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3.png"/><Relationship Id="rId4" Type="http://schemas.openxmlformats.org/officeDocument/2006/relationships/image" Target="../media/image134.png"/><Relationship Id="rId5" Type="http://schemas.openxmlformats.org/officeDocument/2006/relationships/image" Target="../media/image135.png"/><Relationship Id="rId6" Type="http://schemas.openxmlformats.org/officeDocument/2006/relationships/image" Target="../media/image136.png"/><Relationship Id="rId7" Type="http://schemas.openxmlformats.org/officeDocument/2006/relationships/image" Target="../media/image137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8.png"/><Relationship Id="rId4" Type="http://schemas.openxmlformats.org/officeDocument/2006/relationships/image" Target="../media/image139.png"/><Relationship Id="rId5" Type="http://schemas.openxmlformats.org/officeDocument/2006/relationships/image" Target="../media/image140.png"/><Relationship Id="rId6" Type="http://schemas.openxmlformats.org/officeDocument/2006/relationships/image" Target="../media/image14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2.png"/><Relationship Id="rId4" Type="http://schemas.openxmlformats.org/officeDocument/2006/relationships/image" Target="../media/image143.png"/><Relationship Id="rId5" Type="http://schemas.openxmlformats.org/officeDocument/2006/relationships/image" Target="../media/image144.png"/><Relationship Id="rId6" Type="http://schemas.openxmlformats.org/officeDocument/2006/relationships/image" Target="../media/image145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6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7.png"/><Relationship Id="rId4" Type="http://schemas.openxmlformats.org/officeDocument/2006/relationships/image" Target="../media/image148.png"/><Relationship Id="rId5" Type="http://schemas.openxmlformats.org/officeDocument/2006/relationships/image" Target="../media/image120.png"/><Relationship Id="rId6" Type="http://schemas.openxmlformats.org/officeDocument/2006/relationships/image" Target="../media/image149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0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1.png"/><Relationship Id="rId4" Type="http://schemas.openxmlformats.org/officeDocument/2006/relationships/image" Target="../media/image152.png"/><Relationship Id="rId5" Type="http://schemas.openxmlformats.org/officeDocument/2006/relationships/image" Target="../media/image153.png"/><Relationship Id="rId6" Type="http://schemas.openxmlformats.org/officeDocument/2006/relationships/image" Target="../media/image154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5.png"/><Relationship Id="rId4" Type="http://schemas.openxmlformats.org/officeDocument/2006/relationships/image" Target="../media/image156.png"/><Relationship Id="rId5" Type="http://schemas.openxmlformats.org/officeDocument/2006/relationships/image" Target="../media/image157.png"/><Relationship Id="rId6" Type="http://schemas.openxmlformats.org/officeDocument/2006/relationships/image" Target="../media/image158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9.png"/><Relationship Id="rId4" Type="http://schemas.openxmlformats.org/officeDocument/2006/relationships/image" Target="../media/image160.png"/><Relationship Id="rId5" Type="http://schemas.openxmlformats.org/officeDocument/2006/relationships/image" Target="../media/image161.png"/><Relationship Id="rId6" Type="http://schemas.openxmlformats.org/officeDocument/2006/relationships/image" Target="../media/image162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3.png"/><Relationship Id="rId4" Type="http://schemas.openxmlformats.org/officeDocument/2006/relationships/image" Target="../media/image135.png"/><Relationship Id="rId5" Type="http://schemas.openxmlformats.org/officeDocument/2006/relationships/image" Target="../media/image158.png"/><Relationship Id="rId6" Type="http://schemas.openxmlformats.org/officeDocument/2006/relationships/image" Target="../media/image157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4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5.png"/><Relationship Id="rId4" Type="http://schemas.openxmlformats.org/officeDocument/2006/relationships/image" Target="../media/image166.png"/><Relationship Id="rId5" Type="http://schemas.openxmlformats.org/officeDocument/2006/relationships/image" Target="../media/image167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8.png"/><Relationship Id="rId4" Type="http://schemas.openxmlformats.org/officeDocument/2006/relationships/image" Target="../media/image169.png"/><Relationship Id="rId5" Type="http://schemas.openxmlformats.org/officeDocument/2006/relationships/image" Target="../media/image170.png"/><Relationship Id="rId6" Type="http://schemas.openxmlformats.org/officeDocument/2006/relationships/image" Target="../media/image171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2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3.png"/><Relationship Id="rId4" Type="http://schemas.openxmlformats.org/officeDocument/2006/relationships/image" Target="../media/image174.png"/><Relationship Id="rId5" Type="http://schemas.openxmlformats.org/officeDocument/2006/relationships/image" Target="../media/image175.png"/><Relationship Id="rId6" Type="http://schemas.openxmlformats.org/officeDocument/2006/relationships/image" Target="../media/image176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177.png"/><Relationship Id="rId6" Type="http://schemas.openxmlformats.org/officeDocument/2006/relationships/image" Target="../media/image178.png"/><Relationship Id="rId7" Type="http://schemas.openxmlformats.org/officeDocument/2006/relationships/image" Target="../media/image179.png"/><Relationship Id="rId8" Type="http://schemas.openxmlformats.org/officeDocument/2006/relationships/image" Target="../media/image180.png"/><Relationship Id="rId9" Type="http://schemas.openxmlformats.org/officeDocument/2006/relationships/image" Target="../media/image181.png"/><Relationship Id="rId10" Type="http://schemas.openxmlformats.org/officeDocument/2006/relationships/image" Target="../media/image182.png"/><Relationship Id="rId11" Type="http://schemas.openxmlformats.org/officeDocument/2006/relationships/image" Target="../media/image183.png"/><Relationship Id="rId12" Type="http://schemas.openxmlformats.org/officeDocument/2006/relationships/image" Target="../media/image184.png"/><Relationship Id="rId13" Type="http://schemas.openxmlformats.org/officeDocument/2006/relationships/image" Target="../media/image185.png"/><Relationship Id="rId14" Type="http://schemas.openxmlformats.org/officeDocument/2006/relationships/image" Target="../media/image186.png"/><Relationship Id="rId15" Type="http://schemas.openxmlformats.org/officeDocument/2006/relationships/image" Target="../media/image187.png"/><Relationship Id="rId16" Type="http://schemas.openxmlformats.org/officeDocument/2006/relationships/image" Target="../media/image188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9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0.png"/><Relationship Id="rId4" Type="http://schemas.openxmlformats.org/officeDocument/2006/relationships/image" Target="../media/image191.png"/><Relationship Id="rId5" Type="http://schemas.openxmlformats.org/officeDocument/2006/relationships/image" Target="../media/image192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4.png"/><Relationship Id="rId4" Type="http://schemas.openxmlformats.org/officeDocument/2006/relationships/image" Target="../media/image195.png"/><Relationship Id="rId5" Type="http://schemas.openxmlformats.org/officeDocument/2006/relationships/image" Target="../media/image196.png"/><Relationship Id="rId6" Type="http://schemas.openxmlformats.org/officeDocument/2006/relationships/image" Target="../media/image197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6.png"/><Relationship Id="rId4" Type="http://schemas.openxmlformats.org/officeDocument/2006/relationships/image" Target="../media/image198.png"/><Relationship Id="rId5" Type="http://schemas.openxmlformats.org/officeDocument/2006/relationships/image" Target="../media/image199.png"/><Relationship Id="rId6" Type="http://schemas.openxmlformats.org/officeDocument/2006/relationships/image" Target="../media/image200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1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2.png"/><Relationship Id="rId4" Type="http://schemas.openxmlformats.org/officeDocument/2006/relationships/image" Target="../media/image203.png"/><Relationship Id="rId5" Type="http://schemas.openxmlformats.org/officeDocument/2006/relationships/image" Target="../media/image204.png"/><Relationship Id="rId6" Type="http://schemas.openxmlformats.org/officeDocument/2006/relationships/image" Target="../media/image205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6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7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8.png"/><Relationship Id="rId4" Type="http://schemas.openxmlformats.org/officeDocument/2006/relationships/image" Target="../media/image209.png"/><Relationship Id="rId5" Type="http://schemas.openxmlformats.org/officeDocument/2006/relationships/image" Target="../media/image210.png"/><Relationship Id="rId6" Type="http://schemas.openxmlformats.org/officeDocument/2006/relationships/image" Target="../media/image211.png"/><Relationship Id="rId7" Type="http://schemas.openxmlformats.org/officeDocument/2006/relationships/image" Target="../media/image212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3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4.png"/><Relationship Id="rId4" Type="http://schemas.openxmlformats.org/officeDocument/2006/relationships/image" Target="../media/image215.png"/><Relationship Id="rId5" Type="http://schemas.openxmlformats.org/officeDocument/2006/relationships/image" Target="../media/image216.png"/><Relationship Id="rId6" Type="http://schemas.openxmlformats.org/officeDocument/2006/relationships/image" Target="../media/image217.png"/><Relationship Id="rId7" Type="http://schemas.openxmlformats.org/officeDocument/2006/relationships/image" Target="../media/image218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9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0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1.png"/><Relationship Id="rId4" Type="http://schemas.openxmlformats.org/officeDocument/2006/relationships/image" Target="../media/image222.png"/><Relationship Id="rId5" Type="http://schemas.openxmlformats.org/officeDocument/2006/relationships/image" Target="../media/image223.png"/><Relationship Id="rId6" Type="http://schemas.openxmlformats.org/officeDocument/2006/relationships/image" Target="../media/image224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5.png"/><Relationship Id="rId4" Type="http://schemas.openxmlformats.org/officeDocument/2006/relationships/image" Target="../media/image226.png"/><Relationship Id="rId5" Type="http://schemas.openxmlformats.org/officeDocument/2006/relationships/image" Target="../media/image227.png"/><Relationship Id="rId6" Type="http://schemas.openxmlformats.org/officeDocument/2006/relationships/image" Target="../media/image228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9.png"/><Relationship Id="rId4" Type="http://schemas.openxmlformats.org/officeDocument/2006/relationships/image" Target="../media/image230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1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6.png"/><Relationship Id="rId4" Type="http://schemas.openxmlformats.org/officeDocument/2006/relationships/image" Target="../media/image237.png"/><Relationship Id="rId5" Type="http://schemas.openxmlformats.org/officeDocument/2006/relationships/image" Target="../media/image238.png"/><Relationship Id="rId6" Type="http://schemas.openxmlformats.org/officeDocument/2006/relationships/image" Target="../media/image239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5.png"/><Relationship Id="rId4" Type="http://schemas.openxmlformats.org/officeDocument/2006/relationships/image" Target="../media/image237.png"/><Relationship Id="rId5" Type="http://schemas.openxmlformats.org/officeDocument/2006/relationships/image" Target="../media/image240.png"/><Relationship Id="rId6" Type="http://schemas.openxmlformats.org/officeDocument/2006/relationships/image" Target="../media/image131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1.png"/><Relationship Id="rId4" Type="http://schemas.openxmlformats.org/officeDocument/2006/relationships/image" Target="../media/image242.png"/><Relationship Id="rId5" Type="http://schemas.openxmlformats.org/officeDocument/2006/relationships/image" Target="../media/image243.png"/><Relationship Id="rId6" Type="http://schemas.openxmlformats.org/officeDocument/2006/relationships/image" Target="../media/image244.png"/><Relationship Id="rId7" Type="http://schemas.openxmlformats.org/officeDocument/2006/relationships/image" Target="../media/image245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6.png"/><Relationship Id="rId4" Type="http://schemas.openxmlformats.org/officeDocument/2006/relationships/image" Target="../media/image247.png"/><Relationship Id="rId5" Type="http://schemas.openxmlformats.org/officeDocument/2006/relationships/image" Target="../media/image248.png"/><Relationship Id="rId6" Type="http://schemas.openxmlformats.org/officeDocument/2006/relationships/image" Target="../media/image249.png"/><Relationship Id="rId7" Type="http://schemas.openxmlformats.org/officeDocument/2006/relationships/image" Target="../media/image250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1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2.png"/><Relationship Id="rId4" Type="http://schemas.openxmlformats.org/officeDocument/2006/relationships/image" Target="../media/image253.png"/><Relationship Id="rId5" Type="http://schemas.openxmlformats.org/officeDocument/2006/relationships/image" Target="../media/image254.png"/><Relationship Id="rId6" Type="http://schemas.openxmlformats.org/officeDocument/2006/relationships/image" Target="../media/image255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6.png"/><Relationship Id="rId4" Type="http://schemas.openxmlformats.org/officeDocument/2006/relationships/image" Target="../media/image257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8.png"/><Relationship Id="rId4" Type="http://schemas.openxmlformats.org/officeDocument/2006/relationships/image" Target="../media/image259.png"/><Relationship Id="rId5" Type="http://schemas.openxmlformats.org/officeDocument/2006/relationships/image" Target="../media/image260.png"/><Relationship Id="rId6" Type="http://schemas.openxmlformats.org/officeDocument/2006/relationships/image" Target="../media/image261.png"/><Relationship Id="rId7" Type="http://schemas.openxmlformats.org/officeDocument/2006/relationships/image" Target="../media/image262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3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4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5.png"/><Relationship Id="rId4" Type="http://schemas.openxmlformats.org/officeDocument/2006/relationships/image" Target="../media/image266.png"/><Relationship Id="rId5" Type="http://schemas.openxmlformats.org/officeDocument/2006/relationships/image" Target="../media/image267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8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9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0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1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2.png"/><Relationship Id="rId4" Type="http://schemas.openxmlformats.org/officeDocument/2006/relationships/image" Target="../media/image273.png"/><Relationship Id="rId5" Type="http://schemas.openxmlformats.org/officeDocument/2006/relationships/image" Target="../media/image250.png"/><Relationship Id="rId6" Type="http://schemas.openxmlformats.org/officeDocument/2006/relationships/image" Target="../media/image249.png"/><Relationship Id="rId7" Type="http://schemas.openxmlformats.org/officeDocument/2006/relationships/image" Target="../media/image274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5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6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7.png"/><Relationship Id="rId4" Type="http://schemas.openxmlformats.org/officeDocument/2006/relationships/image" Target="../media/image278.png"/><Relationship Id="rId5" Type="http://schemas.openxmlformats.org/officeDocument/2006/relationships/image" Target="../media/image279.png"/><Relationship Id="rId6" Type="http://schemas.openxmlformats.org/officeDocument/2006/relationships/image" Target="../media/image280.png"/><Relationship Id="rId7" Type="http://schemas.openxmlformats.org/officeDocument/2006/relationships/image" Target="../media/image281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2.png"/><Relationship Id="rId4" Type="http://schemas.openxmlformats.org/officeDocument/2006/relationships/image" Target="../media/image283.png"/><Relationship Id="rId5" Type="http://schemas.openxmlformats.org/officeDocument/2006/relationships/image" Target="../media/image284.png"/><Relationship Id="rId6" Type="http://schemas.openxmlformats.org/officeDocument/2006/relationships/image" Target="../media/image285.png"/><Relationship Id="rId7" Type="http://schemas.openxmlformats.org/officeDocument/2006/relationships/image" Target="../media/image286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7.png"/><Relationship Id="rId4" Type="http://schemas.openxmlformats.org/officeDocument/2006/relationships/image" Target="../media/image288.png"/><Relationship Id="rId5" Type="http://schemas.openxmlformats.org/officeDocument/2006/relationships/image" Target="../media/image289.png"/><Relationship Id="rId6" Type="http://schemas.openxmlformats.org/officeDocument/2006/relationships/image" Target="../media/image290.png"/><Relationship Id="rId7" Type="http://schemas.openxmlformats.org/officeDocument/2006/relationships/image" Target="../media/image291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2.png"/><Relationship Id="rId4" Type="http://schemas.openxmlformats.org/officeDocument/2006/relationships/image" Target="../media/image288.png"/><Relationship Id="rId5" Type="http://schemas.openxmlformats.org/officeDocument/2006/relationships/image" Target="../media/image290.png"/><Relationship Id="rId6" Type="http://schemas.openxmlformats.org/officeDocument/2006/relationships/image" Target="../media/image293.png"/><Relationship Id="rId7" Type="http://schemas.openxmlformats.org/officeDocument/2006/relationships/image" Target="../media/image294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5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7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8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5.png"/><Relationship Id="rId4" Type="http://schemas.openxmlformats.org/officeDocument/2006/relationships/image" Target="../media/image233.png"/><Relationship Id="rId5" Type="http://schemas.openxmlformats.org/officeDocument/2006/relationships/image" Target="../media/image299.png"/><Relationship Id="rId6" Type="http://schemas.openxmlformats.org/officeDocument/2006/relationships/image" Target="../media/image236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0.png"/><Relationship Id="rId4" Type="http://schemas.openxmlformats.org/officeDocument/2006/relationships/image" Target="../media/image301.png"/><Relationship Id="rId5" Type="http://schemas.openxmlformats.org/officeDocument/2006/relationships/image" Target="../media/image302.png"/><Relationship Id="rId6" Type="http://schemas.openxmlformats.org/officeDocument/2006/relationships/image" Target="../media/image303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4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5.png"/><Relationship Id="rId4" Type="http://schemas.openxmlformats.org/officeDocument/2006/relationships/image" Target="../media/image306.png"/><Relationship Id="rId5" Type="http://schemas.openxmlformats.org/officeDocument/2006/relationships/image" Target="../media/image235.png"/><Relationship Id="rId6" Type="http://schemas.openxmlformats.org/officeDocument/2006/relationships/image" Target="../media/image307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8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9.png"/><Relationship Id="rId4" Type="http://schemas.openxmlformats.org/officeDocument/2006/relationships/image" Target="../media/image310.png"/><Relationship Id="rId5" Type="http://schemas.openxmlformats.org/officeDocument/2006/relationships/image" Target="../media/image311.png"/><Relationship Id="rId6" Type="http://schemas.openxmlformats.org/officeDocument/2006/relationships/image" Target="../media/image3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880360"/>
            <a:ext cx="11274552" cy="36576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f17034d967677d89ca97fdc72e4a44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0"/>
            <a:ext cx="11454384" cy="11399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063240"/>
            <a:ext cx="11274552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0">
                <a:solidFill>
                  <a:srgbClr val="AAAAAA"/>
                </a:solidFill>
                <a:latin typeface="Arial"/>
              </a:rPr>
              <a:t>195 Questions  ·  For: Boards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68% of nitric acid in water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Has zero enthalpy of mixing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Cannot be separated by distillation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Follows Raoult's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Has zero volume change of mixing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c3625d87f79833859665cb03ef46f2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1e86bf567b2329b0f3ba013f92917d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4662f6d84dd9dd21088f1229fe507b6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539849"/>
            <a:ext cx="5175504" cy="9022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5e5a52c8555a5994854a49ec0af7ce8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1539849"/>
            <a:ext cx="5175504" cy="9022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327851b2c06140effcd56f706940456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2243937"/>
            <a:ext cx="5175504" cy="9022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f44992d6621e3dcbaee6d5a40a97233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2243937"/>
            <a:ext cx="5175504" cy="9022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De-salination of sea water can be done 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Dialysis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Hypertonic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Evaporation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Reverse osmosis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During osmosis, the solvent molecules are moving from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Hypertonic solution to isotonic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Hypertonic solution to hypotonic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Higher concentrated solution to lower concentrated 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Hypotonic solution to hypertonic solution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d6c4fc5786677c526e6419605c6f40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c61c671a9d428a24def51a6fb8a412e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234440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ef468df4550610506a56f9e331c190b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c5c3ecdfa80d9911850b2469a89bfed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1938528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76e45e6e42e61cf779d4d8cc519b711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If abnormal molar mass is more than normal molar mass, the Van't Hoff factor (i)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i &gt;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i =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i &lt;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i ≥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In a solution containing a non-volatile solute, the mole fraction of solvent is 0.9. The relative lowering of vapor pressure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0.1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0.9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1.1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Isotonic solutions have the same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Surface tension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Vapour pressure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Osmotic pressure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Viscosity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Pick out the ideal solution among the following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Phenol and Aniline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Ethanol and Acetone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Chloroform and Acetone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n-Hexane and n-Heptane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concentration term depends on temperature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ppm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mole fraction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molality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molarity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condition caused when scuba divers go into deep sea water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Anoxia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Hemophilia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Bends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None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84c3f92326c5db092941b9209e24a0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13350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9809a3150a198a6bdfb6f27876977a2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539849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3333ac57d2099f1ffefa4958d8e84f1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1539849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b54d338a03315bfa120204a6f2528eb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2243937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fae26dd88a3b399901ee71bbc9a95fa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2243937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dissolution of a gas in a liquid is governed 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Roult's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Henry's law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Dalton's law of Pressure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Boyle's law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maximum amount of a solid solute that can be dissolved in a specific amount of a given liquid solvent does not depend upon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Nature of solvent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Pressure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Nature of solute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Temperature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mixture which shows positive deviation from Raoult's law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Ethanol + Acetone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Benzene + Toluene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Acetone + Chloroform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Chlorobenzene + Bromoethane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05568a0b91675ed91aff52e879e0c0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6432ffcbf1dfa95f3695b0db0d5976a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234440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03a846f142c41a07c882a999e5a3ced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650686108478ba947af3226b1c37b85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1938528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7a1d495a340e692ec7c746ab29d7182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pressure cooker reduces the cooking timing because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Heat is more evenly distributed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The boiling point of water inside the cooker is elevated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The boiling point of water inside the cooker is depressed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Higher pressure inside the cooker tenderizes food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solubility of a gas in water depends 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Nature of the gas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Temperature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Pressure of the gas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All of the above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solubility of a solid gas does not depend 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Nature of the solute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Nature of the solvent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Pressure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None of these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solution which has lower osmotic pressure with respect to another is called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Isotonic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Hypertonic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Hypotonic 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None of these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solutions which show a large positive deviation from Raoult's law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Minimum boiling point azeotrope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Maximum boiling point azeotrope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Minimum or maximum boiling point azeotrope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No azeotrope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7c06805fd764ba7601fc49bc7811d4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88.3%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56.2%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32.1%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11.7%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e25f33f0054eaa34d227bdb7cbb444f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Greater for gases with higher solubility.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Greater for gases with lower solubility.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Constant for all gases.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Not related to the solubility of gases.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5766763a3b20bc54a31808e2f6aa26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Increases with increase in temperature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Decreases with increase in temperature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Remains constant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First increases, then decreases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When a substance is dissolved in a solvent, the vapor pressure for the solvent is decreased. This results 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The solution having a lower osmotic pressure than the solvent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A decrease in the boiling point of the solvent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The solution having a higher freezing point than the solvent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An increase in the boiling point of the solution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Which of the following aqueous solutions should have the highest boiling point?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bade9b0bf2e776c53e7a322f566450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34440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d991af9b6ff1c9bab24007d418515a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9dfed3a580ae8ec1cdaf3cf93d19b2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1938528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5a18b907ddc337570d191c0b0756da1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Which of the following liquid-liquid solutions show negative deviation from Raoult's law?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Benzene and Toluene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Water and Ethanol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Acetone and Chloroform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Chlorobenzene and Bromobenzene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Which of the following solutions is used as an antifreezing agent in car radiators to cool the engine?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35% (v/v) solution of ethylene glycol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35% (m/m) solution of ethylene glycol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35% (m/v) solution of ethylene glycol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35% (v/m) solution of ethylene glycol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SOLUTIONS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Which one of the following is not a solid solution?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Hydrogen in palladium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Camphor in nitrogen gas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Amalgam of mercury &amp; sodium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Copper in gold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ELECTROCHEMISTRY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A galvanic cell has an electrical potential of 1.1 V. If an opposing potential of 1.1 V is applied to this cell, what will happen to the cell reaction and current flowing through the cell?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The reaction stops and no current flows through the cell.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The reaction continues but current flows in the opposite direction.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The concentration of reactants becomes unity and current flows from cathode to anode.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The cell does not function as a galvanic cell and zinc is deposited on the zinc plate.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ELECTROCHEMISTRY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An electrochemical cell can behave like an electrolytic cell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Ecell =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Ecell &gt; Eext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Ecell &lt; Eext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Ecell = Eext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ELECTROCHEMISTRY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Assertion: The specific conductivity decreases with dilution. Reason: The number of ions per unit volume that carry the current in a solution decreases on dilution.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1b7257d6003463027dae848d6800a1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539849"/>
            <a:ext cx="5175504" cy="1219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b80ee69a3003c5dbc4b729734a695d2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1539849"/>
            <a:ext cx="5175504" cy="1219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Assertion is true, but the reason is false.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3076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Both assertion and reason are false.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ELECTROCHEMISTRY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Ecell of Daniel cell is calculated by using the following formula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3e8b162739b86eea750ed4337b3cba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34440"/>
            <a:ext cx="5175504" cy="9022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5b45e684d69a97c8a841bdb45f143a5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7b1fa25845111d10635cfe63d9c0662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1938528"/>
            <a:ext cx="5175504" cy="9022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4c5a94de0696e9561c8360f1cf8773f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ELECTROCHEMISTRY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Fluorine has the highest standard electrode potential, indicating that fluorine gas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Strongest reducing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Strongest oxidizing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Weak oxidizing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1" name="Picture 10" descr="82a163ddec7fce11932fd1fb41bfb08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ELECTROCHEMISTRY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If the E0cell for a given reaction has a negative value, then which of the following is the correct relationship for the value of ΔG0 and Keq?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ΔG0&gt;0 and Keq&gt;1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ΔG0&lt;0 and Keq&lt;1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ΔG0&gt;0 and Keq&lt;1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ΔG0&lt;0 and Keq&gt;1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ELECTROCHEMISTRY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In a galvanic cell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Chemical energy is converted into heat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Electrical energy is converted into heat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Chemical energy is converted into electrical energy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Electrical energy is converted into chemical energy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ELECTROCHEMISTRY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Match the batteries in</a:t>
            </a:r>
          </a:p>
        </p:txBody>
      </p:sp>
      <p:pic>
        <p:nvPicPr>
          <p:cNvPr id="7" name="Picture 6" descr="beb458945f987e4a312d9f6a3db47c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4440"/>
            <a:ext cx="5724144" cy="548640"/>
          </a:xfrm>
          <a:prstGeom prst="rect">
            <a:avLst/>
          </a:prstGeom>
        </p:spPr>
      </p:pic>
      <p:pic>
        <p:nvPicPr>
          <p:cNvPr id="8" name="Picture 7" descr="5af920b47e3dde24c10492c5dc7159b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5916" y="1234440"/>
            <a:ext cx="5724144" cy="5486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067044" y="1234440"/>
            <a:ext cx="18288" cy="1673352"/>
          </a:xfrm>
          <a:prstGeom prst="rect">
            <a:avLst/>
          </a:prstGeom>
          <a:solidFill>
            <a:srgbClr val="33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536192"/>
            <a:ext cx="5545836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0F0F0"/>
                </a:solidFill>
                <a:latin typeface="Arial"/>
              </a:rPr>
              <a:t>(i)  Leclanché cell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879092"/>
            <a:ext cx="5545836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0F0F0"/>
                </a:solidFill>
                <a:latin typeface="Arial"/>
              </a:rPr>
              <a:t>(ii)  Mercury cell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221992"/>
            <a:ext cx="5545836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0F0F0"/>
                </a:solidFill>
                <a:latin typeface="Arial"/>
              </a:rPr>
              <a:t>(iii)  Lead storage battery</a:t>
            </a:r>
          </a:p>
        </p:txBody>
      </p:sp>
      <p:pic>
        <p:nvPicPr>
          <p:cNvPr id="13" name="Picture 12" descr="70e12e45ac3374e7c03a11e0472ea24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564892"/>
            <a:ext cx="5724144" cy="548640"/>
          </a:xfrm>
          <a:prstGeom prst="rect">
            <a:avLst/>
          </a:prstGeom>
        </p:spPr>
      </p:pic>
      <p:pic>
        <p:nvPicPr>
          <p:cNvPr id="14" name="Picture 13" descr="9fd5f1ab5434de77f4755aea7f2f89d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5916" y="1536192"/>
            <a:ext cx="5724144" cy="548640"/>
          </a:xfrm>
          <a:prstGeom prst="rect">
            <a:avLst/>
          </a:prstGeom>
        </p:spPr>
      </p:pic>
      <p:pic>
        <p:nvPicPr>
          <p:cNvPr id="15" name="Picture 14" descr="f96e320ff1966555cae5ac7d36dd74b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85916" y="1879092"/>
            <a:ext cx="5724144" cy="548640"/>
          </a:xfrm>
          <a:prstGeom prst="rect">
            <a:avLst/>
          </a:prstGeom>
        </p:spPr>
      </p:pic>
      <p:pic>
        <p:nvPicPr>
          <p:cNvPr id="16" name="Picture 15" descr="81166b49445da3a95d5cab24a92ccb8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85916" y="2221992"/>
            <a:ext cx="5724144" cy="548640"/>
          </a:xfrm>
          <a:prstGeom prst="rect">
            <a:avLst/>
          </a:prstGeom>
        </p:spPr>
      </p:pic>
      <p:pic>
        <p:nvPicPr>
          <p:cNvPr id="17" name="Picture 16" descr="a28561344854fac09c80343249f65e5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85916" y="2564892"/>
            <a:ext cx="5724144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200" y="3044952"/>
            <a:ext cx="11274552" cy="365760"/>
          </a:xfrm>
          <a:prstGeom prst="rect">
            <a:avLst/>
          </a:prstGeom>
          <a:noFill/>
        </p:spPr>
        <p:txBody>
          <a:bodyPr wrap="square" lIns="0" rIns="73152" tIns="0" bIns="0" anchor="ctr">
            <a:spAutoFit/>
          </a:bodyPr>
          <a:lstStyle/>
          <a:p>
            <a:pPr algn="l"/>
            <a:r>
              <a:rPr b="1" sz="1400">
                <a:solidFill>
                  <a:srgbClr val="00B0F0"/>
                </a:solidFill>
                <a:latin typeface="Arial"/>
              </a:rPr>
              <a:t>A. </a:t>
            </a:r>
            <a:r>
              <a:rPr sz="1400">
                <a:solidFill>
                  <a:srgbClr val="F0F0F0"/>
                </a:solidFill>
                <a:latin typeface="Arial"/>
              </a:rPr>
              <a:t>i-a, ii-b, iii-c, iv-d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456432"/>
            <a:ext cx="11274552" cy="365760"/>
          </a:xfrm>
          <a:prstGeom prst="rect">
            <a:avLst/>
          </a:prstGeom>
          <a:noFill/>
        </p:spPr>
        <p:txBody>
          <a:bodyPr wrap="square" lIns="0" rIns="73152" tIns="0" bIns="0" anchor="ctr">
            <a:spAutoFit/>
          </a:bodyPr>
          <a:lstStyle/>
          <a:p>
            <a:pPr algn="l"/>
            <a:r>
              <a:rPr b="1" sz="1400">
                <a:solidFill>
                  <a:srgbClr val="00B0F0"/>
                </a:solidFill>
                <a:latin typeface="Arial"/>
              </a:rPr>
              <a:t>B. </a:t>
            </a:r>
            <a:r>
              <a:rPr sz="1400">
                <a:solidFill>
                  <a:srgbClr val="F0F0F0"/>
                </a:solidFill>
                <a:latin typeface="Arial"/>
              </a:rPr>
              <a:t>i-b, ii-a, iii-d, iv-c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867912"/>
            <a:ext cx="11274552" cy="365760"/>
          </a:xfrm>
          <a:prstGeom prst="rect">
            <a:avLst/>
          </a:prstGeom>
          <a:noFill/>
        </p:spPr>
        <p:txBody>
          <a:bodyPr wrap="square" lIns="0" rIns="73152" tIns="0" bIns="0" anchor="ctr">
            <a:spAutoFit/>
          </a:bodyPr>
          <a:lstStyle/>
          <a:p>
            <a:pPr algn="l"/>
            <a:r>
              <a:rPr b="1" sz="1400">
                <a:solidFill>
                  <a:srgbClr val="00B0F0"/>
                </a:solidFill>
                <a:latin typeface="Arial"/>
              </a:rPr>
              <a:t>C. </a:t>
            </a:r>
            <a:r>
              <a:rPr sz="1400">
                <a:solidFill>
                  <a:srgbClr val="F0F0F0"/>
                </a:solidFill>
                <a:latin typeface="Arial"/>
              </a:rPr>
              <a:t>i-c, ii-d, iii-a, iv-b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279392"/>
            <a:ext cx="11274552" cy="365760"/>
          </a:xfrm>
          <a:prstGeom prst="rect">
            <a:avLst/>
          </a:prstGeom>
          <a:noFill/>
        </p:spPr>
        <p:txBody>
          <a:bodyPr wrap="square" lIns="0" rIns="73152" tIns="0" bIns="0" anchor="ctr">
            <a:spAutoFit/>
          </a:bodyPr>
          <a:lstStyle/>
          <a:p>
            <a:pPr algn="l"/>
            <a:r>
              <a:rPr b="1" sz="1400">
                <a:solidFill>
                  <a:srgbClr val="00B0F0"/>
                </a:solidFill>
                <a:latin typeface="Arial"/>
              </a:rPr>
              <a:t>D. </a:t>
            </a:r>
            <a:r>
              <a:rPr sz="1400">
                <a:solidFill>
                  <a:srgbClr val="F0F0F0"/>
                </a:solidFill>
                <a:latin typeface="Arial"/>
              </a:rPr>
              <a:t>i-d, ii-c, iii-a, iv-b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ELECTROCHEMISTRY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10da2867282c94e3b802efa341cd1e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7a7726049892a032f3e076b0e86a01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234440"/>
            <a:ext cx="5175504" cy="9022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ab602de245274a2bcf6c28f0fd34d94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1234440"/>
            <a:ext cx="5175504" cy="9022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29d27aa9f8a532266de02800d1eceff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1938528"/>
            <a:ext cx="5175504" cy="9022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76ad0abe274601bb15def67f8f99c8b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ELECTROCHEMISTRY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459963de1acb83e7f3cb587c2ee5a3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13350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6344a649862b209b8f72c06171820a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539849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3eb11629179473de2a36eeb3666788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1539849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d701c5ab5e1b7dad87feef78c05bf30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2243937"/>
            <a:ext cx="5175504" cy="9022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2d594f69da1fe85b89473869e6938b4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2243937"/>
            <a:ext cx="5175504" cy="90220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ELECTROCHEMISTRY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ec46b6599842dee13c8e8e42ceb195a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8ba6d49f6c87aef9614a873af06514f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539849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6dae30bbe6564287e473838d62eec02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1539849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722812616df1ec5c006ee316c37576c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2243937"/>
            <a:ext cx="5175504" cy="9022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b92627352245cd6944a24725269407d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2243937"/>
            <a:ext cx="5175504" cy="902208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ELECTROCHEMISTRY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b70688b9a98a3e73b9e59508632a42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13350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Both Zn and Sn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Zn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Sn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Neither Zn nor Sn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ELECTROCHEMISTRY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molar conductivity is maximum for the solution of concentration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0.005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0.001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0.004 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0.002 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ELECTROCHEMISTRY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ada9414052d71405185aac53162509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d768c9ef1407b4c8c61cd4977686b87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234440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e56b00c729136d6ec71bd4a9262213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3" name="Picture 12" descr="bcaefb02428e67d10a0077284731ea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17296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03580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APPLICATION BASED QUESTIONS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45c8effdc87ebc628849e1dcc7aa87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1 Faraday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2 Faraday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3 Faraday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4 Faraday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17296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03580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APPLICATION BASED QUESTIONS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What will happen in the Daniel cell, when Eext&lt;1.1 V?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Electrons flow from Zn rod to Cu rod; hence current flows from Cu to Zn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Electrons flow from Cu rod to Zn rod; hence current flows from Cu to Zn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Electrons flow from Zn rod to Cu rod; hence current flows from Zn to 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Electrons flow from Cu rod to Zn rod; hence current flows from Zn to Cu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17296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03580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APPLICATION BASED QUESTIONS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When one Faraday current is passed, which of the following would deposit one-gram atomic mass of the metal?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615baad81c8185f3180cde23c7de48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539849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28f7954402312315abee8f5587523f2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1539849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e05cc3eb7a49549698a2492e7ba58e3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243937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1671bcf251f0ba1a2320bfaf14932fb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2243937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17296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03580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APPLICATION BASED QUESTIONS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Which of these statements about a galvanic cell are not true? i) The cathode carries a positive sign. ii) Oxidation occurs at the anode. iii) Electrons flow from cathode to anode in the external circuit. iv) The anode carries a negative 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61718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i and iii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861718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i and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565806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ii and iii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2565806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ii and iv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Acid hydrolysis of ethyl acetate is an example 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Zero order reaction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First order reaction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Second order reaction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Pseudo first order reaction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All natural and artificial radioactive decay of unstable nuclei take place 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Zero order kinetics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Half-order kinetics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First-order kinetics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Second-order kinetics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874e43db2bc64c5545f75a4e35fec4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e050c95ba4347942e8754f7fca27c6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234440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aa1dace384109b19fa2f8bea7a4253d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45c896e2b6974ab07a870a08d8de21d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1938528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5d263c5625348efb3643e7ff74323e7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4b87bdec1fb3206e95d8566ea7117e9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5f571528c0489a8a328d9a8d613b5ac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234440"/>
            <a:ext cx="5175504" cy="1219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4559251d46c2679db8fdd491951eee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1234440"/>
            <a:ext cx="5175504" cy="1219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504f92facf7d734f72fe3eed128d502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1938528"/>
            <a:ext cx="5175504" cy="1219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19adaf01641f293077b906359d99663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1938528"/>
            <a:ext cx="5175504" cy="12192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For a chemical reaction A → B, it is found that the rate of a reaction doubles when the concentration of A is doubled. The order of the reaction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Two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Zero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Three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For a zero-order reaction, the intercept for the plot of concentration of reactants vs. time is equal 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-k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log 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0" name="Picture 9" descr="2b6ce28564c484eedc613e72b86c4e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38528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2" name="Picture 11" descr="c10ef66eec2beb73287bd78a25105d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cb77ab5d39ca4e40185ae87528d945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2149328" cy="13350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861718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a8c01f94321961ce8cbc01f04d86b3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52574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861718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5924856b8e37ab51275780b822d1e9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1852574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2565806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3eec5d54f7774078c43ff2db8fc71e4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2556662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2565806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b03dddac6da1774635ca26f392f785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2556662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8361f8f54b47a4d96c7bfa0d9aed1d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4ec29486d4a8186997238aaffe4a09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234440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a63da3ea1ef53025da41f88df07d8e6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23dd239155f66ae46634453c2a2ba3e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1938528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Both (a) and (b)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In a reaction, when the concentration of a reactant is increased two times, the increase in the rate of reaction was four times. The order of the reaction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First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Zero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Pseudo first order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Second order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In presence of a catalyst, the heat evolved or absorbed during the reaction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Increases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Decreases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Depends on the reaction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Remains unchanged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Order of a reaction in which unit of rate of reaction and rate constant are the same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1 2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Statement I: A catalyst does not alter Gibb’s energy (ΔG) of a reaction. Statement II: A catalyst alters the activation energy (Ea) of a reaction by providing an alternate pathway.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8ba6d49f6c87aef9614a873af06514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539849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6dae30bbe6564287e473838d62eec0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1539849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e7c1abd0b2aaedab93831b2fe9c3ead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243937"/>
            <a:ext cx="5175504" cy="9022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f59772934d9dcc3458a50b541963262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2243937"/>
            <a:ext cx="5175504" cy="902208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44a4daccd2c7dc565299163d5c9ad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844528" cy="13350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861718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8ba6d49f6c87aef9614a873af06514f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52574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861718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6dae30bbe6564287e473838d62eec02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1852574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2565806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05d39012a975b656331bb3b6242ab4e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2556662"/>
            <a:ext cx="5175504" cy="9022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2565806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5480bf5dd8aa22fa6f7b94e30481ecc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2556662"/>
            <a:ext cx="5175504" cy="902208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collision frequency in a reaction depends 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Number of moles of reactants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Proper orientation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Activated reactant molecules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Both (b) and (c)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following factor which does not affect the rate of reaction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Molecularity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Temperature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Catalyst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Concentration of reactant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half-life period of a first-order reaction is 15 minutes. The amount of substance left after one hour will 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One-half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One-fourth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One-eighth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One-sixteenth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molecularity of a reaction cannot 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Zero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Both (a) and (b)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Whole number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f4f450f730ea5eacb8cc9535d5822c7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Collision energy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Activation energy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Collision frequency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Kinetic energy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74e5ef8a54949cfdf8d5353d91187b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1 2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1 4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7e70764df7b8ba8a8d05ffb386d6b1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3 2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eb7b6384c47d2710a1c8dd202e0a7e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Zero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Fraction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Two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e2c3aa0ab81778b93b4f549a014a1f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Zero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Two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Three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S.I. unit of the rate constant of a first-order reaction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6528db7dc841141b8e802344e23a11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34440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a6c00d600c24ef41e50482ccc07ab7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2609abe1845106c8186faa787619b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1938528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2987bf6870566fdd1381a7bdf45de16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29021acd06f662cd0e7249c8a1128c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558016" cy="13350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38,314.5 J mol−1 (or 38.3 kJ mol−1)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19,157.2 J mol−1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76,629.0 J mol−1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8,314.0 J mol−1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time required for 100 percent completion of a zero-order reaction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19a057d14d7009b7ebd79a3e9a24c8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34440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392475b310d1bd164897a0f60c3150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1f2ce945c8547fa408424efb115a582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1938528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f13b2d82dd7324ee0926a10e5facf46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unit of the rate constant of a reaction is the same as that of its rate. The order of the reaction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Zero order.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First order.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Second order.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Pseudo order.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286000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1488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CHEMICAL KINETICS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6a5ff641120eb0e03314c3a350cc49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3/2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17296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03580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APPLICATION BASED QUESTIONS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When the initial concentration of the reactant is doubled, then the half-life of a zero-order reaction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Is halved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Is doubled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Is tripled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Remains unchanged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17296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03580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APPLICATION BASED QUESTIONS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Which of the following factors does not affect the rate of reaction?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Molecularity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Temperature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Catalyst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Concentration of reactant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17296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03580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APPLICATION BASED QUESTIONS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Which of the following is correct for a zero-order reaction?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82d269f79c00f74ba35b409ef0b106d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34440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b75f198ef4b3c7af507bce9d975ddbf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fac9c0f231ae5125b9c3af702169e40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1938528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8c82738c680ba2a26a97b98185e59f3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Actinoids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Radioactive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Prepared in nanograms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Having smaller half-lives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All the above are correct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c4549b23afc4ca02fa759d1db0ed40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13708f1fee00a324c922609a86a82d1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234440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a281c679cbdcc972e01922326eaa614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bcab6cb30a129948c7757b16a8f832e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1938528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All the above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Diamagnetic compound among the following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7919d439f6d2fe8fa9e7d979d337f7c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34440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73d982d8dd4cdea08a064cc3dc0ba7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c5285b78978653ae0e713aec4e4950c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1938528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b5fab1f65f3f7b440845fb199e99c3c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Identify the correct sequence of the number of unpaired electrons of the following 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3bf66eaf7e4393bd0b9e2b7a71244e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34440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c4ce366c7dba7e8d7f79d775ecfb96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08c37a517db8a3c6802e6686b83dedb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1938528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07c18f0f5376da14dad17b307e577f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6c63179d402aed942b8b400a56d608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+7 to +2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+7 to +4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+6 to +4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+7 to +6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b8b4113ee51c66d6c7484872d8be27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Oxidation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Reduction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Disproportionation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Redox reaction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598ff44816301c84277f3404bb19c8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9" name="Picture 8" descr="6cf7f9ea3434fe3f42ce5b4d116ff3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1" name="Picture 10" descr="8fc195cbb54c73e9115f269baaf8a38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1938528"/>
            <a:ext cx="5175504" cy="585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3" name="Picture 12" descr="ab330ff67bb747075034b56d5fe9e3e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cd35ab951399e6cea5658871ffec5e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541a359a81228ec66085f4a4149641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234440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b037d219827d3eec8b49b76a56e87b4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4b18ee6f8a016ac75222d852c30d9cc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1938528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a24f220a0b02198527e2e33e4e80977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characteristic feature of transition metal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They show variable oxidation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They do not form complexes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They are not good catalysts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They exhibit only diamagnetism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correct order of magnetic moment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684568b6dccb3c4f2ad8130de076cc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34440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b89cffd05f9ddab9515ddab82ffdf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d49837e35ee4af506740f29db13130f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1938528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ed0b4b17256d2ff8dbe3717b656c287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correct order of melting point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Cr &gt; Mn &gt; 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Fe &gt; Mn &gt; Cr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Cr &gt; Fe &gt; Mn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Mn &gt; Fe &gt; Cr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b575276e12753fa1c2da02f3a396c5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9890b185afd0941a5fe4e674a6e968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234440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aecf11d91842b689c36c10414e8247d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Stability of both depends upon the nature of their salts.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3" name="Picture 12" descr="f8ccb7dc0d1bec1b6f0a6ffb05d655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8fc7502f54f9e2605aeb39b09d6ef5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655552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most stable manganese compound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1e35752e481d3ff496768b953a32a5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34440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0730511a9c61233e4d01dc5ee828e2c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73d982d8dd4cdea08a064cc3dc0ba7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1938528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2fe4427cf4bf3c6c1e135a69ada9597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e247b3610181cf7102cb45609edfb63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1/3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1/6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set of 3d series elements that show anomalous electronic configurations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Cr and Mn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Cu and Zn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Cr and 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Mn and Zn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transition metal present in bronze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Zinc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Tin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Silver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Copper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transition metal present in the red pigment of blood haemoglobin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cobalt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Nickel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Iron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copper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Which of the following actinoids show oxidation states up to +7?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Am (Americium)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Th (Thorium)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U (Uranium)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Np (Neptunium)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Which of the following ions has the least magnetic moment?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ec7a8ae478ba56b5759d63ca3e5ad7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34440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d0e9a00bfcdf3e20362aca0d707e181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e5b3f6bb726ef6903bb477c73701f1c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1938528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5806931d42b301f82220d67347cffd7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Which of the following is a colorless 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f1af04daf70e7b8a61d272bb6546e64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34440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77b2068f0ac0368550cf843be9b04a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1cc3920b23ded4b35bbba2f21b718cc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1938528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a00a199c51e891c552cc9292de35556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Which of the following pairs have the same paramagnetic moment? (Atomic numbers: Ti = 22, Mn = 25, Ni = 28, Cu = 29)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02c3557de8c355a729a5475fdd9aaa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539849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024a9ebfce89ed6887d6668247476e9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1539849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ef5abd105f89fade7ae9efa1143e7bb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243937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a625d8309c5f27cabcbf6fa1b4f4383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2243937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Which of the following statements about transition elements is incorrect?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They show variable oxidation states.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All the ions are colored.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They exhibit diamagnetic and paramagnetic properties.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They exhibit catalytic properties.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D AND F BLOCK ELEMENTS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Which of the following transition metal ions is colorless?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726ae1ca2465d4c9f46a495bfdfc65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34440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b037d219827d3eec8b49b76a56e87b4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a00a199c51e891c552cc9292de35556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1938528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1cc3920b23ded4b35bbba2f21b718cc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072384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935224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A mixture of chloromethane and chlorobenzene are treated with sodium in dry ether, the product obtained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Ethane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Toluene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Diphenyl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All the above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072384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935224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07f83e5b3b98e11cda1d4914899a3c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R-I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R-Cl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R-F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R-Br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072384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935224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ca92beade5b8ec22cd32dab7e080e1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0597233d5f64fe6e590b139f3b23d5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539849"/>
            <a:ext cx="5175504" cy="1219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1d31a658c6a536e1c0e7f2af1e6619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1539849"/>
            <a:ext cx="5175504" cy="1219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If assertion is correct but reason is incorrect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3076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If assertion is incorrect but reason is correct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072384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935224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Chlorobenzene reacts with magnesium in dry ether to give a compound A, which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2d7873fb1d4b21063b289ba85672c9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34440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139103aaa4596a39927cab9969045e7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c34ee4c310c9df85195ffb84a5e1dea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1938528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6fb2e2aed989031fbf49d0a7d3b3a6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072384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935224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Chloroform is stored completely filled in a closed dark-colored bottle. This is 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Prevent the oxidation of chloroform by air in the presence of sunlight.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Prevent the evaporation of chloroform.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Prevent the reaction of chloroform with nitrogen in the air.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1" name="Picture 10" descr="9a7ffa525aac6b5e2140679d678c74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3116" y="1938528"/>
            <a:ext cx="5175504" cy="1219200"/>
          </a:xfrm>
          <a:prstGeom prst="rect">
            <a:avLst/>
          </a:prstGeom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072384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935224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Four haloalkane compounds represented by the letters M, N, O, and P having boiling points of 24.2°C, 38°C, 3.56°C, and 101.6°C respectively. Among the four compounds, N is most likely to 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75368f636ac8c986c76942d6eeaf28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539849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cb182fa65ae770bfe00bbf3f8f9ca7f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1539849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bc733155a9d8b343700ae8cdb2391a2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243937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069f110ac9a7cb95a23fff4ace1358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2243937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072384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935224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Freon can be prepared 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Finkelstein reaction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Wurtz reaction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Friedel-Crafts reaction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Swartz reaction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072384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935224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In vinylic halides, the halogen atom is attached to a carbon atom with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sp3 hybridization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sp2 hybridization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sp hybridization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dsp2 hybridization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072384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935224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Match the organic compounds in</a:t>
            </a:r>
          </a:p>
        </p:txBody>
      </p:sp>
      <p:pic>
        <p:nvPicPr>
          <p:cNvPr id="7" name="Picture 6" descr="beb458945f987e4a312d9f6a3db47c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4440"/>
            <a:ext cx="5724144" cy="548640"/>
          </a:xfrm>
          <a:prstGeom prst="rect">
            <a:avLst/>
          </a:prstGeom>
        </p:spPr>
      </p:pic>
      <p:pic>
        <p:nvPicPr>
          <p:cNvPr id="8" name="Picture 7" descr="5af920b47e3dde24c10492c5dc7159b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5916" y="1234440"/>
            <a:ext cx="5724144" cy="5486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067044" y="1234440"/>
            <a:ext cx="18288" cy="1673352"/>
          </a:xfrm>
          <a:prstGeom prst="rect">
            <a:avLst/>
          </a:prstGeom>
          <a:solidFill>
            <a:srgbClr val="33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4e1e6ff85e73a14b80f91c6cbd686e7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536192"/>
            <a:ext cx="5724144" cy="548640"/>
          </a:xfrm>
          <a:prstGeom prst="rect">
            <a:avLst/>
          </a:prstGeom>
        </p:spPr>
      </p:pic>
      <p:pic>
        <p:nvPicPr>
          <p:cNvPr id="11" name="Picture 10" descr="9785fbeb68f63870bb47d5ab8be95a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879092"/>
            <a:ext cx="5724144" cy="548640"/>
          </a:xfrm>
          <a:prstGeom prst="rect">
            <a:avLst/>
          </a:prstGeom>
        </p:spPr>
      </p:pic>
      <p:pic>
        <p:nvPicPr>
          <p:cNvPr id="12" name="Picture 11" descr="ed2d6ca48d460beabf845868e2589e5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2221992"/>
            <a:ext cx="5724144" cy="548640"/>
          </a:xfrm>
          <a:prstGeom prst="rect">
            <a:avLst/>
          </a:prstGeom>
        </p:spPr>
      </p:pic>
      <p:pic>
        <p:nvPicPr>
          <p:cNvPr id="13" name="Picture 12" descr="86cdc9e2b8eaabe0868b7dec74bc380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2564892"/>
            <a:ext cx="5724144" cy="548640"/>
          </a:xfrm>
          <a:prstGeom prst="rect">
            <a:avLst/>
          </a:prstGeom>
        </p:spPr>
      </p:pic>
      <p:pic>
        <p:nvPicPr>
          <p:cNvPr id="14" name="Picture 13" descr="c844b7908e4b58eca70a820f0e6b02a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85916" y="1536192"/>
            <a:ext cx="5724144" cy="548640"/>
          </a:xfrm>
          <a:prstGeom prst="rect">
            <a:avLst/>
          </a:prstGeom>
        </p:spPr>
      </p:pic>
      <p:pic>
        <p:nvPicPr>
          <p:cNvPr id="15" name="Picture 14" descr="9e0898cd752e2675db5d1b0147d9e03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85916" y="1879092"/>
            <a:ext cx="5724144" cy="548640"/>
          </a:xfrm>
          <a:prstGeom prst="rect">
            <a:avLst/>
          </a:prstGeom>
        </p:spPr>
      </p:pic>
      <p:pic>
        <p:nvPicPr>
          <p:cNvPr id="16" name="Picture 15" descr="f6a734ae4daebe83e69060760588fe59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85916" y="2221992"/>
            <a:ext cx="5724144" cy="548640"/>
          </a:xfrm>
          <a:prstGeom prst="rect">
            <a:avLst/>
          </a:prstGeom>
        </p:spPr>
      </p:pic>
      <p:pic>
        <p:nvPicPr>
          <p:cNvPr id="17" name="Picture 16" descr="4af2630383ca9eafee0f722ebbec152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85916" y="2564892"/>
            <a:ext cx="5724144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200" y="3044952"/>
            <a:ext cx="11274552" cy="365760"/>
          </a:xfrm>
          <a:prstGeom prst="rect">
            <a:avLst/>
          </a:prstGeom>
          <a:noFill/>
        </p:spPr>
        <p:txBody>
          <a:bodyPr wrap="square" lIns="0" rIns="73152" tIns="0" bIns="0" anchor="ctr">
            <a:spAutoFit/>
          </a:bodyPr>
          <a:lstStyle/>
          <a:p>
            <a:pPr algn="l"/>
            <a:r>
              <a:rPr b="1" sz="14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19" name="Picture 18" descr="3f8d2d19ae6cf3db9882b0fafd94c1cb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7240" y="3044952"/>
            <a:ext cx="11045952" cy="5486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57200" y="3456432"/>
            <a:ext cx="11274552" cy="365760"/>
          </a:xfrm>
          <a:prstGeom prst="rect">
            <a:avLst/>
          </a:prstGeom>
          <a:noFill/>
        </p:spPr>
        <p:txBody>
          <a:bodyPr wrap="square" lIns="0" rIns="73152" tIns="0" bIns="0" anchor="ctr">
            <a:spAutoFit/>
          </a:bodyPr>
          <a:lstStyle/>
          <a:p>
            <a:pPr algn="l"/>
            <a:r>
              <a:rPr b="1" sz="14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21" name="Picture 20" descr="1ae1c80cd5a630c67d1700ea8de9e371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77240" y="3456432"/>
            <a:ext cx="11045952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7200" y="3867912"/>
            <a:ext cx="11274552" cy="365760"/>
          </a:xfrm>
          <a:prstGeom prst="rect">
            <a:avLst/>
          </a:prstGeom>
          <a:noFill/>
        </p:spPr>
        <p:txBody>
          <a:bodyPr wrap="square" lIns="0" rIns="73152" tIns="0" bIns="0" anchor="ctr">
            <a:spAutoFit/>
          </a:bodyPr>
          <a:lstStyle/>
          <a:p>
            <a:pPr algn="l"/>
            <a:r>
              <a:rPr b="1" sz="14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23" name="Picture 22" descr="395b978af93061eb33aaa970fd60f622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77240" y="3867912"/>
            <a:ext cx="11045952" cy="5486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57200" y="4279392"/>
            <a:ext cx="11274552" cy="365760"/>
          </a:xfrm>
          <a:prstGeom prst="rect">
            <a:avLst/>
          </a:prstGeom>
          <a:noFill/>
        </p:spPr>
        <p:txBody>
          <a:bodyPr wrap="square" lIns="0" rIns="73152" tIns="0" bIns="0" anchor="ctr">
            <a:spAutoFit/>
          </a:bodyPr>
          <a:lstStyle/>
          <a:p>
            <a:pPr algn="l"/>
            <a:r>
              <a:rPr b="1" sz="14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25" name="Picture 24" descr="a05505d2ef2c44123c906c5fc9d0d161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77240" y="4279392"/>
            <a:ext cx="11045952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072384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935224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ae4bcab5260f59a0256817b9d2f3f6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Wurtz reaction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Fittig reaction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Swarts reaction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Finkelstein reaction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072384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935224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Select the incorrect match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52536dced4c1f42032c7ef5d559c23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34440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d6714330b5ad5d5b0a14d938f85da5b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fdf5cf06d12d75b06d5264e8036f6e3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1938528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Wurtz reaction - Na / dry ether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072384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935224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d3957c4b26c2f465ea0561f139d022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Inductive effect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Steric effect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Resonance effect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Electrometric effect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072384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935224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best reagent used to produce pure alkyl halides from alcohol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1a91cc3694a07d711e03daf27fda13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34440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ce0f1a0ae476d04607969949ce9f4fb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59d924440249dcbce1ba1e066a79e1f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1938528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f1ab441f813de22c429daa5e9622e46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072384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935224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chemical formula of phosgene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59d924440249dcbce1ba1e066a79e1f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34440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91334eb337a55ea466ed445c093505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bbf5197343bde5dd9e023cbe9914ca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1938528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9a0d68b8aa3e9fae08777ff73e7b13c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072384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935224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chemical name of phosgene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Acetyl chloride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Methyl chloride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Carbonyl chloride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Chloroform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072384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935224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chiral molecule among the following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1-Bromo butane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2-Bromobutane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2-Bromo propane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2-Bromopropan-2-ol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072384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935224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7ef8868d6ed7fd083bed2b0dd6221a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Allylic halides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Aryl halides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Benzylic halides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Vinylic halides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072384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935224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increasing order of boiling points of alkyl halides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cfddff968cd0eebc0a387d14bd778b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34440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312df40dbece0ba3e99f28aa3a1866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a1a33947369a6a1ca2cc981a107a73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1938528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2f495afa5e429f62438426010ef6851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072384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935224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19ac71d101405b4c5b4d1c750c296d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1-Chloroethene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1-Chloroethyne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1,2-Dichloroethane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1,1-Dichloroethane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072384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935224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d022daced7e7fd8000f182ae08f8dd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Swarts reaction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Wurtz reaction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Finkelstein reaction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Gattermann reaction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072384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935224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When 2-Bromo pentane is treated with alcoholic potash, the major product produced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1-Pentene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2-Pentene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2-Pentane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3-Pentene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072384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935224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HALOALKANES AND HALOARENES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2ee44aff6d6c204e9029d936637eac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0cb6864e1d091d92bbf2616fddab9a5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234440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58b8d875f8b30d30bb4a4bdea824e3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313026f7006d92a628181d947884643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1938528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53761494b1d26b4e49556303d77cdf0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273552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13639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309fc6e40794fa61d14c9194b70095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13350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P = Propan-1-ol, Q = Propene, R = Propanone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P = Propene, Q = Propan-2-ol, R = Propene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P = Propene, Q = Propan-2-ol, R = Propanone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P = Propanone, Q = Propan-1-ol, R = Propane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273552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13639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a9fe5518c133b4e9b3645e3487b7ac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2027408" cy="13350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861718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46520804f08aa692de887585d198d6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52574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861718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f83defa2d756d78d138e853d0d92988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1852574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2565806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d04a31c61d6ce900777a565d1b0d9a7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2556662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2565806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fabbac89907a5b7e743e720f23dc409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2556662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273552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13639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By which test can 1°, 2°, and 3° alcohols be detected?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Hinsberg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Tollen's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Lucas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All of these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273552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13639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Byproduct obtained during preparation of phenol from cumene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Ketone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Aldehyde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Alcohol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Cresol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273552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13639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Enantiomers only differ with respect 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Melting 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Boiling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Refractive index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The rotation of plane-polarized light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273552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13639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Ethane-1,2-diol is an example 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Monohydric alcohol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Dihydric alcohol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Dihydric phenol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Monohydric phenol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273552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13639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2bd2d77ddbd5b4fbcb68c8360c746b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Aromatic amine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Aromatic hydroxyl compound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Aromatic dihydroxy compound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Aromatic nitro compound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273552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13639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Halogenation of benzene occurs in the presence of Lewis acid, but halogenation of phenol occurs even in the absence of Lewis acid due 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Highly deactivating effect of -OH group attached to the benzene 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Highly activating effect of -OH group attached to the benzene 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Highly deactivating effect of the benzene 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Highly activating effect of the benzene ring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273552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13639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1cf784e27d43dd54f6cf3ff610e6ba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273552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13639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Identify the simple ether from the following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2fa075f3bd831058ae97aee4277ba8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34440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7142001699b6e7750651ee3d9586f2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e600719a79e5ef4a39a1afbed094e25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1938528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045e4584a63c11ec03c00efe36e817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273552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13639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In Kolbe's reaction, phenol is converted into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Salicylic acid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Salicylaldehyde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Benzoic acid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Benzaldehyde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273552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13639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In picric acid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Three -OH groups are present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Two -OH groups are present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Three -NO2 groups are present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One -NO2 group is present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273552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13639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O-nitrophenol and p-nitrophenol are separated 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Sublimation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Fractional distillation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Crystallization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Steam distillation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273552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13639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Phenol is less acidic than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o-Nitrophenol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Ethanol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o-Methylphenol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o-Methoxyphenol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273552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13639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Phenol is more acidic than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Ethanol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o-Nitrophenol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m-Nitrophenol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p-Nitrophenol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273552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13639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Phenol on oxidation with chromic acid gives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Benzoquinone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Catechol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Hydroquinone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Phthalic acid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273552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13639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Salicylaldehyde can be prepared 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Finkelstein reaction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Dow's process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Reimer-Tiemann reaction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Kolbe's reaction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273552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13639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boiling points of alcohols increase with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Increase in the number of C-atoms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Decrease in van der Waals forces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Increase of branching in the C-chain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Decrease in the surface area of the C-chain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273552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13639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C-O bond angles of P, Q, and R are found to be 111.7°, 109°, and 108.9°, respectively. Compound P, Q, and R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P = Phenol, Q = Methanol, R = Methoxy Methane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P = Methoxy Methane, Q = Methanol, R = Phenol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P = Methanol, Q = Phenol, R = Methoxy Methane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P = Methoxy Methane, Q = Phenol, R = Methanol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273552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13639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chemicals used to convert commercial alcohol into denatured alcohol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ea02f6c51e07f7837ec4a1013880fd5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34440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c1afbbf2e3533e848581ef6ed1b7f75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1416e17352fd6733da198da15fbb3fe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1938528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9215eaef5dc0d9cc913bbd3dd81d3c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273552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13639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compound that reacts fastest with Luca’s reagent at room temperature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2-Methylpropan-2-ol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Butan-2-ol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2-Methylpropan-1-ol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Butan-1-ol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273552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13639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correct order of acid strength of the following compounds is: (i) o-bromophenol (ii) p-bromophenol (iii) picric acid (2,4,6-trinitrophenol) (iv) 2,4,6-tribromophenol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(iii) &gt; (iv) &gt; (i) &gt; (ii)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(iii) &gt; (iv) &gt; (ii) &gt; (i)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(iv) &gt; (iii) &gt; (i) &gt; (ii)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(i) &gt; (ii) &gt; (iv) &gt; (iii)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273552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13639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decreasing order of boiling points of ethanol, propane, and dimethyl ether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Ethanol &gt; Dimethyl ether &gt; Propane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Ethanol &gt; Propane &gt; Dimethyl ether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Propane &gt; Dimethyl ether &gt; Ethanol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Propane &gt; Ethanol &gt; Dimethyl ether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273552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13639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9855fc7b8e5a6cecf45ed50c4418e0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Intra-molecular hydrogen bonding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Inter-molecular hydrogen bonding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0" name="Picture 9" descr="dc6d2f257c72b81d8ec5de120c7ea6b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938528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None of these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273552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13639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major byproduct during the preparation of phenol from cumene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Acetone.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Cresol.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Alcohol.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Acetaldehyde.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273552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13639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major product formed when phenol is treated with excess bromine water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o-Bromophenol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p-Bromophenol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Picric acid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2,4,6-Tribromophenol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273552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13639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6d851c6619db20a14481da70e6e6765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acts as catalyst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act as nucleophile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act as weak electrophile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act as strong electrophile.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273552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13639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What is the correct order of boiling points of alcohols having the same number of carbon atoms?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1° &gt; 2° &gt; 3°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3° &gt; 2° &gt; 1°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3° &gt; 1° &gt; 2°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2° &gt; 1° &gt; 3°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273552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13639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When an alcohol is treated with Luca’s reagent, if immediate turbidity appears, then it confirms the presence 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Primary alcohol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Secondary alcohol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Tertiary alcohol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All of these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273552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13639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When phenol is heated with chloroform in sodium hydroxide followed by acidification, the product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Chlorobenzene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Benzyl chloride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Salicylaldehyde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Salicylic acid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273552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13639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When phenol is heated with Zn dust, it gives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Benzyl alcohol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Ethanol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Methanol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Benzene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273552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136392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ALCOHOLS, PHENOLS AND ETHERS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When phenol is treated with bromine water, a white precipitate of the product obtained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2-Bromophenol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4-Bromophenol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Both 2-Bromophenol and 4-Bromophenol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2,4,6-Tribromophenol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According to the spectrochemical series, the strongest field ligand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39887044327cd3ce9d118ac2ebaefeb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34440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f36fe62e4e73c14d4b6f9ca983ff86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955e167e3ba7e9cd44f6bd46209fabd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1938528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c5be08b6b5e073782b72196b614d448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According to Werner's theory, the primary valencies of the central atom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Satisfied by negative ions or neutral molecules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Satisfied by negative 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Are equal to coordination number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Decide the geometry of the complex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Among the following statements, which statement is correct about metal carbonyls?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Metal carbonyls are s-bonded organometallic compounds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Metal carbonyls are p-bonded organometallic compounds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Metal carbonyls involve both s and p bonds between metal and oxygen of the carbonyl group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Metal carbonyls involve both s and p bonds between metal and carbon of the carbonyl group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An ambidentate ligand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917a4c1da699b94b63fb5546fe7f4b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34440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5f0aab8e67c4528f3a99a3fcc1041d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0aa9e8a328b65b2145a26c7b6166b53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1938528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55b428e8b684f62ca1f3962f516e7dd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An example of an ambidentate ligand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c5be08b6b5e073782b72196b614d44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34440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5f0aab8e67c4528f3a99a3fcc1041d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d4507671beddd4ce8230c7dd9cc1848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1938528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8fc195cbb54c73e9115f269baaf8a3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50992272983909a3e558bee1df9984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e36407a5fb8b73cbe5f787a9b5007a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539849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5db2b4e8aff9f50c63e893b22c72ea2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1539849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3f1ea25db9bfbf3ea72fe284913ba25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2243937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5e7071d7cde2eadb89c72c4ca459016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2243937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4095a2a2acb7d39f6166c09dd8ce9e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4b4dea8c83b85987c12661c0ae2bb73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234440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bf1cb3b60e54b5f5f3b7f09d00dc3cd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bf5b1d6258f6e4c3fc5e0ae60431e62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1938528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d4073e72b6fb0eda4bd03f57db93533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f8cf3ee0b21ad668c8117e26ce689e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4 and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6 and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2 and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3 and 6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ded98997f660eafa8b64f7336d4206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94bae8f32caf5256f89209aec03bed8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234440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2f8e803691185b465d083a45cc86985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Ionic character.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3" name="Picture 12" descr="2a9ffc11fd5d2ca60fa26a8d94feb05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In metal carbonyls, the M-C sigma bond is formed by the donation of a lone pair of electrons on the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Carbonyl carbon atom to filled orbital of metal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Carbonyl carbon atom to vacant orbital of metal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0" name="Picture 9" descr="efd005b2115d5eb177a65bc01f045d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38528"/>
            <a:ext cx="5175504" cy="9022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2" name="Picture 11" descr="cd05c110851b3878a109b5ee45e9c0a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1938528"/>
            <a:ext cx="5175504" cy="902208"/>
          </a:xfrm>
          <a:prstGeom prst="rect">
            <a:avLst/>
          </a:prstGeom>
        </p:spPr>
      </p:pic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34de7034af383011d698ddafb2bbde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91e4178680a735f4fd5b95754ea04c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234440"/>
            <a:ext cx="5175504" cy="9022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cb4555e07668bb0cd3ee6f58e4ec354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1234440"/>
            <a:ext cx="5175504" cy="9022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7106b771661676882604a6a51055744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1938528"/>
            <a:ext cx="5175504" cy="9022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f2f1c9e579a2e74b993272123f14687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1938528"/>
            <a:ext cx="5175504" cy="902208"/>
          </a:xfrm>
          <a:prstGeom prst="rect">
            <a:avLst/>
          </a:prstGeom>
        </p:spPr>
      </p:pic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ac555ac5fd0bcbfc40daee134bb12a3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Two Cis and one Trans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Two Cis and Two Trans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One Cis and two Trans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One Cis and One Trans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bf83a56567a9bf24bb243a4e5762d3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582400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Two cis and one trans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One cis and two trans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All three are cis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All three are trans only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6b91bafa2ed1a89ab09e7479ffb8e81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Synergic effect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Chelating effect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0" name="Picture 9" descr="c64c6d633a98b2369adcd90ffaac7cb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938528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2" name="Picture 11" descr="357ba4240b4b5780fb2dfd9d1c9a09b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central metal atoms/ions in coordination compounds are also called 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Lewis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Brønsted acids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Brønsted bases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Lewis acids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73e860681108e5737cf1464861a7d4a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Linkage isomerism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Fac-mer isomerism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Ionization isomerism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Cis-trans isomerism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f82ca04f9b8de6f805ef73a83d89c5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13350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6 and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6 and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4 and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3 and 6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18eff7e614b4198d2b806a66db92aad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6 and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6 and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4 and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3 and 6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cf03f4dad6d2ed2ae8ef5dbe294734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Geometrical isomerism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Ionization isomerism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Coordination isomerism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Linkage isomerism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cead5e3bec84081696f9c0438db86d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e85586eb384f10e89a87081af6a4b7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234440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d4073e72b6fb0eda4bd03f57db9353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bf5b1d6258f6e4c3fc5e0ae60431e62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1938528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d8d9e35fcd5047b73c151e214436b4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519c0ddd0c1997cfa3826a89702a76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octahedral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tetrahedral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trigonal bipyramidal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square pyramidal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1d57d79c3f5868d4e1a7132416e9ac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Linkage isomerism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Coordination isomerism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Ionisation isomerism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Solvate isomerism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0960270b991449d13701f412d20038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6eda73ecac711f9795592e714a6225e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234440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524eb3695c3a7bc2a35e90214002075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1234440"/>
            <a:ext cx="5175504" cy="9022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d892626b46ecb0e5158661737385216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1938528"/>
            <a:ext cx="5175504" cy="9022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9c74235d32fd1535e418f21bb258a90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1938528"/>
            <a:ext cx="5175504" cy="902208"/>
          </a:xfrm>
          <a:prstGeom prst="rect">
            <a:avLst/>
          </a:prstGeom>
        </p:spPr>
      </p:pic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457d71ee2b6174aad28c17af1aa5df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0983fb8afed6b36169a7f592027da54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234440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87703baa3ecc4673c160d0fb6799bdf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9096ead0bb8f556023e2e65facca56d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1938528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aeab22373daffa84f05f709ff01c970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1938528"/>
            <a:ext cx="5175504" cy="902208"/>
          </a:xfrm>
          <a:prstGeom prst="rect">
            <a:avLst/>
          </a:prstGeom>
        </p:spPr>
      </p:pic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2da9f22d743690bc3f5e72591d4a69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70e347a9d4e5d8b3225b82cdebcbc7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539849"/>
            <a:ext cx="5175504" cy="9022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cc4940463c5b1fff20f146bc93ea2eb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1539849"/>
            <a:ext cx="5175504" cy="9022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7443a8f73108666163114356a92934b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2243937"/>
            <a:ext cx="5175504" cy="9022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d3ecfa64a10c2f5cca6feb19d3a4b40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2243937"/>
            <a:ext cx="5175504" cy="902208"/>
          </a:xfrm>
          <a:prstGeom prst="rect">
            <a:avLst/>
          </a:prstGeom>
        </p:spPr>
      </p:pic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1e0edc9c6bf4649282489075895db9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70e347a9d4e5d8b3225b82cdebcbc7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539849"/>
            <a:ext cx="5175504" cy="9022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7443a8f73108666163114356a92934b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1539849"/>
            <a:ext cx="5175504" cy="9022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e0a388f8cdeb99bbea6838b537125a6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2243937"/>
            <a:ext cx="5175504" cy="9022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9a031d8acc41532300f433a53942a9c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116" y="2243937"/>
            <a:ext cx="5175504" cy="902208"/>
          </a:xfrm>
          <a:prstGeom prst="rect">
            <a:avLst/>
          </a:prstGeom>
        </p:spPr>
      </p:pic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8b4a56b63ca7fbd845dae11410b566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+1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+4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+2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+3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oxidation state of metal in metal carbonyl complexes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58026640264febc825393c1087645b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3 and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3 and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6 and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0 and 3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75c5720d775946911e09c428ca78c6d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3 and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6 and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3 and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6 and 3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The sum of coordination number and oxidation number of the metal M in the complex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d219a1ef6b0dd939ad0656d43bb50b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6278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0, 2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6, 1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5, 2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6, 2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Which of the following is an ambidentate ligand?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c5be08b6b5e073782b72196b614d44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34440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f36fe62e4e73c14d4b6f9ca983ff86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935c5dcb3db729f1ae7da9ec3ec3455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1938528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917a4c1da699b94b63fb5546fe7f4bb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Which of the following is the correct increasing order of strength in the spectrochemical series of ligands?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e17a2037157dbc7af603cdd500874b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539849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548993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0739209fff1ea5bdc1855c19d849e1a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1539849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2a6dd6fe1c92acf7f4d0054d7f824d7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243937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2253081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f1528bb7a9dc896468f93f7da670092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2243937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Which of the following ligands can exhibit linkage isomerism?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2ebaea55563e956e96b6e906ea22e5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34440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f36fe62e4e73c14d4b6f9ca983ff86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955e167e3ba7e9cd44f6bd46209fabd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1938528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c5be08b6b5e073782b72196b614d448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Which of the following ligands produces a synergic effect in coordination complexes?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Oxalates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Carbon Monoxide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Sulphate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Nitrates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Which of the following species is not a ligand?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63ed2764c9e75314664b915d4d2ac4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34440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579751fab62839efced2beb39da0b8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c5be08b6b5e073782b72196b614d448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1938528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0faf27b10d5a81e9ce8aa5041198e6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267004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253288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COORDINATION COMPOUNDS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pic>
        <p:nvPicPr>
          <p:cNvPr id="6" name="Picture 5" descr="b4ba115dee36157b6393937291613d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11454384" cy="981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  <a:r>
              <a:rPr sz="1600">
                <a:solidFill>
                  <a:srgbClr val="F0F0F0"/>
                </a:solidFill>
                <a:latin typeface="Arial"/>
              </a:rPr>
              <a:t>Primary Valencies are ionisable while Secondary Valencies are non-ionisable.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  <a:r>
              <a:rPr sz="1600">
                <a:solidFill>
                  <a:srgbClr val="F0F0F0"/>
                </a:solidFill>
                <a:latin typeface="Arial"/>
              </a:rPr>
              <a:t>Primary Valencies are non-ionisable while Secondary Valencies are ionisable.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  <a:r>
              <a:rPr sz="1600">
                <a:solidFill>
                  <a:srgbClr val="F0F0F0"/>
                </a:solidFill>
                <a:latin typeface="Arial"/>
              </a:rPr>
              <a:t>Both Primary and Secondary Valencies are non-ionisable.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  <a:r>
              <a:rPr sz="1600">
                <a:solidFill>
                  <a:srgbClr val="F0F0F0"/>
                </a:solidFill>
                <a:latin typeface="Arial"/>
              </a:rPr>
              <a:t>Both Primary and Secondary Valencies are ionisable.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28600"/>
            <a:ext cx="3172968" cy="320040"/>
          </a:xfrm>
          <a:prstGeom prst="rect">
            <a:avLst/>
          </a:prstGeom>
          <a:solidFill>
            <a:srgbClr val="1613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36576" cy="320040"/>
          </a:xfrm>
          <a:prstGeom prst="rect">
            <a:avLst/>
          </a:prstGeom>
          <a:solidFill>
            <a:srgbClr val="FAD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65176"/>
            <a:ext cx="3035808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AD02C"/>
                </a:solidFill>
                <a:latin typeface="Arial"/>
              </a:rPr>
              <a:t>APPLICATION BASED QUESTIONS</a:t>
            </a:r>
          </a:p>
        </p:txBody>
      </p:sp>
      <p:pic>
        <p:nvPicPr>
          <p:cNvPr id="5" name="Picture 4" descr="simplifie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137160"/>
            <a:ext cx="1371600" cy="4761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777240"/>
            <a:ext cx="112745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AD02C"/>
                </a:solidFill>
                <a:latin typeface="Arial"/>
              </a:rPr>
              <a:t>Which type of complexes doesn't show geometrical isomerism?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A. </a:t>
            </a:r>
          </a:p>
        </p:txBody>
      </p:sp>
      <p:pic>
        <p:nvPicPr>
          <p:cNvPr id="8" name="Picture 7" descr="862cd690e90af1aa137112fb61804e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34440"/>
            <a:ext cx="5175504" cy="5852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3076" y="1243584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B. </a:t>
            </a:r>
          </a:p>
        </p:txBody>
      </p:sp>
      <p:pic>
        <p:nvPicPr>
          <p:cNvPr id="10" name="Picture 9" descr="6a31dc58261ad16e7c1ec0de5c9250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116" y="1234440"/>
            <a:ext cx="5175504" cy="5852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C. </a:t>
            </a:r>
          </a:p>
        </p:txBody>
      </p:sp>
      <p:pic>
        <p:nvPicPr>
          <p:cNvPr id="12" name="Picture 11" descr="80b3c561f3a2407adda48bc51b91060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1938528"/>
            <a:ext cx="5175504" cy="5852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23076" y="1947672"/>
            <a:ext cx="5408676" cy="594360"/>
          </a:xfrm>
          <a:prstGeom prst="rect">
            <a:avLst/>
          </a:prstGeom>
          <a:noFill/>
        </p:spPr>
        <p:txBody>
          <a:bodyPr wrap="square" lIns="0" rIns="73152" tIns="0" bIns="0" anchor="t">
            <a:spAutoFit/>
          </a:bodyPr>
          <a:lstStyle/>
          <a:p>
            <a:pPr algn="l"/>
            <a:r>
              <a:rPr b="1" sz="1600">
                <a:solidFill>
                  <a:srgbClr val="00B0F0"/>
                </a:solidFill>
                <a:latin typeface="Arial"/>
              </a:rPr>
              <a:t>D. </a:t>
            </a:r>
          </a:p>
        </p:txBody>
      </p:sp>
      <p:pic>
        <p:nvPicPr>
          <p:cNvPr id="14" name="Picture 13" descr="e1824da85dce918c0f933acfaa89a84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1938528"/>
            <a:ext cx="5175504" cy="5852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