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4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image" Target="../media/image78.png"/><Relationship Id="rId7" Type="http://schemas.openxmlformats.org/officeDocument/2006/relationships/image" Target="../media/image7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91.png"/><Relationship Id="rId6" Type="http://schemas.openxmlformats.org/officeDocument/2006/relationships/image" Target="../media/image9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3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6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7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image" Target="../media/image10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1.png"/><Relationship Id="rId4" Type="http://schemas.openxmlformats.org/officeDocument/2006/relationships/image" Target="../media/image112.png"/><Relationship Id="rId5" Type="http://schemas.openxmlformats.org/officeDocument/2006/relationships/image" Target="../media/image113.png"/><Relationship Id="rId6" Type="http://schemas.openxmlformats.org/officeDocument/2006/relationships/image" Target="../media/image114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5.png"/><Relationship Id="rId4" Type="http://schemas.openxmlformats.org/officeDocument/2006/relationships/image" Target="../media/image116.png"/><Relationship Id="rId5" Type="http://schemas.openxmlformats.org/officeDocument/2006/relationships/image" Target="../media/image117.png"/><Relationship Id="rId6" Type="http://schemas.openxmlformats.org/officeDocument/2006/relationships/image" Target="../media/image11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120.png"/><Relationship Id="rId5" Type="http://schemas.openxmlformats.org/officeDocument/2006/relationships/image" Target="../media/image121.png"/><Relationship Id="rId6" Type="http://schemas.openxmlformats.org/officeDocument/2006/relationships/image" Target="../media/image12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3.png"/><Relationship Id="rId4" Type="http://schemas.openxmlformats.org/officeDocument/2006/relationships/image" Target="../media/image124.png"/><Relationship Id="rId5" Type="http://schemas.openxmlformats.org/officeDocument/2006/relationships/image" Target="../media/image125.png"/><Relationship Id="rId6" Type="http://schemas.openxmlformats.org/officeDocument/2006/relationships/image" Target="../media/image126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8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Relationship Id="rId6" Type="http://schemas.openxmlformats.org/officeDocument/2006/relationships/image" Target="../media/image136.png"/><Relationship Id="rId7" Type="http://schemas.openxmlformats.org/officeDocument/2006/relationships/image" Target="../media/image13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8.png"/><Relationship Id="rId4" Type="http://schemas.openxmlformats.org/officeDocument/2006/relationships/image" Target="../media/image139.png"/><Relationship Id="rId5" Type="http://schemas.openxmlformats.org/officeDocument/2006/relationships/image" Target="../media/image140.png"/><Relationship Id="rId6" Type="http://schemas.openxmlformats.org/officeDocument/2006/relationships/image" Target="../media/image14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2.png"/><Relationship Id="rId4" Type="http://schemas.openxmlformats.org/officeDocument/2006/relationships/image" Target="../media/image143.png"/><Relationship Id="rId5" Type="http://schemas.openxmlformats.org/officeDocument/2006/relationships/image" Target="../media/image144.png"/><Relationship Id="rId6" Type="http://schemas.openxmlformats.org/officeDocument/2006/relationships/image" Target="../media/image145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6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20.png"/><Relationship Id="rId6" Type="http://schemas.openxmlformats.org/officeDocument/2006/relationships/image" Target="../media/image149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1.png"/><Relationship Id="rId4" Type="http://schemas.openxmlformats.org/officeDocument/2006/relationships/image" Target="../media/image152.png"/><Relationship Id="rId5" Type="http://schemas.openxmlformats.org/officeDocument/2006/relationships/image" Target="../media/image153.png"/><Relationship Id="rId6" Type="http://schemas.openxmlformats.org/officeDocument/2006/relationships/image" Target="../media/image154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5.png"/><Relationship Id="rId4" Type="http://schemas.openxmlformats.org/officeDocument/2006/relationships/image" Target="../media/image156.png"/><Relationship Id="rId5" Type="http://schemas.openxmlformats.org/officeDocument/2006/relationships/image" Target="../media/image157.png"/><Relationship Id="rId6" Type="http://schemas.openxmlformats.org/officeDocument/2006/relationships/image" Target="../media/image158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9.png"/><Relationship Id="rId4" Type="http://schemas.openxmlformats.org/officeDocument/2006/relationships/image" Target="../media/image160.png"/><Relationship Id="rId5" Type="http://schemas.openxmlformats.org/officeDocument/2006/relationships/image" Target="../media/image161.png"/><Relationship Id="rId6" Type="http://schemas.openxmlformats.org/officeDocument/2006/relationships/image" Target="../media/image162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3.png"/><Relationship Id="rId4" Type="http://schemas.openxmlformats.org/officeDocument/2006/relationships/image" Target="../media/image135.png"/><Relationship Id="rId5" Type="http://schemas.openxmlformats.org/officeDocument/2006/relationships/image" Target="../media/image158.png"/><Relationship Id="rId6" Type="http://schemas.openxmlformats.org/officeDocument/2006/relationships/image" Target="../media/image15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4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5.png"/><Relationship Id="rId4" Type="http://schemas.openxmlformats.org/officeDocument/2006/relationships/image" Target="../media/image166.png"/><Relationship Id="rId5" Type="http://schemas.openxmlformats.org/officeDocument/2006/relationships/image" Target="../media/image167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2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3.png"/><Relationship Id="rId4" Type="http://schemas.openxmlformats.org/officeDocument/2006/relationships/image" Target="../media/image174.png"/><Relationship Id="rId5" Type="http://schemas.openxmlformats.org/officeDocument/2006/relationships/image" Target="../media/image175.png"/><Relationship Id="rId6" Type="http://schemas.openxmlformats.org/officeDocument/2006/relationships/image" Target="../media/image17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177.png"/><Relationship Id="rId6" Type="http://schemas.openxmlformats.org/officeDocument/2006/relationships/image" Target="../media/image178.png"/><Relationship Id="rId7" Type="http://schemas.openxmlformats.org/officeDocument/2006/relationships/image" Target="../media/image179.png"/><Relationship Id="rId8" Type="http://schemas.openxmlformats.org/officeDocument/2006/relationships/image" Target="../media/image180.png"/><Relationship Id="rId9" Type="http://schemas.openxmlformats.org/officeDocument/2006/relationships/image" Target="../media/image181.png"/><Relationship Id="rId10" Type="http://schemas.openxmlformats.org/officeDocument/2006/relationships/image" Target="../media/image182.png"/><Relationship Id="rId11" Type="http://schemas.openxmlformats.org/officeDocument/2006/relationships/image" Target="../media/image183.png"/><Relationship Id="rId12" Type="http://schemas.openxmlformats.org/officeDocument/2006/relationships/image" Target="../media/image184.png"/><Relationship Id="rId13" Type="http://schemas.openxmlformats.org/officeDocument/2006/relationships/image" Target="../media/image185.png"/><Relationship Id="rId14" Type="http://schemas.openxmlformats.org/officeDocument/2006/relationships/image" Target="../media/image186.png"/><Relationship Id="rId15" Type="http://schemas.openxmlformats.org/officeDocument/2006/relationships/image" Target="../media/image187.png"/><Relationship Id="rId16" Type="http://schemas.openxmlformats.org/officeDocument/2006/relationships/image" Target="../media/image188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9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0.png"/><Relationship Id="rId4" Type="http://schemas.openxmlformats.org/officeDocument/2006/relationships/image" Target="../media/image191.png"/><Relationship Id="rId5" Type="http://schemas.openxmlformats.org/officeDocument/2006/relationships/image" Target="../media/image192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4.png"/><Relationship Id="rId4" Type="http://schemas.openxmlformats.org/officeDocument/2006/relationships/image" Target="../media/image195.png"/><Relationship Id="rId5" Type="http://schemas.openxmlformats.org/officeDocument/2006/relationships/image" Target="../media/image196.png"/><Relationship Id="rId6" Type="http://schemas.openxmlformats.org/officeDocument/2006/relationships/image" Target="../media/image197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6.png"/><Relationship Id="rId4" Type="http://schemas.openxmlformats.org/officeDocument/2006/relationships/image" Target="../media/image198.png"/><Relationship Id="rId5" Type="http://schemas.openxmlformats.org/officeDocument/2006/relationships/image" Target="../media/image199.png"/><Relationship Id="rId6" Type="http://schemas.openxmlformats.org/officeDocument/2006/relationships/image" Target="../media/image200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1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2.png"/><Relationship Id="rId4" Type="http://schemas.openxmlformats.org/officeDocument/2006/relationships/image" Target="../media/image203.png"/><Relationship Id="rId5" Type="http://schemas.openxmlformats.org/officeDocument/2006/relationships/image" Target="../media/image204.png"/><Relationship Id="rId6" Type="http://schemas.openxmlformats.org/officeDocument/2006/relationships/image" Target="../media/image205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6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7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8.png"/><Relationship Id="rId4" Type="http://schemas.openxmlformats.org/officeDocument/2006/relationships/image" Target="../media/image209.png"/><Relationship Id="rId5" Type="http://schemas.openxmlformats.org/officeDocument/2006/relationships/image" Target="../media/image210.png"/><Relationship Id="rId6" Type="http://schemas.openxmlformats.org/officeDocument/2006/relationships/image" Target="../media/image211.png"/><Relationship Id="rId7" Type="http://schemas.openxmlformats.org/officeDocument/2006/relationships/image" Target="../media/image212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3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4.png"/><Relationship Id="rId4" Type="http://schemas.openxmlformats.org/officeDocument/2006/relationships/image" Target="../media/image215.png"/><Relationship Id="rId5" Type="http://schemas.openxmlformats.org/officeDocument/2006/relationships/image" Target="../media/image216.png"/><Relationship Id="rId6" Type="http://schemas.openxmlformats.org/officeDocument/2006/relationships/image" Target="../media/image217.png"/><Relationship Id="rId7" Type="http://schemas.openxmlformats.org/officeDocument/2006/relationships/image" Target="../media/image218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9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0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1.png"/><Relationship Id="rId4" Type="http://schemas.openxmlformats.org/officeDocument/2006/relationships/image" Target="../media/image222.png"/><Relationship Id="rId5" Type="http://schemas.openxmlformats.org/officeDocument/2006/relationships/image" Target="../media/image223.png"/><Relationship Id="rId6" Type="http://schemas.openxmlformats.org/officeDocument/2006/relationships/image" Target="../media/image224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5.png"/><Relationship Id="rId4" Type="http://schemas.openxmlformats.org/officeDocument/2006/relationships/image" Target="../media/image226.png"/><Relationship Id="rId5" Type="http://schemas.openxmlformats.org/officeDocument/2006/relationships/image" Target="../media/image227.png"/><Relationship Id="rId6" Type="http://schemas.openxmlformats.org/officeDocument/2006/relationships/image" Target="../media/image228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9.png"/><Relationship Id="rId4" Type="http://schemas.openxmlformats.org/officeDocument/2006/relationships/image" Target="../media/image230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1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6.png"/><Relationship Id="rId4" Type="http://schemas.openxmlformats.org/officeDocument/2006/relationships/image" Target="../media/image237.png"/><Relationship Id="rId5" Type="http://schemas.openxmlformats.org/officeDocument/2006/relationships/image" Target="../media/image238.png"/><Relationship Id="rId6" Type="http://schemas.openxmlformats.org/officeDocument/2006/relationships/image" Target="../media/image239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5.png"/><Relationship Id="rId4" Type="http://schemas.openxmlformats.org/officeDocument/2006/relationships/image" Target="../media/image237.png"/><Relationship Id="rId5" Type="http://schemas.openxmlformats.org/officeDocument/2006/relationships/image" Target="../media/image240.png"/><Relationship Id="rId6" Type="http://schemas.openxmlformats.org/officeDocument/2006/relationships/image" Target="../media/image131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1.png"/><Relationship Id="rId4" Type="http://schemas.openxmlformats.org/officeDocument/2006/relationships/image" Target="../media/image242.png"/><Relationship Id="rId5" Type="http://schemas.openxmlformats.org/officeDocument/2006/relationships/image" Target="../media/image243.png"/><Relationship Id="rId6" Type="http://schemas.openxmlformats.org/officeDocument/2006/relationships/image" Target="../media/image244.png"/><Relationship Id="rId7" Type="http://schemas.openxmlformats.org/officeDocument/2006/relationships/image" Target="../media/image245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6.png"/><Relationship Id="rId4" Type="http://schemas.openxmlformats.org/officeDocument/2006/relationships/image" Target="../media/image247.png"/><Relationship Id="rId5" Type="http://schemas.openxmlformats.org/officeDocument/2006/relationships/image" Target="../media/image248.png"/><Relationship Id="rId6" Type="http://schemas.openxmlformats.org/officeDocument/2006/relationships/image" Target="../media/image249.png"/><Relationship Id="rId7" Type="http://schemas.openxmlformats.org/officeDocument/2006/relationships/image" Target="../media/image250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1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2.png"/><Relationship Id="rId4" Type="http://schemas.openxmlformats.org/officeDocument/2006/relationships/image" Target="../media/image253.png"/><Relationship Id="rId5" Type="http://schemas.openxmlformats.org/officeDocument/2006/relationships/image" Target="../media/image254.png"/><Relationship Id="rId6" Type="http://schemas.openxmlformats.org/officeDocument/2006/relationships/image" Target="../media/image255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6.png"/><Relationship Id="rId4" Type="http://schemas.openxmlformats.org/officeDocument/2006/relationships/image" Target="../media/image257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8.png"/><Relationship Id="rId4" Type="http://schemas.openxmlformats.org/officeDocument/2006/relationships/image" Target="../media/image259.png"/><Relationship Id="rId5" Type="http://schemas.openxmlformats.org/officeDocument/2006/relationships/image" Target="../media/image260.png"/><Relationship Id="rId6" Type="http://schemas.openxmlformats.org/officeDocument/2006/relationships/image" Target="../media/image261.png"/><Relationship Id="rId7" Type="http://schemas.openxmlformats.org/officeDocument/2006/relationships/image" Target="../media/image262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4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5.png"/><Relationship Id="rId4" Type="http://schemas.openxmlformats.org/officeDocument/2006/relationships/image" Target="../media/image266.png"/><Relationship Id="rId5" Type="http://schemas.openxmlformats.org/officeDocument/2006/relationships/image" Target="../media/image267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8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9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0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1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2.png"/><Relationship Id="rId4" Type="http://schemas.openxmlformats.org/officeDocument/2006/relationships/image" Target="../media/image273.png"/><Relationship Id="rId5" Type="http://schemas.openxmlformats.org/officeDocument/2006/relationships/image" Target="../media/image250.png"/><Relationship Id="rId6" Type="http://schemas.openxmlformats.org/officeDocument/2006/relationships/image" Target="../media/image249.png"/><Relationship Id="rId7" Type="http://schemas.openxmlformats.org/officeDocument/2006/relationships/image" Target="../media/image274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5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6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7.png"/><Relationship Id="rId4" Type="http://schemas.openxmlformats.org/officeDocument/2006/relationships/image" Target="../media/image278.png"/><Relationship Id="rId5" Type="http://schemas.openxmlformats.org/officeDocument/2006/relationships/image" Target="../media/image279.png"/><Relationship Id="rId6" Type="http://schemas.openxmlformats.org/officeDocument/2006/relationships/image" Target="../media/image280.png"/><Relationship Id="rId7" Type="http://schemas.openxmlformats.org/officeDocument/2006/relationships/image" Target="../media/image281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2.png"/><Relationship Id="rId4" Type="http://schemas.openxmlformats.org/officeDocument/2006/relationships/image" Target="../media/image283.png"/><Relationship Id="rId5" Type="http://schemas.openxmlformats.org/officeDocument/2006/relationships/image" Target="../media/image284.png"/><Relationship Id="rId6" Type="http://schemas.openxmlformats.org/officeDocument/2006/relationships/image" Target="../media/image285.png"/><Relationship Id="rId7" Type="http://schemas.openxmlformats.org/officeDocument/2006/relationships/image" Target="../media/image286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7.png"/><Relationship Id="rId4" Type="http://schemas.openxmlformats.org/officeDocument/2006/relationships/image" Target="../media/image288.png"/><Relationship Id="rId5" Type="http://schemas.openxmlformats.org/officeDocument/2006/relationships/image" Target="../media/image289.png"/><Relationship Id="rId6" Type="http://schemas.openxmlformats.org/officeDocument/2006/relationships/image" Target="../media/image290.png"/><Relationship Id="rId7" Type="http://schemas.openxmlformats.org/officeDocument/2006/relationships/image" Target="../media/image291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2.png"/><Relationship Id="rId4" Type="http://schemas.openxmlformats.org/officeDocument/2006/relationships/image" Target="../media/image288.png"/><Relationship Id="rId5" Type="http://schemas.openxmlformats.org/officeDocument/2006/relationships/image" Target="../media/image290.png"/><Relationship Id="rId6" Type="http://schemas.openxmlformats.org/officeDocument/2006/relationships/image" Target="../media/image293.png"/><Relationship Id="rId7" Type="http://schemas.openxmlformats.org/officeDocument/2006/relationships/image" Target="../media/image294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5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7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8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5.png"/><Relationship Id="rId4" Type="http://schemas.openxmlformats.org/officeDocument/2006/relationships/image" Target="../media/image233.png"/><Relationship Id="rId5" Type="http://schemas.openxmlformats.org/officeDocument/2006/relationships/image" Target="../media/image299.png"/><Relationship Id="rId6" Type="http://schemas.openxmlformats.org/officeDocument/2006/relationships/image" Target="../media/image236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0.png"/><Relationship Id="rId4" Type="http://schemas.openxmlformats.org/officeDocument/2006/relationships/image" Target="../media/image301.png"/><Relationship Id="rId5" Type="http://schemas.openxmlformats.org/officeDocument/2006/relationships/image" Target="../media/image302.png"/><Relationship Id="rId6" Type="http://schemas.openxmlformats.org/officeDocument/2006/relationships/image" Target="../media/image303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4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5.png"/><Relationship Id="rId4" Type="http://schemas.openxmlformats.org/officeDocument/2006/relationships/image" Target="../media/image306.png"/><Relationship Id="rId5" Type="http://schemas.openxmlformats.org/officeDocument/2006/relationships/image" Target="../media/image235.png"/><Relationship Id="rId6" Type="http://schemas.openxmlformats.org/officeDocument/2006/relationships/image" Target="../media/image307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8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9.png"/><Relationship Id="rId4" Type="http://schemas.openxmlformats.org/officeDocument/2006/relationships/image" Target="../media/image310.png"/><Relationship Id="rId5" Type="http://schemas.openxmlformats.org/officeDocument/2006/relationships/image" Target="../media/image311.png"/><Relationship Id="rId6" Type="http://schemas.openxmlformats.org/officeDocument/2006/relationships/image" Target="../media/image3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880360"/>
            <a:ext cx="11274552" cy="3657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f17034d967677d89ca97fdc72e4a4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0"/>
            <a:ext cx="11454384" cy="1139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063240"/>
            <a:ext cx="1127455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AAAAAA"/>
                </a:solidFill>
                <a:latin typeface="Arial"/>
              </a:rPr>
              <a:t>195 Questions  ·  For: Boards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68% of nitric acid in water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Has zero enthalpy of mixing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Cannot be separated by distillation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Follows Raoult's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Has zero volume change of mixing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c3625d87f79833859665cb03ef46f2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1e86bf567b2329b0f3ba013f92917d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9900c8b19842bdb447a972ea71073e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623060"/>
            <a:ext cx="5248656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632204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d08938ae28ced8b42e8c17f1ede33d8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36" y="1623060"/>
            <a:ext cx="5248656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418588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0f4a8880f8c328c2f7fa3f557613db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409444"/>
            <a:ext cx="5248656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4496" y="2418588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f85f1c119a186793c42c0197105fcf5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4536" y="2409444"/>
            <a:ext cx="5248656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De-salination of sea water can be done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Dialysis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Hypertonic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Evaporation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Reverse osmosis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During osmosis, the solvent molecules are moving from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Hypertonic solution to isotonic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Hypertonic solution to hypotonic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Higher concentrated solution to lower concentrated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Hypotonic solution to hypertonic solution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d6c4fc5786677c526e6419605c6f4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b9861450f187907cd4f028125358edd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7884"/>
            <a:ext cx="251155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7fb54169f961e920a0e179fd9837cd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598" y="1357884"/>
            <a:ext cx="251155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9cf2bdad4fcc3f68bd9c56b09dc411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1357884"/>
            <a:ext cx="251155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f284759ab44729abe0fb4a1df699ca3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0314" y="1357884"/>
            <a:ext cx="2590800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If abnormal molar mass is more than normal molar mass, the Van't Hoff factor (i)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 &gt;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i =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 &lt;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i ≥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In a solution containing a non-volatile solute, the mole fraction of solvent is 0.9. The relative lowering of vapor pressure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0.1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0.9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1.1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Isotonic solutions have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Surface tension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Vapour pressure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Osmotic pressure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Viscosity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Pick out the ideal solution among the following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Phenol and Aniline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Ethanol and Acetone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Chloroform and Acetone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n-Hexane and n-Heptane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concentration term depends on temperature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ppm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mole fraction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molality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molarity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condition caused when scuba divers go into deep sea water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Anoxia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Hemophilia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Bends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None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84c3f92326c5db092941b9209e24a0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897380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6f7f561ec69394a3043802237bc820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88236"/>
            <a:ext cx="2450592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897380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9303e8494f4c87adaf9a8c57eca5a1d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598" y="1888236"/>
            <a:ext cx="2450592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897380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966ef1bf5833dc7a38245e9487886c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1888236"/>
            <a:ext cx="2450592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897380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49cda66820c30186e3d95f85009c27d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0314" y="1888236"/>
            <a:ext cx="2450592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dissolution of a gas in a liquid is governed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Roult's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Henry's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Dalton's law of Pressure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Boyle's law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maximum amount of a solid solute that can be dissolved in a specific amount of a given liquid solvent does not depend upon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Nature of solvent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Pressure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Nature of solute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Temperature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mixture which shows positive deviation from Raoult's law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Ethanol + Acetone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Benzene + Toluene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Acetone + Chloroform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Chlorobenzene + Bromoethane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05568a0b91675ed91aff52e879e0c0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fc7986406c203fa05819c567cdc3b4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7884"/>
            <a:ext cx="2450592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367028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f2e2acac210691bcd3716bbd2bc1a7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598" y="1357884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367028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f84d490dfe82489c31200519d25a2b2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1357884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367028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472e1ce779e06a3fbe6cb541276ef5a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0314" y="1357884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pressure cooker reduces the cooking timing because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Heat is more evenly distributed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The boiling point of water inside the cooker is elevated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The boiling point of water inside the cooker is depressed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Higher pressure inside the cooker tenderizes food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solubility of a gas in water depends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Nature of the gas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Temperature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Pressure of the gas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All of the above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solubility of a solid gas does not depend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Nature of the solute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Nature of the solvent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Pressure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None of these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solution which has lower osmotic pressure with respect to another is called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Isotonic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Hypertonic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Hypotonic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None of these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solutions which show a large positive deviation from Raoult's law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Minimum boiling point azeotrope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Maximum boiling point azeotrope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Minimum or maximum boiling point azeotrope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No azeotrope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7c06805fd764ba7601fc49bc7811d4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88.3%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56.2%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32.1%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11.7%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e25f33f0054eaa34d227bdb7cbb444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Greater for gases with higher solubility.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367028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Greater for gases with lower solubility.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395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Constant for all gases.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93395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Not related to the solubility of gases.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5766763a3b20bc54a31808e2f6aa26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Increases with increase in temperature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367028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Decreases with increase in temperature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395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Remains constant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93395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First increases, then decreases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When a substance is dissolved in a solvent, the vapor pressure for the solvent is decreased. This results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The solution having a lower osmotic pressure than the solvent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A decrease in the boiling point of the solvent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67204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The solution having a higher freezing point than the solvent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867204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An increase in the boiling point of the solution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aqueous solutions should have the highest boiling point?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23c2361d67e0661d21321ef212f3d4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61a24448a616fa7b5d0ea65d9dfae2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4fb046e37ba63a1ec257d839fab374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f0200561a40a0af3c35588a89671394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liquid-liquid solutions show negative deviation from Raoult's law?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Benzene and Toluene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Water and 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Acetone and Chloroform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Chlorobenzene and Bromobenzene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solutions is used as an antifreezing agent in car radiators to cool the engine?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35% (v/v) solution of ethylene glycol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35% (m/m) solution of ethylene glycol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35% (m/v) solution of ethylene glycol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35% (v/m) solution of ethylene glycol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7744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1762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one of the following is not a solid solution?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Hydrogen in palladium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Camphor in nitrogen gas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Amalgam of mercury &amp; sodium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Copper in gold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5511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3500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 galvanic cell has an electrical potential of 1.1 V. If an opposing potential of 1.1 V is applied to this cell, what will happen to the cell reaction and current flowing through the cell?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The reaction stops and no current flows through the cell.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The reaction continues but current flows in the opposite direction.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56155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The concentration of reactants becomes unity and current flows from cathode to anode.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2156155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The cell does not function as a galvanic cell and zinc is deposited on the zinc plate.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5511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3500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An electrochemical cell can behave like an electrolytic cell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Ecell =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Ecell &gt; Eext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Ecell &lt; Eext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Ecell = Eext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5511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3500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Assertion: The specific conductivity decreases with dilution. Reason: The number of ions per unit volume that carry the current in a solution decreases on dilution.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5102"/>
            <a:ext cx="5477256" cy="9144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af50483875c718019b73ee4d2f331b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95958"/>
            <a:ext cx="5248656" cy="1219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505102"/>
            <a:ext cx="5477256" cy="9144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d66dae0f08e0fef20ece185137b8ab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1495958"/>
            <a:ext cx="5248656" cy="1219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52923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Assertion is true, but the reason is false.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252923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Both assertion and reason are false.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5511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3500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Ecell of Daniel cell is calculated by using the following formula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d21a018a6ca1148ccdc76a25c31661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5248656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216151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a8011ef8434ddf9d607413e12577bb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1207007"/>
            <a:ext cx="5248656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002536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faa509c099bbd7537ec7ca9ae3e870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93392"/>
            <a:ext cx="5248656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4496" y="2002536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b4e242cfcf03f2b4d348d8a2bbc4937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536" y="1993392"/>
            <a:ext cx="5248656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5511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3500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Fluorine has the highest standard electrode potential, indicating that fluorine gas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Strongest reducing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Strongest oxidizing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Weak oxidizing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1" name="Picture 10" descr="c080c7cf02888df161197d81b1ab0f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5511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3500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If the E0cell for a given reaction has a negative value, then which of the following is the correct relationship for the value of ΔG0 and Keq?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ΔG0&gt;0 and Keq&gt;1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ΔG0&lt;0 and Keq&lt;1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ΔG0&gt;0 and Keq&lt;1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ΔG0&lt;0 and Keq&gt;1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5511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3500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In a galvanic cell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Chemical energy is converted into heat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Electrical energy is converted into heat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Chemical energy is converted into electrical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Electrical energy is converted into chemical energy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5511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3500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Match the batteries in</a:t>
            </a:r>
          </a:p>
        </p:txBody>
      </p:sp>
      <p:pic>
        <p:nvPicPr>
          <p:cNvPr id="7" name="Picture 6" descr="beb458945f987e4a312d9f6a3db47c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16151"/>
            <a:ext cx="5724144" cy="548640"/>
          </a:xfrm>
          <a:prstGeom prst="rect">
            <a:avLst/>
          </a:prstGeom>
        </p:spPr>
      </p:pic>
      <p:pic>
        <p:nvPicPr>
          <p:cNvPr id="8" name="Picture 7" descr="5af920b47e3dde24c10492c5dc7159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5916" y="1216151"/>
            <a:ext cx="5724144" cy="548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067044" y="1216151"/>
            <a:ext cx="18288" cy="1673352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17904"/>
            <a:ext cx="5545836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(i)  Leclanché cell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60804"/>
            <a:ext cx="5545836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(ii)  Mercury cell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03704"/>
            <a:ext cx="5545836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(iii)  Lead storage battery</a:t>
            </a:r>
          </a:p>
        </p:txBody>
      </p:sp>
      <p:pic>
        <p:nvPicPr>
          <p:cNvPr id="13" name="Picture 12" descr="70e12e45ac3374e7c03a11e0472ea24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546604"/>
            <a:ext cx="5724144" cy="548640"/>
          </a:xfrm>
          <a:prstGeom prst="rect">
            <a:avLst/>
          </a:prstGeom>
        </p:spPr>
      </p:pic>
      <p:pic>
        <p:nvPicPr>
          <p:cNvPr id="14" name="Picture 13" descr="9fd5f1ab5434de77f4755aea7f2f89d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5916" y="1517904"/>
            <a:ext cx="5724144" cy="548640"/>
          </a:xfrm>
          <a:prstGeom prst="rect">
            <a:avLst/>
          </a:prstGeom>
        </p:spPr>
      </p:pic>
      <p:pic>
        <p:nvPicPr>
          <p:cNvPr id="15" name="Picture 14" descr="f96e320ff1966555cae5ac7d36dd74b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5916" y="1860804"/>
            <a:ext cx="5724144" cy="548640"/>
          </a:xfrm>
          <a:prstGeom prst="rect">
            <a:avLst/>
          </a:prstGeom>
        </p:spPr>
      </p:pic>
      <p:pic>
        <p:nvPicPr>
          <p:cNvPr id="16" name="Picture 15" descr="81166b49445da3a95d5cab24a92ccb8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5916" y="2203704"/>
            <a:ext cx="5724144" cy="548640"/>
          </a:xfrm>
          <a:prstGeom prst="rect">
            <a:avLst/>
          </a:prstGeom>
        </p:spPr>
      </p:pic>
      <p:pic>
        <p:nvPicPr>
          <p:cNvPr id="17" name="Picture 16" descr="a28561344854fac09c80343249f65e5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5916" y="2546604"/>
            <a:ext cx="5724144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3054096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400">
                <a:solidFill>
                  <a:srgbClr val="00B0F0"/>
                </a:solidFill>
                <a:latin typeface="Arial"/>
              </a:rPr>
              <a:t>A. </a:t>
            </a:r>
            <a:r>
              <a:rPr sz="1400">
                <a:solidFill>
                  <a:srgbClr val="F0F0F0"/>
                </a:solidFill>
                <a:latin typeface="Arial"/>
              </a:rPr>
              <a:t>i-a, ii-b, iii-c, iv-d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465576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400">
                <a:solidFill>
                  <a:srgbClr val="00B0F0"/>
                </a:solidFill>
                <a:latin typeface="Arial"/>
              </a:rPr>
              <a:t>B. </a:t>
            </a:r>
            <a:r>
              <a:rPr sz="1400">
                <a:solidFill>
                  <a:srgbClr val="F0F0F0"/>
                </a:solidFill>
                <a:latin typeface="Arial"/>
              </a:rPr>
              <a:t>i-b, ii-a, iii-d, iv-c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877056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400">
                <a:solidFill>
                  <a:srgbClr val="00B0F0"/>
                </a:solidFill>
                <a:latin typeface="Arial"/>
              </a:rPr>
              <a:t>C. </a:t>
            </a:r>
            <a:r>
              <a:rPr sz="1400">
                <a:solidFill>
                  <a:srgbClr val="F0F0F0"/>
                </a:solidFill>
                <a:latin typeface="Arial"/>
              </a:rPr>
              <a:t>i-c, ii-d, iii-a, iv-b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88536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400">
                <a:solidFill>
                  <a:srgbClr val="00B0F0"/>
                </a:solidFill>
                <a:latin typeface="Arial"/>
              </a:rPr>
              <a:t>D. </a:t>
            </a:r>
            <a:r>
              <a:rPr sz="1400">
                <a:solidFill>
                  <a:srgbClr val="F0F0F0"/>
                </a:solidFill>
                <a:latin typeface="Arial"/>
              </a:rPr>
              <a:t>i-d, ii-c, iii-a, iv-b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5511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3500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10da2867282c94e3b802efa341cd1e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b8285be2c395ef55d810bd5c33d9aa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7884"/>
            <a:ext cx="5248656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367028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3e58da4fc656fdcc283de53793c54c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36" y="1357884"/>
            <a:ext cx="5248656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153412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73596a22607162f7766e4ccea0ce74b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144268"/>
            <a:ext cx="5248656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4496" y="2153412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b379619b70ac2962808e27579b712bd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4536" y="2144268"/>
            <a:ext cx="5248656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5511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3500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459963de1acb83e7f3cb587c2ee5a3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89738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33e892d4a79f1c3523167d6cd3d338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88236"/>
            <a:ext cx="5248656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89738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3284665b634bbc1ac3a4d49028aa5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36" y="1888236"/>
            <a:ext cx="5248656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464308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0b598c415db4dc65c9d0526710756a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455164"/>
            <a:ext cx="5248656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4496" y="2464308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b63cf901434ab303c9c3d5dcccb0a2c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4536" y="2455164"/>
            <a:ext cx="5248656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5511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3500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ec46b6599842dee13c8e8e42ceb195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67be676e21a6dfc1adc055d98b49f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623060"/>
            <a:ext cx="5248656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632204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e19c88d71c7475ee109f8c21c74e32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36" y="1623060"/>
            <a:ext cx="5248656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199132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5121756cfdd30c23920712e5780f1da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189988"/>
            <a:ext cx="5248656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4496" y="2199132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12f9082bcfb03ccc3bbfc38f1a243a7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4536" y="2189988"/>
            <a:ext cx="5248656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5511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3500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b70688b9a98a3e73b9e59508632a42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897380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Both Zn and Sn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897380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Zn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897380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Sn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897380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Neither Zn nor Sn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5511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3500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molar conductivity is maximum for the solution of concentration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0.005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0.001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0.004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0.002 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5511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3500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ada9414052d71405185aac5316250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3e4687bfc243e14f02ec792379b6f3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7884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4b4fa32e31586ec39bfe04c6dd247e7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598" y="1357884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3" name="Picture 12" descr="a11f84aa1b0c0eca0eb64b011f74735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357884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9593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7581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APPLICATION BASED QUESTIONS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45c8effdc87ebc628849e1dcc7aa87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 Faraday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2 Faraday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 Faraday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4 Faraday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9593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7581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APPLICATION BASED QUESTIONS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What will happen in the Daniel cell, when Eext&lt;1.1 V?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Electrons flow from Zn rod to Cu rod; hence current flows from Cu to Zn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Electrons flow from Cu rod to Zn rod; hence current flows from Cu to Zn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67204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Electrons flow from Zn rod to Cu rod; hence current flows from Zn to 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867204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Electrons flow from Cu rod to Zn rod; hence current flows from Zn to Cu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9593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7581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APPLICATION BASED QUESTIONS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When one Faraday current is passed, which of the following would deposit one-gram atomic mass of the metal?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14c7d6516ad57d2ab3d53ad17210a1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181f9c8f46375712ea6ecc50fac26a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c289f5b83fdec8b3fe44db30a883c9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c2e81031e4366c39cdc3a48078fc4df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9593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7581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APPLICATION BASED QUESTIONS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9134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these statements about a galvanic cell are not true? i) The cathode carries a positive sign. ii) Oxidation occurs at the anode. iii) Electrons flow from cathode to anode in the external circuit. iv) The anode carries a negative 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 and iii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i and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ii and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809597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ii and iv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Acid hydrolysis of ethyl acetate is an example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Zero order reaction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First order reaction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Second order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Pseudo first order reaction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All natural and artificial radioactive decay of unstable nuclei take place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Zero order kinetics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Half-order kinetics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First-order kinetics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Second-order kinetics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874e43db2bc64c5545f75a4e35fec4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0a844e4a06f1388d2bf3470af4d128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623060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632204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a6040697927345da0f6341d6f9f382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598" y="1623060"/>
            <a:ext cx="2450592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632204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6046b96bbc718d82e0c4c105b5571f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1623060"/>
            <a:ext cx="2450592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632204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29620c00eceaa3b89965825f52658b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0314" y="1623060"/>
            <a:ext cx="2450592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4b87bdec1fb3206e95d8566ea7117e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5477256" cy="9144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648aa0032be6069ac3507b0bf1b700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7884"/>
            <a:ext cx="5248656" cy="1219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367028"/>
            <a:ext cx="5477256" cy="9144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f0588bb439621036e5b0feaea81126d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36" y="1357884"/>
            <a:ext cx="5248656" cy="1219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391156"/>
            <a:ext cx="5477256" cy="9144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ef0f9fd0cbc55ff67f6be67502703d8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382012"/>
            <a:ext cx="5248656" cy="1219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4496" y="2391156"/>
            <a:ext cx="5477256" cy="9144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e643910b93543b9ee3a2c69be93e6f3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4536" y="2382012"/>
            <a:ext cx="5248656" cy="12192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For a chemical reaction A → B, it is found that the rate of a reaction doubles when the concentration of A is doubled. The order of the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Two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Zero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Three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For a zero-order reaction, the intercept for the plot of concentration of reactants vs. time is equal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-k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log 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0" name="Picture 9" descr="2cbcd24aa9e2260a6c5fb7f4ab91d7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2" name="Picture 11" descr="a0a0d378dab9ff9dc998d3d4b59aab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cb77ab5d39ca4e40185ae87528d945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2149328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897380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5e80caaea84d0ef367ed4d5d9f6dfc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88236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897380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d20bf3ac24354aa21708d4953adc73d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598" y="1888236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897380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d7ded3499310806d86c8cb4830102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1888236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897380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6d26c11e73a38e840f50890e619cbee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0314" y="1888236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8361f8f54b47a4d96c7bfa0d9aed1d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6be8437dc6c37e8e36284a95791067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7884"/>
            <a:ext cx="2450592" cy="1219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367028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2ffd40f5b9f323cf0b5c72107b4f56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598" y="1357884"/>
            <a:ext cx="2450592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367028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8f0eca53bed74686504123ca1a3b3bf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1357884"/>
            <a:ext cx="2450592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367028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Both (a) and (b)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In a reaction, when the concentration of a reactant is increased two times, the increase in the rate of reaction was four times. The order of the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First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Zero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Pseudo first 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Second order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In presence of a catalyst, the heat evolved or absorbed during the reaction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Increases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Decreases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Depends on the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Remains unchanged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Order of a reaction in which unit of rate of reaction and rate constant are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1 2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Statement I: A catalyst does not alter Gibb’s energy (ΔG) of a reaction. Statement II: A catalyst alters the activation energy (Ea) of a reaction by providing an alternate pathway.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67be676e21a6dfc1adc055d98b49f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95958"/>
            <a:ext cx="5248656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e19c88d71c7475ee109f8c21c74e324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1495958"/>
            <a:ext cx="5248656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072030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45da12edcae17598aaa1c00cccb603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062886"/>
            <a:ext cx="5248656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4496" y="2072030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8f59eb253cb3f0a56e692c93160e23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536" y="2062886"/>
            <a:ext cx="5248656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44a4daccd2c7dc565299163d5c9ad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844528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89738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67be676e21a6dfc1adc055d98b49f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88236"/>
            <a:ext cx="5248656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89738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e19c88d71c7475ee109f8c21c74e32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36" y="1888236"/>
            <a:ext cx="5248656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464308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3b2e62f9d2f367af05c4ef03fc57a79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455164"/>
            <a:ext cx="5248656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4496" y="2464308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78e394ff3fdb73df3e01ab59dff4925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4536" y="2455164"/>
            <a:ext cx="5248656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collision frequency in a reaction depends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Number of moles of reactants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Proper orientation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Activated reactant molecules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Both (b) and (c)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following factor which does not affect the rate of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Molecularity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Temperature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Catalyst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Concentration of reactant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half-life period of a first-order reaction is 15 minutes. The amount of substance left after one hour will 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One-half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One-fourth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One-eighth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One-sixteenth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molecularity of a reaction cannot 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Both (a) and (b)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Whole number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f4f450f730ea5eacb8cc9535d5822c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Collision energy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Activation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Collision 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Kinetic energy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74e5ef8a54949cfdf8d5353d91187b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1 2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1 4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7e70764df7b8ba8a8d05ffb386d6b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eb7b6384c47d2710a1c8dd202e0a7e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Fraction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Two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e2c3aa0ab81778b93b4f549a014a1f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Three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S.I. unit of the rate constant of a first-order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2e38989fd021c96ddbc73338f371f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d3786f3cc0e14b73bbd6e8dfb879d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af63da1c243cdea226c7d511e5e498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d8c8df7ada36633d0f4b117cb0c6379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29021acd06f662cd0e7249c8a1128c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558016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89738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38,314.5 J mol−1 (or 38.3 kJ mol−1)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89738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19,157.2 J mol−1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4308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76,629.0 J mol−1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2464308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8,314.0 J mol−1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time required for 100 percent completion of a zero-order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bd6034dff84a29fba10c75154f7d4d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9761aa17010df7c496968eb5a80d07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eadffead80bbd9946a941e529d8da2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fc2768558589d172b41987557f01d4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unit of the rate constant of a reaction is the same as that of its rate. The order of the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Zero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First order.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Second order.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Pseudo order.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6791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247802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6a5ff641120eb0e03314c3a350cc49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3/2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9593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7581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APPLICATION BASED QUESTIONS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When the initial concentration of the reactant is doubled, then the half-life of a zero-order reaction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Is halved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Is doubled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Is tripled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Remains unchanged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9593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7581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APPLICATION BASED QUESTIONS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factors does not affect the rate of reaction?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Molecularity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Temperature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Catalyst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Concentration of reactant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9593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7581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APPLICATION BASED QUESTIONS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is correct for a zero-order reaction?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3237cd1e0636bbd07f46e36af522c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d2b835f48d1fb8da4ec4824da4251ca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7008fe4f43bb12a6133b7e9b262b05a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0cf1dee6255d3651e9b22c0978443b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Actinoids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Radioactive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Prepared in nanograms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Having smaller half-lives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All the above are correct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c4549b23afc4ca02fa759d1db0ed40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1d75003b5ffd93e1cd1d5f271ef901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7884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dbdf3ae2d8728379161d24555ebbfb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598" y="1357884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98fd0a81100e7c1d6d91a9e2c244a32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1357884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All the above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Diamagnetic compound among the following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8936b43d33cd8d05141dedb33698c3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965ce19fcbb559c9e94b0fd0bcc8d9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cd4cfc6e2a0e0dbd0e550a0adae458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41566740396d402a76fc63d6fbdd8e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Identify the correct sequence of the number of unpaired electrons of the following 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11dd768d611c7977c9570c05979e4b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682240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4fed723febfed55323afd45aecdca9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682240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40d4f9b2f253b38e62a9733122849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682240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a6f2908f8c9197ac7ee2e9d0a7daea4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682240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6c63179d402aed942b8b400a56d60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+7 to +2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+7 to +4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+6 to +4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+7 to +6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b8b4113ee51c66d6c7484872d8be27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Oxidation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Reduction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Disproportionation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Redox reaction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598ff44816301c84277f3404bb19c8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9" name="Picture 8" descr="ba0654c9988bcdd85f5898b6f12802f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357884"/>
            <a:ext cx="2450592" cy="5852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1" name="Picture 10" descr="705f56e2d3b5d8d448bb21b6cad3dc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357884"/>
            <a:ext cx="2450592" cy="585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3" name="Picture 12" descr="005078b851452213048df8dd45387b4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357884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cd35ab951399e6cea5658871ffec5e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a85bf5f80135ba161dead26e83d23f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7884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ec6b4971bcc464d8a3709a71f38f3d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598" y="1357884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415e8f301eedc7539b3aa68cdba55a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1357884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66e73da9068dab48d44703223ee532e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0314" y="1357884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characteristic feature of transition metal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They show variable oxidation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They do not form complexes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They are not good catalysts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They exhibit only diamagnetism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correct order of magnetic moment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3ed4884d4c53a2b0fc78d82ed34933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d0e1b19551faaa232a343b7bf66859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cd82b4b5b3f3a6c2d3085c023e9324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57f5433ed94399006bd92a1ec656bf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correct order of melting point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Cr &gt; Mn &gt; 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Fe &gt; Mn &gt;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Cr &gt; Fe &gt; Mn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Mn &gt; Fe &gt; Cr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b575276e12753fa1c2da02f3a396c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e3b5cc3d7743871447aaf2f077199d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623060"/>
            <a:ext cx="5248656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632204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fdd783c1381163dc54b59946d58f2c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36" y="1623060"/>
            <a:ext cx="5248656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19913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Stability of both depends upon the nature of their salts.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219913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3" name="Picture 12" descr="8b8b8d20cad23c6a808705dd165f54f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536" y="2189988"/>
            <a:ext cx="5248656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8fc7502f54f9e2605aeb39b09d6ef5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655552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most stable manganese compound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3a0d7da7f0ab2bfab690a45867baa4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7d020f90f891f7e43d4977a4b5d737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965ce19fcbb559c9e94b0fd0bcc8d9f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43dc9bc52494101e64011cf8f671b7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e247b3610181cf7102cb45609edfb6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1/3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1/6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set of 3d series elements that show anomalous electronic configurations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Cr and Mn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Cu and Zn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Cr and 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Mn and Zn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transition metal present in bronze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Zinc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Silver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Copper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transition metal present in the red pigment of blood haemoglobin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cobalt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Nickel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Iron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copper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actinoids show oxidation states up to +7?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Am (Americium)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Th (Thorium)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U (Uranium)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Np (Neptunium)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ions has the least magnetic moment?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d386785533a28bf84e9f2b9c9ca40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be573da25a5971c851af8bbd5803c3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7533b827b3dcaeaeee408bc54289f5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cb9e2602527d0e4ae80b3e8844ecbe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is a colorless 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f328a090e059d1d068462c8775fe16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334fbae4dccea21af33d5a3dc36762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1cf7aaf3d76644ce6c4bd27a3d9fa6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313f4a96f7e39d9288b50dd8a869139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pairs have the same paramagnetic moment? (Atomic numbers: Ti = 22, Mn = 25, Ni = 28, Cu = 29)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48fb0589b1b5372a121b637d9ae9c5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95958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b9cbcbe6e7f9aaee6a1d96fef7e5244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495958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ed9769dac9c443066bf076622ab4d5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495958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a955995ffb55ab366e402f85d4b8151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495958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statements about transition elements is incorrect?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They show variable oxidation states.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All the ions are colored.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They exhibit diamagnetic and paramagnetic properties.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They exhibit catalytic properties.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transition metal ions is colorless?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9d500bcf3ae0389dddb207ced9b445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ec6b4971bcc464d8a3709a71f38f3d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313f4a96f7e39d9288b50dd8a869139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1cf7aaf3d76644ce6c4bd27a3d9fa61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 mixture of chloromethane and chlorobenzene are treated with sodium in dry ether, the product obtained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Ethane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Toluene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Diphenyl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All the above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07f83e5b3b98e11cda1d4914899a3c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R-I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R-Cl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R-F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R-Br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ca92beade5b8ec22cd32dab7e080e1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5477256" cy="9144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59f6d8e0bcbbb414b30b5b403990b3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623060"/>
            <a:ext cx="5248656" cy="1219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632204"/>
            <a:ext cx="5477256" cy="9144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2dc3e98f16b1909f3586ad658527a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36" y="1623060"/>
            <a:ext cx="5248656" cy="1219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65633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If assertion is correct but reason is incorrect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265633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If assertion is incorrect but reason is correct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Chlorobenzene reacts with magnesium in dry ether to give a compound A, which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80252602fbd7d7d50c031b851f9ce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4afcc3eeea6d63b57a2b951698fbc6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97920df9943d811906d6a39e6cb055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266726450f3f3f19bafc8833eaba1c7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Chloroform is stored completely filled in a closed dark-colored bottle. This is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Prevent the oxidation of chloroform by air in the presence of sunlight.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Prevent the evaporation of chloroform.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67204"/>
            <a:ext cx="5477256" cy="9144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Prevent the reaction of chloroform with nitrogen in the air.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867204"/>
            <a:ext cx="5477256" cy="9144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1" name="Picture 10" descr="4d317b4e4a94d777664ad95993dbd2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536" y="1858060"/>
            <a:ext cx="5248656" cy="1219200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Four haloalkane compounds represented by the letters M, N, O, and P having boiling points of 24.2°C, 38°C, 3.56°C, and 101.6°C respectively. Among the four compounds, N is most likely to 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d9e15657ca56908ef5d87de93ed5b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95958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c71ae3132392ac1c653887afc8faeb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495958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107f17b23471d7e9972395ea0eef2e7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495958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e64be753ea592e02be2d7af0076262e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495958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Freon can be prepared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Finkelstein reaction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Wurtz reaction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Friedel-Crafts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Swartz reaction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In vinylic halides, the halogen atom is attached to a carbon atom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sp3 hybridization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sp2 hybridization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sp hybridization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dsp2 hybridization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Match the organic compounds in</a:t>
            </a:r>
          </a:p>
        </p:txBody>
      </p:sp>
      <p:pic>
        <p:nvPicPr>
          <p:cNvPr id="7" name="Picture 6" descr="beb458945f987e4a312d9f6a3db47c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16151"/>
            <a:ext cx="5724144" cy="548640"/>
          </a:xfrm>
          <a:prstGeom prst="rect">
            <a:avLst/>
          </a:prstGeom>
        </p:spPr>
      </p:pic>
      <p:pic>
        <p:nvPicPr>
          <p:cNvPr id="8" name="Picture 7" descr="5af920b47e3dde24c10492c5dc7159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5916" y="1216151"/>
            <a:ext cx="5724144" cy="548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067044" y="1216151"/>
            <a:ext cx="18288" cy="1673352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4e1e6ff85e73a14b80f91c6cbd686e7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517904"/>
            <a:ext cx="5724144" cy="548640"/>
          </a:xfrm>
          <a:prstGeom prst="rect">
            <a:avLst/>
          </a:prstGeom>
        </p:spPr>
      </p:pic>
      <p:pic>
        <p:nvPicPr>
          <p:cNvPr id="11" name="Picture 10" descr="9785fbeb68f63870bb47d5ab8be95a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860804"/>
            <a:ext cx="5724144" cy="548640"/>
          </a:xfrm>
          <a:prstGeom prst="rect">
            <a:avLst/>
          </a:prstGeom>
        </p:spPr>
      </p:pic>
      <p:pic>
        <p:nvPicPr>
          <p:cNvPr id="12" name="Picture 11" descr="ed2d6ca48d460beabf845868e2589e5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2203704"/>
            <a:ext cx="5724144" cy="548640"/>
          </a:xfrm>
          <a:prstGeom prst="rect">
            <a:avLst/>
          </a:prstGeom>
        </p:spPr>
      </p:pic>
      <p:pic>
        <p:nvPicPr>
          <p:cNvPr id="13" name="Picture 12" descr="86cdc9e2b8eaabe0868b7dec74bc380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2546604"/>
            <a:ext cx="5724144" cy="548640"/>
          </a:xfrm>
          <a:prstGeom prst="rect">
            <a:avLst/>
          </a:prstGeom>
        </p:spPr>
      </p:pic>
      <p:pic>
        <p:nvPicPr>
          <p:cNvPr id="14" name="Picture 13" descr="c844b7908e4b58eca70a820f0e6b02a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5916" y="1517904"/>
            <a:ext cx="5724144" cy="548640"/>
          </a:xfrm>
          <a:prstGeom prst="rect">
            <a:avLst/>
          </a:prstGeom>
        </p:spPr>
      </p:pic>
      <p:pic>
        <p:nvPicPr>
          <p:cNvPr id="15" name="Picture 14" descr="9e0898cd752e2675db5d1b0147d9e03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85916" y="1860804"/>
            <a:ext cx="5724144" cy="548640"/>
          </a:xfrm>
          <a:prstGeom prst="rect">
            <a:avLst/>
          </a:prstGeom>
        </p:spPr>
      </p:pic>
      <p:pic>
        <p:nvPicPr>
          <p:cNvPr id="16" name="Picture 15" descr="f6a734ae4daebe83e69060760588fe5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85916" y="2203704"/>
            <a:ext cx="5724144" cy="548640"/>
          </a:xfrm>
          <a:prstGeom prst="rect">
            <a:avLst/>
          </a:prstGeom>
        </p:spPr>
      </p:pic>
      <p:pic>
        <p:nvPicPr>
          <p:cNvPr id="17" name="Picture 16" descr="4af2630383ca9eafee0f722ebbec152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85916" y="2546604"/>
            <a:ext cx="5724144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3054096"/>
            <a:ext cx="11274552" cy="41148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4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19" name="Picture 18" descr="3f8d2d19ae6cf3db9882b0fafd94c1c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" y="3054096"/>
            <a:ext cx="11045952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3465576"/>
            <a:ext cx="11274552" cy="41148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4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21" name="Picture 20" descr="1ae1c80cd5a630c67d1700ea8de9e37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7240" y="3465576"/>
            <a:ext cx="11045952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3877056"/>
            <a:ext cx="11274552" cy="41148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4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23" name="Picture 22" descr="395b978af93061eb33aaa970fd60f62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7240" y="3877056"/>
            <a:ext cx="11045952" cy="5486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7200" y="4288536"/>
            <a:ext cx="11274552" cy="41148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4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25" name="Picture 24" descr="a05505d2ef2c44123c906c5fc9d0d16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7240" y="4288536"/>
            <a:ext cx="11045952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ae4bcab5260f59a0256817b9d2f3f6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Wurtz reaction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Fittig reaction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Swarts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Finkelstein reaction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Select the incorrect match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55747a3780867867712d146ccc313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c3fdc52e19204bb3b234085f78e83c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023b2830dcaac74beba5b301223832b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Wurtz reaction - Na / dry ether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d3957c4b26c2f465ea0561f139d022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Inductive effect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Steric effect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Resonance effect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Electrometric effect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best reagent used to produce pure alkyl halides from alcohol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3aa312ee4b8ec1935e41bb2c1f17a1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3296a282667bf66c304bca463cb5f1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78f66121e1975a8823b8f8279eef99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cbee2d1ac167193c3a11163311b218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chemical formula of phosgene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8f66121e1975a8823b8f8279eef99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ceac53c2909fd24fd04d34d808ca0a8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078231b048ea5c8dfc025dae255ea6c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64790fc0c1e007bffcbff7a5008daa5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chemical name of phosgene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Acetyl chloride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Methyl chloride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Carbonyl chloride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Chloroform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chiral molecule among the following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1-Bromo butane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2-Bromobutane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2-Bromo propane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2-Bromopropan-2-ol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7ef8868d6ed7fd083bed2b0dd6221a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Allylic halides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Aryl halides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Benzylic halides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Vinylic halides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increasing order of boiling points of alkyl halides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0aa4f779ca079ca91cbbed38b56dff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bbc20d51eb0b6959748feb23155e27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94054db387048f2836c63eaae0d2020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469be90597a3bc9737746de74be129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19ac71d101405b4c5b4d1c750c296d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1-Chloroethene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1-Chloroethyne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1,2-Dichloroethane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1,1-Dichloroethane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d022daced7e7fd8000f182ae08f8dd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Swarts reaction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Wurtz reaction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Finkelstein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Gattermann reaction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When 2-Bromo pentane is treated with alcoholic potash, the major product produced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1-Pentene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2-Pentene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2-Pentane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3-Pentene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831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630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2ee44aff6d6c204e9029d936637eac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e487c764e44a1966fe2d7c3b5736ed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7884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037b2f90a34ce757ab33a40cb85a18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598" y="1357884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4996bb4c39dbd49efb3f77bf3dc21c9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1357884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6e2fa4a29da8b2ab10b84d6e4c8616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0314" y="1357884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309fc6e40794fa61d14c9194b70095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89738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P = Propan-1-ol, Q = Propene, R = Propanone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89738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P = Propene, Q = Propan-2-ol, R = Propene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4308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P = Propene, Q = Propan-2-ol, R = Propanone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2464308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P = Propanone, Q = Propan-1-ol, R = Propane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a9fe5518c133b4e9b3645e3487b7ac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2027408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897380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f02f5fe0c980ebf8e18c08493417f1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88236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897380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ed61aba5c29de659d3d83f20e8a576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598" y="1888236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897380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4b3cf2856dc90978bd2bd9a6e5f1e77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1888236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897380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aecf0d7fde0e235d7821ceaea31ae1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0314" y="1888236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By which test can 1°, 2°, and 3° alcohols be detected?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Hinsberg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Tollen's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Lucas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All of these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Byproduct obtained during preparation of phenol from cumene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Ketone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Aldehyde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Alcohol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Cresol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Enantiomers only differ with respect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Melting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Boiling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Refractive index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The rotation of plane-polarized light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Ethane-1,2-diol is an example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Monohydric alcohol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Dihydric alcohol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Dihydric phenol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Monohydric phenol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2bd2d77ddbd5b4fbcb68c8360c746b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Aromatic amine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Aromatic hydroxyl compound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Aromatic dihydroxy compound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Aromatic nitro compound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Halogenation of benzene occurs in the presence of Lewis acid, but halogenation of phenol occurs even in the absence of Lewis acid due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Highly deactivating effect of -OH group attached to the benzene 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50510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Highly activating effect of -OH group attached to the benzene 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5615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Highly deactivating effect of the benzene 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2156155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Highly activating effect of the benzene ring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1cf784e27d43dd54f6cf3ff610e6ba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Identify the simple ether from the following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24c8182f43265fa02b466ee8a35f1b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10137e0ef6ab112229c0310dd9c87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837ca34bfcf60d4dde62081bc0185a3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8ce2da71e10598c6251497d30a842b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In Kolbe's reaction, phenol is converted into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Salicylic acid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Salicylaldehyde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Benzoic acid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Benzaldehyde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In picric acid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Three -OH groups are present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Two -OH groups are present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Three -NO2 groups are present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One -NO2 group is present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O-nitrophenol and p-nitrophenol are separated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Sublimation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Fractional distillation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Crystallization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Steam distillation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Phenol is less acidic than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o-Nitrophenol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o-Methylphenol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o-Methoxyphenol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Phenol is more acidic than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Ethanol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o-Nitrophenol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m-Nitrophenol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p-Nitrophenol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Phenol on oxidation with chromic acid gives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Benzoquinone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Catechol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Hydroquinone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Phthalic acid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Salicylaldehyde can be prepared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Finkelstein reaction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Dow's process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Reimer-Tiemann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Kolbe's reaction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boiling points of alcohols increase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Increase in the number of C-atoms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Decrease in van der Waals forces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Increase of branching in the C-chain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Decrease in the surface area of the C-chain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C-O bond angles of P, Q, and R are found to be 111.7°, 109°, and 108.9°, respectively. Compound P, Q, and R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P = Phenol, Q = Methanol, R = Methoxy Methane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P = Methoxy Methane, Q = Methanol, R = Phenol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7203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P = Methanol, Q = Phenol, R = Methoxy Methane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207203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P = Methoxy Methane, Q = Phenol, R = Methanol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chemicals used to convert commercial alcohol into denatured alcohol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b76b63ec1930a07c84838f7e0b90dd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1cc349a2a16ac885fa7e521a09d9bb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ad292ae8045689ac8a7be36b37904a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60885ff26b6ec75ea283d2a6bfe15b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compound that reacts fastest with Luca’s reagent at room temperature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2-Methylpropan-2-ol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Butan-2-ol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2-Methylpropan-1-ol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Butan-1-ol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correct order of acid strength of the following compounds is: (i) o-bromophenol (ii) p-bromophenol (iii) picric acid (2,4,6-trinitrophenol) (iv) 2,4,6-tribromophenol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(iii) &gt; (iv) &gt; (i) &gt; (ii)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(iii) &gt; (iv) &gt; (ii) &gt; (i)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(iv) &gt; (iii) &gt; (i) &gt; (ii)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(i) &gt; (ii) &gt; (iv) &gt; (iii)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decreasing order of boiling points of ethanol, propane, and dimethyl ether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Ethanol &gt; Dimethyl ether &gt; Propane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Ethanol &gt; Propane &gt; Dimethyl 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Propane &gt; Dimethyl ether &gt; Ethanol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Propane &gt; Ethanol &gt; Dimethyl ether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9855fc7b8e5a6cecf45ed50c4418e0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Intra-molecular hydrogen bonding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Inter-molecular hydrogen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0" name="Picture 9" descr="a8d118b037f9eefb97b6b54d8bdcd9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1623060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50274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None of these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major byproduct during the preparation of phenol from cumene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Acetone.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Cresol.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Alcohol.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Acetaldehyde.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major product formed when phenol is treated with excess bromine water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o-Bromophenol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p-Bromophenol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Picric acid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2,4,6-Tribromophenol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6d851c6619db20a14481da70e6e676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acts as catalyst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act as nucleophile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act as weak electrophile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act as strong electrophile.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What is the correct order of boiling points of alcohols having the same number of carbon atoms?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1° &gt; 2° &gt; 3°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3° &gt; 2° &gt; 1°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3° &gt; 1° &gt; 2°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2° &gt; 1° &gt; 3°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When an alcohol is treated with Luca’s reagent, if immediate turbidity appears, then it confirms the presence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Primary alcohol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Secondary alcohol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Tertiary alcohol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505102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All of these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When phenol is heated with chloroform in sodium hydroxide followed by acidification, the product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Chlorobenzene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Benzyl chloride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Salicylaldehyde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Salicylic acid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When phenol is heated with Zn dust, it gives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Benzyl alcohol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Methanol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Benzene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0873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8862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When phenol is treated with bromine water, a white precipitate of the product obtained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2-Bromophenol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4-Bromophenol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Both 2-Bromophenol and 4-Bromophenol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2,4,6-Tribromophenol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According to the spectrochemical series, the strongest field ligand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4f78f83eb3fdae5a0e25f33d814e9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3e2cfd94ffd730b74af1d0ca994e37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3a3e3c4f5487c7e8dc4d2791788ac9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c603fa3b0e016ef36045acfd7398ebc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According to Werner's theory, the primary valencies of the central atom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Satisfied by negative ions or neutral molecules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Satisfied by negative 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Are equal to coordination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Decide the geometry of the complex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Among the following statements, which statement is correct about metal carbonyls?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Metal carbonyls are s-bonded organometallic compounds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Metal carbonyls are p-bonded organometallic compounds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Metal carbonyls involve both s and p bonds between metal and oxygen of the carbonyl 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Metal carbonyls involve both s and p bonds between metal and carbon of the carbonyl group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An ambidentate ligand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f452a9dcb255cfb8818140919d7385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9e5573cb1bfb3f9e17610c086bbf2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78e0a1822e72f5b9ef557a56c71c0f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a1b6402bab7eaa83489b24b760741c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An example of an ambidentate ligand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603fa3b0e016ef36045acfd7398eb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9e5573cb1bfb3f9e17610c086bbf2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52363a5752d326f2be21f06ad683b53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705f56e2d3b5d8d448bb21b6cad3dc4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50992272983909a3e558bee1df9984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9363d7c4d7de25c5298de3acf03c60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623060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9b5822b86a4d2536819a7263cccdc0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598" y="1623060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1a0d58427631526a9ee4c2a8a9aae34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1623060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ef2689bb1303571b54f9bc51ea1c150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0314" y="1623060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4095a2a2acb7d39f6166c09dd8ce9e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97ac7c3ff18a4676afee54b412338f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623060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007b468d100e5e1caa8ade2d5c18428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598" y="1623060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fd3f6f821d5756e8f8697373a1eddd8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1623060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1c300a511f5984e1f1143b781124e9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0314" y="1623060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f8cf3ee0b21ad668c8117e26ce689e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4 and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6 and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2 and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ded98997f660eafa8b64f7336d4206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65ea12f8452cb1592ffbe4366162c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7884"/>
            <a:ext cx="2450592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367028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d87476fb0e817434982e5ca32565cf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598" y="1357884"/>
            <a:ext cx="2450592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367028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Ionic character.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0274" y="1367028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3" name="Picture 12" descr="f358d7054f3139691c367d1a0376ac7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357884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In metal carbonyls, the M-C sigma bond is formed by the donation of a lone pair of electrons on the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Carbonyl carbon atom to filled orbital of metal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Carbonyl carbon atom to vacant orbital of metal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0" name="Picture 9" descr="b604f11a94eeafd77149fed272ad79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73935"/>
            <a:ext cx="5248656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54496" y="1783079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2" name="Picture 11" descr="bc9fbe6839a5dafa3099ec8ada152c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1773935"/>
            <a:ext cx="5248656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34de7034af383011d698ddafb2bbde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3d6100d9b00bfe681c502af5019e58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7884"/>
            <a:ext cx="5248656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367028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9c402cdd61630be8b48090f4d6aaf1e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36" y="1357884"/>
            <a:ext cx="5248656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153412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485604ce358a12a919228b9d07e6b05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144268"/>
            <a:ext cx="5248656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4496" y="2153412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8212ae0d102df4eb861e499cdadfbbf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4536" y="2144268"/>
            <a:ext cx="5248656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ac555ac5fd0bcbfc40daee134bb12a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Two Cis and one Trans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Two Cis and Two Trans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One Cis and two Trans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One Cis and One Trans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bf83a56567a9bf24bb243a4e5762d3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582400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Two cis and one trans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One cis and two trans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All three are cis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All three are trans only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6b91bafa2ed1a89ab09e7479ffb8e8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Synergic effect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Chelating effect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0" name="Picture 9" descr="45f6c785d9290f9fd3eab624ecf033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1357884"/>
            <a:ext cx="2450592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50274" y="1367028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2" name="Picture 11" descr="fbd2a09364429af5afa88d28ff93cbd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0314" y="1357884"/>
            <a:ext cx="2450592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central metal atoms/ions in coordination compounds are also called 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Lewis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Brønsted acids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Brønsted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Lewis acids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73e860681108e5737cf1464861a7d4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Linkage isomerism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Fac-mer isomerism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Ionization isomerism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Cis-trans isomerism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f82ca04f9b8de6f805ef73a83d89c5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897380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6 and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897380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6 and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897380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4 and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897380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18eff7e614b4198d2b806a66db92aa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6 and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6 and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4 and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cf03f4dad6d2ed2ae8ef5dbe294734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Geometrical isomerism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Ionization isomerism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Coordination isomerism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Linkage isomerism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cead5e3bec84081696f9c0438db86d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432c554289156c9adb39a6b9d181a2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7884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1c300a511f5984e1f1143b781124e9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598" y="1357884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fd3f6f821d5756e8f8697373a1eddd8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1357884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d05812b15a9f24c006ac5b9ac514b2e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0314" y="1357884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519c0ddd0c1997cfa3826a89702a76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octahedral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tetrahedral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trigonal bipyramidal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square pyramidal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1d57d79c3f5868d4e1a7132416e9ac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Linkage isomerism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Coordination isomerism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Ionisation isomerism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Solvate isomerism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0960270b991449d13701f412d20038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4f6964b14a1205645de8ce2f7f4c48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7884"/>
            <a:ext cx="5248656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367028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1f6f154ec1933b92e7a1c4d1aaa4aa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36" y="1357884"/>
            <a:ext cx="5248656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153412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f952afedfd6fcf72b8ac9443e2a290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144268"/>
            <a:ext cx="5248656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4496" y="2153412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477f3517a3db3c7d279518ec2bec12c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4536" y="2144268"/>
            <a:ext cx="5248656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457d71ee2b6174aad28c17af1aa5df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ef3876ba6c0b2ed94819a5d16dbad6e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7884"/>
            <a:ext cx="5248656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367028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3ca73087a8376c2ccaf9c4c84c5d2c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36" y="1357884"/>
            <a:ext cx="5248656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33955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445efbeb52fda877c2ac1646a77f2c3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924811"/>
            <a:ext cx="5248656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4496" y="1933955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faa9737acfe2c2815d0dce898139c26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4536" y="1924811"/>
            <a:ext cx="5248656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2da9f22d743690bc3f5e72591d4a69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ab26f2f7bb219f0b9c15aa5646337c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623060"/>
            <a:ext cx="5248656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632204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9235d58dac70dc72ef9edd36470c8d7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36" y="1623060"/>
            <a:ext cx="5248656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418588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77274908ecb9b17c3a030ca48809d3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409444"/>
            <a:ext cx="5248656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4496" y="2418588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c728cd06f5ded74fac61b0302cd4028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4536" y="2409444"/>
            <a:ext cx="5248656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1e0edc9c6bf4649282489075895db9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ab26f2f7bb219f0b9c15aa5646337c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623060"/>
            <a:ext cx="5248656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632204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77274908ecb9b17c3a030ca48809d3f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536" y="1623060"/>
            <a:ext cx="5248656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418588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6e2275fb1251905994a705e5b1aa46b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409444"/>
            <a:ext cx="5248656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4496" y="2418588"/>
            <a:ext cx="5477256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b21de6671712346ed92d2e36f75afda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4536" y="2409444"/>
            <a:ext cx="5248656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8b4a56b63ca7fbd845dae11410b566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+1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+4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+2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+3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oxidation state of metal in metal carbonyl complexes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58026640264febc825393c1087645b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3 and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6 and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0 and 3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75c5720d775946911e09c428ca78c6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3 and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6 and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632204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6 and 3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sum of coordination number and oxidation number of the metal M in the complex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d219a1ef6b0dd939ad0656d43bb50b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0, 2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6, 1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5, 2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367028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6, 2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is an ambidentate ligand?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603fa3b0e016ef36045acfd7398eb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3e2cfd94ffd730b74af1d0ca994e37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dcd492d613f3afdd89501134bf3117d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f452a9dcb255cfb8818140919d73858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is the correct increasing order of strength in the spectrochemical series of ligands?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f28de50db7becb58703cf74c0253ae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5248656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c20a830d099124abb5b00273eb29f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1207007"/>
            <a:ext cx="5248656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ca3443a481a45d115b42e9beba773b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773935"/>
            <a:ext cx="5248656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76a29eda0025272c6b784daa385afd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536" y="1773935"/>
            <a:ext cx="5248656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ligands can exhibit linkage isomerism?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8c028b045becd70ac768a53f921a48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3e2cfd94ffd730b74af1d0ca994e37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3a3e3c4f5487c7e8dc4d2791788ac9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c603fa3b0e016ef36045acfd7398ebc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ligands produces a synergic effect in coordination complexes?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Oxalates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Carbon Monoxide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Sulphate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Nitrates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species is not a ligand?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4fb9f2bb0cdc5d2c6045906fd090c1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3cf20ef3b3d03a521d0a1a0747f008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c603fa3b0e016ef36045acfd7398eb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3b313b4c51f42610e377a6062f85cf7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31927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11810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b4ba115dee36157b6393937291613d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632204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Primary Valencies are ionisable while Secondary Valencies are non-ionisable.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632204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Primary Valencies are non-ionisable while Secondary Valencies are ionisable.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3256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Both Primary and Secondary Valencies are non-ionisable.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2283256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Both Primary and Secondary Valencies are ionisable.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39593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"/>
            <a:ext cx="37581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AD02C"/>
                </a:solidFill>
                <a:latin typeface="Arial"/>
              </a:rPr>
              <a:t>APPLICATION BASED QUESTIONS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type of complexes doesn't show geometrical isomerism?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82a662d1972fac3eae37030271d9d9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07007"/>
            <a:ext cx="2450592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21558" y="1216151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bb1f986dc811177f0e1e3e80015711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598" y="1207007"/>
            <a:ext cx="2450592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85916" y="1216151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33da90f9b90cb674c9c0202e39abc1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956" y="1207007"/>
            <a:ext cx="2450592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0274" y="1216151"/>
            <a:ext cx="2681478" cy="676656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8859315429dc09f9eac358da93b469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314" y="1207007"/>
            <a:ext cx="2450592" cy="9022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