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Cambria"/>
              </a:rPr>
              <a:t>Testing Files — Practice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AAAAAA"/>
                </a:solidFill>
                <a:latin typeface="Cambria"/>
              </a:rPr>
              <a:t>33 Questions (1 Flagged for Review) · Exam Prep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24359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A metallic sphere of radius R carrying a charge q is kept at certain distance from another metallic sphere of radius R/4 carrying a charge Q. What is the electric flux at any point inside the metallic sphere of radius R due to the sphere of radius R/4?
a)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Q</m:t>
                        </m:r>
                      </m:num>
                      <m:den>
                        <m:sSub>
                          <m:e>
                            <m:r>
                              <m:t>ε</m:t>
                            </m:r>
                          </m:e>
                          <m:sub>
                            <m:r>
                              <m:t>0</m:t>
                            </m:r>
                          </m:sub>
                        </m:sSub>
                      </m:den>
                    </m:f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(Q)/(ε₀)</a:t>
                </a:r>
              </mc:Fallback>
            </mc:AlternateContent>
            <a:r>
              <a:rPr sz="1800" b="1">
                <a:solidFill>
                  <a:srgbClr val="FAD02C"/>
                </a:solidFill>
                <a:latin typeface="Cambria"/>
              </a:rPr>
              <a:t>-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q</m:t>
                        </m:r>
                      </m:num>
                      <m:den>
                        <m:sSub>
                          <m:e>
                            <m:r>
                              <m:t>ε</m:t>
                            </m:r>
                          </m:e>
                          <m:sub>
                            <m:r>
                              <m:t>0</m:t>
                            </m:r>
                          </m:sub>
                        </m:sSub>
                      </m:den>
                    </m:f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(q)/(ε₀)</a:t>
                </a:r>
              </mc:Fallback>
            </mc:AlternateContent>
            <a:r>
              <a:rPr sz="1800" b="1">
                <a:solidFill>
                  <a:srgbClr val="FAD02C"/>
                </a:solidFill>
                <a:latin typeface="Cambria"/>
              </a:rPr>
              <a:t>			b)Zero
c)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q</m:t>
                        </m:r>
                      </m:num>
                      <m:den>
                        <m:sSub>
                          <m:e>
                            <m:r>
                              <m:t>ε</m:t>
                            </m:r>
                          </m:e>
                          <m:sub>
                            <m:r>
                              <m:t>0</m:t>
                            </m:r>
                          </m:sub>
                        </m:sSub>
                      </m:den>
                    </m:f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(q)/(ε₀)</a:t>
                </a:r>
              </mc:Fallback>
            </mc:AlternateContent>
            <a:r>
              <a:rPr sz="1800" b="1">
                <a:solidFill>
                  <a:srgbClr val="FAD02C"/>
                </a:solidFill>
                <a:latin typeface="Cambria"/>
              </a:rPr>
              <a:t>-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Q</m:t>
                        </m:r>
                      </m:num>
                      <m:den>
                        <m:sSub>
                          <m:e>
                            <m:r>
                              <m:t>ε</m:t>
                            </m:r>
                          </m:e>
                          <m:sub>
                            <m:r>
                              <m:t>0</m:t>
                            </m:r>
                          </m:sub>
                        </m:sSub>
                      </m:den>
                    </m:f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(Q)/(ε₀)</a:t>
                </a:r>
              </mc:Fallback>
            </mc:AlternateContent>
            <a:r>
              <a:rPr sz="1800" b="1">
                <a:solidFill>
                  <a:srgbClr val="FAD02C"/>
                </a:solidFill>
                <a:latin typeface="Cambria"/>
              </a:rPr>
              <a:t>		d)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Q</m:t>
                        </m:r>
                      </m:num>
                      <m:den>
                        <m:sSub>
                          <m:e>
                            <m:r>
                              <m:t>ε</m:t>
                            </m:r>
                          </m:e>
                          <m:sub>
                            <m:r>
                              <m:t>0</m:t>
                            </m:r>
                          </m:sub>
                        </m:sSub>
                      </m:den>
                    </m:f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(Q)/(ε₀)</a:t>
                </a:r>
              </mc:Fallback>
            </mc:AlternateContent>
          </a:p>
        </p:txBody>
      </p:sp>
      <p:pic>
        <p:nvPicPr>
          <p:cNvPr id="7" name="Picture 6" descr="img_rI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13201"/>
            <a:ext cx="2916936" cy="10789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total electric flux through a closed spherical surface of radius ‘r’ enclosing an electric dipole of dipole moment 2aq is (Give </a:t>
            </a:r>
            <a:r>
              <a:rPr sz="1800" b="1" i="0" u="none" baseline="-25000">
                <a:solidFill>
                  <a:srgbClr val="FAD02C"/>
                </a:solidFill>
                <a:latin typeface="Cambria"/>
              </a:rPr>
              <a:t>0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permittivity of free space)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q</m:t>
                        </m:r>
                      </m:num>
                      <m:den>
                        <m:sSub>
                          <m:sSub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</w:rPr>
                            </m:ctrlPr>
                          </m:sSubPr>
                          <m:e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  <w:lang w:val="pl-PL"/>
                              </w:rPr>
                              <m:t>∈</m:t>
                            </m:r>
                          </m:e>
                          <m:sub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  <w:lang w:val="pl-PL"/>
                              </w:rPr>
                              <m:t>0</m:t>
                            </m:r>
                          </m:sub>
                        </m:sSub>
                      </m:den>
                    </m:f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(q)/(∈₀)</a:t>
                </a:r>
              </mc:Fallback>
            </mc:AlternateContent>
          </a:p>
        </p:txBody>
      </p:sp>
      <p:sp>
        <p:nvSpPr>
          <p:cNvPr id="9" name="TextBox 8"/>
          <p:cNvSpPr txBox="1"/>
          <p:nvPr/>
        </p:nvSpPr>
        <p:spPr>
          <a:xfrm>
            <a:off x="6185916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  <w:lang w:val="pl-PL"/>
                          </w:rPr>
                          <m:t>2</m:t>
                        </m:r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q</m:t>
                        </m:r>
                      </m:num>
                      <m:den>
                        <m:sSub>
                          <m:sSub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</w:rPr>
                            </m:ctrlPr>
                          </m:sSubPr>
                          <m:e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  <w:lang w:val="pl-PL"/>
                              </w:rPr>
                              <m:t>∈</m:t>
                            </m:r>
                          </m:e>
                          <m:sub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  <w:lang w:val="pl-PL"/>
                              </w:rPr>
                              <m:t>0</m:t>
                            </m:r>
                          </m:sub>
                        </m:sSub>
                      </m:den>
                    </m:f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(2q)/(∈₀)</a:t>
                </a:r>
              </mc:Fallback>
            </mc:AlternateContent>
          </a:p>
        </p:txBody>
      </p:sp>
      <p:sp>
        <p:nvSpPr>
          <p:cNvPr id="10" name="TextBox 9"/>
          <p:cNvSpPr txBox="1"/>
          <p:nvPr/>
        </p:nvSpPr>
        <p:spPr>
          <a:xfrm>
            <a:off x="9050274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  <w:lang w:val="pl-PL"/>
                          </w:rPr>
                          <m:t>8</m:t>
                        </m:r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π</m:t>
                        </m:r>
                        <m:sSup>
                          <m:sSup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</w:rPr>
                            </m:ctrlPr>
                          </m:sSupPr>
                          <m:e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r</m:t>
                            </m:r>
                          </m:e>
                          <m:sup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  <w:lang w:val="pl-PL"/>
                              </w:rPr>
                              <m:t>2</m:t>
                            </m:r>
                          </m:sup>
                        </m:sSup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q</m:t>
                        </m:r>
                      </m:num>
                      <m:den>
                        <m:sSub>
                          <m:sSub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</w:rPr>
                            </m:ctrlPr>
                          </m:sSubPr>
                          <m:e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  <w:lang w:val="pl-PL"/>
                              </w:rPr>
                              <m:t>∈</m:t>
                            </m:r>
                          </m:e>
                          <m:sub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  <w:lang w:val="pl-PL"/>
                              </w:rPr>
                              <m:t>0</m:t>
                            </m:r>
                          </m:sub>
                        </m:sSub>
                      </m:den>
                    </m:f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(8π r²q)/(∈₀)</a:t>
                </a:r>
              </mc:Fallback>
            </mc:AlternateContent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A uniform electric field E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=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3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10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5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NC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-1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is acting along the positive Y-axis. The electric flux through a rectangle of area 10cm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30cm whose plane is parallel to the Z-X plane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12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10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3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V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9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10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3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V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5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10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3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V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8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10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3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V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A point charge A of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10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C and another point charge B of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20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C are kept 1m apart in free space. The electrostatic force on A due to B is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acc>
                      <m:accPr>
                        <m:chr m:val="⃗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F</m:t>
                        </m:r>
                      </m:e>
                    </m:acc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F⃗</a:t>
                </a:r>
              </mc:Fallback>
            </mc:AlternateContent>
            <a:r>
              <a:rPr sz="1800" b="1" i="0" u="none" baseline="-25000">
                <a:solidFill>
                  <a:srgbClr val="FAD02C"/>
                </a:solidFill>
                <a:latin typeface="Cambria"/>
              </a:rPr>
              <a:t>1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and the electrostatic force on B due to A is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acc>
                      <m:accPr>
                        <m:chr m:val="⃗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F</m:t>
                        </m:r>
                      </m:e>
                    </m:acc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F⃗</a:t>
                </a:r>
              </mc:Fallback>
            </mc:AlternateContent>
            <a:r>
              <a:rPr sz="1800" b="1" i="0" u="none" baseline="-25000">
                <a:solidFill>
                  <a:srgbClr val="FAD02C"/>
                </a:solidFill>
                <a:latin typeface="Cambria"/>
              </a:rPr>
              <a:t>2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. Then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acc>
                      <m:accPr>
                        <m:chr m:val="⃗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F</m:t>
                        </m:r>
                      </m:e>
                    </m:acc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F⃗</a:t>
                </a:r>
              </mc:Fallback>
            </mc:AlternateContent>
            <a:r>
              <a:rPr sz="1600" b="1" i="0" u="none" baseline="-25000">
                <a:solidFill>
                  <a:srgbClr val="F0F0F0"/>
                </a:solidFill>
                <a:latin typeface="Cambria"/>
              </a:rPr>
              <a:t>1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2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acc>
                      <m:accPr>
                        <m:chr m:val="⃗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F</m:t>
                        </m:r>
                      </m:e>
                    </m:acc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F⃗</a:t>
                </a:r>
              </mc:Fallback>
            </mc:AlternateContent>
            <a:r>
              <a:rPr sz="1600" b="1" i="0" u="none" baseline="-25000">
                <a:solidFill>
                  <a:srgbClr val="F0F0F0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acc>
                      <m:accPr>
                        <m:chr m:val="⃗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F</m:t>
                        </m:r>
                      </m:e>
                    </m:acc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F⃗</a:t>
                </a:r>
              </mc:Fallback>
            </mc:AlternateContent>
            <a:r>
              <a:rPr sz="1600" b="1" i="0" u="none" baseline="-25000">
                <a:solidFill>
                  <a:srgbClr val="F0F0F0"/>
                </a:solidFill>
                <a:latin typeface="Cambria"/>
              </a:rPr>
              <a:t>1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acc>
                      <m:accPr>
                        <m:chr m:val="⃗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F</m:t>
                        </m:r>
                      </m:e>
                    </m:acc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F⃗</a:t>
                </a:r>
              </mc:Fallback>
            </mc:AlternateContent>
            <a:r>
              <a:rPr sz="1600" b="1" i="0" u="none" baseline="-25000">
                <a:solidFill>
                  <a:srgbClr val="F0F0F0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2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acc>
                      <m:accPr>
                        <m:chr m:val="⃗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F</m:t>
                        </m:r>
                      </m:e>
                    </m:acc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F⃗</a:t>
                </a:r>
              </mc:Fallback>
            </mc:AlternateContent>
            <a:r>
              <a:rPr sz="1600" b="1" i="0" u="none" baseline="-25000">
                <a:solidFill>
                  <a:srgbClr val="F0F0F0"/>
                </a:solidFill>
                <a:latin typeface="Cambria"/>
              </a:rPr>
              <a:t>1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acc>
                      <m:accPr>
                        <m:chr m:val="⃗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F</m:t>
                        </m:r>
                      </m:e>
                    </m:acc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F⃗</a:t>
                </a:r>
              </mc:Fallback>
            </mc:AlternateContent>
            <a:r>
              <a:rPr sz="1600" b="1" i="0" u="none" baseline="-25000">
                <a:solidFill>
                  <a:srgbClr val="F0F0F0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acc>
                      <m:accPr>
                        <m:chr m:val="⃗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F</m:t>
                        </m:r>
                      </m:e>
                    </m:acc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F⃗</a:t>
                </a:r>
              </mc:Fallback>
            </mc:AlternateContent>
            <a:r>
              <a:rPr sz="1600" b="1" i="0" u="none" baseline="-25000">
                <a:solidFill>
                  <a:srgbClr val="F0F0F0"/>
                </a:solidFill>
                <a:latin typeface="Cambria"/>
              </a:rPr>
              <a:t>1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acc>
                      <m:accPr>
                        <m:chr m:val="⃗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F</m:t>
                        </m:r>
                      </m:e>
                    </m:acc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F⃗</a:t>
                </a:r>
              </mc:Fallback>
            </mc:AlternateContent>
            <a:r>
              <a:rPr sz="1600" b="1" i="0" u="none" baseline="-25000">
                <a:solidFill>
                  <a:srgbClr val="F0F0F0"/>
                </a:solidFill>
                <a:latin typeface="Cambria"/>
              </a:rP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A body has a charge of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3.2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C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. The number of excess electrons it has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5.12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10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5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10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2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10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5.12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10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1217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Electric field at a distance ' r ' from an infinitely long uniformly charged straight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conductor, having linear charge density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is E</a:t>
            </a:r>
            <a:r>
              <a:rPr sz="1800" b="1" i="0" u="none" baseline="-25000">
                <a:solidFill>
                  <a:srgbClr val="FAD02C"/>
                </a:solidFill>
                <a:latin typeface="Cambria"/>
              </a:rPr>
              <a:t>1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. Another uniformly charged conductor having same linear charge density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is bent into a semicircle of radius ' r '. The electric field at its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center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is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E</a:t>
            </a:r>
            <a:r>
              <a:rPr sz="1800" b="1" i="0" u="none" baseline="-25000">
                <a:solidFill>
                  <a:srgbClr val="FAD02C"/>
                </a:solidFill>
                <a:latin typeface="Cambria"/>
              </a:rPr>
              <a:t>2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. Then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9522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E</a:t>
            </a:r>
            <a:r>
              <a:rPr sz="1600" b="1" i="0" u="none" baseline="-25000">
                <a:solidFill>
                  <a:srgbClr val="F0F0F0"/>
                </a:solidFill>
                <a:latin typeface="Cambria"/>
              </a:rPr>
              <a:t>2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w:rPr>
                        <w:rFonts w:ascii="Cambria Math" w:eastAsiaTheme="minorEastAsia" w:hAnsi="Cambria Math" w:cs="Times New Roman"/>
                        <w:sz w:val="24"/>
                      </w:rPr>
                      <m:t>π</m:t>
                    </m:r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π</a:t>
                </a:r>
              </mc:Fallback>
            </mc:AlternateContent>
            <a:r>
              <a:rPr sz="1600" b="1" i="0" u="none">
                <a:solidFill>
                  <a:srgbClr val="F0F0F0"/>
                </a:solidFill>
                <a:latin typeface="Cambria"/>
              </a:rPr>
              <a:t>rE</a:t>
            </a:r>
            <a:r>
              <a:rPr sz="1600" b="1" i="0" u="none" baseline="-25000">
                <a:solidFill>
                  <a:srgbClr val="F0F0F0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99522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E</a:t>
            </a:r>
            <a:r>
              <a:rPr sz="1600" b="1" i="0" u="none" baseline="-25000">
                <a:solidFill>
                  <a:srgbClr val="F0F0F0"/>
                </a:solidFill>
                <a:latin typeface="Cambria"/>
              </a:rPr>
              <a:t>2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w:rPr>
                        <w:rFonts w:ascii="Cambria Math" w:eastAsiaTheme="minorEastAsia" w:hAnsi="Cambria Math" w:cs="Times New Roman"/>
                        <w:sz w:val="24"/>
                      </w:rPr>
                      <m:t xml:space="preserve"> </m:t>
                    </m:r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E</m:t>
                        </m:r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  <w:vertAlign w:val="subscript"/>
                          </w:rPr>
                          <m:t>1</m:t>
                        </m:r>
                      </m:num>
                      <m:den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r</m:t>
                        </m:r>
                      </m:den>
                    </m:f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(E₁)/(r)</a:t>
                </a:r>
              </mc:Fallback>
            </mc:AlternateContent>
          </a:p>
        </p:txBody>
      </p:sp>
      <p:sp>
        <p:nvSpPr>
          <p:cNvPr id="9" name="TextBox 8"/>
          <p:cNvSpPr txBox="1"/>
          <p:nvPr/>
        </p:nvSpPr>
        <p:spPr>
          <a:xfrm>
            <a:off x="6185916" y="199522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E</a:t>
            </a:r>
            <a:r>
              <a:rPr sz="1600" b="1" i="0" u="none" baseline="-25000">
                <a:solidFill>
                  <a:srgbClr val="F0F0F0"/>
                </a:solidFill>
                <a:latin typeface="Cambria"/>
              </a:rPr>
              <a:t>2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=E</a:t>
            </a:r>
            <a:r>
              <a:rPr sz="1600" b="1" i="0" u="none" baseline="-25000">
                <a:solidFill>
                  <a:srgbClr val="F0F0F0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99522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E</a:t>
            </a:r>
            <a:r>
              <a:rPr sz="1600" b="1" i="0" u="none" baseline="-25000">
                <a:solidFill>
                  <a:srgbClr val="F0F0F0"/>
                </a:solidFill>
                <a:latin typeface="Cambria"/>
              </a:rPr>
              <a:t>1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w:rPr>
                        <w:rFonts w:ascii="Cambria Math" w:eastAsiaTheme="minorEastAsia" w:hAnsi="Cambria Math" w:cs="Times New Roman"/>
                        <w:sz w:val="24"/>
                      </w:rPr>
                      <m:t>π</m:t>
                    </m:r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π</a:t>
                </a:r>
              </mc:Fallback>
            </mc:AlternateContent>
            <a:r>
              <a:rPr sz="1600" b="1" i="0" u="none">
                <a:solidFill>
                  <a:srgbClr val="F0F0F0"/>
                </a:solidFill>
                <a:latin typeface="Cambria"/>
              </a:rPr>
              <a:t>rE</a:t>
            </a:r>
            <a:r>
              <a:rPr sz="1600" b="1" i="0" u="none" baseline="-25000">
                <a:solidFill>
                  <a:srgbClr val="F0F0F0"/>
                </a:solidFill>
                <a:latin typeface="Cambria"/>
              </a:rPr>
              <a:t>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1217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A cubical Gaussian surface has side of length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a=10 cm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. Electric field lines are parallel to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x axis as shown. The magnitudes of electric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fields through surfaces ABCD and EFGH are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6kNC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-1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and 9kNC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-1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respectively. Then the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total charge enclosed by the cube is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[Take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b>
                      <m:sSub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sSub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∈</m:t>
                        </m:r>
                      </m:e>
                      <m:sub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0</m:t>
                        </m:r>
                      </m:sub>
                    </m:sSub>
                    <m:r>
                      <w:rPr>
                        <w:rFonts w:ascii="Cambria Math" w:eastAsiaTheme="minorEastAsia" w:hAnsi="Cambria Math" w:cs="Times New Roman"/>
                        <w:sz w:val="24"/>
                      </w:rPr>
                      <m:t>=9×</m:t>
                    </m:r>
                    <m:sSup>
                      <m:sSup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sSup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10</m:t>
                        </m:r>
                      </m:e>
                      <m:sup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-12</m:t>
                        </m:r>
                      </m:sup>
                    </m:sSup>
                    <m:r>
                      <w:rPr>
                        <w:rFonts w:ascii="Cambria Math" w:eastAsiaTheme="minorEastAsia" w:hAnsi="Cambria Math" w:cs="Times New Roman"/>
                        <w:sz w:val="24"/>
                      </w:rPr>
                      <m:t xml:space="preserve"> F</m:t>
                    </m:r>
                    <m:sSup>
                      <m:sSup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sSup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m</m:t>
                        </m:r>
                      </m:e>
                      <m:sup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-1</m:t>
                        </m:r>
                      </m:sup>
                    </m:sSup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∈₀=9 × 10⁻¹² Fm⁻¹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]</a:t>
            </a:r>
          </a:p>
        </p:txBody>
      </p:sp>
      <p:pic>
        <p:nvPicPr>
          <p:cNvPr id="7" name="Picture 6" descr="img_rI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95220"/>
            <a:ext cx="2249424" cy="11612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202228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-1.35nC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21558" y="3202228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0.27nC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85916" y="3202228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-0.27nC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0274" y="3202228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1.35nC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In the situation shown in the diagram, magnitude of q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Q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and r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a. The net force on the free charge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q and net torque on it about O at the instant shown are respectively [p 2aQ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is the dipole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moment]</a:t>
            </a:r>
          </a:p>
        </p:txBody>
      </p:sp>
      <p:pic>
        <p:nvPicPr>
          <p:cNvPr id="7" name="Picture 6" descr="img_rId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0725"/>
            <a:ext cx="1892807" cy="1472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208629"/>
            <a:ext cx="5477256" cy="811987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1</m:t>
                        </m:r>
                      </m:num>
                      <m:den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4π</m:t>
                        </m:r>
                        <m:sSub>
                          <m:sSub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</w:rPr>
                            </m:ctrlPr>
                          </m:sSubPr>
                          <m:e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∈</m:t>
                            </m:r>
                          </m:e>
                          <m:sub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0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pq</m:t>
                        </m:r>
                      </m:num>
                      <m:den>
                        <m:sSup>
                          <m:sSup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</w:rPr>
                            </m:ctrlPr>
                          </m:sSupPr>
                          <m:e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r</m:t>
                            </m:r>
                          </m:e>
                          <m:sup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3</m:t>
                            </m:r>
                          </m:sup>
                        </m:sSup>
                      </m:den>
                    </m:f>
                    <m:acc>
                      <m:acc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i</m:t>
                        </m:r>
                      </m:e>
                    </m:acc>
                    <m:r>
                      <w:rPr>
                        <w:rFonts w:ascii="Cambria Math" w:eastAsiaTheme="minorEastAsia" w:hAnsi="Cambria Math" w:cs="Times New Roman"/>
                        <w:sz w:val="24"/>
                      </w:rPr>
                      <m:t>,-</m:t>
                    </m:r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1</m:t>
                        </m:r>
                      </m:num>
                      <m:den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4π</m:t>
                        </m:r>
                        <m:sSub>
                          <m:sSub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</w:rPr>
                            </m:ctrlPr>
                          </m:sSubPr>
                          <m:e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∈</m:t>
                            </m:r>
                          </m:e>
                          <m:sub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0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pq</m:t>
                        </m:r>
                      </m:num>
                      <m:den>
                        <m:sSup>
                          <m:sSup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</w:rPr>
                            </m:ctrlPr>
                          </m:sSupPr>
                          <m:e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r</m:t>
                            </m:r>
                          </m:e>
                          <m:sup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2</m:t>
                            </m:r>
                          </m:sup>
                        </m:sSup>
                      </m:den>
                    </m:f>
                    <m:acc>
                      <m:acc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k</m:t>
                        </m:r>
                      </m:e>
                    </m:acc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(1)/(4π ∈₀) (pq)/(r³)î,-(1)/(4π ∈₀) (pq)/(r²)k̂</a:t>
                </a:r>
              </mc:Fallback>
            </mc:AlternateContent>
          </a:p>
        </p:txBody>
      </p:sp>
      <p:sp>
        <p:nvSpPr>
          <p:cNvPr id="9" name="TextBox 8"/>
          <p:cNvSpPr txBox="1"/>
          <p:nvPr/>
        </p:nvSpPr>
        <p:spPr>
          <a:xfrm>
            <a:off x="6254496" y="3208629"/>
            <a:ext cx="5477256" cy="811987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  <w:lang w:val="pl-PL"/>
                          </w:rPr>
                          <m:t>1</m:t>
                        </m:r>
                      </m:num>
                      <m:den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  <w:lang w:val="pl-PL"/>
                          </w:rPr>
                          <m:t>4</m:t>
                        </m:r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π</m:t>
                        </m:r>
                        <m:sSub>
                          <m:sSub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</w:rPr>
                            </m:ctrlPr>
                          </m:sSubPr>
                          <m:e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  <w:lang w:val="pl-PL"/>
                              </w:rPr>
                              <m:t>∈</m:t>
                            </m:r>
                          </m:e>
                          <m:sub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  <w:lang w:val="pl-PL"/>
                              </w:rPr>
                              <m:t>0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pq</m:t>
                        </m:r>
                      </m:num>
                      <m:den>
                        <m:sSup>
                          <m:sSup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</w:rPr>
                            </m:ctrlPr>
                          </m:sSupPr>
                          <m:e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r</m:t>
                            </m:r>
                          </m:e>
                          <m:sup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  <w:lang w:val="pl-PL"/>
                              </w:rPr>
                              <m:t>3</m:t>
                            </m:r>
                          </m:sup>
                        </m:sSup>
                      </m:den>
                    </m:f>
                    <m:acc>
                      <m:acc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i</m:t>
                        </m:r>
                      </m:e>
                    </m:acc>
                    <m:r>
                      <w:rPr>
                        <w:rFonts w:ascii="Cambria Math" w:eastAsiaTheme="minorEastAsia" w:hAnsi="Cambria Math" w:cs="Times New Roman"/>
                        <w:sz w:val="24"/>
                        <w:lang w:val="pl-PL"/>
                      </w:rPr>
                      <m:t>,</m:t>
                    </m:r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  <w:lang w:val="pl-PL"/>
                          </w:rPr>
                          <m:t>1</m:t>
                        </m:r>
                      </m:num>
                      <m:den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  <w:lang w:val="pl-PL"/>
                          </w:rPr>
                          <m:t>4</m:t>
                        </m:r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π</m:t>
                        </m:r>
                        <m:sSub>
                          <m:sSub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</w:rPr>
                            </m:ctrlPr>
                          </m:sSubPr>
                          <m:e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  <w:lang w:val="pl-PL"/>
                              </w:rPr>
                              <m:t>∈</m:t>
                            </m:r>
                          </m:e>
                          <m:sub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  <w:lang w:val="pl-PL"/>
                              </w:rPr>
                              <m:t>0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pq</m:t>
                        </m:r>
                      </m:num>
                      <m:den>
                        <m:sSup>
                          <m:sSup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</w:rPr>
                            </m:ctrlPr>
                          </m:sSupPr>
                          <m:e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r</m:t>
                            </m:r>
                          </m:e>
                          <m:sup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  <w:lang w:val="pl-PL"/>
                              </w:rPr>
                              <m:t>2</m:t>
                            </m:r>
                          </m:sup>
                        </m:sSup>
                      </m:den>
                    </m:f>
                    <m:acc>
                      <m:acc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k</m:t>
                        </m:r>
                      </m:e>
                    </m:acc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(1)/(4π ∈₀) (pq)/(r³)î,(1)/(4π ∈₀) (pq)/(r²)k̂</a:t>
                </a:r>
              </mc:Fallback>
            </mc:AlternateContent>
          </a:p>
        </p:txBody>
      </p:sp>
      <p:sp>
        <p:nvSpPr>
          <p:cNvPr id="10" name="TextBox 9"/>
          <p:cNvSpPr txBox="1"/>
          <p:nvPr/>
        </p:nvSpPr>
        <p:spPr>
          <a:xfrm>
            <a:off x="457200" y="4066336"/>
            <a:ext cx="5477256" cy="811987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w:rPr>
                        <w:rFonts w:ascii="Cambria Math" w:eastAsiaTheme="minorEastAsia" w:hAnsi="Cambria Math" w:cs="Times New Roman"/>
                        <w:sz w:val="24"/>
                        <w:lang w:val="pl-PL"/>
                      </w:rPr>
                      <m:t>-</m:t>
                    </m:r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  <w:lang w:val="pl-PL"/>
                          </w:rPr>
                          <m:t>1</m:t>
                        </m:r>
                      </m:num>
                      <m:den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  <w:lang w:val="pl-PL"/>
                          </w:rPr>
                          <m:t>4</m:t>
                        </m:r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π</m:t>
                        </m:r>
                        <m:sSub>
                          <m:sSub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</w:rPr>
                            </m:ctrlPr>
                          </m:sSubPr>
                          <m:e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  <w:lang w:val="pl-PL"/>
                              </w:rPr>
                              <m:t>∈</m:t>
                            </m:r>
                          </m:e>
                          <m:sub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  <w:lang w:val="pl-PL"/>
                              </w:rPr>
                              <m:t>0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pq</m:t>
                        </m:r>
                      </m:num>
                      <m:den>
                        <m:sSup>
                          <m:sSup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</w:rPr>
                            </m:ctrlPr>
                          </m:sSupPr>
                          <m:e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r</m:t>
                            </m:r>
                          </m:e>
                          <m:sup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  <w:lang w:val="pl-PL"/>
                              </w:rPr>
                              <m:t>3</m:t>
                            </m:r>
                          </m:sup>
                        </m:sSup>
                      </m:den>
                    </m:f>
                    <m:acc>
                      <m:acc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i</m:t>
                        </m:r>
                      </m:e>
                    </m:acc>
                    <m:r>
                      <w:rPr>
                        <w:rFonts w:ascii="Cambria Math" w:eastAsiaTheme="minorEastAsia" w:hAnsi="Cambria Math" w:cs="Times New Roman"/>
                        <w:sz w:val="24"/>
                        <w:lang w:val="pl-PL"/>
                      </w:rPr>
                      <m:t>,-</m:t>
                    </m:r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  <w:lang w:val="pl-PL"/>
                          </w:rPr>
                          <m:t>1</m:t>
                        </m:r>
                      </m:num>
                      <m:den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  <w:lang w:val="pl-PL"/>
                          </w:rPr>
                          <m:t>4</m:t>
                        </m:r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π</m:t>
                        </m:r>
                        <m:sSub>
                          <m:sSub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</w:rPr>
                            </m:ctrlPr>
                          </m:sSubPr>
                          <m:e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  <w:lang w:val="pl-PL"/>
                              </w:rPr>
                              <m:t>∈</m:t>
                            </m:r>
                          </m:e>
                          <m:sub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  <w:lang w:val="pl-PL"/>
                              </w:rPr>
                              <m:t>0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pq</m:t>
                        </m:r>
                      </m:num>
                      <m:den>
                        <m:sSup>
                          <m:sSup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</w:rPr>
                            </m:ctrlPr>
                          </m:sSupPr>
                          <m:e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r</m:t>
                            </m:r>
                          </m:e>
                          <m:sup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  <w:lang w:val="pl-PL"/>
                              </w:rPr>
                              <m:t>2</m:t>
                            </m:r>
                          </m:sup>
                        </m:sSup>
                      </m:den>
                    </m:f>
                    <m:acc>
                      <m:acc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k</m:t>
                        </m:r>
                      </m:e>
                    </m:acc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-(1)/(4π ∈₀) (pq)/(r³)î,-(1)/(4π ∈₀) (pq)/(r²)k̂</a:t>
                </a:r>
              </mc:Fallback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6254496" y="4066336"/>
            <a:ext cx="5477256" cy="811987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  <w:lang w:val="pl-PL"/>
                          </w:rPr>
                          <m:t>1</m:t>
                        </m:r>
                      </m:num>
                      <m:den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  <w:lang w:val="pl-PL"/>
                          </w:rPr>
                          <m:t>4</m:t>
                        </m:r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π</m:t>
                        </m:r>
                        <m:sSub>
                          <m:sSub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</w:rPr>
                            </m:ctrlPr>
                          </m:sSubPr>
                          <m:e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  <w:lang w:val="pl-PL"/>
                              </w:rPr>
                              <m:t>∈</m:t>
                            </m:r>
                          </m:e>
                          <m:sub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  <w:lang w:val="pl-PL"/>
                              </w:rPr>
                              <m:t>0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pq</m:t>
                        </m:r>
                      </m:num>
                      <m:den>
                        <m:sSup>
                          <m:sSup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</w:rPr>
                            </m:ctrlPr>
                          </m:sSupPr>
                          <m:e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r</m:t>
                            </m:r>
                          </m:e>
                          <m:sup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  <w:lang w:val="pl-PL"/>
                              </w:rPr>
                              <m:t>3</m:t>
                            </m:r>
                          </m:sup>
                        </m:sSup>
                      </m:den>
                    </m:f>
                    <m:acc>
                      <m:acc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i</m:t>
                        </m:r>
                      </m:e>
                    </m:acc>
                    <m:r>
                      <w:rPr>
                        <w:rFonts w:ascii="Cambria Math" w:eastAsiaTheme="minorEastAsia" w:hAnsi="Cambria Math" w:cs="Times New Roman"/>
                        <w:sz w:val="24"/>
                        <w:lang w:val="pl-PL"/>
                      </w:rPr>
                      <m:t>,+</m:t>
                    </m:r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  <w:lang w:val="pl-PL"/>
                          </w:rPr>
                          <m:t>1</m:t>
                        </m:r>
                      </m:num>
                      <m:den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  <w:lang w:val="pl-PL"/>
                          </w:rPr>
                          <m:t>4</m:t>
                        </m:r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π</m:t>
                        </m:r>
                        <m:sSub>
                          <m:sSub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</w:rPr>
                            </m:ctrlPr>
                          </m:sSubPr>
                          <m:e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  <w:lang w:val="pl-PL"/>
                              </w:rPr>
                              <m:t>∈</m:t>
                            </m:r>
                          </m:e>
                          <m:sub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  <w:lang w:val="pl-PL"/>
                              </w:rPr>
                              <m:t>0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pq</m:t>
                        </m:r>
                      </m:num>
                      <m:den>
                        <m:sSup>
                          <m:sSup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</w:rPr>
                            </m:ctrlPr>
                          </m:sSupPr>
                          <m:e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r</m:t>
                            </m:r>
                          </m:e>
                          <m:sup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  <w:lang w:val="pl-PL"/>
                              </w:rPr>
                              <m:t>2</m:t>
                            </m:r>
                          </m:sup>
                        </m:sSup>
                      </m:den>
                    </m:f>
                    <m:acc>
                      <m:acc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k</m:t>
                        </m:r>
                      </m:e>
                    </m:acc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(1)/(4π ∈₀) (pq)/(r³)î,+(1)/(4π ∈₀) (pq)/(r²)k̂</a:t>
                </a:r>
              </mc:Fallback>
            </mc:AlternateContent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A charged particle of mass ‘m’ and charge ‘q’ is released from rest in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a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uniform electric field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acc>
                      <m:accPr>
                        <m:chr m:val="⃗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E</m:t>
                        </m:r>
                      </m:e>
                    </m:acc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E⃗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. Neglecting the effect of gravity, the kinetic energy of the charged particle after ‘t’ seconds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Eqm</m:t>
                        </m:r>
                      </m:num>
                      <m:den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t</m:t>
                        </m:r>
                      </m:den>
                    </m:f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(Eqm)/(t)</a:t>
                </a:r>
              </mc:Fallback>
            </mc:AlternateContent>
          </a:p>
        </p:txBody>
      </p:sp>
      <p:sp>
        <p:nvSpPr>
          <p:cNvPr id="8" name="TextBox 7"/>
          <p:cNvSpPr txBox="1"/>
          <p:nvPr/>
        </p:nvSpPr>
        <p:spPr>
          <a:xfrm>
            <a:off x="3321558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2</m:t>
                        </m:r>
                        <m:sSup>
                          <m:sSup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</w:rPr>
                            </m:ctrlPr>
                          </m:sSupPr>
                          <m:e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E</m:t>
                            </m:r>
                          </m:e>
                          <m:sup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</w:rPr>
                            </m:ctrlPr>
                          </m:sSupPr>
                          <m:e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t</m:t>
                            </m:r>
                          </m:e>
                          <m:sup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2</m:t>
                            </m:r>
                          </m:sup>
                        </m:sSup>
                      </m:num>
                      <m:den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mq</m:t>
                        </m:r>
                      </m:den>
                    </m:f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(2E² t²)/(mq)</a:t>
                </a:r>
              </mc:Fallback>
            </mc:AlternateContent>
          </a:p>
        </p:txBody>
      </p:sp>
      <p:sp>
        <p:nvSpPr>
          <p:cNvPr id="9" name="TextBox 8"/>
          <p:cNvSpPr txBox="1"/>
          <p:nvPr/>
        </p:nvSpPr>
        <p:spPr>
          <a:xfrm>
            <a:off x="6185916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sSup>
                          <m:sSup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</w:rPr>
                            </m:ctrlPr>
                          </m:sSupPr>
                          <m:e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E</m:t>
                            </m:r>
                          </m:e>
                          <m:sup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</w:rPr>
                            </m:ctrlPr>
                          </m:sSupPr>
                          <m:e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q</m:t>
                            </m:r>
                          </m:e>
                          <m:sup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</w:rPr>
                            </m:ctrlPr>
                          </m:sSupPr>
                          <m:e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t</m:t>
                            </m:r>
                          </m:e>
                          <m:sup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2</m:t>
                            </m:r>
                          </m:sup>
                        </m:sSup>
                      </m:num>
                      <m:den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2m</m:t>
                        </m:r>
                      </m:den>
                    </m:f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(E² q² t²)/(2m)</a:t>
                </a:r>
              </mc:Fallback>
            </mc:AlternateContent>
          </a:p>
        </p:txBody>
      </p:sp>
      <p:sp>
        <p:nvSpPr>
          <p:cNvPr id="10" name="TextBox 9"/>
          <p:cNvSpPr txBox="1"/>
          <p:nvPr/>
        </p:nvSpPr>
        <p:spPr>
          <a:xfrm>
            <a:off x="9050274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E</m:t>
                        </m:r>
                        <m:sSup>
                          <m:sSup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</w:rPr>
                            </m:ctrlPr>
                          </m:sSupPr>
                          <m:e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q</m:t>
                            </m:r>
                          </m:e>
                          <m:sup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2</m:t>
                            </m:r>
                          </m:sup>
                        </m:sSup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m</m:t>
                        </m:r>
                      </m:num>
                      <m:den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2</m:t>
                        </m:r>
                        <m:sSup>
                          <m:sSup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</w:rPr>
                            </m:ctrlPr>
                          </m:sSupPr>
                          <m:e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t</m:t>
                            </m:r>
                          </m:e>
                          <m:sup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(Eq²m)/(2t²)</a:t>
                </a:r>
              </mc:Fallback>
            </mc:AlternateContent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1217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An electric dipole with dipole moment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4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10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-9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Cm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is aligned at 30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0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with the direction of a uniform electric field of magnitude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5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10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-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4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C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-1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, the magnitude of the torque acting on the dipole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9522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10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-5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Nm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99522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10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-4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Nm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99522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10 x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10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-3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Nm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99522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ad>
                      <m:radPr>
                        <m:degHide m:val="1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radPr>
                      <m:deg/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3</m:t>
                        </m:r>
                      </m:e>
                    </m:rad>
                    <m:r>
                      <w:rPr>
                        <w:rFonts w:ascii="Cambria Math" w:eastAsiaTheme="minorEastAsia" w:hAnsi="Cambria Math" w:cs="Times New Roman"/>
                        <w:sz w:val="24"/>
                      </w:rPr>
                      <m:t>×</m:t>
                    </m:r>
                    <m:sSup>
                      <m:sSupPr>
                        <m:ctrlP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</m:ctrlPr>
                      </m:sSup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10</m:t>
                        </m:r>
                      </m:e>
                      <m:sup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-4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eastAsiaTheme="minorEastAsia" w:hAnsi="Cambria Math" w:cs="Times New Roman"/>
                        <w:sz w:val="24"/>
                      </w:rPr>
                      <m:t xml:space="preserve"> Nm </m:t>
                    </m:r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√(3)×10⁻⁴ Nm</a:t>
                </a:r>
              </mc:Fallback>
            </mc:AlternateContent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Four charges +a, +2q, +q and -2q are placed at the corners of a square ABCD respectively. The force on a unit positive charge kept at the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center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‘O’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Along the diagonal 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Perpendicular to 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Along the diagonal BD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1522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A tiny spherical oil drop carrying a net charge q is balanced in still air, with a vertical uniform electric field of strength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81</m:t>
                        </m:r>
                      </m:num>
                      <m:den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7</m:t>
                        </m:r>
                      </m:den>
                    </m:f>
                    <m:r>
                      <w:rPr>
                        <w:rFonts w:ascii="Cambria Math" w:eastAsiaTheme="minorEastAsia" w:hAnsi="Cambria Math" w:cs="Times New Roman"/>
                        <w:sz w:val="24"/>
                      </w:rPr>
                      <m:t>π×</m:t>
                    </m:r>
                    <m:sSup>
                      <m:sSup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sSup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10</m:t>
                        </m:r>
                      </m:e>
                      <m:sup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5</m:t>
                        </m:r>
                      </m:sup>
                    </m:sSup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(81)/(7) π ×10⁵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V /m. When the field is switched off, the drops is observed to fall with terminal velocity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w:rPr>
                        <w:rFonts w:ascii="Cambria Math" w:eastAsiaTheme="minorEastAsia" w:hAnsi="Cambria Math" w:cs="Times New Roman"/>
                        <w:sz w:val="24"/>
                      </w:rPr>
                      <m:t>2×</m:t>
                    </m:r>
                    <m:sSup>
                      <m:sSup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sSup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10</m:t>
                        </m:r>
                      </m:e>
                      <m:sup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-3</m:t>
                        </m:r>
                      </m:sup>
                    </m:sSup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2 × 10⁻³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ms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-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1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.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Here g=9.8 m/s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2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, Viscosity of air is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1.8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w:rPr>
                        <w:rFonts w:ascii="Cambria Math" w:eastAsiaTheme="minorEastAsia" w:hAnsi="Cambria Math" w:cs="Times New Roman"/>
                        <w:sz w:val="24"/>
                      </w:rPr>
                      <m:t>×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×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 10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-5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Ns /m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2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and the density of oil is 900kgm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-3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. The Magnitude of ’q’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9971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1.6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10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-19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229971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0.8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10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-19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229971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3.2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10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-19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229971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8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10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-19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Which of the statements is false in the case of polar molecules?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477256" cy="811987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Centers of positive and negative charges are separated in the absence of external electric field.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097280"/>
            <a:ext cx="5477256" cy="811987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Centers of positive and negative charges are separated in the presence of external electric field.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54987"/>
            <a:ext cx="5477256" cy="541324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Do not possess permanent dipole moments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954987"/>
            <a:ext cx="5477256" cy="541324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Ionic molecule HCl is the example of polar molecule.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217627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201167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2021 · NEEDS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A 2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-gram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object, located in a region of uniform electric field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acc>
                      <m:accPr>
                        <m:chr m:val="⃗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E</m:t>
                        </m:r>
                      </m:e>
                    </m:acc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E⃗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=(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300NC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-1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acc>
                      <m:acc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i</m:t>
                        </m:r>
                      </m:e>
                    </m:acc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î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  carries a charge Q. The object released from rest at x 0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, has a kinetic energy of 0.12 J at x = 0.5 m. Then Q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400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400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800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800 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Electric field due to infinite, straight uniformly charged wire varies with distance ‘r’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1</m:t>
                        </m:r>
                      </m:num>
                      <m:den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r</m:t>
                        </m:r>
                      </m:den>
                    </m:f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(1)/(r)</a:t>
                </a:r>
              </mc:Fallback>
            </mc:AlternateContent>
          </a:p>
        </p:txBody>
      </p:sp>
      <p:sp>
        <p:nvSpPr>
          <p:cNvPr id="9" name="TextBox 8"/>
          <p:cNvSpPr txBox="1"/>
          <p:nvPr/>
        </p:nvSpPr>
        <p:spPr>
          <a:xfrm>
            <a:off x="6185916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1</m:t>
                        </m:r>
                      </m:num>
                      <m:den>
                        <m:sSup>
                          <m:sSup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</w:rPr>
                            </m:ctrlPr>
                          </m:sSupPr>
                          <m:e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r</m:t>
                            </m:r>
                          </m:e>
                          <m:sup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(1)/(r²)</a:t>
                </a:r>
              </mc:Fallback>
            </mc:AlternateContent>
          </a:p>
        </p:txBody>
      </p:sp>
      <p:sp>
        <p:nvSpPr>
          <p:cNvPr id="10" name="TextBox 9"/>
          <p:cNvSpPr txBox="1"/>
          <p:nvPr/>
        </p:nvSpPr>
        <p:spPr>
          <a:xfrm>
            <a:off x="9050274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2r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1522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A copper rod AB of length l is rotated about end A with a constant angular velocity . The electric field at a distance x from the axis of rotation is
a)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m</m:t>
                        </m:r>
                        <m:sSup>
                          <m:e>
                            <m:r>
                              <m:t>ω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num>
                      <m:den>
                        <m:r>
                          <m:t>e</m:t>
                        </m:r>
                      </m:den>
                    </m:f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(mω² x)/(e)</a:t>
                </a:r>
              </mc:Fallback>
            </mc:AlternateContent>
            <a:r>
              <a:rPr sz="1800" b="1">
                <a:solidFill>
                  <a:srgbClr val="FAD02C"/>
                </a:solidFill>
                <a:latin typeface="Cambria"/>
              </a:rPr>
              <a:t> 		b)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m</m:t>
                        </m:r>
                        <m:r>
                          <m:t>ω</m:t>
                        </m:r>
                        <m:r>
                          <m:t>x</m:t>
                        </m:r>
                      </m:num>
                      <m:den>
                        <m:r>
                          <m:t>e</m:t>
                        </m:r>
                        <m:r>
                          <m:t>l</m:t>
                        </m:r>
                      </m:den>
                    </m:f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(mω x)/(el)</a:t>
                </a:r>
              </mc:Fallback>
            </mc:AlternateContent>
            <a:r>
              <a:rPr sz="1800" b="1">
                <a:solidFill>
                  <a:srgbClr val="FAD02C"/>
                </a:solidFill>
                <a:latin typeface="Cambria"/>
              </a:rPr>
              <a:t>
c)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m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ω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l</m:t>
                        </m:r>
                      </m:den>
                    </m:f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(mx)/(ω²l)</a:t>
                </a:r>
              </mc:Fallback>
            </mc:AlternateContent>
            <a:r>
              <a:rPr sz="1800" b="1">
                <a:solidFill>
                  <a:srgbClr val="FAD02C"/>
                </a:solidFill>
                <a:latin typeface="Cambria"/>
              </a:rPr>
              <a:t>
d)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m</m:t>
                        </m:r>
                        <m:r>
                          <m:t>e</m:t>
                        </m:r>
                      </m:num>
                      <m:den>
                        <m:sSup>
                          <m:e>
                            <m:r>
                              <m:t>ω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(me)/(ω² x)</a:t>
                </a:r>
              </mc:Fallback>
            </mc:AlternateContent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When a soap bubble is charged?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477256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Its radius increases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097280"/>
            <a:ext cx="5477256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Its radius decreases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5477256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The radius remains the same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600200"/>
            <a:ext cx="5477256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Its radius may increase or decrease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electric field lines on the left have twice the separation on those on the right as shown in figure. If the magnitude of the field at A is 40 Vm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-1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, what is the force on 20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C charge kept at B?</a:t>
            </a:r>
          </a:p>
        </p:txBody>
      </p:sp>
      <p:pic>
        <p:nvPicPr>
          <p:cNvPr id="7" name="Picture 6" descr="img_rId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0725"/>
            <a:ext cx="1920240" cy="5212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257653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4x10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-4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Vm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21558" y="2257653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8x10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-4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Vm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85916" y="2257653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16x10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-4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Vm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0274" y="2257653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1x10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-4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Vm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-1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A point charge ‘q’ is placed at the corner of a cube of side ‘a’ as shown in the figure. What is the electric flux through the face ABCD?</a:t>
            </a:r>
          </a:p>
        </p:txBody>
      </p:sp>
      <p:pic>
        <p:nvPicPr>
          <p:cNvPr id="7" name="Picture 6" descr="img_rId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6230"/>
            <a:ext cx="1234440" cy="10789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510942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21558" y="2510942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q</m:t>
                        </m:r>
                      </m:num>
                      <m:den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6</m:t>
                        </m:r>
                        <m:sSub>
                          <m:sSub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</w:rPr>
                            </m:ctrlPr>
                          </m:sSubPr>
                          <m:e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∈</m:t>
                            </m:r>
                          </m:e>
                          <m:sub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0</m:t>
                            </m:r>
                          </m:sub>
                        </m:sSub>
                      </m:den>
                    </m:f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(q)/(6∈₀)</a:t>
                </a:r>
              </mc:Fallback>
            </mc:AlternateContent>
          </a:p>
        </p:txBody>
      </p:sp>
      <p:sp>
        <p:nvSpPr>
          <p:cNvPr id="10" name="TextBox 9"/>
          <p:cNvSpPr txBox="1"/>
          <p:nvPr/>
        </p:nvSpPr>
        <p:spPr>
          <a:xfrm>
            <a:off x="6185916" y="2510942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q</m:t>
                        </m:r>
                      </m:num>
                      <m:den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72</m:t>
                        </m:r>
                        <m:sSub>
                          <m:sSub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</w:rPr>
                            </m:ctrlPr>
                          </m:sSubPr>
                          <m:e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∈</m:t>
                            </m:r>
                          </m:e>
                          <m:sub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0</m:t>
                            </m:r>
                          </m:sub>
                        </m:sSub>
                      </m:den>
                    </m:f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(q)/(72∈₀)</a:t>
                </a:r>
              </mc:Fallback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9050274" y="2510942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q</m:t>
                        </m:r>
                      </m:num>
                      <m:den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24</m:t>
                        </m:r>
                        <m:sSub>
                          <m:sSub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</w:rPr>
                            </m:ctrlPr>
                          </m:sSubPr>
                          <m:e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∈</m:t>
                            </m:r>
                          </m:e>
                          <m:sub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0</m:t>
                            </m:r>
                          </m:sub>
                        </m:sSub>
                      </m:den>
                    </m:f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(q)/(24∈₀)</a:t>
                </a:r>
              </mc:Fallback>
            </mc:AlternateContent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An infinitely long thin straight wire has uniform charge density of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1</m:t>
                        </m:r>
                      </m:num>
                      <m:den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4</m:t>
                        </m:r>
                      </m:den>
                    </m:f>
                    <m:r>
                      <w:rPr>
                        <w:rFonts w:ascii="Cambria Math" w:eastAsiaTheme="minorEastAsia" w:hAnsi="Cambria Math" w:cs="Times New Roman"/>
                        <w:sz w:val="24"/>
                      </w:rPr>
                      <m:t>×</m:t>
                    </m:r>
                    <m:sSup>
                      <m:sSup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sSup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10</m:t>
                        </m:r>
                      </m:e>
                      <m:sup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-2</m:t>
                        </m:r>
                      </m:sup>
                    </m:sSup>
                    <m:r>
                      <w:rPr>
                        <w:rFonts w:ascii="Cambria Math" w:eastAsiaTheme="minorEastAsia" w:hAnsi="Cambria Math" w:cs="Times New Roman"/>
                        <w:sz w:val="24"/>
                      </w:rPr>
                      <m:t>C</m:t>
                    </m:r>
                    <m:sSup>
                      <m:sSup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sSup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m</m:t>
                        </m:r>
                      </m:e>
                      <m:sup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-1</m:t>
                        </m:r>
                      </m:sup>
                    </m:sSup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(1)/(4)×10⁻² Cm⁻¹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. What is the magnitude of electric field at a distance 20 cm from the axis of the wire?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1.12x10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8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NC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4.5x10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8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NC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2.25x10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8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NC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9x10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8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NC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-1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A certain charge 2Q is divided at first into two parts q</a:t>
            </a:r>
            <a:r>
              <a:rPr sz="1800" b="1" i="0" u="none" baseline="-25000">
                <a:solidFill>
                  <a:srgbClr val="FAD02C"/>
                </a:solidFill>
                <a:latin typeface="Cambria"/>
              </a:rPr>
              <a:t>1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and q</a:t>
            </a:r>
            <a:r>
              <a:rPr sz="1800" b="1" i="0" u="none" baseline="-25000">
                <a:solidFill>
                  <a:srgbClr val="FAD02C"/>
                </a:solidFill>
                <a:latin typeface="Cambria"/>
              </a:rPr>
              <a:t>2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. Later the charges are placed at a certain distance. If the force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of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interaction between two charges is maximum then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Q</m:t>
                        </m:r>
                      </m:num>
                      <m:den>
                        <m:sSub>
                          <m:sSub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</w:rPr>
                            </m:ctrlPr>
                          </m:sSubPr>
                          <m:e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q</m:t>
                            </m:r>
                          </m:e>
                          <m:sub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1</m:t>
                            </m:r>
                          </m:sub>
                        </m:sSub>
                      </m:den>
                    </m:f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(Q)/(q₁)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 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0.5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An electric dipole is kept in non-uniform electric field. It generally experiences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A torque but not a force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A force and torque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Neither a force nor a torque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A force but not a torque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magnitude of point charge due to which the electric field 30 cm away has the magnitude 2NC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-1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will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2 × 10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-11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3 × 10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-11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5 × 10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-11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9 × 10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-11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C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1217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force of repulsion between two identical positive charges when kept with a separation r in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air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is F. half the gap between the two charges is filled by a dielectric slab of dielectric constant = 4. Then the new force of repulsion between those two charges becomes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9522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F</m:t>
                        </m:r>
                      </m:num>
                      <m:den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(F)/(3)</a:t>
                </a:r>
              </mc:Fallback>
            </mc:AlternateContent>
          </a:p>
        </p:txBody>
      </p:sp>
      <p:sp>
        <p:nvSpPr>
          <p:cNvPr id="8" name="TextBox 7"/>
          <p:cNvSpPr txBox="1"/>
          <p:nvPr/>
        </p:nvSpPr>
        <p:spPr>
          <a:xfrm>
            <a:off x="3321558" y="199522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F</m:t>
                        </m:r>
                      </m:num>
                      <m:den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2</m:t>
                        </m:r>
                      </m:den>
                    </m:f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(F)/(2)</a:t>
                </a:r>
              </mc:Fallback>
            </mc:AlternateContent>
          </a:p>
        </p:txBody>
      </p:sp>
      <p:sp>
        <p:nvSpPr>
          <p:cNvPr id="9" name="TextBox 8"/>
          <p:cNvSpPr txBox="1"/>
          <p:nvPr/>
        </p:nvSpPr>
        <p:spPr>
          <a:xfrm>
            <a:off x="6185916" y="199522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F</m:t>
                        </m:r>
                      </m:num>
                      <m:den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4</m:t>
                        </m:r>
                      </m:den>
                    </m:f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(F)/(4)</a:t>
                </a:r>
              </mc:Fallback>
            </mc:AlternateContent>
          </a:p>
        </p:txBody>
      </p:sp>
      <p:sp>
        <p:nvSpPr>
          <p:cNvPr id="10" name="TextBox 9"/>
          <p:cNvSpPr txBox="1"/>
          <p:nvPr/>
        </p:nvSpPr>
        <p:spPr>
          <a:xfrm>
            <a:off x="9050274" y="199522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4F</m:t>
                        </m:r>
                      </m:num>
                      <m:den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 xml:space="preserve">9 </m:t>
                        </m:r>
                      </m:den>
                    </m:f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(4F)/(9)</a:t>
                </a:r>
              </mc:Fallback>
            </mc:AlternateContent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Two spheres of electric charges +2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nC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and -8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nC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are placed at a distance d apart. If they are allowed to touch each other, what is the new distance between them to get a repulsive force of same magnitude as before?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d</m:t>
                        </m:r>
                      </m:num>
                      <m:den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2</m:t>
                        </m:r>
                      </m:den>
                    </m:f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(d)/(2)</a:t>
                </a:r>
              </mc:Fallback>
            </mc:AlternateContent>
          </a:p>
        </p:txBody>
      </p:sp>
      <p:sp>
        <p:nvSpPr>
          <p:cNvPr id="8" name="TextBox 7"/>
          <p:cNvSpPr txBox="1"/>
          <p:nvPr/>
        </p:nvSpPr>
        <p:spPr>
          <a:xfrm>
            <a:off x="3321558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3d</m:t>
                        </m:r>
                      </m:num>
                      <m:den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4</m:t>
                        </m:r>
                      </m:den>
                    </m:f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(3d)/(4)</a:t>
                </a:r>
              </mc:Fallback>
            </mc:AlternateContent>
          </a:p>
        </p:txBody>
      </p:sp>
      <p:sp>
        <p:nvSpPr>
          <p:cNvPr id="10" name="TextBox 9"/>
          <p:cNvSpPr txBox="1"/>
          <p:nvPr/>
        </p:nvSpPr>
        <p:spPr>
          <a:xfrm>
            <a:off x="9050274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4d</m:t>
                        </m:r>
                      </m:num>
                      <m:den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 xml:space="preserve">3 </m:t>
                        </m:r>
                      </m:den>
                    </m:f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(4d)/(3)</a:t>
                </a:r>
              </mc:Fallback>
            </mc:AlternateContent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4 × 10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10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electrons are removed from a neutral metal sphere of diameter 20 cm placed in air. The magnitude of the electric field (in NC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-1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) at a distance of 20 cm from its center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5760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640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1440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Three point charges of +2q, +2q and -4q are placed at the corners A, B and C of an equilateral triangle ABC of side ‘x’. The magnitude of the electric dipole moment of this system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2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ad>
                      <m:radPr>
                        <m:degHide m:val="1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radPr>
                      <m:deg/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3</m:t>
                        </m:r>
                      </m:e>
                    </m:rad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√(3)</a:t>
                </a:r>
              </mc:Fallback>
            </mc:AlternateContent>
            <a:r>
              <a:rPr sz="1600" b="1" i="0" u="none">
                <a:solidFill>
                  <a:srgbClr val="F0F0F0"/>
                </a:solidFill>
                <a:latin typeface="Cambria"/>
              </a:rPr>
              <a:t> qx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2qx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3qx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3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ad>
                      <m:radPr>
                        <m:degHide m:val="1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radPr>
                      <m:deg/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2</m:t>
                        </m:r>
                      </m:e>
                    </m:rad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√(2)</a:t>
                </a:r>
              </mc:Fallback>
            </mc:AlternateContent>
            <a:r>
              <a:rPr sz="1600" b="1" i="0" u="none">
                <a:solidFill>
                  <a:srgbClr val="F0F0F0"/>
                </a:solidFill>
                <a:latin typeface="Cambria"/>
              </a:rPr>
              <a:t>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qx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If there is only one type of charge in the universe, then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acc>
                      <m:accPr>
                        <m:chr m:val="⃗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E</m:t>
                        </m:r>
                      </m:e>
                    </m:acc>
                    <m:r>
                      <w:rPr>
                        <w:rFonts w:ascii="Cambria Math" w:eastAsiaTheme="minorEastAsia" w:hAnsi="Cambria Math" w:cs="Times New Roman"/>
                        <w:sz w:val="24"/>
                      </w:rPr>
                      <m:t>→Electric field,</m:t>
                    </m:r>
                    <m:acc>
                      <m:accPr>
                        <m:chr m:val="⃗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ds</m:t>
                        </m:r>
                      </m:e>
                    </m:acc>
                    <m:r>
                      <w:rPr>
                        <w:rFonts w:ascii="Cambria Math" w:eastAsiaTheme="minorEastAsia" w:hAnsi="Cambria Math" w:cs="Times New Roman"/>
                        <w:sz w:val="24"/>
                      </w:rPr>
                      <m:t>→Area vector)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E⃗→Electric field,ds⃗→Area vector)</a:t>
                </a:r>
              </mc:Fallback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386230"/>
            <a:ext cx="5477256" cy="541324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w:rPr>
                        <w:rFonts w:ascii="Cambria Math" w:eastAsiaTheme="minorEastAsia" w:hAnsi="Cambria Math" w:cs="Times New Roman"/>
                        <w:sz w:val="24"/>
                      </w:rPr>
                      <m:t>Φ</m:t>
                    </m:r>
                    <m:acc>
                      <m:accPr>
                        <m:chr m:val="⃗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E</m:t>
                        </m:r>
                      </m:e>
                    </m:acc>
                    <m:r>
                      <w:rPr>
                        <w:rFonts w:ascii="Cambria Math" w:eastAsiaTheme="minorEastAsia" w:hAnsi="Cambria Math" w:cs="Times New Roman"/>
                        <w:sz w:val="24"/>
                      </w:rPr>
                      <m:t xml:space="preserve">. </m:t>
                    </m:r>
                    <m:acc>
                      <m:accPr>
                        <m:chr m:val="⃗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ds</m:t>
                        </m:r>
                      </m:e>
                    </m:acc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Phi E⃗. ds⃗</a:t>
                </a:r>
              </mc:Fallback>
            </mc:AlternateContent>
            <a:r>
              <a:rPr sz="1600" b="1" i="0" u="none">
                <a:solidFill>
                  <a:srgbClr val="F0F0F0"/>
                </a:solidFill>
                <a:latin typeface="Cambria"/>
              </a:rPr>
              <a:t> ≠ 0 on any surface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386230"/>
            <a:ext cx="5477256" cy="541324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w:rPr>
                        <w:rFonts w:ascii="Cambria Math" w:eastAsiaTheme="minorEastAsia" w:hAnsi="Cambria Math" w:cs="Times New Roman"/>
                        <w:sz w:val="24"/>
                      </w:rPr>
                      <m:t>Φ</m:t>
                    </m:r>
                    <m:acc>
                      <m:accPr>
                        <m:chr m:val="⃗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E</m:t>
                        </m:r>
                      </m:e>
                    </m:acc>
                    <m:r>
                      <w:rPr>
                        <w:rFonts w:ascii="Cambria Math" w:eastAsiaTheme="minorEastAsia" w:hAnsi="Cambria Math" w:cs="Times New Roman"/>
                        <w:sz w:val="24"/>
                      </w:rPr>
                      <m:t xml:space="preserve">. </m:t>
                    </m:r>
                    <m:acc>
                      <m:accPr>
                        <m:chr m:val="⃗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ds</m:t>
                        </m:r>
                      </m:e>
                    </m:acc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Phi E⃗. ds⃗</a:t>
                </a:r>
              </mc:Fallback>
            </mc:AlternateContent>
            <a:r>
              <a:rPr sz="1600" b="1" i="0" u="none">
                <a:solidFill>
                  <a:srgbClr val="F0F0F0"/>
                </a:solidFill>
                <a:latin typeface="Cambria"/>
              </a:rPr>
              <a:t> could not be defined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73275"/>
            <a:ext cx="5477256" cy="1082649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w:rPr>
                        <w:rFonts w:ascii="Cambria Math" w:eastAsiaTheme="minorEastAsia" w:hAnsi="Cambria Math" w:cs="Times New Roman"/>
                        <w:sz w:val="24"/>
                      </w:rPr>
                      <m:t>Φ</m:t>
                    </m:r>
                    <m:acc>
                      <m:accPr>
                        <m:chr m:val="⃗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E</m:t>
                        </m:r>
                      </m:e>
                    </m:acc>
                    <m:r>
                      <w:rPr>
                        <w:rFonts w:ascii="Cambria Math" w:eastAsiaTheme="minorEastAsia" w:hAnsi="Cambria Math" w:cs="Times New Roman"/>
                        <w:sz w:val="24"/>
                      </w:rPr>
                      <m:t xml:space="preserve">. </m:t>
                    </m:r>
                    <m:acc>
                      <m:accPr>
                        <m:chr m:val="⃗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ds</m:t>
                        </m:r>
                      </m:e>
                    </m:acc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Phi E⃗. ds⃗</a:t>
                </a:r>
              </mc:Fallback>
            </mc:AlternateContent>
            <a:r>
              <a:rPr sz="1600" b="1" i="0" u="none">
                <a:solidFill>
                  <a:srgbClr val="F0F0F0"/>
                </a:solidFill>
                <a:latin typeface="Cambria"/>
              </a:rPr>
              <a:t> = ∞ if charge is inside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973275"/>
            <a:ext cx="5477256" cy="1082649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w:rPr>
                        <w:rFonts w:ascii="Cambria Math" w:eastAsiaTheme="minorEastAsia" w:hAnsi="Cambria Math" w:cs="Times New Roman"/>
                        <w:sz w:val="24"/>
                      </w:rPr>
                      <m:t>Φ</m:t>
                    </m:r>
                    <m:acc>
                      <m:accPr>
                        <m:chr m:val="⃗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E</m:t>
                        </m:r>
                      </m:e>
                    </m:acc>
                    <m:r>
                      <w:rPr>
                        <w:rFonts w:ascii="Cambria Math" w:eastAsiaTheme="minorEastAsia" w:hAnsi="Cambria Math" w:cs="Times New Roman"/>
                        <w:sz w:val="24"/>
                      </w:rPr>
                      <m:t xml:space="preserve">. </m:t>
                    </m:r>
                    <m:acc>
                      <m:accPr>
                        <m:chr m:val="⃗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ds</m:t>
                        </m:r>
                      </m:e>
                    </m:acc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Phi E⃗. ds⃗</a:t>
                </a:r>
              </mc:Fallback>
            </mc:AlternateContent>
            <a:r>
              <a:rPr sz="1600" b="1" i="0" u="none">
                <a:solidFill>
                  <a:srgbClr val="F0F0F0"/>
                </a:solidFill>
                <a:latin typeface="Cambria"/>
              </a:rPr>
              <a:t> = 0 if charge is outside, =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q</m:t>
                        </m:r>
                      </m:num>
                      <m:den>
                        <m:sSub>
                          <m:sSub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</w:rPr>
                            </m:ctrlPr>
                          </m:sSubPr>
                          <m:e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ε</m:t>
                            </m:r>
                          </m:e>
                          <m:sub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0</m:t>
                            </m:r>
                          </m:sub>
                        </m:sSub>
                      </m:den>
                    </m:f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(q)/(ε₀)</a:t>
                </a:r>
              </mc:Fallback>
            </mc:AlternateContent>
            <a:r>
              <a:rPr sz="1600" b="1" i="0" u="none">
                <a:solidFill>
                  <a:srgbClr val="F0F0F0"/>
                </a:solidFill>
                <a:latin typeface="Cambria"/>
              </a:rPr>
              <a:t> if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  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charge is inside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An electron of mass m, charge e falls through a distance h meter in a uniform electric field E. Then time of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t =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ad>
                      <m:radPr>
                        <m:degHide m:val="1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radPr>
                      <m:deg/>
                      <m:e>
                        <m:f>
                          <m:f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</w:rPr>
                            </m:ctrlPr>
                          </m:fPr>
                          <m:num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2</m:t>
                            </m:r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hm</m:t>
                            </m:r>
                          </m:num>
                          <m:den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eE</m:t>
                            </m:r>
                          </m:den>
                        </m:f>
                      </m:e>
                    </m:rad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√((2hm)/(eE))</a:t>
                </a:r>
              </mc:Fallback>
            </mc:AlternateContent>
          </a:p>
        </p:txBody>
      </p:sp>
      <p:sp>
        <p:nvSpPr>
          <p:cNvPr id="8" name="TextBox 7"/>
          <p:cNvSpPr txBox="1"/>
          <p:nvPr/>
        </p:nvSpPr>
        <p:spPr>
          <a:xfrm>
            <a:off x="3321558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t =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2</m:t>
                        </m:r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hm</m:t>
                        </m:r>
                      </m:num>
                      <m:den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eE</m:t>
                        </m:r>
                      </m:den>
                    </m:f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(2hm)/(eE)</a:t>
                </a:r>
              </mc:Fallback>
            </mc:AlternateContent>
          </a:p>
        </p:txBody>
      </p:sp>
      <p:sp>
        <p:nvSpPr>
          <p:cNvPr id="9" name="TextBox 8"/>
          <p:cNvSpPr txBox="1"/>
          <p:nvPr/>
        </p:nvSpPr>
        <p:spPr>
          <a:xfrm>
            <a:off x="6185916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t =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ad>
                      <m:radPr>
                        <m:degHide m:val="1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radPr>
                      <m:deg/>
                      <m:e>
                        <m:f>
                          <m:f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</w:rPr>
                            </m:ctrlPr>
                          </m:fPr>
                          <m:num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2eE</m:t>
                            </m:r>
                          </m:num>
                          <m:den>
                            <m:r>
                              <w:rPr>
                                <w:rFonts w:ascii="Cambria Math" w:eastAsiaTheme="minorEastAsia" w:hAnsi="Cambria Math" w:cs="Times New Roman"/>
                                <w:sz w:val="24"/>
                              </w:rPr>
                              <m:t>hm</m:t>
                            </m:r>
                          </m:den>
                        </m:f>
                      </m:e>
                    </m:rad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√((2eE)/(hm))</a:t>
                </a:r>
              </mc:Fallback>
            </mc:AlternateContent>
          </a:p>
        </p:txBody>
      </p:sp>
      <p:sp>
        <p:nvSpPr>
          <p:cNvPr id="10" name="TextBox 9"/>
          <p:cNvSpPr txBox="1"/>
          <p:nvPr/>
        </p:nvSpPr>
        <p:spPr>
          <a:xfrm>
            <a:off x="9050274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t =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fPr>
                      <m:num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2eE</m:t>
                        </m:r>
                      </m:num>
                      <m:den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hm</m:t>
                        </m:r>
                      </m:den>
                    </m:f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(2eE)/(hm)</a:t>
                </a:r>
              </mc:Fallback>
            </mc:AlternateContent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If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acc>
                      <m:accPr>
                        <m:chr m:val="⃗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E</m:t>
                        </m:r>
                      </m:e>
                    </m:acc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E⃗</a:t>
                </a:r>
              </mc:Fallback>
            </mc:AlternateContent>
            <a:r>
              <a:rPr sz="1800" b="1" i="0" u="none" baseline="-25000">
                <a:solidFill>
                  <a:srgbClr val="FAD02C"/>
                </a:solidFill>
                <a:latin typeface="Cambria"/>
              </a:rPr>
              <a:t>ax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and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acc>
                      <m:accPr>
                        <m:chr m:val="⃗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E</m:t>
                        </m:r>
                      </m:e>
                    </m:acc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E⃗</a:t>
                </a:r>
              </mc:Fallback>
            </mc:AlternateContent>
            <a:r>
              <a:rPr sz="1800" b="1" i="0" u="none" baseline="-25000">
                <a:solidFill>
                  <a:srgbClr val="FAD02C"/>
                </a:solidFill>
                <a:latin typeface="Cambria"/>
              </a:rPr>
              <a:t>eq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represents electric field at a point on the axial and equatorial line of a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dipole. If points are at a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distance r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from the center of the dipole, for r &gt;&gt;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0725"/>
            <a:ext cx="5477256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acc>
                      <m:accPr>
                        <m:chr m:val="⃗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E</m:t>
                        </m:r>
                      </m:e>
                    </m:acc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E⃗</a:t>
                </a:r>
              </mc:Fallback>
            </mc:AlternateContent>
            <a:r>
              <a:rPr sz="1600" b="1" i="0" u="none" baseline="-25000">
                <a:solidFill>
                  <a:srgbClr val="F0F0F0"/>
                </a:solidFill>
                <a:latin typeface="Cambria"/>
              </a:rPr>
              <a:t>ax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=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acc>
                      <m:accPr>
                        <m:chr m:val="⃗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E</m:t>
                        </m:r>
                      </m:e>
                    </m:acc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E⃗</a:t>
                </a:r>
              </mc:Fallback>
            </mc:AlternateContent>
            <a:r>
              <a:rPr sz="1600" b="1" i="0" u="none" baseline="-25000">
                <a:solidFill>
                  <a:srgbClr val="F0F0F0"/>
                </a:solidFill>
                <a:latin typeface="Cambria"/>
              </a:rPr>
              <a:t>eq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690725"/>
            <a:ext cx="5477256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acc>
                      <m:accPr>
                        <m:chr m:val="⃗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E</m:t>
                        </m:r>
                      </m:e>
                    </m:acc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E⃗</a:t>
                </a:r>
              </mc:Fallback>
            </mc:AlternateContent>
            <a:r>
              <a:rPr sz="1600" b="1" i="0" u="none" baseline="-25000">
                <a:solidFill>
                  <a:srgbClr val="F0F0F0"/>
                </a:solidFill>
                <a:latin typeface="Cambria"/>
              </a:rPr>
              <a:t>ax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=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w:rPr>
                        <w:rFonts w:ascii="Cambria Math" w:eastAsiaTheme="minorEastAsia" w:hAnsi="Cambria Math" w:cs="Times New Roman"/>
                        <w:sz w:val="24"/>
                      </w:rPr>
                      <m:t>-</m:t>
                    </m:r>
                    <m:acc>
                      <m:accPr>
                        <m:chr m:val="⃗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E</m:t>
                        </m:r>
                      </m:e>
                    </m:acc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-E⃗</a:t>
                </a:r>
              </mc:Fallback>
            </mc:AlternateContent>
            <a:r>
              <a:rPr sz="1600" b="1" i="0" u="none" baseline="-25000">
                <a:solidFill>
                  <a:srgbClr val="F0F0F0"/>
                </a:solidFill>
                <a:latin typeface="Cambria"/>
              </a:rPr>
              <a:t>eq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3645"/>
            <a:ext cx="5477256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acc>
                      <m:accPr>
                        <m:chr m:val="⃗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E</m:t>
                        </m:r>
                      </m:e>
                    </m:acc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E⃗</a:t>
                </a:r>
              </mc:Fallback>
            </mc:AlternateContent>
            <a:r>
              <a:rPr sz="1600" b="1" i="0" u="none" baseline="-25000">
                <a:solidFill>
                  <a:srgbClr val="F0F0F0"/>
                </a:solidFill>
                <a:latin typeface="Cambria"/>
              </a:rPr>
              <a:t>ax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=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w:rPr>
                        <w:rFonts w:ascii="Cambria Math" w:eastAsiaTheme="minorEastAsia" w:hAnsi="Cambria Math" w:cs="Times New Roman"/>
                        <w:sz w:val="24"/>
                      </w:rPr>
                      <m:t>-2</m:t>
                    </m:r>
                    <m:acc>
                      <m:accPr>
                        <m:chr m:val="⃗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E</m:t>
                        </m:r>
                      </m:e>
                    </m:acc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-2E⃗</a:t>
                </a:r>
              </mc:Fallback>
            </mc:AlternateContent>
            <a:r>
              <a:rPr sz="1600" b="1" i="0" u="none" baseline="-25000">
                <a:solidFill>
                  <a:srgbClr val="F0F0F0"/>
                </a:solidFill>
                <a:latin typeface="Cambria"/>
              </a:rPr>
              <a:t>eq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193645"/>
            <a:ext cx="5477256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w:rPr>
                        <w:rFonts w:ascii="Cambria Math" w:eastAsiaTheme="minorEastAsia" w:hAnsi="Cambria Math" w:cs="Times New Roman"/>
                        <w:sz w:val="24"/>
                      </w:rPr>
                      <m:t>2</m:t>
                    </m:r>
                    <m:acc>
                      <m:accPr>
                        <m:chr m:val="⃗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E</m:t>
                        </m:r>
                      </m:e>
                    </m:acc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2E⃗</a:t>
                </a:r>
              </mc:Fallback>
            </mc:AlternateContent>
            <a:r>
              <a:rPr sz="1600" b="1" i="0" u="none" baseline="-25000">
                <a:solidFill>
                  <a:srgbClr val="F0F0F0"/>
                </a:solidFill>
                <a:latin typeface="Cambria"/>
              </a:rPr>
              <a:t>ax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=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acc>
                      <m:accPr>
                        <m:chr m:val="⃗"/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</w:rPr>
                        </m:ctrlPr>
                      </m:accPr>
                      <m:e>
                        <m:r>
                          <w:rPr>
                            <w:rFonts w:ascii="Cambria Math" w:eastAsiaTheme="minorEastAsia" w:hAnsi="Cambria Math" w:cs="Times New Roman"/>
                            <w:sz w:val="24"/>
                          </w:rPr>
                          <m:t>E</m:t>
                        </m:r>
                      </m:e>
                    </m:acc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E⃗</a:t>
                </a:r>
              </mc:Fallback>
            </mc:AlternateContent>
            <a:r>
              <a:rPr sz="1600" b="1" i="0" u="none" baseline="-25000">
                <a:solidFill>
                  <a:srgbClr val="F0F0F0"/>
                </a:solidFill>
                <a:latin typeface="Cambria"/>
              </a:rPr>
              <a:t>eq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angle between the dipole moment and electric field at any point on the equatorial plane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90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45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0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180</a:t>
            </a:r>
            <a:r>
              <a:rPr sz="1600" b="1" i="0" u="none" baseline="30000">
                <a:solidFill>
                  <a:srgbClr val="F0F0F0"/>
                </a:solidFill>
                <a:latin typeface="Cambria"/>
              </a:rPr>
              <a:t>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Pick out the statement which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477256" cy="541324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The electric field lines forms closed loop.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097280"/>
            <a:ext cx="5477256" cy="541324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Field lines never intersect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84324"/>
            <a:ext cx="5477256" cy="811987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The tangent drawn to a line of force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  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represents the direction of electric 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684324"/>
            <a:ext cx="5477256" cy="811987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A negative test charge experiences a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force opposite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 to the direction of the field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Two spheres carrying charges +6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𝜇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C and f+9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𝜇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C, separated by a distance d, experiences a force of repulsion F. When a charge of -3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𝜇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C is given to both the sphere and kept at the same distance as before, the new force of repulsion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3F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F/9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690725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F/3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