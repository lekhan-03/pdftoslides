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r>
              <a:rPr sz="4400" b="1" i="0">
                <a:solidFill>
                  <a:srgbClr val="FAD02C"/>
                </a:solidFill>
                <a:latin typeface="Cambria"/>
              </a:rPr>
              <a:t>Chemistry Neet — Practice Deck</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1" i="0">
                <a:solidFill>
                  <a:srgbClr val="AAAAAA"/>
                </a:solidFill>
                <a:latin typeface="Cambria"/>
              </a:rPr>
              <a:t>78 Questions (5 Flagged for Review) · Exam Prep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1522475"/>
          </a:xfrm>
          <a:prstGeom prst="rect">
            <a:avLst/>
          </a:prstGeom>
          <a:noFill/>
        </p:spPr>
        <p:txBody>
          <a:bodyPr wrap="square" lIns="0" rIns="0" tIns="0" bIns="0">
            <a:spAutoFit/>
          </a:bodyPr>
          <a:lstStyle/>
          <a:p>
            <a:r>
              <a:rPr sz="1800" b="1" i="0" u="none">
                <a:solidFill>
                  <a:srgbClr val="FAD02C"/>
                </a:solidFill>
                <a:latin typeface="Cambria"/>
              </a:rPr>
              <a:t>Assertion A:</a:t>
            </a:r>
            <a:r>
              <a:rPr sz="1800" b="1" i="0" u="none">
                <a:solidFill>
                  <a:srgbClr val="FAD02C"/>
                </a:solidFill>
                <a:latin typeface="Cambria"/>
              </a:rPr>
              <a:t> For an ideal solution formed by mixing liquids P and Q, </a:t>
            </a:r>
            <a:r>
              <a:rPr sz="1800" b="1" i="0">
                <a:solidFill>
                  <a:srgbClr val="FAD02C"/>
                </a:solidFill>
                <a:latin typeface="Cambria"/>
              </a:rPr>
              <a:t>∆_mixH=0</a:t>
            </a:r>
            <a:r>
              <a:rPr sz="1800" b="1" i="0" u="none">
                <a:solidFill>
                  <a:srgbClr val="FAD02C"/>
                </a:solidFill>
                <a:latin typeface="Cambria"/>
              </a:rPr>
              <a:t>and</a:t>
            </a:r>
            <a:r>
              <a:rPr sz="1800" b="1" i="0" u="none">
                <a:solidFill>
                  <a:srgbClr val="FAD02C"/>
                </a:solidFill>
                <a:latin typeface="Cambria"/>
              </a:rPr>
              <a:t> </a:t>
            </a:r>
            <a:r>
              <a:rPr sz="1800" b="1" i="0">
                <a:solidFill>
                  <a:srgbClr val="FAD02C"/>
                </a:solidFill>
                <a:latin typeface="Cambria"/>
              </a:rPr>
              <a:t>∆_mix</a:t>
            </a:r>
            <a:r>
              <a:rPr sz="1800" b="1" i="0" u="none">
                <a:solidFill>
                  <a:srgbClr val="FAD02C"/>
                </a:solidFill>
                <a:latin typeface="Cambria"/>
              </a:rPr>
              <a:t>V = 0.</a:t>
            </a:r>
            <a:br/>
            <a:r>
              <a:rPr sz="1800" b="1" i="0" u="none">
                <a:solidFill>
                  <a:srgbClr val="FAD02C"/>
                </a:solidFill>
                <a:latin typeface="Cambria"/>
              </a:rPr>
              <a:t>Reason R:</a:t>
            </a:r>
            <a:r>
              <a:rPr sz="1800" b="1" i="0" u="none">
                <a:solidFill>
                  <a:srgbClr val="FAD02C"/>
                </a:solidFill>
                <a:latin typeface="Cambria"/>
              </a:rPr>
              <a:t> No interactions occur between P and Q.</a:t>
            </a:r>
            <a:br/>
            <a:r>
              <a:rPr sz="1800" b="1" i="0" u="none">
                <a:solidFill>
                  <a:srgbClr val="FAD02C"/>
                </a:solidFill>
                <a:latin typeface="Cambria"/>
              </a:rPr>
              <a:t>In the light of the above statements, choose the most appropriate answer from the options given below.</a:t>
            </a:r>
          </a:p>
        </p:txBody>
      </p:sp>
      <p:sp>
        <p:nvSpPr>
          <p:cNvPr id="7" name="TextBox 6"/>
          <p:cNvSpPr txBox="1"/>
          <p:nvPr/>
        </p:nvSpPr>
        <p:spPr>
          <a:xfrm>
            <a:off x="457200"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is not correct but R is correct.</a:t>
            </a:r>
          </a:p>
        </p:txBody>
      </p:sp>
      <p:sp>
        <p:nvSpPr>
          <p:cNvPr id="8" name="TextBox 7"/>
          <p:cNvSpPr txBox="1"/>
          <p:nvPr/>
        </p:nvSpPr>
        <p:spPr>
          <a:xfrm>
            <a:off x="6254496" y="2299715"/>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a:solidFill>
                  <a:srgbClr val="00B0F0"/>
                </a:solidFill>
                <a:latin typeface="Cambria"/>
              </a:rPr>
              <a:t>Both A and R are correct and R is the correct explanation of
A.</a:t>
            </a:r>
          </a:p>
        </p:txBody>
      </p:sp>
      <p:sp>
        <p:nvSpPr>
          <p:cNvPr id="9" name="TextBox 8"/>
          <p:cNvSpPr txBox="1"/>
          <p:nvPr/>
        </p:nvSpPr>
        <p:spPr>
          <a:xfrm>
            <a:off x="457200"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Both A and R are correct but R is not the correct explanation of
A.</a:t>
            </a:r>
          </a:p>
        </p:txBody>
      </p:sp>
      <p:sp>
        <p:nvSpPr>
          <p:cNvPr id="10" name="TextBox 9"/>
          <p:cNvSpPr txBox="1"/>
          <p:nvPr/>
        </p:nvSpPr>
        <p:spPr>
          <a:xfrm>
            <a:off x="6254496" y="3157423"/>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is correct but R is not correct.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Consider the following statements about the solutions formed by mixing two liquids.</a:t>
            </a:r>
          </a:p>
        </p:txBody>
      </p:sp>
      <p:sp>
        <p:nvSpPr>
          <p:cNvPr id="7" name="TextBox 6"/>
          <p:cNvSpPr txBox="1"/>
          <p:nvPr/>
        </p:nvSpPr>
        <p:spPr>
          <a:xfrm>
            <a:off x="731520" y="1386230"/>
            <a:ext cx="11000232" cy="608990"/>
          </a:xfrm>
          <a:prstGeom prst="rect">
            <a:avLst/>
          </a:prstGeom>
          <a:noFill/>
        </p:spPr>
        <p:txBody>
          <a:bodyPr wrap="square" lIns="0" rIns="0" tIns="0" bIns="0">
            <a:spAutoFit/>
          </a:bodyPr>
          <a:lstStyle/>
          <a:p>
            <a:r>
              <a:rPr sz="1800" b="1" i="0" u="none">
                <a:solidFill>
                  <a:srgbClr val="FAD02C"/>
                </a:solidFill>
                <a:latin typeface="Cambria"/>
              </a:rPr>
              <a:t>A. An ideal solution thus formed obeys Raoult’s law throughout the composition range.</a:t>
            </a:r>
          </a:p>
        </p:txBody>
      </p:sp>
      <p:sp>
        <p:nvSpPr>
          <p:cNvPr id="8" name="TextBox 7"/>
          <p:cNvSpPr txBox="1"/>
          <p:nvPr/>
        </p:nvSpPr>
        <p:spPr>
          <a:xfrm>
            <a:off x="731520" y="2040940"/>
            <a:ext cx="11000232" cy="608990"/>
          </a:xfrm>
          <a:prstGeom prst="rect">
            <a:avLst/>
          </a:prstGeom>
          <a:noFill/>
        </p:spPr>
        <p:txBody>
          <a:bodyPr wrap="square" lIns="0" rIns="0" tIns="0" bIns="0">
            <a:spAutoFit/>
          </a:bodyPr>
          <a:lstStyle/>
          <a:p>
            <a:r>
              <a:rPr sz="1800" b="1" i="0" u="none">
                <a:solidFill>
                  <a:srgbClr val="FAD02C"/>
                </a:solidFill>
                <a:latin typeface="Cambria"/>
              </a:rPr>
              <a:t>B. Mixture of chloroform and acetone shows negative deviation from Raoult’s law.</a:t>
            </a:r>
          </a:p>
        </p:txBody>
      </p:sp>
      <p:sp>
        <p:nvSpPr>
          <p:cNvPr id="9" name="TextBox 8"/>
          <p:cNvSpPr txBox="1"/>
          <p:nvPr/>
        </p:nvSpPr>
        <p:spPr>
          <a:xfrm>
            <a:off x="731520" y="2695651"/>
            <a:ext cx="11000232" cy="320040"/>
          </a:xfrm>
          <a:prstGeom prst="rect">
            <a:avLst/>
          </a:prstGeom>
          <a:noFill/>
        </p:spPr>
        <p:txBody>
          <a:bodyPr wrap="square" lIns="0" rIns="0" tIns="0" bIns="0">
            <a:spAutoFit/>
          </a:bodyPr>
          <a:lstStyle/>
          <a:p>
            <a:r>
              <a:rPr sz="1800" b="1" i="0" u="none">
                <a:solidFill>
                  <a:srgbClr val="FAD02C"/>
                </a:solidFill>
                <a:latin typeface="Cambria"/>
              </a:rPr>
              <a:t>C. Mixture of aniline and phenol shows positive deviation from Raoult’s law.</a:t>
            </a:r>
          </a:p>
        </p:txBody>
      </p:sp>
      <p:sp>
        <p:nvSpPr>
          <p:cNvPr id="10" name="TextBox 9"/>
          <p:cNvSpPr txBox="1"/>
          <p:nvPr/>
        </p:nvSpPr>
        <p:spPr>
          <a:xfrm>
            <a:off x="457200"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and C only</a:t>
            </a:r>
          </a:p>
        </p:txBody>
      </p:sp>
      <p:sp>
        <p:nvSpPr>
          <p:cNvPr id="11" name="TextBox 10"/>
          <p:cNvSpPr txBox="1"/>
          <p:nvPr/>
        </p:nvSpPr>
        <p:spPr>
          <a:xfrm>
            <a:off x="3321558"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 and B only</a:t>
            </a:r>
          </a:p>
        </p:txBody>
      </p:sp>
      <p:sp>
        <p:nvSpPr>
          <p:cNvPr id="12" name="TextBox 11"/>
          <p:cNvSpPr txBox="1"/>
          <p:nvPr/>
        </p:nvSpPr>
        <p:spPr>
          <a:xfrm>
            <a:off x="6185916"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B and C only</a:t>
            </a:r>
          </a:p>
        </p:txBody>
      </p:sp>
      <p:sp>
        <p:nvSpPr>
          <p:cNvPr id="13" name="TextBox 12"/>
          <p:cNvSpPr txBox="1"/>
          <p:nvPr/>
        </p:nvSpPr>
        <p:spPr>
          <a:xfrm>
            <a:off x="9050274" y="306141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Identify the correct statements</a:t>
            </a:r>
          </a:p>
        </p:txBody>
      </p:sp>
      <p:sp>
        <p:nvSpPr>
          <p:cNvPr id="7" name="TextBox 6"/>
          <p:cNvSpPr txBox="1"/>
          <p:nvPr/>
        </p:nvSpPr>
        <p:spPr>
          <a:xfrm>
            <a:off x="731520" y="1097280"/>
            <a:ext cx="11000232" cy="608990"/>
          </a:xfrm>
          <a:prstGeom prst="rect">
            <a:avLst/>
          </a:prstGeom>
          <a:noFill/>
        </p:spPr>
        <p:txBody>
          <a:bodyPr wrap="square" lIns="0" rIns="0" tIns="0" bIns="0">
            <a:spAutoFit/>
          </a:bodyPr>
          <a:lstStyle/>
          <a:p>
            <a:r>
              <a:rPr sz="1800" b="1" i="0" u="none">
                <a:solidFill>
                  <a:srgbClr val="FAD02C"/>
                </a:solidFill>
                <a:latin typeface="Cambria"/>
              </a:rPr>
              <a:t>A. The molality of 2.5 g of ethanoic acid (Molar mass: 60 g mol⁻¹) in 75 g of benzene solution is 0.556 m.</a:t>
            </a:r>
          </a:p>
        </p:txBody>
      </p:sp>
      <p:sp>
        <p:nvSpPr>
          <p:cNvPr id="8" name="TextBox 7"/>
          <p:cNvSpPr txBox="1"/>
          <p:nvPr/>
        </p:nvSpPr>
        <p:spPr>
          <a:xfrm>
            <a:off x="731520" y="1751990"/>
            <a:ext cx="11000232" cy="608990"/>
          </a:xfrm>
          <a:prstGeom prst="rect">
            <a:avLst/>
          </a:prstGeom>
          <a:noFill/>
        </p:spPr>
        <p:txBody>
          <a:bodyPr wrap="square" lIns="0" rIns="0" tIns="0" bIns="0">
            <a:spAutoFit/>
          </a:bodyPr>
          <a:lstStyle/>
          <a:p>
            <a:r>
              <a:rPr sz="1800" b="1" i="0" u="none">
                <a:solidFill>
                  <a:srgbClr val="FAD02C"/>
                </a:solidFill>
                <a:latin typeface="Cambria"/>
              </a:rPr>
              <a:t>B. The molarity of a solution containing 5 g of NaOH (molar mass: 40 g mol⁻¹) in 450 mL of solution is 0.278 M at 298 K.</a:t>
            </a:r>
          </a:p>
        </p:txBody>
      </p:sp>
      <p:sp>
        <p:nvSpPr>
          <p:cNvPr id="9" name="TextBox 8"/>
          <p:cNvSpPr txBox="1"/>
          <p:nvPr/>
        </p:nvSpPr>
        <p:spPr>
          <a:xfrm>
            <a:off x="731520" y="2406700"/>
            <a:ext cx="11000232" cy="320040"/>
          </a:xfrm>
          <a:prstGeom prst="rect">
            <a:avLst/>
          </a:prstGeom>
          <a:noFill/>
        </p:spPr>
        <p:txBody>
          <a:bodyPr wrap="square" lIns="0" rIns="0" tIns="0" bIns="0">
            <a:spAutoFit/>
          </a:bodyPr>
          <a:lstStyle/>
          <a:p>
            <a:r>
              <a:rPr sz="1800" b="1" i="0" u="none">
                <a:solidFill>
                  <a:srgbClr val="FAD02C"/>
                </a:solidFill>
                <a:latin typeface="Cambria"/>
              </a:rPr>
              <a:t>C. Aquatic species are more comfortable in cold water.</a:t>
            </a:r>
          </a:p>
        </p:txBody>
      </p:sp>
      <p:sp>
        <p:nvSpPr>
          <p:cNvPr id="10" name="TextBox 9"/>
          <p:cNvSpPr txBox="1"/>
          <p:nvPr/>
        </p:nvSpPr>
        <p:spPr>
          <a:xfrm>
            <a:off x="731520" y="2772460"/>
            <a:ext cx="11000232" cy="320040"/>
          </a:xfrm>
          <a:prstGeom prst="rect">
            <a:avLst/>
          </a:prstGeom>
          <a:noFill/>
        </p:spPr>
        <p:txBody>
          <a:bodyPr wrap="square" lIns="0" rIns="0" tIns="0" bIns="0">
            <a:spAutoFit/>
          </a:bodyPr>
          <a:lstStyle/>
          <a:p>
            <a:r>
              <a:rPr sz="1800" b="1" i="0" u="none">
                <a:solidFill>
                  <a:srgbClr val="FAD02C"/>
                </a:solidFill>
                <a:latin typeface="Cambria"/>
              </a:rPr>
              <a:t>D. The solubility of gas increases with decrease in pressure.</a:t>
            </a:r>
          </a:p>
        </p:txBody>
      </p:sp>
      <p:sp>
        <p:nvSpPr>
          <p:cNvPr id="11" name="TextBox 10"/>
          <p:cNvSpPr txBox="1"/>
          <p:nvPr/>
        </p:nvSpPr>
        <p:spPr>
          <a:xfrm>
            <a:off x="731520" y="3138220"/>
            <a:ext cx="11000232" cy="1217980"/>
          </a:xfrm>
          <a:prstGeom prst="rect">
            <a:avLst/>
          </a:prstGeom>
          <a:noFill/>
        </p:spPr>
        <p:txBody>
          <a:bodyPr wrap="square" lIns="0" rIns="0" tIns="0" bIns="0">
            <a:spAutoFit/>
          </a:bodyPr>
          <a:lstStyle/>
          <a:p>
            <a:r>
              <a:rPr sz="1800" b="1" i="0" u="none">
                <a:solidFill>
                  <a:srgbClr val="FAD02C"/>
                </a:solidFill>
                <a:latin typeface="Cambria"/>
              </a:rPr>
              <a:t>E. For a binary mixture of A and B, the number of moles of A and B are n</a:t>
            </a:r>
            <a:r>
              <a:rPr sz="1800" b="1" i="0" u="none" baseline="-25000">
                <a:solidFill>
                  <a:srgbClr val="FAD02C"/>
                </a:solidFill>
                <a:latin typeface="Cambria"/>
              </a:rPr>
              <a:t>A</a:t>
            </a:r>
            <a:r>
              <a:rPr sz="1800" b="1" i="0" u="none">
                <a:solidFill>
                  <a:srgbClr val="FAD02C"/>
                </a:solidFill>
                <a:latin typeface="Cambria"/>
              </a:rPr>
              <a:t> and n</a:t>
            </a:r>
            <a:r>
              <a:rPr sz="1800" b="1" i="0" u="none" baseline="-25000">
                <a:solidFill>
                  <a:srgbClr val="FAD02C"/>
                </a:solidFill>
                <a:latin typeface="Cambria"/>
              </a:rPr>
              <a:t>B</a:t>
            </a:r>
            <a:r>
              <a:rPr sz="1800" b="1" i="0" u="none">
                <a:solidFill>
                  <a:srgbClr val="FAD02C"/>
                </a:solidFill>
                <a:latin typeface="Cambria"/>
              </a:rPr>
              <a:t>, respectively. The mole fraction of B will be </a:t>
            </a:r>
            <a:r>
              <a:rPr sz="1800" b="1" i="0">
                <a:solidFill>
                  <a:srgbClr val="FAD02C"/>
                </a:solidFill>
                <a:latin typeface="Cambria"/>
              </a:rPr>
              <a:t>x_B=(n_A)/(n_A+n_B)</a:t>
            </a:r>
            <a:br/>
            <a:r>
              <a:rPr sz="1800" b="1" i="0" u="none">
                <a:solidFill>
                  <a:srgbClr val="FAD02C"/>
                </a:solidFill>
                <a:latin typeface="Cambria"/>
              </a:rPr>
              <a:t>Choose the correct answer from the option given below:</a:t>
            </a:r>
          </a:p>
        </p:txBody>
      </p:sp>
      <p:sp>
        <p:nvSpPr>
          <p:cNvPr id="12" name="TextBox 11"/>
          <p:cNvSpPr txBox="1"/>
          <p:nvPr/>
        </p:nvSpPr>
        <p:spPr>
          <a:xfrm>
            <a:off x="457200"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 and C only</a:t>
            </a:r>
          </a:p>
        </p:txBody>
      </p:sp>
      <p:sp>
        <p:nvSpPr>
          <p:cNvPr id="13" name="TextBox 12"/>
          <p:cNvSpPr txBox="1"/>
          <p:nvPr/>
        </p:nvSpPr>
        <p:spPr>
          <a:xfrm>
            <a:off x="3321558"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 B and C only</a:t>
            </a:r>
          </a:p>
        </p:txBody>
      </p:sp>
      <p:sp>
        <p:nvSpPr>
          <p:cNvPr id="14" name="TextBox 13"/>
          <p:cNvSpPr txBox="1"/>
          <p:nvPr/>
        </p:nvSpPr>
        <p:spPr>
          <a:xfrm>
            <a:off x="6185916"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 D and E only</a:t>
            </a:r>
          </a:p>
        </p:txBody>
      </p:sp>
      <p:sp>
        <p:nvSpPr>
          <p:cNvPr id="15" name="TextBox 14"/>
          <p:cNvSpPr txBox="1"/>
          <p:nvPr/>
        </p:nvSpPr>
        <p:spPr>
          <a:xfrm>
            <a:off x="9050274" y="4401921"/>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and B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Mixture of chloroform and acetone forms a solution with negative deviation from Raoult's law due to</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formation of hydrogen bonding between acetone and chloroform</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increase in escaping tendency of molecules of each component</a:t>
            </a:r>
          </a:p>
        </p:txBody>
      </p:sp>
      <p:sp>
        <p:nvSpPr>
          <p:cNvPr id="9" name="TextBox 8"/>
          <p:cNvSpPr txBox="1"/>
          <p:nvPr/>
        </p:nvSpPr>
        <p:spPr>
          <a:xfrm>
            <a:off x="457200"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stronger intermolecular forces between chloroform molecules than those between chloroform and acetone molecules</a:t>
            </a:r>
          </a:p>
        </p:txBody>
      </p:sp>
      <p:sp>
        <p:nvSpPr>
          <p:cNvPr id="10" name="TextBox 9"/>
          <p:cNvSpPr txBox="1"/>
          <p:nvPr/>
        </p:nvSpPr>
        <p:spPr>
          <a:xfrm>
            <a:off x="6254496" y="1973275"/>
            <a:ext cx="5477256" cy="811987"/>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repulsive forces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aqueous solution will exhibit highest boiling point?</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0.01 M Na₂SO₄</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0.015 M C₆H₁₂O₆</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 M urea</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0.01 M KNO₃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5 moles of liquid X and 10 moles of liquid Y make a solution having a vapor pressure of 70 torr. The vapor pressures of pure X and Y are 63 torr and 78 torr respectively. Which of the following is true regarding the described solution?</a:t>
            </a:r>
          </a:p>
        </p:txBody>
      </p:sp>
      <p:sp>
        <p:nvSpPr>
          <p:cNvPr id="7" name="TextBox 6"/>
          <p:cNvSpPr txBox="1"/>
          <p:nvPr/>
        </p:nvSpPr>
        <p:spPr>
          <a:xfrm>
            <a:off x="457200"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The solution is ideal.</a:t>
            </a:r>
          </a:p>
        </p:txBody>
      </p:sp>
      <p:sp>
        <p:nvSpPr>
          <p:cNvPr id="8" name="TextBox 7"/>
          <p:cNvSpPr txBox="1"/>
          <p:nvPr/>
        </p:nvSpPr>
        <p:spPr>
          <a:xfrm>
            <a:off x="6254496" y="1690725"/>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The solution has volume greater than the sum of individual volumes.</a:t>
            </a:r>
          </a:p>
        </p:txBody>
      </p:sp>
      <p:sp>
        <p:nvSpPr>
          <p:cNvPr id="9" name="TextBox 8"/>
          <p:cNvSpPr txBox="1"/>
          <p:nvPr/>
        </p:nvSpPr>
        <p:spPr>
          <a:xfrm>
            <a:off x="457200"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The solution shows positive deviation.</a:t>
            </a:r>
          </a:p>
        </p:txBody>
      </p:sp>
      <p:sp>
        <p:nvSpPr>
          <p:cNvPr id="10" name="TextBox 9"/>
          <p:cNvSpPr txBox="1"/>
          <p:nvPr/>
        </p:nvSpPr>
        <p:spPr>
          <a:xfrm>
            <a:off x="6254496" y="227777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The solution shows negative deviation.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Match List-I with List- II</a:t>
            </a:r>
            <a:br/>
            <a:r>
              <a:rPr sz="1800" b="1" i="0" u="none">
                <a:solidFill>
                  <a:srgbClr val="FAD02C"/>
                </a:solidFill>
                <a:latin typeface="Cambria"/>
              </a:rPr>
              <a:t>Choose the correct answer from the options given below:</a:t>
            </a:r>
          </a:p>
        </p:txBody>
      </p:sp>
      <p:graphicFrame>
        <p:nvGraphicFramePr>
          <p:cNvPr id="7" name="Table 6"/>
          <p:cNvGraphicFramePr>
            <a:graphicFrameLocks noGrp="1"/>
          </p:cNvGraphicFramePr>
          <p:nvPr/>
        </p:nvGraphicFramePr>
        <p:xfrm>
          <a:off x="457200" y="1386230"/>
          <a:ext cx="11274552" cy="1965960"/>
        </p:xfrm>
        <a:graphic>
          <a:graphicData uri="http://schemas.openxmlformats.org/drawingml/2006/table">
            <a:tbl>
              <a:tblPr firstRow="1" bandRow="1">
                <a:tableStyleId>{5C22544A-7EE6-4342-B048-85BDC9FD1C3A}</a:tableStyleId>
              </a:tblPr>
              <a:tblGrid>
                <a:gridCol w="5637276"/>
                <a:gridCol w="5637276"/>
              </a:tblGrid>
              <a:tr h="393192">
                <a:tc>
                  <a:txBody>
                    <a:bodyPr/>
                    <a:lstStyle/>
                    <a:p>
                      <a:pPr algn="l"/>
                      <a:r>
                        <a:rPr sz="1400" b="0" i="0" u="none">
                          <a:solidFill>
                            <a:srgbClr val="F0F0F0"/>
                          </a:solidFill>
                          <a:latin typeface="Cambria"/>
                        </a:rPr>
                        <a:t>List-I (Example)</a:t>
                      </a:r>
                    </a:p>
                  </a:txBody>
                  <a:tcPr/>
                </a:tc>
                <a:tc>
                  <a:txBody>
                    <a:bodyPr/>
                    <a:lstStyle/>
                    <a:p>
                      <a:pPr algn="l"/>
                      <a:r>
                        <a:rPr sz="1400" b="0" i="0" u="none">
                          <a:solidFill>
                            <a:srgbClr val="F0F0F0"/>
                          </a:solidFill>
                          <a:latin typeface="Cambria"/>
                        </a:rPr>
                        <a:t>List- II (Type of solution)</a:t>
                      </a:r>
                    </a:p>
                  </a:txBody>
                  <a:tcPr/>
                </a:tc>
              </a:tr>
              <a:tr h="393192">
                <a:tc>
                  <a:txBody>
                    <a:bodyPr/>
                    <a:lstStyle/>
                    <a:p>
                      <a:pPr algn="l"/>
                      <a:r>
                        <a:rPr sz="1400" b="0" i="0" u="none">
                          <a:solidFill>
                            <a:srgbClr val="F0F0F0"/>
                          </a:solidFill>
                          <a:latin typeface="Cambria"/>
                        </a:rPr>
                        <a:t>A. Humidity </a:t>
                      </a:r>
                    </a:p>
                  </a:txBody>
                  <a:tcPr/>
                </a:tc>
                <a:tc>
                  <a:txBody>
                    <a:bodyPr/>
                    <a:lstStyle/>
                    <a:p>
                      <a:pPr algn="l"/>
                      <a:r>
                        <a:rPr sz="1400" b="0" i="0" u="none">
                          <a:solidFill>
                            <a:srgbClr val="F0F0F0"/>
                          </a:solidFill>
                          <a:latin typeface="Cambria"/>
                        </a:rPr>
                        <a:t>I. Solid in solid</a:t>
                      </a:r>
                    </a:p>
                  </a:txBody>
                  <a:tcPr/>
                </a:tc>
              </a:tr>
              <a:tr h="393192">
                <a:tc>
                  <a:txBody>
                    <a:bodyPr/>
                    <a:lstStyle/>
                    <a:p>
                      <a:pPr algn="l"/>
                      <a:r>
                        <a:rPr sz="1400" b="0" i="0" u="none">
                          <a:solidFill>
                            <a:srgbClr val="F0F0F0"/>
                          </a:solidFill>
                          <a:latin typeface="Cambria"/>
                        </a:rPr>
                        <a:t>B. Alloys </a:t>
                      </a:r>
                    </a:p>
                  </a:txBody>
                  <a:tcPr/>
                </a:tc>
                <a:tc>
                  <a:txBody>
                    <a:bodyPr/>
                    <a:lstStyle/>
                    <a:p>
                      <a:pPr algn="l"/>
                      <a:r>
                        <a:rPr sz="1400" b="0" i="0" u="none">
                          <a:solidFill>
                            <a:srgbClr val="F0F0F0"/>
                          </a:solidFill>
                          <a:latin typeface="Cambria"/>
                        </a:rPr>
                        <a:t>II. Liquid in gas</a:t>
                      </a:r>
                    </a:p>
                  </a:txBody>
                  <a:tcPr/>
                </a:tc>
              </a:tr>
              <a:tr h="393192">
                <a:tc>
                  <a:txBody>
                    <a:bodyPr/>
                    <a:lstStyle/>
                    <a:p>
                      <a:pPr algn="l"/>
                      <a:r>
                        <a:rPr sz="1400" b="0" i="0" u="none">
                          <a:solidFill>
                            <a:srgbClr val="F0F0F0"/>
                          </a:solidFill>
                          <a:latin typeface="Cambria"/>
                        </a:rPr>
                        <a:t>C. Amalgams</a:t>
                      </a:r>
                    </a:p>
                  </a:txBody>
                  <a:tcPr/>
                </a:tc>
                <a:tc>
                  <a:txBody>
                    <a:bodyPr/>
                    <a:lstStyle/>
                    <a:p>
                      <a:pPr algn="l"/>
                      <a:r>
                        <a:rPr sz="1400" b="0" i="0" u="none">
                          <a:solidFill>
                            <a:srgbClr val="F0F0F0"/>
                          </a:solidFill>
                          <a:latin typeface="Cambria"/>
                        </a:rPr>
                        <a:t>III. Solid in gas</a:t>
                      </a:r>
                    </a:p>
                  </a:txBody>
                  <a:tcPr/>
                </a:tc>
              </a:tr>
              <a:tr h="393192">
                <a:tc>
                  <a:txBody>
                    <a:bodyPr/>
                    <a:lstStyle/>
                    <a:p>
                      <a:pPr algn="l"/>
                      <a:r>
                        <a:rPr sz="1400" b="0" i="0" u="none">
                          <a:solidFill>
                            <a:srgbClr val="F0F0F0"/>
                          </a:solidFill>
                          <a:latin typeface="Cambria"/>
                        </a:rPr>
                        <a:t>D. Smoke</a:t>
                      </a:r>
                    </a:p>
                  </a:txBody>
                  <a:tcPr/>
                </a:tc>
                <a:tc>
                  <a:txBody>
                    <a:bodyPr/>
                    <a:lstStyle/>
                    <a:p>
                      <a:pPr algn="l"/>
                      <a:r>
                        <a:rPr sz="1400" b="0" i="0" u="none">
                          <a:solidFill>
                            <a:srgbClr val="F0F0F0"/>
                          </a:solidFill>
                          <a:latin typeface="Cambria"/>
                        </a:rPr>
                        <a:t>IV. Liquid in solid</a:t>
                      </a:r>
                    </a:p>
                  </a:txBody>
                  <a:tcPr/>
                </a:tc>
              </a:tr>
            </a:tbl>
          </a:graphicData>
        </a:graphic>
      </p:graphicFrame>
      <p:sp>
        <p:nvSpPr>
          <p:cNvPr id="8" name="TextBox 7"/>
          <p:cNvSpPr txBox="1"/>
          <p:nvPr/>
        </p:nvSpPr>
        <p:spPr>
          <a:xfrm>
            <a:off x="457200"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A-III, B-I, C-IV, D-II</a:t>
            </a:r>
          </a:p>
        </p:txBody>
      </p:sp>
      <p:sp>
        <p:nvSpPr>
          <p:cNvPr id="9" name="TextBox 8"/>
          <p:cNvSpPr txBox="1"/>
          <p:nvPr/>
        </p:nvSpPr>
        <p:spPr>
          <a:xfrm>
            <a:off x="3321558"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A-III, B-II, C-I, D-IV</a:t>
            </a:r>
          </a:p>
        </p:txBody>
      </p:sp>
      <p:sp>
        <p:nvSpPr>
          <p:cNvPr id="10" name="TextBox 9"/>
          <p:cNvSpPr txBox="1"/>
          <p:nvPr/>
        </p:nvSpPr>
        <p:spPr>
          <a:xfrm>
            <a:off x="6185916"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A-II, B-IV, C-I, D-III</a:t>
            </a:r>
          </a:p>
        </p:txBody>
      </p:sp>
      <p:sp>
        <p:nvSpPr>
          <p:cNvPr id="11" name="TextBox 10"/>
          <p:cNvSpPr txBox="1"/>
          <p:nvPr/>
        </p:nvSpPr>
        <p:spPr>
          <a:xfrm>
            <a:off x="9050274" y="339791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A-II, B-I, C-IV, D-III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Henry’s law constant (K</a:t>
            </a:r>
            <a:r>
              <a:rPr sz="1800" b="1" i="0" u="none" baseline="-25000">
                <a:solidFill>
                  <a:srgbClr val="FAD02C"/>
                </a:solidFill>
                <a:latin typeface="Cambria"/>
              </a:rPr>
              <a:t>H</a:t>
            </a:r>
            <a:r>
              <a:rPr sz="1800" b="1" i="0" u="none">
                <a:solidFill>
                  <a:srgbClr val="FAD02C"/>
                </a:solidFill>
                <a:latin typeface="Cambria"/>
              </a:rPr>
              <a:t>) values of three gases (A, B, C) in water are 145, 2 × 10⁻⁵ and 35 kbar, respectively. The solubility of these gases in water </a:t>
            </a:r>
            <a:r>
              <a:rPr sz="1800" b="1" i="0" u="none">
                <a:solidFill>
                  <a:srgbClr val="FAD02C"/>
                </a:solidFill>
                <a:latin typeface="Cambria"/>
              </a:rPr>
              <a:t>follows</a:t>
            </a:r>
            <a:r>
              <a:rPr sz="1800" b="1" i="0" u="none">
                <a:solidFill>
                  <a:srgbClr val="FAD02C"/>
                </a:solidFill>
                <a:latin typeface="Cambria"/>
              </a:rPr>
              <a:t> the order</a:t>
            </a:r>
            <a:r>
              <a:rPr sz="1800" b="1" i="0" u="none">
                <a:solidFill>
                  <a:srgbClr val="FAD02C"/>
                </a:solidFill>
                <a:latin typeface="Cambria"/>
              </a:rPr>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 &gt; A &gt; 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B &gt; C &gt; A</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 &gt; C &gt; B</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 &gt; B &gt;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4358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78992" cy="402336"/>
          </a:xfrm>
          <a:prstGeom prst="rect">
            <a:avLst/>
          </a:prstGeom>
          <a:noFill/>
        </p:spPr>
        <p:txBody>
          <a:bodyPr wrap="none" anchor="ctr" lIns="0" rIns="0" tIns="0" bIns="0">
            <a:spAutoFit/>
          </a:bodyPr>
          <a:lstStyle/>
          <a:p>
            <a:pPr algn="l"/>
            <a:r>
              <a:rPr sz="1500" b="1">
                <a:solidFill>
                  <a:srgbClr val="FAD02C"/>
                </a:solidFill>
                <a:latin typeface="Cambria"/>
              </a:rPr>
              <a:t>NEET-2024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plot of osmotic pressure (Π) vs concentration (mol L⁻¹) for a solution gives a straight line with slope 25.73 L bar mol⁻¹. The temperature at which the osmotic pressure measurement is done is (Use R = 0.083 L bar mol⁻¹ K⁻</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37°C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310°C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25.73°C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12.05°C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4533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Cambria"/>
              </a:rPr>
              <a:t>RE-EXAM 2024</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Arrange the following compounds in increasing order of their solubilities in chloroform.</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NaCl</a:t>
            </a:r>
            <a:r>
              <a:rPr sz="1600" b="1" i="0" u="none">
                <a:solidFill>
                  <a:srgbClr val="00B0F0"/>
                </a:solidFill>
                <a:latin typeface="Cambria"/>
              </a:rPr>
              <a:t>&lt;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CN&lt;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OH</a:t>
            </a:r>
            <a:r>
              <a:rPr sz="1600" b="1" i="0" u="none">
                <a:solidFill>
                  <a:srgbClr val="00B0F0"/>
                </a:solidFill>
                <a:latin typeface="Cambria"/>
              </a:rPr>
              <a:t>&lt; </a:t>
            </a:r>
            <a:r>
              <a:rPr sz="1600" b="1" i="0" u="none">
                <a:solidFill>
                  <a:srgbClr val="00B0F0"/>
                </a:solidFill>
                <a:latin typeface="Cambria"/>
              </a:rPr>
              <a:t>cyclohexane</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OH</a:t>
            </a:r>
            <a:r>
              <a:rPr sz="1600" b="1" i="0" u="none">
                <a:solidFill>
                  <a:srgbClr val="00B0F0"/>
                </a:solidFill>
                <a:latin typeface="Cambria"/>
              </a:rPr>
              <a:t>&lt;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CN</a:t>
            </a:r>
            <a:r>
              <a:rPr sz="1600" b="1" i="0" u="none">
                <a:solidFill>
                  <a:srgbClr val="00B0F0"/>
                </a:solidFill>
                <a:latin typeface="Cambria"/>
              </a:rPr>
              <a:t>&lt; </a:t>
            </a:r>
            <a:r>
              <a:rPr sz="1600" b="1" i="0" u="none">
                <a:solidFill>
                  <a:srgbClr val="00B0F0"/>
                </a:solidFill>
                <a:latin typeface="Cambria"/>
              </a:rPr>
              <a:t>NaCl&lt;</a:t>
            </a:r>
            <a:r>
              <a:rPr sz="1600" b="1" i="0" u="none">
                <a:solidFill>
                  <a:srgbClr val="00B0F0"/>
                </a:solidFill>
                <a:latin typeface="Cambria"/>
              </a:rPr>
              <a:t> </a:t>
            </a:r>
            <a:r>
              <a:rPr sz="1600" b="1" i="0" u="none">
                <a:solidFill>
                  <a:srgbClr val="00B0F0"/>
                </a:solidFill>
                <a:latin typeface="Cambria"/>
              </a:rPr>
              <a:t>cyclohexane</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NaCl</a:t>
            </a:r>
            <a:r>
              <a:rPr sz="1600" b="1" i="0" u="none">
                <a:solidFill>
                  <a:srgbClr val="00B0F0"/>
                </a:solidFill>
                <a:latin typeface="Cambria"/>
              </a:rPr>
              <a:t>&lt;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OH</a:t>
            </a:r>
            <a:r>
              <a:rPr sz="1600" b="1" i="0" u="none">
                <a:solidFill>
                  <a:srgbClr val="00B0F0"/>
                </a:solidFill>
                <a:latin typeface="Cambria"/>
              </a:rPr>
              <a:t>&lt; </a:t>
            </a:r>
            <a:r>
              <a:rPr sz="1600" b="1" i="0" u="none">
                <a:solidFill>
                  <a:srgbClr val="00B0F0"/>
                </a:solidFill>
                <a:latin typeface="Cambria"/>
              </a:rPr>
              <a:t>CH</a:t>
            </a:r>
            <a:r>
              <a:rPr sz="1600" b="1" i="0" u="none" baseline="-25000">
                <a:solidFill>
                  <a:srgbClr val="00B0F0"/>
                </a:solidFill>
                <a:latin typeface="Cambria"/>
              </a:rPr>
              <a:t>3</a:t>
            </a:r>
            <a:r>
              <a:rPr sz="1600" b="1" i="0" u="none">
                <a:solidFill>
                  <a:srgbClr val="00B0F0"/>
                </a:solidFill>
                <a:latin typeface="Cambria"/>
              </a:rPr>
              <a:t>CN&lt; cyclohexane</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C</a:t>
            </a:r>
            <a:r>
              <a:rPr sz="1600" b="1" i="0" u="none">
                <a:solidFill>
                  <a:srgbClr val="00B0F0"/>
                </a:solidFill>
                <a:latin typeface="Cambria"/>
              </a:rPr>
              <a:t>yclohexane&lt; CH</a:t>
            </a:r>
            <a:r>
              <a:rPr sz="1600" b="1" i="0" u="none" baseline="-25000">
                <a:solidFill>
                  <a:srgbClr val="00B0F0"/>
                </a:solidFill>
                <a:latin typeface="Cambria"/>
              </a:rPr>
              <a:t>3</a:t>
            </a:r>
            <a:r>
              <a:rPr sz="1600" b="1" i="0" u="none">
                <a:solidFill>
                  <a:srgbClr val="00B0F0"/>
                </a:solidFill>
                <a:latin typeface="Cambria"/>
              </a:rPr>
              <a:t>CN&lt; CH</a:t>
            </a:r>
            <a:r>
              <a:rPr sz="1600" b="1" i="0" u="none" baseline="-25000">
                <a:solidFill>
                  <a:srgbClr val="00B0F0"/>
                </a:solidFill>
                <a:latin typeface="Cambria"/>
              </a:rPr>
              <a:t>3</a:t>
            </a:r>
            <a:r>
              <a:rPr sz="1600" b="1" i="0" u="none">
                <a:solidFill>
                  <a:srgbClr val="00B0F0"/>
                </a:solidFill>
                <a:latin typeface="Cambria"/>
              </a:rPr>
              <a:t>OH</a:t>
            </a:r>
            <a:r>
              <a:rPr sz="1600" b="1" i="0" u="none">
                <a:solidFill>
                  <a:srgbClr val="00B0F0"/>
                </a:solidFill>
                <a:latin typeface="Cambria"/>
              </a:rPr>
              <a:t> &lt;</a:t>
            </a:r>
            <a:r>
              <a:rPr sz="1600" b="1" i="0" u="none">
                <a:solidFill>
                  <a:srgbClr val="00B0F0"/>
                </a:solidFill>
                <a:latin typeface="Cambria"/>
              </a:rPr>
              <a:t>NaCl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4533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Cambria"/>
              </a:rPr>
              <a:t>RE-EXAM 2024</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Mass of glucose (C</a:t>
            </a:r>
            <a:r>
              <a:rPr sz="1800" b="1" i="0" u="none" baseline="-25000">
                <a:solidFill>
                  <a:srgbClr val="FAD02C"/>
                </a:solidFill>
                <a:latin typeface="Cambria"/>
              </a:rPr>
              <a:t>6</a:t>
            </a:r>
            <a:r>
              <a:rPr sz="1800" b="1" i="0" u="none">
                <a:solidFill>
                  <a:srgbClr val="FAD02C"/>
                </a:solidFill>
                <a:latin typeface="Cambria"/>
              </a:rPr>
              <a:t>H</a:t>
            </a:r>
            <a:r>
              <a:rPr sz="1800" b="1" i="0" u="none" baseline="-25000">
                <a:solidFill>
                  <a:srgbClr val="FAD02C"/>
                </a:solidFill>
                <a:latin typeface="Cambria"/>
              </a:rPr>
              <a:t>12</a:t>
            </a:r>
            <a:r>
              <a:rPr sz="1800" b="1" i="0" u="none">
                <a:solidFill>
                  <a:srgbClr val="FAD02C"/>
                </a:solidFill>
                <a:latin typeface="Cambria"/>
              </a:rPr>
              <a:t>O</a:t>
            </a:r>
            <a:r>
              <a:rPr sz="1800" b="1" i="0" u="none" baseline="-25000">
                <a:solidFill>
                  <a:srgbClr val="FAD02C"/>
                </a:solidFill>
                <a:latin typeface="Cambria"/>
              </a:rPr>
              <a:t>6</a:t>
            </a:r>
            <a:r>
              <a:rPr sz="1800" b="1" i="0" u="none">
                <a:solidFill>
                  <a:srgbClr val="FAD02C"/>
                </a:solidFill>
                <a:latin typeface="Cambria"/>
              </a:rPr>
              <a:t>) required to be dissolved to prepare one litre of its solution which is isotonic with 15 gL-1 solution of urea (NH</a:t>
            </a:r>
            <a:r>
              <a:rPr sz="1800" b="1" i="0" u="none" baseline="-25000">
                <a:solidFill>
                  <a:srgbClr val="FAD02C"/>
                </a:solidFill>
                <a:latin typeface="Cambria"/>
              </a:rPr>
              <a:t>2</a:t>
            </a:r>
            <a:r>
              <a:rPr sz="1800" b="1" i="0" u="none">
                <a:solidFill>
                  <a:srgbClr val="FAD02C"/>
                </a:solidFill>
                <a:latin typeface="Cambria"/>
              </a:rPr>
              <a:t>CONH</a:t>
            </a:r>
            <a:r>
              <a:rPr sz="1800" b="1" i="0" u="none" baseline="-25000">
                <a:solidFill>
                  <a:srgbClr val="FAD02C"/>
                </a:solidFill>
                <a:latin typeface="Cambria"/>
              </a:rPr>
              <a:t>2</a:t>
            </a:r>
            <a:r>
              <a:rPr sz="1800" b="1" i="0" u="none">
                <a:solidFill>
                  <a:srgbClr val="FAD02C"/>
                </a:solidFill>
                <a:latin typeface="Cambria"/>
              </a:rPr>
              <a:t>) is </a:t>
            </a:r>
            <a:br/>
            <a:r>
              <a:rPr sz="1800" b="1" i="0" u="none">
                <a:solidFill>
                  <a:srgbClr val="FAD02C"/>
                </a:solidFill>
                <a:latin typeface="Cambria"/>
              </a:rPr>
              <a:t>(Given: Molar mass in g mol</a:t>
            </a:r>
            <a:r>
              <a:rPr sz="1800" b="1" i="0" u="none" baseline="30000">
                <a:solidFill>
                  <a:srgbClr val="FAD02C"/>
                </a:solidFill>
                <a:latin typeface="Cambria"/>
              </a:rPr>
              <a:t>-1</a:t>
            </a:r>
            <a:r>
              <a:rPr sz="1800" b="1" i="0" u="none">
                <a:solidFill>
                  <a:srgbClr val="FAD02C"/>
                </a:solidFill>
                <a:latin typeface="Cambria"/>
              </a:rPr>
              <a:t> C:12, H:1, O:16</a:t>
            </a:r>
            <a:r>
              <a:rPr sz="1800" b="1" i="0" u="none">
                <a:solidFill>
                  <a:srgbClr val="FAD02C"/>
                </a:solidFill>
                <a:latin typeface="Cambria"/>
              </a:rPr>
              <a:t>,N:14</a:t>
            </a:r>
            <a:r>
              <a:rPr sz="1800" b="1" i="0" u="none">
                <a:solidFill>
                  <a:srgbClr val="FAD02C"/>
                </a:solidFill>
                <a:latin typeface="Cambria"/>
              </a:rPr>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55 g</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15 g</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30 g</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45 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NEET-2023 (PHASE-2</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amongst the following aqueous solutions of electrolytes will have minimum elevation in boiling point? Choose the correct option.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0.1 M MgSO₄</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 M NaCl</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0.05 M NaCl</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0.1 M KCl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3911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Cambria"/>
              </a:rPr>
              <a:t>MANIPUR NEET 2023</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density of 1 M solution of compound ‘X’ </a:t>
            </a:r>
            <a:r>
              <a:rPr sz="1800" b="1" i="0" u="none">
                <a:solidFill>
                  <a:srgbClr val="FAD02C"/>
                </a:solidFill>
                <a:latin typeface="Cambria"/>
              </a:rPr>
              <a:t>is 1.25 g mL</a:t>
            </a:r>
            <a:r>
              <a:rPr sz="1800" b="1" i="0" u="none" baseline="30000">
                <a:solidFill>
                  <a:srgbClr val="FAD02C"/>
                </a:solidFill>
                <a:latin typeface="Cambria"/>
              </a:rPr>
              <a:t>-1</a:t>
            </a:r>
            <a:r>
              <a:rPr sz="1800" b="1" i="0" u="none">
                <a:solidFill>
                  <a:srgbClr val="FAD02C"/>
                </a:solidFill>
                <a:latin typeface="Cambria"/>
              </a:rPr>
              <a:t>. The correct option for the molality of solution is (Molar mass of compound, X = 85 g mol</a:t>
            </a:r>
            <a:r>
              <a:rPr sz="1800" b="1" i="0" u="none" baseline="30000">
                <a:solidFill>
                  <a:srgbClr val="FAD02C"/>
                </a:solidFill>
                <a:latin typeface="Cambria"/>
              </a:rPr>
              <a:t>-1</a:t>
            </a:r>
            <a:r>
              <a:rPr sz="1800" b="1" i="0" u="none">
                <a:solidFill>
                  <a:srgbClr val="FAD02C"/>
                </a:solidFill>
                <a:latin typeface="Cambria"/>
              </a:rPr>
              <a:t>)</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0.705 m</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1.208 m</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1.165 m</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0.858 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NEET-2022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a:solidFill>
                  <a:srgbClr val="FAD02C"/>
                </a:solidFill>
                <a:latin typeface="Cambria"/>
              </a:rPr>
              <a:t>K_H</a:t>
            </a:r>
            <a:r>
              <a:rPr sz="1800" b="1" i="0" u="none">
                <a:solidFill>
                  <a:srgbClr val="FAD02C"/>
                </a:solidFill>
                <a:latin typeface="Cambria"/>
              </a:rPr>
              <a:t>value for some gases at the same temperature are given: </a:t>
            </a:r>
            <a:r>
              <a:rPr sz="1800" b="1" i="0" u="none">
                <a:solidFill>
                  <a:srgbClr val="FAD02C"/>
                </a:solidFill>
                <a:latin typeface="Cambria"/>
              </a:rPr>
              <a:t>	</a:t>
            </a:r>
            <a:r>
              <a:rPr sz="1800" b="1" i="0" u="none">
                <a:solidFill>
                  <a:srgbClr val="FAD02C"/>
                </a:solidFill>
                <a:latin typeface="Cambria"/>
              </a:rPr>
              <a:t>	</a:t>
            </a:r>
            <a:r>
              <a:rPr sz="1800" b="1" i="0" u="none">
                <a:solidFill>
                  <a:srgbClr val="FAD02C"/>
                </a:solidFill>
                <a:latin typeface="Cambria"/>
              </a:rPr>
              <a:t>	</a:t>
            </a:r>
            <a:br/>
            <a:r>
              <a:rPr sz="1800" b="1" i="0" u="none">
                <a:solidFill>
                  <a:srgbClr val="FAD02C"/>
                </a:solidFill>
                <a:latin typeface="Cambria"/>
              </a:rPr>
              <a:t>where </a:t>
            </a:r>
            <a:r>
              <a:rPr sz="1800" b="1" i="0">
                <a:solidFill>
                  <a:srgbClr val="FAD02C"/>
                </a:solidFill>
                <a:latin typeface="Cambria"/>
              </a:rPr>
              <a:t>K_H</a:t>
            </a:r>
            <a:r>
              <a:rPr sz="1800" b="1" i="0" u="none">
                <a:solidFill>
                  <a:srgbClr val="FAD02C"/>
                </a:solidFill>
                <a:latin typeface="Cambria"/>
              </a:rPr>
              <a:t>is Henry's Law constant in water. The order of their solubility in water is:</a:t>
            </a:r>
          </a:p>
        </p:txBody>
      </p:sp>
      <p:graphicFrame>
        <p:nvGraphicFramePr>
          <p:cNvPr id="7" name="Table 6"/>
          <p:cNvGraphicFramePr>
            <a:graphicFrameLocks noGrp="1"/>
          </p:cNvGraphicFramePr>
          <p:nvPr/>
        </p:nvGraphicFramePr>
        <p:xfrm>
          <a:off x="457200" y="1690725"/>
          <a:ext cx="11274552" cy="2057400"/>
        </p:xfrm>
        <a:graphic>
          <a:graphicData uri="http://schemas.openxmlformats.org/drawingml/2006/table">
            <a:tbl>
              <a:tblPr firstRow="1" bandRow="1">
                <a:tableStyleId>{5C22544A-7EE6-4342-B048-85BDC9FD1C3A}</a:tableStyleId>
              </a:tblPr>
              <a:tblGrid>
                <a:gridCol w="5637276"/>
                <a:gridCol w="5637276"/>
              </a:tblGrid>
              <a:tr h="438912">
                <a:tc>
                  <a:txBody>
                    <a:bodyPr/>
                    <a:lstStyle/>
                    <a:p>
                      <a:pPr algn="l"/>
                      <a:r>
                        <a:rPr sz="1400" b="1" i="0" u="none">
                          <a:solidFill>
                            <a:srgbClr val="F0F0F0"/>
                          </a:solidFill>
                          <a:latin typeface="Cambria"/>
                        </a:rPr>
                        <a:t>Gas</a:t>
                      </a:r>
                    </a:p>
                  </a:txBody>
                  <a:tcPr/>
                </a:tc>
                <a:tc>
                  <a:txBody>
                    <a:bodyPr/>
                    <a:lstStyle/>
                    <a:p>
                      <a:pPr algn="l"/>
                      <a:r>
                        <a:rPr sz="1400" b="0" i="0">
                          <a:solidFill>
                            <a:srgbClr val="F0F0F0"/>
                          </a:solidFill>
                          <a:latin typeface="Cambria"/>
                        </a:rPr>
                        <a:t>K_H/k</a:t>
                      </a:r>
                      <a:r>
                        <a:rPr sz="1400" b="1" i="0" u="none">
                          <a:solidFill>
                            <a:srgbClr val="F0F0F0"/>
                          </a:solidFill>
                          <a:latin typeface="Cambria"/>
                        </a:rPr>
                        <a:t>bar</a:t>
                      </a:r>
                    </a:p>
                  </a:txBody>
                  <a:tcPr/>
                </a:tc>
              </a:tr>
              <a:tr h="393192">
                <a:tc>
                  <a:txBody>
                    <a:bodyPr/>
                    <a:lstStyle/>
                    <a:p>
                      <a:pPr algn="l"/>
                      <a:r>
                        <a:rPr sz="1400" b="0" i="0" u="none">
                          <a:solidFill>
                            <a:srgbClr val="F0F0F0"/>
                          </a:solidFill>
                          <a:latin typeface="Cambria"/>
                        </a:rPr>
                        <a:t>Ar</a:t>
                      </a:r>
                    </a:p>
                  </a:txBody>
                  <a:tcPr/>
                </a:tc>
                <a:tc>
                  <a:txBody>
                    <a:bodyPr/>
                    <a:lstStyle/>
                    <a:p>
                      <a:pPr algn="l"/>
                      <a:r>
                        <a:rPr sz="1400" b="0" i="0" u="none">
                          <a:solidFill>
                            <a:srgbClr val="F0F0F0"/>
                          </a:solidFill>
                          <a:latin typeface="Cambria"/>
                        </a:rPr>
                        <a:t>40.3</a:t>
                      </a:r>
                    </a:p>
                  </a:txBody>
                  <a:tcPr/>
                </a:tc>
              </a:tr>
              <a:tr h="393192">
                <a:tc>
                  <a:txBody>
                    <a:bodyPr/>
                    <a:lstStyle/>
                    <a:p>
                      <a:pPr algn="l"/>
                      <a:r>
                        <a:rPr sz="1400" b="0" i="0" u="none">
                          <a:solidFill>
                            <a:srgbClr val="F0F0F0"/>
                          </a:solidFill>
                          <a:latin typeface="Cambria"/>
                        </a:rPr>
                        <a:t>CO₂</a:t>
                      </a:r>
                    </a:p>
                  </a:txBody>
                  <a:tcPr/>
                </a:tc>
                <a:tc>
                  <a:txBody>
                    <a:bodyPr/>
                    <a:lstStyle/>
                    <a:p>
                      <a:pPr algn="l"/>
                      <a:r>
                        <a:rPr sz="1400" b="0" i="0" u="none">
                          <a:solidFill>
                            <a:srgbClr val="F0F0F0"/>
                          </a:solidFill>
                          <a:latin typeface="Cambria"/>
                        </a:rPr>
                        <a:t>1.67</a:t>
                      </a:r>
                    </a:p>
                  </a:txBody>
                  <a:tcPr/>
                </a:tc>
              </a:tr>
              <a:tr h="438912">
                <a:tc>
                  <a:txBody>
                    <a:bodyPr/>
                    <a:lstStyle/>
                    <a:p>
                      <a:pPr algn="l"/>
                      <a:r>
                        <a:rPr sz="1400" b="0" i="0" u="none">
                          <a:solidFill>
                            <a:srgbClr val="F0F0F0"/>
                          </a:solidFill>
                          <a:latin typeface="Cambria"/>
                        </a:rPr>
                        <a:t>HCHO</a:t>
                      </a:r>
                    </a:p>
                  </a:txBody>
                  <a:tcPr/>
                </a:tc>
                <a:tc>
                  <a:txBody>
                    <a:bodyPr/>
                    <a:lstStyle/>
                    <a:p>
                      <a:pPr algn="l"/>
                      <a:r>
                        <a:rPr sz="1400" b="0" i="0" u="none">
                          <a:solidFill>
                            <a:srgbClr val="F0F0F0"/>
                          </a:solidFill>
                          <a:latin typeface="Cambria"/>
                        </a:rPr>
                        <a:t> </a:t>
                      </a:r>
                      <a:r>
                        <a:rPr sz="1400" b="0" i="0">
                          <a:solidFill>
                            <a:srgbClr val="F0F0F0"/>
                          </a:solidFill>
                          <a:latin typeface="Cambria"/>
                        </a:rPr>
                        <a:t>1.83 × 10⁻⁵</a:t>
                      </a:r>
                    </a:p>
                  </a:txBody>
                  <a:tcPr/>
                </a:tc>
              </a:tr>
              <a:tr h="393192">
                <a:tc>
                  <a:txBody>
                    <a:bodyPr/>
                    <a:lstStyle/>
                    <a:p>
                      <a:pPr algn="l"/>
                      <a:r>
                        <a:rPr sz="1400" b="0" i="0" u="none">
                          <a:solidFill>
                            <a:srgbClr val="F0F0F0"/>
                          </a:solidFill>
                          <a:latin typeface="Cambria"/>
                        </a:rPr>
                        <a:t>CH₄</a:t>
                      </a:r>
                    </a:p>
                  </a:txBody>
                  <a:tcPr/>
                </a:tc>
                <a:tc>
                  <a:txBody>
                    <a:bodyPr/>
                    <a:lstStyle/>
                    <a:p>
                      <a:pPr algn="l"/>
                      <a:r>
                        <a:rPr sz="1400" b="0" i="0" u="none">
                          <a:solidFill>
                            <a:srgbClr val="F0F0F0"/>
                          </a:solidFill>
                          <a:latin typeface="Cambria"/>
                        </a:rPr>
                        <a:t>0.413</a:t>
                      </a:r>
                    </a:p>
                  </a:txBody>
                  <a:tcPr/>
                </a:tc>
              </a:tr>
            </a:tbl>
          </a:graphicData>
        </a:graphic>
      </p:graphicFrame>
      <p:sp>
        <p:nvSpPr>
          <p:cNvPr id="8" name="TextBox 7"/>
          <p:cNvSpPr txBox="1"/>
          <p:nvPr/>
        </p:nvSpPr>
        <p:spPr>
          <a:xfrm>
            <a:off x="457200"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HCHO &lt; CH₄ &lt; CO₂ &lt; Ar</a:t>
            </a:r>
          </a:p>
        </p:txBody>
      </p:sp>
      <p:sp>
        <p:nvSpPr>
          <p:cNvPr id="9" name="TextBox 8"/>
          <p:cNvSpPr txBox="1"/>
          <p:nvPr/>
        </p:nvSpPr>
        <p:spPr>
          <a:xfrm>
            <a:off x="3321558"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Ar &lt; CO₂ &lt; CH₄ &lt; HCHO</a:t>
            </a:r>
          </a:p>
        </p:txBody>
      </p:sp>
      <p:sp>
        <p:nvSpPr>
          <p:cNvPr id="10" name="TextBox 9"/>
          <p:cNvSpPr txBox="1"/>
          <p:nvPr/>
        </p:nvSpPr>
        <p:spPr>
          <a:xfrm>
            <a:off x="6185916"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Ar &lt; CH₄ &lt; CO₂ &lt; HCHO</a:t>
            </a:r>
          </a:p>
        </p:txBody>
      </p:sp>
      <p:sp>
        <p:nvSpPr>
          <p:cNvPr id="11" name="TextBox 10"/>
          <p:cNvSpPr txBox="1"/>
          <p:nvPr/>
        </p:nvSpPr>
        <p:spPr>
          <a:xfrm>
            <a:off x="9050274" y="379384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HCHO &lt; CO₂ &lt; CH₄ &lt; 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2022</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In one molal solution that contains 0.5 mole of a solute, there 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500 mL of solvent</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500 g of solvent</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100 mL of solvent</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1000 g of solvent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following solutions were prepared by dissolving 10 g of glucose (C₆H₁₂O₆) in 250 ml of water (P₁), 10 g of urea (CH₄N₂O) in 250 ml of water (P₂) and 10 g of sucrose (C₁₂H₂₂O₁₁) in 250 ml of water (P₃). The right option for the decreasing order of osmotic pressure of these solutions is:</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P₃ &gt; P₁ &gt; P₂</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P₂ &gt; P₁ &gt; P₃</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P₁ &gt; P₂ &gt; P₃</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P₂ &gt; P₃ &gt; P₁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NEET-2021</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correct option for the value of vapor pressure of a solution at 45°C with benzene to octane in molar ratio 3: 2 is:</a:t>
            </a:r>
            <a:br/>
            <a:r>
              <a:rPr sz="1800" b="1" i="0" u="none">
                <a:solidFill>
                  <a:srgbClr val="FAD02C"/>
                </a:solidFill>
                <a:latin typeface="Cambria"/>
              </a:rPr>
              <a:t>[At 45°C vapor pressure of benzene is 280 mm Hg and that of octane is 420 mm Hg. Assume Ideal gas]</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350 mm of Hg</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160 mm of Hg</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168 mm of Hg</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336 mm of Hg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freezing point depression constant (</a:t>
            </a:r>
            <a:r>
              <a:rPr sz="1800" b="1" i="0">
                <a:solidFill>
                  <a:srgbClr val="FAD02C"/>
                </a:solidFill>
                <a:latin typeface="Cambria"/>
              </a:rPr>
              <a:t>K_f</a:t>
            </a:r>
            <a:r>
              <a:rPr sz="1800" b="1" i="0" u="none">
                <a:solidFill>
                  <a:srgbClr val="FAD02C"/>
                </a:solidFill>
                <a:latin typeface="Cambria"/>
              </a:rPr>
              <a:t>) of benzene is 5.12 K kg mol⁻¹. The freezing point depression for the solution of molality 0.078 m containing a non-electrolyte solute in benzene is (rounded off upto two decimal places):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0.80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0.40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0.60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0.20 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84831"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20239" cy="402336"/>
          </a:xfrm>
          <a:prstGeom prst="rect">
            <a:avLst/>
          </a:prstGeom>
          <a:noFill/>
        </p:spPr>
        <p:txBody>
          <a:bodyPr wrap="none" anchor="ctr" lIns="0" rIns="0" tIns="0" bIns="0">
            <a:spAutoFit/>
          </a:bodyPr>
          <a:lstStyle/>
          <a:p>
            <a:pPr algn="l"/>
            <a:r>
              <a:rPr sz="1500" b="1">
                <a:solidFill>
                  <a:srgbClr val="FAD02C"/>
                </a:solidFill>
                <a:latin typeface="Cambria"/>
              </a:rPr>
              <a:t>NEET-2020 (PHASE-1</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which shows positive deviation from Raoult’s law 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Benzene + Toluene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Acetone + Chloroform</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Chloromethane + Bromoethane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Ethanol + Acetone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If 8 g of a non-electrolyte solute is dissolved in 114 g of n-octane to reduce its vapour pressure to 80%, the molar mass (in g mol⁻¹) of the solute is (Given that molar mass of n-octane is 114 g mol⁻¹)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20</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40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60</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1214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956815" cy="402336"/>
          </a:xfrm>
          <a:prstGeom prst="rect">
            <a:avLst/>
          </a:prstGeom>
          <a:noFill/>
        </p:spPr>
        <p:txBody>
          <a:bodyPr wrap="none" anchor="ctr" lIns="0" rIns="0" tIns="0" bIns="0">
            <a:spAutoFit/>
          </a:bodyPr>
          <a:lstStyle/>
          <a:p>
            <a:pPr algn="l"/>
            <a:r>
              <a:rPr sz="1500" b="1">
                <a:solidFill>
                  <a:srgbClr val="FAD02C"/>
                </a:solidFill>
                <a:latin typeface="Cambria"/>
              </a:rPr>
              <a:t>NEET-2020 (PHASE-2</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Isotonic solutions have </a:t>
            </a:r>
            <a:r>
              <a:rPr sz="1800" b="1" i="0" u="none">
                <a:solidFill>
                  <a:srgbClr val="FAD02C"/>
                </a:solidFill>
                <a:latin typeface="Cambria"/>
              </a:rPr>
              <a:t>same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Boiling temperature</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Vapour pressure</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Freezing temperature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Osmotic pressure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842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9656" cy="402336"/>
          </a:xfrm>
          <a:prstGeom prst="rect">
            <a:avLst/>
          </a:prstGeom>
          <a:noFill/>
        </p:spPr>
        <p:txBody>
          <a:bodyPr wrap="none" anchor="ctr" lIns="0" rIns="0" tIns="0" bIns="0">
            <a:spAutoFit/>
          </a:bodyPr>
          <a:lstStyle/>
          <a:p>
            <a:pPr algn="l"/>
            <a:r>
              <a:rPr sz="1500" b="1">
                <a:solidFill>
                  <a:srgbClr val="FAD02C"/>
                </a:solidFill>
                <a:latin typeface="Cambria"/>
              </a:rPr>
              <a:t>NEET-2019 (ODISHA</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statements is correct regarding a solution of two components A and B exhibiting positive deviation from ideal behaviour?</a:t>
            </a:r>
          </a:p>
        </p:txBody>
      </p:sp>
      <p:sp>
        <p:nvSpPr>
          <p:cNvPr id="7" name="TextBox 6"/>
          <p:cNvSpPr txBox="1"/>
          <p:nvPr/>
        </p:nvSpPr>
        <p:spPr>
          <a:xfrm>
            <a:off x="457200"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Intermolecular attractive forces between A-A and B-B are equal to those between A-B</a:t>
            </a:r>
          </a:p>
        </p:txBody>
      </p:sp>
      <p:sp>
        <p:nvSpPr>
          <p:cNvPr id="8" name="TextBox 7"/>
          <p:cNvSpPr txBox="1"/>
          <p:nvPr/>
        </p:nvSpPr>
        <p:spPr>
          <a:xfrm>
            <a:off x="6254496" y="1386230"/>
            <a:ext cx="5477256" cy="811987"/>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Intermolecular attractive forces between A-A and B-B are stronger than those between A-B</a:t>
            </a:r>
          </a:p>
        </p:txBody>
      </p:sp>
      <p:sp>
        <p:nvSpPr>
          <p:cNvPr id="9" name="TextBox 8"/>
          <p:cNvSpPr txBox="1"/>
          <p:nvPr/>
        </p:nvSpPr>
        <p:spPr>
          <a:xfrm>
            <a:off x="457200"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H = 0 at constant T and P</a:t>
            </a:r>
          </a:p>
        </p:txBody>
      </p:sp>
      <p:sp>
        <p:nvSpPr>
          <p:cNvPr id="10" name="TextBox 9"/>
          <p:cNvSpPr txBox="1"/>
          <p:nvPr/>
        </p:nvSpPr>
        <p:spPr>
          <a:xfrm>
            <a:off x="6254496" y="2243937"/>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V = 0 at constant T and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mixture that forms maximum boiling azeotrope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Water + Nitric acid</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Ethanol + Water</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Acetone + Carbon disulphide</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Heptane + Octane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NEET-2019</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For an ideal solution, the correct option </a:t>
            </a:r>
            <a:r>
              <a:rPr sz="1800" b="1" i="0" u="none">
                <a:solidFill>
                  <a:srgbClr val="FAD02C"/>
                </a:solidFill>
                <a:latin typeface="Cambria"/>
              </a:rPr>
              <a:t>is</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S = 0 at constant T and P</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V ≠ 0 at constant T and P</a:t>
            </a:r>
          </a:p>
        </p:txBody>
      </p:sp>
      <p:sp>
        <p:nvSpPr>
          <p:cNvPr id="9" name="TextBox 8"/>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H = 0 at constant T and P</a:t>
            </a:r>
          </a:p>
        </p:txBody>
      </p:sp>
      <p:sp>
        <p:nvSpPr>
          <p:cNvPr id="10" name="TextBox 9"/>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G = 0 at constant T and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874519"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709928" cy="402336"/>
          </a:xfrm>
          <a:prstGeom prst="rect">
            <a:avLst/>
          </a:prstGeom>
          <a:noFill/>
        </p:spPr>
        <p:txBody>
          <a:bodyPr wrap="none" anchor="ctr" lIns="0" rIns="0" tIns="0" bIns="0">
            <a:spAutoFit/>
          </a:bodyPr>
          <a:lstStyle/>
          <a:p>
            <a:pPr algn="l"/>
            <a:r>
              <a:rPr sz="1500" b="1">
                <a:solidFill>
                  <a:srgbClr val="FAD02C"/>
                </a:solidFill>
                <a:latin typeface="Cambria"/>
              </a:rPr>
              <a:t>ODISHA NEET 2019</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In water saturated air, the mole fraction of water vapour is 0.02. If the total pressure of the saturated air is 1.2 atm, the partial pressure of dry air 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1.18 atm</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1.76 atm</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1.176 atm</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0.98 atm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of the following is dependent on temperature?</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Molality</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Molarity</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 fraction</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Weight percentage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If molality of the dilute solution is doubled, the value of molal depression constant (K</a:t>
            </a:r>
            <a:r>
              <a:rPr sz="1800" b="1" i="0" u="none" baseline="-25000">
                <a:solidFill>
                  <a:srgbClr val="FAD02C"/>
                </a:solidFill>
                <a:latin typeface="Cambria"/>
              </a:rPr>
              <a:t>f</a:t>
            </a:r>
            <a:r>
              <a:rPr sz="1800" b="1" i="0" u="none">
                <a:solidFill>
                  <a:srgbClr val="FAD02C"/>
                </a:solidFill>
                <a:latin typeface="Cambria"/>
              </a:rPr>
              <a:t>) will 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Doubled</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Halved</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Tripled</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Unchanged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dilute aqueous solution of the strong electrolyte barium hydroxide 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2</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9751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10512" cy="402336"/>
          </a:xfrm>
          <a:prstGeom prst="rect">
            <a:avLst/>
          </a:prstGeom>
          <a:noFill/>
        </p:spPr>
        <p:txBody>
          <a:bodyPr wrap="none" anchor="ctr" lIns="0" rIns="0" tIns="0" bIns="0">
            <a:spAutoFit/>
          </a:bodyPr>
          <a:lstStyle/>
          <a:p>
            <a:pPr algn="l"/>
            <a:r>
              <a:rPr sz="1500" b="1">
                <a:solidFill>
                  <a:srgbClr val="FAD02C"/>
                </a:solidFill>
                <a:latin typeface="Cambria"/>
              </a:rPr>
              <a:t>NEET-PHASE-2-2016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of the following is incorrect for ideal solution?</a:t>
            </a:r>
          </a:p>
        </p:txBody>
      </p:sp>
      <p:sp>
        <p:nvSpPr>
          <p:cNvPr id="7" name="TextBox 6"/>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ΔH</a:t>
            </a:r>
            <a:r>
              <a:rPr sz="1600" b="1" i="0" u="none" baseline="-25000">
                <a:solidFill>
                  <a:srgbClr val="00B0F0"/>
                </a:solidFill>
                <a:latin typeface="Cambria"/>
              </a:rPr>
              <a:t>mix</a:t>
            </a:r>
            <a:r>
              <a:rPr sz="1600" b="1" i="0" u="none">
                <a:solidFill>
                  <a:srgbClr val="00B0F0"/>
                </a:solidFill>
                <a:latin typeface="Cambria"/>
              </a:rPr>
              <a:t> = 0</a:t>
            </a:r>
          </a:p>
        </p:txBody>
      </p:sp>
      <p:sp>
        <p:nvSpPr>
          <p:cNvPr id="8" name="TextBox 7"/>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ΔU</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 0</a:t>
            </a:r>
          </a:p>
        </p:txBody>
      </p:sp>
      <p:sp>
        <p:nvSpPr>
          <p:cNvPr id="9" name="TextBox 8"/>
          <p:cNvSpPr txBox="1"/>
          <p:nvPr/>
        </p:nvSpPr>
        <p:spPr>
          <a:xfrm>
            <a:off x="457200"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ΔP = P_{obs}− P_{calculated by Raoult’s law}= 0</a:t>
            </a:r>
          </a:p>
        </p:txBody>
      </p:sp>
      <p:sp>
        <p:nvSpPr>
          <p:cNvPr id="10" name="TextBox 9"/>
          <p:cNvSpPr txBox="1"/>
          <p:nvPr/>
        </p:nvSpPr>
        <p:spPr>
          <a:xfrm>
            <a:off x="6254496" y="1600200"/>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ΔG</a:t>
            </a:r>
            <a:r>
              <a:rPr sz="1600" b="1" i="0" u="none" baseline="-25000">
                <a:solidFill>
                  <a:srgbClr val="00B0F0"/>
                </a:solidFill>
                <a:latin typeface="Cambria"/>
              </a:rPr>
              <a:t>mix</a:t>
            </a:r>
            <a:r>
              <a:rPr sz="1600" b="1" i="0" u="none">
                <a:solidFill>
                  <a:srgbClr val="00B0F0"/>
                </a:solidFill>
                <a:latin typeface="Cambria"/>
              </a:rPr>
              <a:t> = 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660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496312" cy="402336"/>
          </a:xfrm>
          <a:prstGeom prst="rect">
            <a:avLst/>
          </a:prstGeom>
          <a:noFill/>
        </p:spPr>
        <p:txBody>
          <a:bodyPr wrap="none" anchor="ctr" lIns="0" rIns="0" tIns="0" bIns="0">
            <a:spAutoFit/>
          </a:bodyPr>
          <a:lstStyle/>
          <a:p>
            <a:pPr algn="l"/>
            <a:r>
              <a:rPr sz="1500" b="1">
                <a:solidFill>
                  <a:srgbClr val="FAD02C"/>
                </a:solidFill>
                <a:latin typeface="Cambria"/>
              </a:rPr>
              <a:t>NEET-2016 · NEEDS REVIEW</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At 100°C the vapour pressure of a solution of 6.5 g of a solute in 100 g water is 732 mm. If K</a:t>
            </a:r>
            <a:r>
              <a:rPr sz="1800" b="1" i="0" u="none" baseline="-25000">
                <a:solidFill>
                  <a:srgbClr val="FAD02C"/>
                </a:solidFill>
                <a:latin typeface="Cambria"/>
              </a:rPr>
              <a:t>b</a:t>
            </a:r>
            <a:r>
              <a:rPr sz="1800" b="1" i="0" u="none">
                <a:solidFill>
                  <a:srgbClr val="FAD02C"/>
                </a:solidFill>
                <a:latin typeface="Cambria"/>
              </a:rPr>
              <a:t> = 0.52, the boiling point of this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103°C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101°C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100°C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102°C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07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042416" cy="402336"/>
          </a:xfrm>
          <a:prstGeom prst="rect">
            <a:avLst/>
          </a:prstGeom>
          <a:noFill/>
        </p:spPr>
        <p:txBody>
          <a:bodyPr wrap="none" anchor="ctr" lIns="0" rIns="0" tIns="0" bIns="0">
            <a:spAutoFit/>
          </a:bodyPr>
          <a:lstStyle/>
          <a:p>
            <a:pPr algn="l"/>
            <a:r>
              <a:rPr sz="1500" b="1">
                <a:solidFill>
                  <a:srgbClr val="FAD02C"/>
                </a:solidFill>
                <a:latin typeface="Cambria"/>
              </a:rPr>
              <a:t>NEET-2016</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Which of the following statements about the composition of the vapour over an ideal 1: 1 molar mixture of benzene and toluene is correct? Assume that the temperature is constant at 25°
C. (Given, Vapour Pressure Data at 25°C, benzene = 12.8 kPa, toluene = 3.85 kPa)</a:t>
            </a:r>
          </a:p>
        </p:txBody>
      </p:sp>
      <p:sp>
        <p:nvSpPr>
          <p:cNvPr id="7" name="TextBox 6"/>
          <p:cNvSpPr txBox="1"/>
          <p:nvPr/>
        </p:nvSpPr>
        <p:spPr>
          <a:xfrm>
            <a:off x="457200"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Not enough information is given to make a prediction</a:t>
            </a:r>
          </a:p>
        </p:txBody>
      </p:sp>
      <p:sp>
        <p:nvSpPr>
          <p:cNvPr id="8" name="TextBox 7"/>
          <p:cNvSpPr txBox="1"/>
          <p:nvPr/>
        </p:nvSpPr>
        <p:spPr>
          <a:xfrm>
            <a:off x="6254496" y="199522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The vapour will contain a higher percentage of benzene</a:t>
            </a:r>
          </a:p>
        </p:txBody>
      </p:sp>
      <p:sp>
        <p:nvSpPr>
          <p:cNvPr id="9" name="TextBox 8"/>
          <p:cNvSpPr txBox="1"/>
          <p:nvPr/>
        </p:nvSpPr>
        <p:spPr>
          <a:xfrm>
            <a:off x="457200"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The vapour will contain a higher percentage of toluene</a:t>
            </a:r>
          </a:p>
        </p:txBody>
      </p:sp>
      <p:sp>
        <p:nvSpPr>
          <p:cNvPr id="10" name="TextBox 9"/>
          <p:cNvSpPr txBox="1"/>
          <p:nvPr/>
        </p:nvSpPr>
        <p:spPr>
          <a:xfrm>
            <a:off x="6254496" y="258226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The vapour will contain equal amounts of benzene and toluene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7276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408176" cy="402336"/>
          </a:xfrm>
          <a:prstGeom prst="rect">
            <a:avLst/>
          </a:prstGeom>
          <a:noFill/>
        </p:spPr>
        <p:txBody>
          <a:bodyPr wrap="none" anchor="ctr" lIns="0" rIns="0" tIns="0" bIns="0">
            <a:spAutoFit/>
          </a:bodyPr>
          <a:lstStyle/>
          <a:p>
            <a:pPr algn="l"/>
            <a:r>
              <a:rPr sz="1500" b="1">
                <a:solidFill>
                  <a:srgbClr val="FAD02C"/>
                </a:solidFill>
                <a:latin typeface="Cambria"/>
              </a:rPr>
              <a:t>RE-AIPMT-2015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What is the mole fraction of the solute in 1.00 m aqueous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0.0354</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0.0177</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0.177</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1.770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one is not equal to zero for an ideal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a:solidFill>
                  <a:srgbClr val="00B0F0"/>
                </a:solidFill>
                <a:latin typeface="Cambria"/>
              </a:rPr>
              <a:t>ΔP = P_{observed}− P_{Raoult}</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ΔH</a:t>
            </a:r>
            <a:r>
              <a:rPr sz="1600" b="1" i="0" u="none" baseline="-25000">
                <a:solidFill>
                  <a:srgbClr val="00B0F0"/>
                </a:solidFill>
                <a:latin typeface="Cambria"/>
              </a:rPr>
              <a:t>mix</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a:solidFill>
                  <a:srgbClr val="00B0F0"/>
                </a:solidFill>
                <a:latin typeface="Cambria"/>
              </a:rPr>
              <a:t>S</a:t>
            </a:r>
            <a:r>
              <a:rPr sz="1600" b="1" i="0" u="none" baseline="-25000">
                <a:solidFill>
                  <a:srgbClr val="00B0F0"/>
                </a:solidFill>
                <a:latin typeface="Cambria"/>
              </a:rPr>
              <a:t>mix</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a:solidFill>
                  <a:srgbClr val="00B0F0"/>
                </a:solidFill>
                <a:latin typeface="Cambria"/>
              </a:rPr>
              <a:t>V</a:t>
            </a:r>
            <a:r>
              <a:rPr sz="1600" b="1" i="0" u="none" baseline="-25000">
                <a:solidFill>
                  <a:srgbClr val="00B0F0"/>
                </a:solidFill>
                <a:latin typeface="Cambria"/>
              </a:rPr>
              <a:t>mix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boiling point of 0.2 mol kg⁻¹ solution of X in water is greater than equimolal solution of Y in water. Which one of the following is true in this case?</a:t>
            </a:r>
          </a:p>
        </p:txBody>
      </p:sp>
      <p:sp>
        <p:nvSpPr>
          <p:cNvPr id="7" name="TextBox 6"/>
          <p:cNvSpPr txBox="1"/>
          <p:nvPr/>
        </p:nvSpPr>
        <p:spPr>
          <a:xfrm>
            <a:off x="457200"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Y is undergoing dissociation in water while X undergoes no change</a:t>
            </a:r>
          </a:p>
        </p:txBody>
      </p:sp>
      <p:sp>
        <p:nvSpPr>
          <p:cNvPr id="8" name="TextBox 7"/>
          <p:cNvSpPr txBox="1"/>
          <p:nvPr/>
        </p:nvSpPr>
        <p:spPr>
          <a:xfrm>
            <a:off x="6254496" y="138623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X is undergoing dissociation in water</a:t>
            </a:r>
          </a:p>
        </p:txBody>
      </p:sp>
      <p:sp>
        <p:nvSpPr>
          <p:cNvPr id="9" name="TextBox 8"/>
          <p:cNvSpPr txBox="1"/>
          <p:nvPr/>
        </p:nvSpPr>
        <p:spPr>
          <a:xfrm>
            <a:off x="457200"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Molecular mass of X is greater than the molecular mass of Y</a:t>
            </a:r>
          </a:p>
        </p:txBody>
      </p:sp>
      <p:sp>
        <p:nvSpPr>
          <p:cNvPr id="10" name="TextBox 9"/>
          <p:cNvSpPr txBox="1"/>
          <p:nvPr/>
        </p:nvSpPr>
        <p:spPr>
          <a:xfrm>
            <a:off x="6254496" y="1973275"/>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Molecular mass of X is less than the molecular mass of 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AIPMT-2015</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one of the following electrolytes has the same value of van’t Hoff’s factor (i) as that of Al₂(SO</a:t>
            </a:r>
            <a:r>
              <a:rPr sz="1800" b="1" i="0" u="none">
                <a:solidFill>
                  <a:srgbClr val="FAD02C"/>
                </a:solidFill>
                <a:latin typeface="Cambria"/>
              </a:rPr>
              <a:t>₄) ₃</a:t>
            </a:r>
            <a:r>
              <a:rPr sz="1800" b="1" i="0" u="none">
                <a:solidFill>
                  <a:srgbClr val="FAD02C"/>
                </a:solidFill>
                <a:latin typeface="Cambria"/>
              </a:rPr>
              <a:t> (if all are 100% ionised)?</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K</a:t>
            </a:r>
            <a:r>
              <a:rPr sz="1600" b="1" i="0" u="none">
                <a:solidFill>
                  <a:srgbClr val="00B0F0"/>
                </a:solidFill>
                <a:latin typeface="Cambria"/>
              </a:rPr>
              <a:t>₄ [Fe (</a:t>
            </a:r>
            <a:r>
              <a:rPr sz="1600" b="1" i="0" u="none">
                <a:solidFill>
                  <a:srgbClr val="00B0F0"/>
                </a:solidFill>
                <a:latin typeface="Cambria"/>
              </a:rPr>
              <a:t>CN)₆]</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K₂SO₄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K</a:t>
            </a:r>
            <a:r>
              <a:rPr sz="1600" b="1" i="0" u="none">
                <a:solidFill>
                  <a:srgbClr val="00B0F0"/>
                </a:solidFill>
                <a:latin typeface="Cambria"/>
              </a:rPr>
              <a:t>₃ [Fe (</a:t>
            </a:r>
            <a:r>
              <a:rPr sz="1600" b="1" i="0" u="none">
                <a:solidFill>
                  <a:srgbClr val="00B0F0"/>
                </a:solidFill>
                <a:latin typeface="Cambria"/>
              </a:rPr>
              <a:t>CN)₆]</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Al (</a:t>
            </a:r>
            <a:r>
              <a:rPr sz="1600" b="1" i="0" u="none">
                <a:solidFill>
                  <a:srgbClr val="00B0F0"/>
                </a:solidFill>
                <a:latin typeface="Cambria"/>
              </a:rPr>
              <a:t>NO</a:t>
            </a:r>
            <a:r>
              <a:rPr sz="1600" b="1" i="0" u="none">
                <a:solidFill>
                  <a:srgbClr val="00B0F0"/>
                </a:solidFill>
                <a:latin typeface="Cambria"/>
              </a:rPr>
              <a:t>₃) ₃</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2237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Cambria"/>
              </a:rPr>
              <a:t>2015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What is the mole fraction of the solute in a 1.00 m aqueous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1.770</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0.0354</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0.0177</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0.177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29844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Cambria"/>
              </a:rPr>
              <a:t>AIPMT-2014</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Of the following 0.10 m aqueous solutions, which one will exhibit the largest freezing point depression?</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KCl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C₆H₁₂O₆</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Al₂(SO</a:t>
            </a:r>
            <a:r>
              <a:rPr sz="1600" b="1" i="0" u="none">
                <a:solidFill>
                  <a:srgbClr val="00B0F0"/>
                </a:solidFill>
                <a:latin typeface="Cambria"/>
              </a:rPr>
              <a:t>₄) ₃</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K₂SO₄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2237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Cambria"/>
              </a:rPr>
              <a:t>2013</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condition is not satisfied by an ideal solution?</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V = 0</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S</a:t>
            </a:r>
            <a:r>
              <a:rPr sz="1600" b="1" i="0" u="none">
                <a:solidFill>
                  <a:srgbClr val="00B0F0"/>
                </a:solidFill>
                <a:latin typeface="Cambria"/>
              </a:rPr>
              <a:t> = 0</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Obeyance to Raoult’s Law</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Δ</a:t>
            </a:r>
            <a:r>
              <a:rPr sz="1600" b="1" i="0" u="none">
                <a:solidFill>
                  <a:srgbClr val="00B0F0"/>
                </a:solidFill>
                <a:latin typeface="Cambria"/>
              </a:rPr>
              <a:t> H</a:t>
            </a:r>
            <a:r>
              <a:rPr sz="1600" b="1" i="0" u="none" baseline="-25000">
                <a:solidFill>
                  <a:srgbClr val="00B0F0"/>
                </a:solidFill>
                <a:latin typeface="Cambria"/>
              </a:rPr>
              <a:t>mix</a:t>
            </a:r>
            <a:r>
              <a:rPr sz="1600" b="1" i="0" u="none">
                <a:solidFill>
                  <a:srgbClr val="00B0F0"/>
                </a:solidFill>
                <a:latin typeface="Cambria"/>
              </a:rPr>
              <a:t> = 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2237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Cambria"/>
              </a:rPr>
              <a:t>2013</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How many grams of concentrated nitric acid solution should be used prepare 250 mL of 2.0 M HNO</a:t>
            </a:r>
            <a:r>
              <a:rPr sz="1800" b="1" i="0" u="none" baseline="-25000">
                <a:solidFill>
                  <a:srgbClr val="FAD02C"/>
                </a:solidFill>
                <a:latin typeface="Cambria"/>
              </a:rPr>
              <a:t>3</a:t>
            </a:r>
            <a:r>
              <a:rPr sz="1800" b="1" i="0" u="none">
                <a:solidFill>
                  <a:srgbClr val="FAD02C"/>
                </a:solidFill>
                <a:latin typeface="Cambria"/>
              </a:rPr>
              <a:t>? The concentrated acid is 70% </a:t>
            </a:r>
            <a:r>
              <a:rPr sz="1800" b="1" i="0" u="none">
                <a:solidFill>
                  <a:srgbClr val="FAD02C"/>
                </a:solidFill>
                <a:latin typeface="Cambria"/>
              </a:rPr>
              <a:t>HNO</a:t>
            </a:r>
            <a:r>
              <a:rPr sz="1800" b="1" i="0" u="none" baseline="-25000">
                <a:solidFill>
                  <a:srgbClr val="FAD02C"/>
                </a:solidFill>
                <a:latin typeface="Cambria"/>
              </a:rPr>
              <a:t>3</a:t>
            </a:r>
            <a:r>
              <a:rPr sz="1800" b="1" i="0" u="none">
                <a:solidFill>
                  <a:srgbClr val="FAD02C"/>
                </a:solidFill>
                <a:latin typeface="Cambria"/>
              </a:rPr>
              <a:t>.</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70.0 g conc. </a:t>
            </a:r>
            <a:r>
              <a:rPr sz="1600" b="1" i="0" u="none">
                <a:solidFill>
                  <a:srgbClr val="00B0F0"/>
                </a:solidFill>
                <a:latin typeface="Cambria"/>
              </a:rPr>
              <a:t>HNO</a:t>
            </a:r>
            <a:r>
              <a:rPr sz="1600" b="1" i="0" u="none" baseline="-25000">
                <a:solidFill>
                  <a:srgbClr val="00B0F0"/>
                </a:solidFill>
                <a:latin typeface="Cambria"/>
              </a:rPr>
              <a:t>3</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54.0 g conc. </a:t>
            </a:r>
            <a:r>
              <a:rPr sz="1600" b="1" i="0" u="none">
                <a:solidFill>
                  <a:srgbClr val="00B0F0"/>
                </a:solidFill>
                <a:latin typeface="Cambria"/>
              </a:rPr>
              <a:t>HNO</a:t>
            </a:r>
            <a:r>
              <a:rPr sz="1600" b="1" i="0" u="none" baseline="-25000">
                <a:solidFill>
                  <a:srgbClr val="00B0F0"/>
                </a:solidFill>
                <a:latin typeface="Cambria"/>
              </a:rPr>
              <a:t>3</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45.0 g conc. </a:t>
            </a:r>
            <a:r>
              <a:rPr sz="1600" b="1" i="0" u="none">
                <a:solidFill>
                  <a:srgbClr val="00B0F0"/>
                </a:solidFill>
                <a:latin typeface="Cambria"/>
              </a:rPr>
              <a:t>HNO</a:t>
            </a:r>
            <a:r>
              <a:rPr sz="1600" b="1" i="0" u="none" baseline="-25000">
                <a:solidFill>
                  <a:srgbClr val="00B0F0"/>
                </a:solidFill>
                <a:latin typeface="Cambria"/>
              </a:rPr>
              <a:t>3</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90.0 g conc. </a:t>
            </a:r>
            <a:r>
              <a:rPr sz="1600" b="1" i="0" u="none">
                <a:solidFill>
                  <a:srgbClr val="00B0F0"/>
                </a:solidFill>
                <a:latin typeface="Cambria"/>
              </a:rPr>
              <a:t>HNO</a:t>
            </a:r>
            <a:r>
              <a:rPr sz="1600" b="1" i="0" u="none" baseline="-25000">
                <a:solidFill>
                  <a:srgbClr val="00B0F0"/>
                </a:solidFill>
                <a:latin typeface="Cambria"/>
              </a:rPr>
              <a:t>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(PRELIMS)-2012</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p</a:t>
            </a:r>
            <a:r>
              <a:rPr sz="1800" b="1" i="0" u="none" baseline="-25000">
                <a:solidFill>
                  <a:srgbClr val="FAD02C"/>
                </a:solidFill>
                <a:latin typeface="Cambria"/>
              </a:rPr>
              <a:t>A</a:t>
            </a:r>
            <a:r>
              <a:rPr sz="1800" b="1" i="0" u="none">
                <a:solidFill>
                  <a:srgbClr val="FAD02C"/>
                </a:solidFill>
                <a:latin typeface="Cambria"/>
              </a:rPr>
              <a:t> and p</a:t>
            </a:r>
            <a:r>
              <a:rPr sz="1800" b="1" i="0" u="none" baseline="-25000">
                <a:solidFill>
                  <a:srgbClr val="FAD02C"/>
                </a:solidFill>
                <a:latin typeface="Cambria"/>
              </a:rPr>
              <a:t>B</a:t>
            </a:r>
            <a:r>
              <a:rPr sz="1800" b="1" i="0" u="none">
                <a:solidFill>
                  <a:srgbClr val="FAD02C"/>
                </a:solidFill>
                <a:latin typeface="Cambria"/>
              </a:rPr>
              <a:t> are the vapour pressure of pure liquid components, A and B, respectively of an ideal binary solution. If x</a:t>
            </a:r>
            <a:r>
              <a:rPr sz="1800" b="1" i="0" u="none" baseline="-25000">
                <a:solidFill>
                  <a:srgbClr val="FAD02C"/>
                </a:solidFill>
                <a:latin typeface="Cambria"/>
              </a:rPr>
              <a:t>A</a:t>
            </a:r>
            <a:r>
              <a:rPr sz="1800" b="1" i="0" u="none">
                <a:solidFill>
                  <a:srgbClr val="FAD02C"/>
                </a:solidFill>
                <a:latin typeface="Cambria"/>
              </a:rPr>
              <a:t> represents the mole fraction of component A, the total pressure of the solution will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a:solidFill>
                  <a:srgbClr val="00B0F0"/>
                </a:solidFill>
                <a:latin typeface="Cambria"/>
              </a:rPr>
              <a:t>p_{B} + x_{A} (p_{B} − p_{A})</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a:solidFill>
                  <a:srgbClr val="00B0F0"/>
                </a:solidFill>
                <a:latin typeface="Cambria"/>
              </a:rPr>
              <a:t>p_{B} + x_{A} (p_{A} − p_{B})</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p_{A} + x_{A} (p_{B} − p_{A})</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a:solidFill>
                  <a:srgbClr val="00B0F0"/>
                </a:solidFill>
                <a:latin typeface="Cambria"/>
              </a:rPr>
              <a:t>p_{A} + x_{A} (p_{A} −p_{B})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22376"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Cambria"/>
              </a:rPr>
              <a:t>2012</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Vapour pressure of chloroform (CHCl₃) and dichloromethane (CH₂Cl₂) at 25°C are 200 mm Hg and 41.5 mm Hg respectively. Vapour pressure of the solution obtained by mixing 25.5 g of CHCl₃ and 40 g of CH₂Cl₂ at the same temperature will be</a:t>
            </a:r>
            <a:br/>
            <a:r>
              <a:rPr sz="1800" b="1" i="0" u="none">
                <a:solidFill>
                  <a:srgbClr val="FAD02C"/>
                </a:solidFill>
                <a:latin typeface="Cambria"/>
              </a:rPr>
              <a:t>(Molecular mass of CHCl₃ = 119.5 u and molecular mass of CH₂Cl₂ = 85 u)</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173.9 mm Hg</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615.0 mm Hg</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347.9 mm Hg</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285.5 mm Hg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26771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03120" cy="402336"/>
          </a:xfrm>
          <a:prstGeom prst="rect">
            <a:avLst/>
          </a:prstGeom>
          <a:noFill/>
        </p:spPr>
        <p:txBody>
          <a:bodyPr wrap="none" anchor="ctr" lIns="0" rIns="0" tIns="0" bIns="0">
            <a:spAutoFit/>
          </a:bodyPr>
          <a:lstStyle/>
          <a:p>
            <a:pPr algn="l"/>
            <a:r>
              <a:rPr sz="1500" b="1">
                <a:solidFill>
                  <a:srgbClr val="FAD02C"/>
                </a:solidFill>
                <a:latin typeface="Cambria"/>
              </a:rPr>
              <a:t>AIPMT (PRELIMS)-2011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The van’t Hoff factor i for a compound which undergoes dissociation in one solvent and association in other solvent is </a:t>
            </a:r>
            <a:r>
              <a:rPr sz="1800" b="1" i="0" u="none">
                <a:solidFill>
                  <a:srgbClr val="FAD02C"/>
                </a:solidFill>
                <a:latin typeface="Cambria"/>
              </a:rPr>
              <a:t>respectively</a:t>
            </a:r>
          </a:p>
        </p:txBody>
      </p:sp>
      <p:sp>
        <p:nvSpPr>
          <p:cNvPr id="7" name="TextBox 6"/>
          <p:cNvSpPr txBox="1"/>
          <p:nvPr/>
        </p:nvSpPr>
        <p:spPr>
          <a:xfrm>
            <a:off x="457200"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Greater than one and greater than one</a:t>
            </a:r>
          </a:p>
        </p:txBody>
      </p:sp>
      <p:sp>
        <p:nvSpPr>
          <p:cNvPr id="8" name="TextBox 7"/>
          <p:cNvSpPr txBox="1"/>
          <p:nvPr/>
        </p:nvSpPr>
        <p:spPr>
          <a:xfrm>
            <a:off x="6254496" y="138623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Less than one and greater than one</a:t>
            </a:r>
          </a:p>
        </p:txBody>
      </p:sp>
      <p:sp>
        <p:nvSpPr>
          <p:cNvPr id="9" name="TextBox 8"/>
          <p:cNvSpPr txBox="1"/>
          <p:nvPr/>
        </p:nvSpPr>
        <p:spPr>
          <a:xfrm>
            <a:off x="457200"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Less than one and less than one</a:t>
            </a:r>
          </a:p>
        </p:txBody>
      </p:sp>
      <p:sp>
        <p:nvSpPr>
          <p:cNvPr id="10" name="TextBox 9"/>
          <p:cNvSpPr txBox="1"/>
          <p:nvPr/>
        </p:nvSpPr>
        <p:spPr>
          <a:xfrm>
            <a:off x="6254496" y="188915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Greater than one and less than one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216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557016" cy="402336"/>
          </a:xfrm>
          <a:prstGeom prst="rect">
            <a:avLst/>
          </a:prstGeom>
          <a:noFill/>
        </p:spPr>
        <p:txBody>
          <a:bodyPr wrap="none" anchor="ctr" lIns="0" rIns="0" tIns="0" bIns="0">
            <a:spAutoFit/>
          </a:bodyPr>
          <a:lstStyle/>
          <a:p>
            <a:pPr algn="l"/>
            <a:r>
              <a:rPr sz="1500" b="1">
                <a:solidFill>
                  <a:srgbClr val="FAD02C"/>
                </a:solidFill>
                <a:latin typeface="Cambria"/>
              </a:rPr>
              <a:t>AIPMT (PRELIMS)-2011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pPr algn="l"/>
            <a:r>
              <a:rPr sz="1800" b="1" i="0">
                <a:solidFill>
                  <a:srgbClr val="FAD02C"/>
                </a:solidFill>
                <a:latin typeface="Cambria"/>
              </a:rPr>
              <a:t>The freezing point depression constant for water is 1.86°C m⁻¹. If 5.00 g Na₂SO₄ is dissolved in 45.0 g H₂O, the freezing point is changed by −3.82°
C. Calculate the van’t Hoff factor for Na₂SO₄.</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0.381</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2.05</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a:solidFill>
                  <a:srgbClr val="00B0F0"/>
                </a:solidFill>
                <a:latin typeface="Cambria"/>
              </a:rPr>
              <a:t>2.63</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3.11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0.1 molal aqueous solution of a weak acid is 30% ionized. If K</a:t>
            </a:r>
            <a:r>
              <a:rPr sz="1800" b="1" i="0" u="none" baseline="-25000">
                <a:solidFill>
                  <a:srgbClr val="FAD02C"/>
                </a:solidFill>
                <a:latin typeface="Cambria"/>
              </a:rPr>
              <a:t>f</a:t>
            </a:r>
            <a:r>
              <a:rPr sz="1800" b="1" i="0" u="none">
                <a:solidFill>
                  <a:srgbClr val="FAD02C"/>
                </a:solidFill>
                <a:latin typeface="Cambria"/>
              </a:rPr>
              <a:t> for water is 1.86°C/m, the freezing point of the solution will </a:t>
            </a:r>
            <a:r>
              <a:rPr sz="1800" b="1" i="0" u="none">
                <a:solidFill>
                  <a:srgbClr val="FAD02C"/>
                </a:solidFill>
                <a:latin typeface="Cambria"/>
              </a:rPr>
              <a:t>be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−0.36°C</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−0.24°C</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−0.18°C</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−0.54°C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05740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892807" cy="402336"/>
          </a:xfrm>
          <a:prstGeom prst="rect">
            <a:avLst/>
          </a:prstGeom>
          <a:noFill/>
        </p:spPr>
        <p:txBody>
          <a:bodyPr wrap="none" anchor="ctr" lIns="0" rIns="0" tIns="0" bIns="0">
            <a:spAutoFit/>
          </a:bodyPr>
          <a:lstStyle/>
          <a:p>
            <a:pPr algn="l"/>
            <a:r>
              <a:rPr sz="1500" b="1">
                <a:solidFill>
                  <a:srgbClr val="FAD02C"/>
                </a:solidFill>
                <a:latin typeface="Cambria"/>
              </a:rPr>
              <a:t>AIPMT (MAINS)-2011</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200 mL of an aqueous solution of a protein contains 1.26 g. The osmotic pressure of this solution at 300 K is found to be 2.57 × 10⁻³ bar. The molar mass of protein will be (R = 0.083 L bar mol⁻¹ K⁻</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31011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61038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51022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122044 g mol⁻¹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76732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02736" cy="402336"/>
          </a:xfrm>
          <a:prstGeom prst="rect">
            <a:avLst/>
          </a:prstGeom>
          <a:noFill/>
        </p:spPr>
        <p:txBody>
          <a:bodyPr wrap="none" anchor="ctr" lIns="0" rIns="0" tIns="0" bIns="0">
            <a:spAutoFit/>
          </a:bodyPr>
          <a:lstStyle/>
          <a:p>
            <a:pPr algn="l"/>
            <a:r>
              <a:rPr sz="1500" b="1">
                <a:solidFill>
                  <a:srgbClr val="FAD02C"/>
                </a:solidFill>
                <a:latin typeface="Cambria"/>
              </a:rPr>
              <a:t>AIPMT (PRELIMS)-2010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sucrose (molar mass = 342 g mol⁻¹) has been prepared by dissolving 68.5 g of sucrose in 1000 g of water. The freezing point of the solution obtained will be (K</a:t>
            </a:r>
            <a:r>
              <a:rPr sz="1800" b="1" i="0" u="none" baseline="-25000">
                <a:solidFill>
                  <a:srgbClr val="FAD02C"/>
                </a:solidFill>
                <a:latin typeface="Cambria"/>
              </a:rPr>
              <a:t>f</a:t>
            </a:r>
            <a:r>
              <a:rPr sz="1800" b="1" i="0" u="none">
                <a:solidFill>
                  <a:srgbClr val="FAD02C"/>
                </a:solidFill>
                <a:latin typeface="Cambria"/>
              </a:rPr>
              <a:t> for water = 1.86 K kg mol⁻</a:t>
            </a:r>
            <a:r>
              <a:rPr sz="1800" b="1" i="0" u="none">
                <a:solidFill>
                  <a:srgbClr val="FAD02C"/>
                </a:solidFill>
                <a:latin typeface="Cambria"/>
              </a:rPr>
              <a:t>¹)</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−0.372°C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−0.520°C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+0.372°C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−0.570°C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1343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48839" cy="402336"/>
          </a:xfrm>
          <a:prstGeom prst="rect">
            <a:avLst/>
          </a:prstGeom>
          <a:noFill/>
        </p:spPr>
        <p:txBody>
          <a:bodyPr wrap="none" anchor="ctr" lIns="0" rIns="0" tIns="0" bIns="0">
            <a:spAutoFit/>
          </a:bodyPr>
          <a:lstStyle/>
          <a:p>
            <a:pPr algn="l"/>
            <a:r>
              <a:rPr sz="1500" b="1">
                <a:solidFill>
                  <a:srgbClr val="FAD02C"/>
                </a:solidFill>
                <a:latin typeface="Cambria"/>
              </a:rPr>
              <a:t>AIPMT (PRELIMS)-2010</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An aqueous solution is 1.00 molal in KI. Which change will cause the vapour pressure of the solution to increase?</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Addition of NaCl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Addition of Na₂SO₄</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Addition of 1.00 molal KI</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Addition of water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(PRELIMS)-2009</a:t>
            </a:r>
          </a:p>
        </p:txBody>
      </p:sp>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A 0.0020 m aqueous solution of an ionic compound Co (NH₃) ₃(NO₂) Cl freezes at −0.00732°
C. Number of moles of ions which 1 mol of ionic compound produces on being dissolved in water will be (K_{f} = 1.86°C/m)</a:t>
            </a:r>
          </a:p>
        </p:txBody>
      </p:sp>
      <p:sp>
        <p:nvSpPr>
          <p:cNvPr id="7" name="TextBox 6"/>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₃</a:t>
            </a:r>
          </a:p>
        </p:txBody>
      </p:sp>
      <p:sp>
        <p:nvSpPr>
          <p:cNvPr id="8" name="TextBox 7"/>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4</a:t>
            </a:r>
          </a:p>
        </p:txBody>
      </p:sp>
      <p:sp>
        <p:nvSpPr>
          <p:cNvPr id="9" name="TextBox 8"/>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a:t>
            </a:r>
          </a:p>
        </p:txBody>
      </p:sp>
      <p:sp>
        <p:nvSpPr>
          <p:cNvPr id="10" name="TextBox 9"/>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0.5 molal aqueous solution of a weak acid (HX) is 20% ionized. If K_f for water is 1.86 K kg mol⁻¹, the lowering in freezing point of the solution </a:t>
            </a:r>
            <a:r>
              <a:rPr sz="1800" b="1" i="0" u="none">
                <a:solidFill>
                  <a:srgbClr val="FAD02C"/>
                </a:solidFill>
                <a:latin typeface="Cambria"/>
              </a:rPr>
              <a:t>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−0.56 K</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−1.12 K</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0.56 K</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1.12 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758952"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Cambria"/>
              </a:rPr>
              <a:t>2007</a:t>
            </a:r>
          </a:p>
        </p:txBody>
      </p:sp>
      <p:sp>
        <p:nvSpPr>
          <p:cNvPr id="6" name="TextBox 5"/>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Concentrated aqueous sulphuricacid is 98% </a:t>
            </a:r>
            <a:r>
              <a:rPr sz="1800" b="1" i="0" u="none">
                <a:solidFill>
                  <a:srgbClr val="FAD02C"/>
                </a:solidFill>
                <a:latin typeface="Cambria"/>
              </a:rPr>
              <a:t>H</a:t>
            </a:r>
            <a:r>
              <a:rPr sz="1800" b="1" i="0" u="none" baseline="-25000">
                <a:solidFill>
                  <a:srgbClr val="FAD02C"/>
                </a:solidFill>
                <a:latin typeface="Cambria"/>
              </a:rPr>
              <a:t>2</a:t>
            </a:r>
            <a:r>
              <a:rPr sz="1800" b="1" i="0" u="none">
                <a:solidFill>
                  <a:srgbClr val="FAD02C"/>
                </a:solidFill>
                <a:latin typeface="Cambria"/>
              </a:rPr>
              <a:t>SO</a:t>
            </a:r>
            <a:r>
              <a:rPr sz="1800" b="1" i="0" u="none" baseline="-25000">
                <a:solidFill>
                  <a:srgbClr val="FAD02C"/>
                </a:solidFill>
                <a:latin typeface="Cambria"/>
              </a:rPr>
              <a:t>4</a:t>
            </a:r>
            <a:r>
              <a:rPr sz="1800" b="1" i="0" u="none">
                <a:solidFill>
                  <a:srgbClr val="FAD02C"/>
                </a:solidFill>
                <a:latin typeface="Cambria"/>
              </a:rPr>
              <a:t> by mass and has a density of 1.80 g mL</a:t>
            </a:r>
            <a:r>
              <a:rPr sz="1800" b="1" i="0" u="none" baseline="30000">
                <a:solidFill>
                  <a:srgbClr val="FAD02C"/>
                </a:solidFill>
                <a:latin typeface="Cambria"/>
              </a:rPr>
              <a:t>-1</a:t>
            </a:r>
            <a:r>
              <a:rPr sz="1800" b="1" i="0" u="none">
                <a:solidFill>
                  <a:srgbClr val="FAD02C"/>
                </a:solidFill>
                <a:latin typeface="Cambria"/>
              </a:rPr>
              <a:t>. Volume of acid required to make one litre of 0.1 M H</a:t>
            </a:r>
            <a:r>
              <a:rPr sz="1800" b="1" i="0" u="none" baseline="-25000">
                <a:solidFill>
                  <a:srgbClr val="FAD02C"/>
                </a:solidFill>
                <a:latin typeface="Cambria"/>
              </a:rPr>
              <a:t>2</a:t>
            </a:r>
            <a:r>
              <a:rPr sz="1800" b="1" i="0" u="none">
                <a:solidFill>
                  <a:srgbClr val="FAD02C"/>
                </a:solidFill>
                <a:latin typeface="Cambria"/>
              </a:rPr>
              <a:t>SO</a:t>
            </a:r>
            <a:r>
              <a:rPr sz="1800" b="1" i="0" u="none" baseline="-25000">
                <a:solidFill>
                  <a:srgbClr val="FAD02C"/>
                </a:solidFill>
                <a:latin typeface="Cambria"/>
              </a:rPr>
              <a:t>4</a:t>
            </a:r>
            <a:r>
              <a:rPr sz="1800" b="1" i="0" u="none">
                <a:solidFill>
                  <a:srgbClr val="FAD02C"/>
                </a:solidFill>
                <a:latin typeface="Cambria"/>
              </a:rPr>
              <a:t> solution is</a:t>
            </a:r>
          </a:p>
        </p:txBody>
      </p:sp>
      <p:sp>
        <p:nvSpPr>
          <p:cNvPr id="7" name="TextBox 6"/>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16.65 mL</a:t>
            </a:r>
          </a:p>
        </p:txBody>
      </p:sp>
      <p:sp>
        <p:nvSpPr>
          <p:cNvPr id="8" name="TextBox 7"/>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22.20 mL</a:t>
            </a:r>
          </a:p>
        </p:txBody>
      </p:sp>
      <p:sp>
        <p:nvSpPr>
          <p:cNvPr id="9" name="TextBox 8"/>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5.55 mL</a:t>
            </a:r>
          </a:p>
        </p:txBody>
      </p:sp>
      <p:sp>
        <p:nvSpPr>
          <p:cNvPr id="10" name="TextBox 9"/>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11.10 mL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containing 10 g per dm³ of urea (molecular mass = 60 g mol⁻¹) is isotonic with a 5% solution of a non-volatile solute. The molecular mass of this non-volatile solute </a:t>
            </a:r>
            <a:r>
              <a:rPr sz="1800" b="1" i="0" u="none">
                <a:solidFill>
                  <a:srgbClr val="FAD02C"/>
                </a:solidFill>
                <a:latin typeface="Cambria"/>
              </a:rPr>
              <a:t>is</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250 g mol⁻¹</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300 g mol⁻¹</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350 g mol⁻¹</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200 g mol⁻¹</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3803904"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3639312" cy="402336"/>
          </a:xfrm>
          <a:prstGeom prst="rect">
            <a:avLst/>
          </a:prstGeom>
          <a:noFill/>
        </p:spPr>
        <p:txBody>
          <a:bodyPr wrap="none" anchor="ctr" lIns="0" rIns="0" tIns="0" bIns="0">
            <a:spAutoFit/>
          </a:bodyPr>
          <a:lstStyle/>
          <a:p>
            <a:pPr algn="l"/>
            <a:r>
              <a:rPr sz="1500" b="1">
                <a:solidFill>
                  <a:srgbClr val="FAD02C"/>
                </a:solidFill>
                <a:latin typeface="Cambria"/>
              </a:rPr>
              <a:t>AIPMT (PRELIMS)-2006 · 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1.00 g of a non-electrolyte solute (molar mass 250 g mol⁻¹) was dissolved in 51.2 g of benzene. If the freezing point depression constant, K</a:t>
            </a:r>
            <a:r>
              <a:rPr sz="1800" b="1" i="0" u="none" baseline="-25000">
                <a:solidFill>
                  <a:srgbClr val="FAD02C"/>
                </a:solidFill>
                <a:latin typeface="Cambria"/>
              </a:rPr>
              <a:t>f</a:t>
            </a:r>
            <a:r>
              <a:rPr sz="1800" b="1" i="0" u="none">
                <a:solidFill>
                  <a:srgbClr val="FAD02C"/>
                </a:solidFill>
                <a:latin typeface="Cambria"/>
              </a:rPr>
              <a:t> of benzene is 5.12 K kg mol⁻¹, the freezing point of benzene will be lowered </a:t>
            </a:r>
            <a:r>
              <a:rPr sz="1800" b="1" i="0" u="none">
                <a:solidFill>
                  <a:srgbClr val="FAD02C"/>
                </a:solidFill>
                <a:latin typeface="Cambria"/>
              </a:rPr>
              <a:t>by</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0.4 K</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0.3 K</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0.5 K</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 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of acetone in ethanol</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Shows a negative deviation from Raoult’s law</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Shows a positive deviation from Raoult’s law</a:t>
            </a:r>
          </a:p>
        </p:txBody>
      </p:sp>
      <p:sp>
        <p:nvSpPr>
          <p:cNvPr id="9" name="TextBox 8"/>
          <p:cNvSpPr txBox="1"/>
          <p:nvPr/>
        </p:nvSpPr>
        <p:spPr>
          <a:xfrm>
            <a:off x="457200"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Behaves like a near ideal solution</a:t>
            </a:r>
          </a:p>
        </p:txBody>
      </p:sp>
      <p:sp>
        <p:nvSpPr>
          <p:cNvPr id="10" name="TextBox 9"/>
          <p:cNvSpPr txBox="1"/>
          <p:nvPr/>
        </p:nvSpPr>
        <p:spPr>
          <a:xfrm>
            <a:off x="6254496" y="1684324"/>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Obeys Raoult’s law</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(PRELIMS)-2006</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During osmosis, flow of water through a semi-permeable membrane </a:t>
            </a:r>
            <a:r>
              <a:rPr sz="1800" b="1" i="0" u="none">
                <a:solidFill>
                  <a:srgbClr val="FAD02C"/>
                </a:solidFill>
                <a:latin typeface="Cambria"/>
              </a:rPr>
              <a:t>is</a:t>
            </a:r>
          </a:p>
        </p:txBody>
      </p:sp>
      <p:sp>
        <p:nvSpPr>
          <p:cNvPr id="7" name="TextBox 6"/>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From solution having higher concentration only</a:t>
            </a:r>
          </a:p>
        </p:txBody>
      </p:sp>
      <p:sp>
        <p:nvSpPr>
          <p:cNvPr id="8" name="TextBox 7"/>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From both sides of semi-permeable membrane with equal flow rates</a:t>
            </a:r>
          </a:p>
        </p:txBody>
      </p:sp>
      <p:sp>
        <p:nvSpPr>
          <p:cNvPr id="9" name="TextBox 8"/>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From both sides of semi-permeable membrane with unequal flow rates</a:t>
            </a:r>
          </a:p>
        </p:txBody>
      </p:sp>
      <p:sp>
        <p:nvSpPr>
          <p:cNvPr id="10" name="TextBox 9"/>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From solution having lower concentration only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two liquids P and Q are 80 and 60 torr, respectively. The total vapour pressure of solution obtained by mixing 3 moles of P and 2 moles of Q would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140 torr</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20 torr</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68 torr</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72 torr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of urea (mol. mass 60 g mol⁻¹) boils at 100.18°C at the atmospheric pressure. If K</a:t>
            </a:r>
            <a:r>
              <a:rPr sz="1800" b="1" i="0" u="none" baseline="-25000">
                <a:solidFill>
                  <a:srgbClr val="FAD02C"/>
                </a:solidFill>
                <a:latin typeface="Cambria"/>
              </a:rPr>
              <a:t>f</a:t>
            </a:r>
            <a:r>
              <a:rPr sz="1800" b="1" i="0" u="none">
                <a:solidFill>
                  <a:srgbClr val="FAD02C"/>
                </a:solidFill>
                <a:latin typeface="Cambria"/>
              </a:rPr>
              <a:t> and K</a:t>
            </a:r>
            <a:r>
              <a:rPr sz="1800" b="1" i="0" u="none" baseline="-25000">
                <a:solidFill>
                  <a:srgbClr val="FAD02C"/>
                </a:solidFill>
                <a:latin typeface="Cambria"/>
              </a:rPr>
              <a:t>b</a:t>
            </a:r>
            <a:r>
              <a:rPr sz="1800" b="1" i="0" u="none">
                <a:solidFill>
                  <a:srgbClr val="FAD02C"/>
                </a:solidFill>
                <a:latin typeface="Cambria"/>
              </a:rPr>
              <a:t> for water are 1.86 and 0.512 K kg mol⁻¹ respectively, the above solution will freeze at</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−6.54°C</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6.54°C</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0.654°C</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−0.654°C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has a </a:t>
            </a:r>
            <a:r>
              <a:rPr sz="1800" b="1" i="0" u="none">
                <a:solidFill>
                  <a:srgbClr val="FAD02C"/>
                </a:solidFill>
                <a:latin typeface="Cambria"/>
              </a:rPr>
              <a:t>1:</a:t>
            </a:r>
            <a:r>
              <a:rPr sz="1800" b="1" i="0" u="none">
                <a:solidFill>
                  <a:srgbClr val="FAD02C"/>
                </a:solidFill>
                <a:latin typeface="Cambria"/>
              </a:rPr>
              <a:t> 4 mole </a:t>
            </a:r>
            <a:r>
              <a:rPr sz="1800" b="1" i="0" u="none">
                <a:solidFill>
                  <a:srgbClr val="FAD02C"/>
                </a:solidFill>
                <a:latin typeface="Cambria"/>
              </a:rPr>
              <a:t>ratios</a:t>
            </a:r>
            <a:r>
              <a:rPr sz="1800" b="1" i="0" u="none">
                <a:solidFill>
                  <a:srgbClr val="FAD02C"/>
                </a:solidFill>
                <a:latin typeface="Cambria"/>
              </a:rPr>
              <a:t> of pentane to hexane. The vapour pressure of the pure hydrocarbons at 20°C are 440 mm of Hg for pentane and 120 mm of Hg for hexane. The mole fraction of pentane in the vapour phase would </a:t>
            </a:r>
            <a:r>
              <a:rPr sz="1800" b="1" i="0" u="none">
                <a:solidFill>
                  <a:srgbClr val="FAD02C"/>
                </a:solidFill>
                <a:latin typeface="Cambria"/>
              </a:rPr>
              <a:t>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0.549</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0.200</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0.786</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0.478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2350008"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2185415" cy="402336"/>
          </a:xfrm>
          <a:prstGeom prst="rect">
            <a:avLst/>
          </a:prstGeom>
          <a:noFill/>
        </p:spPr>
        <p:txBody>
          <a:bodyPr wrap="none" anchor="ctr" lIns="0" rIns="0" tIns="0" bIns="0">
            <a:spAutoFit/>
          </a:bodyPr>
          <a:lstStyle/>
          <a:p>
            <a:pPr algn="l"/>
            <a:r>
              <a:rPr sz="1500" b="1">
                <a:solidFill>
                  <a:srgbClr val="FAD02C"/>
                </a:solidFill>
                <a:latin typeface="Cambria"/>
              </a:rPr>
              <a:t>AIPMT (PRELIMS)-2005</a:t>
            </a:r>
          </a:p>
        </p:txBody>
      </p:sp>
      <p:sp>
        <p:nvSpPr>
          <p:cNvPr id="6" name="TextBox 5"/>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mole fraction of the solute in one molal aqueous solution </a:t>
            </a:r>
            <a:r>
              <a:rPr sz="1800" b="1" i="0" u="none">
                <a:solidFill>
                  <a:srgbClr val="FAD02C"/>
                </a:solidFill>
                <a:latin typeface="Cambria"/>
              </a:rPr>
              <a:t>is</a:t>
            </a:r>
          </a:p>
        </p:txBody>
      </p:sp>
      <p:sp>
        <p:nvSpPr>
          <p:cNvPr id="7" name="TextBox 6"/>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0.027</a:t>
            </a:r>
          </a:p>
        </p:txBody>
      </p:sp>
      <p:sp>
        <p:nvSpPr>
          <p:cNvPr id="8" name="TextBox 7"/>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0.036</a:t>
            </a:r>
          </a:p>
        </p:txBody>
      </p:sp>
      <p:sp>
        <p:nvSpPr>
          <p:cNvPr id="9" name="TextBox 8"/>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0.018</a:t>
            </a:r>
          </a:p>
        </p:txBody>
      </p:sp>
      <p:sp>
        <p:nvSpPr>
          <p:cNvPr id="10" name="TextBox 9"/>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0.009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compounds can be used as antifreeze in automobile radiators?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Methyl alcohol</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Glycol</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Nitrophenol</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Ethyl alcohol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Mole fraction of the solute in a 1.00 molal aqueous solution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1.7700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0.1770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0.0177</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0.0344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pPr algn="l"/>
            <a:r>
              <a:rPr sz="1800" b="1" i="0">
                <a:solidFill>
                  <a:srgbClr val="FAD02C"/>
                </a:solidFill>
                <a:latin typeface="Cambria"/>
              </a:rPr>
              <a:t>1 × 10⁻³ m solution of Pt (NH₃) ₄Cl₂ in H₂O shows depression in freezing point by 0.0054°
C. The structure of the compound will be (Given K_{f} = 1.860 K m⁻¹)</a:t>
            </a:r>
          </a:p>
        </p:txBody>
      </p:sp>
      <p:sp>
        <p:nvSpPr>
          <p:cNvPr id="4" name="TextBox 3"/>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₄] Cl</a:t>
            </a:r>
            <a:r>
              <a:rPr sz="1600" b="1" i="0" u="none">
                <a:solidFill>
                  <a:srgbClr val="00B0F0"/>
                </a:solidFill>
                <a:latin typeface="Cambria"/>
              </a:rPr>
              <a:t>₄</a:t>
            </a:r>
          </a:p>
        </p:txBody>
      </p:sp>
      <p:sp>
        <p:nvSpPr>
          <p:cNvPr id="5" name="TextBox 4"/>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₃Cl] Cl</a:t>
            </a:r>
            <a:r>
              <a:rPr sz="1600" b="1" i="0" u="none">
                <a:solidFill>
                  <a:srgbClr val="00B0F0"/>
                </a:solidFill>
                <a:latin typeface="Cambria"/>
              </a:rPr>
              <a:t>₃</a:t>
            </a:r>
          </a:p>
        </p:txBody>
      </p:sp>
      <p:sp>
        <p:nvSpPr>
          <p:cNvPr id="6" name="TextBox 5"/>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₄</a:t>
            </a:r>
            <a:r>
              <a:rPr sz="1600" b="1" i="0" u="none">
                <a:solidFill>
                  <a:srgbClr val="00B0F0"/>
                </a:solidFill>
                <a:latin typeface="Cambria"/>
              </a:rPr>
              <a:t>Cl</a:t>
            </a:r>
            <a:r>
              <a:rPr sz="1600" b="1" i="0" u="none">
                <a:solidFill>
                  <a:srgbClr val="00B0F0"/>
                </a:solidFill>
                <a:latin typeface="Cambria"/>
              </a:rPr>
              <a:t>₂] Cl</a:t>
            </a:r>
            <a:r>
              <a:rPr sz="1600" b="1" i="0" u="none">
                <a:solidFill>
                  <a:srgbClr val="00B0F0"/>
                </a:solidFill>
                <a:latin typeface="Cambria"/>
              </a:rPr>
              <a:t>₂</a:t>
            </a:r>
          </a:p>
        </p:txBody>
      </p:sp>
      <p:sp>
        <p:nvSpPr>
          <p:cNvPr id="7" name="TextBox 6"/>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a:t>
            </a:r>
            <a:r>
              <a:rPr sz="1600" b="1" i="0" u="none">
                <a:solidFill>
                  <a:srgbClr val="00B0F0"/>
                </a:solidFill>
                <a:latin typeface="Cambria"/>
              </a:rPr>
              <a:t>Pt (</a:t>
            </a:r>
            <a:r>
              <a:rPr sz="1600" b="1" i="0" u="none">
                <a:solidFill>
                  <a:srgbClr val="00B0F0"/>
                </a:solidFill>
                <a:latin typeface="Cambria"/>
              </a:rPr>
              <a:t>NH</a:t>
            </a:r>
            <a:r>
              <a:rPr sz="1600" b="1" i="0" u="none">
                <a:solidFill>
                  <a:srgbClr val="00B0F0"/>
                </a:solidFill>
                <a:latin typeface="Cambria"/>
              </a:rPr>
              <a:t>₃) ₃</a:t>
            </a:r>
            <a:r>
              <a:rPr sz="1600" b="1" i="0" u="none">
                <a:solidFill>
                  <a:srgbClr val="00B0F0"/>
                </a:solidFill>
                <a:latin typeface="Cambria"/>
              </a:rPr>
              <a:t>Cl</a:t>
            </a:r>
            <a:r>
              <a:rPr sz="1600" b="1" i="0" u="none">
                <a:solidFill>
                  <a:srgbClr val="00B0F0"/>
                </a:solidFill>
                <a:latin typeface="Cambria"/>
              </a:rPr>
              <a:t>₃] Cl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Which of the following salt has the same value of van’t Hoff’s factor i as that of K</a:t>
            </a:r>
            <a:r>
              <a:rPr sz="1800" b="1" i="0" u="none">
                <a:solidFill>
                  <a:srgbClr val="FAD02C"/>
                </a:solidFill>
                <a:latin typeface="Cambria"/>
              </a:rPr>
              <a:t>₃ [Fe (</a:t>
            </a:r>
            <a:r>
              <a:rPr sz="1800" b="1" i="0" u="none">
                <a:solidFill>
                  <a:srgbClr val="FAD02C"/>
                </a:solidFill>
                <a:latin typeface="Cambria"/>
              </a:rPr>
              <a:t>CN)₆]?</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Na₂SO₄</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Al (</a:t>
            </a:r>
            <a:r>
              <a:rPr sz="1600" b="1" i="0" u="none">
                <a:solidFill>
                  <a:srgbClr val="00B0F0"/>
                </a:solidFill>
                <a:latin typeface="Cambria"/>
              </a:rPr>
              <a:t>NO</a:t>
            </a:r>
            <a:r>
              <a:rPr sz="1600" b="1" i="0" u="none">
                <a:solidFill>
                  <a:srgbClr val="00B0F0"/>
                </a:solidFill>
                <a:latin typeface="Cambria"/>
              </a:rPr>
              <a:t>₃) ₃</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Al₂(SO</a:t>
            </a:r>
            <a:r>
              <a:rPr sz="1600" b="1" i="0" u="none">
                <a:solidFill>
                  <a:srgbClr val="00B0F0"/>
                </a:solidFill>
                <a:latin typeface="Cambria"/>
              </a:rPr>
              <a:t>₄) ₃</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NaCl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At 25°C, the highest osmotic pressure is exhibited by 0.1 M solution of</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Glucose</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Urea</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CaCl₂</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KCl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According to Raoult’s law, the relative lowering of vapour pressure for a solution is equal to</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Mole fraction of solute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Mole fraction of solvent</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Moles of solute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Moles of solvent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The concentration units, independent of temperature, would be</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Normality</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Weight volume percent</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Molality</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Molarity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In liquid-gas equilibrium, the pressure of vapour above the liquid is constant at</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Constant temperature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Low temperature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High temperature</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None of these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ounded Rectangle 2"/>
          <p:cNvSpPr/>
          <p:nvPr/>
        </p:nvSpPr>
        <p:spPr>
          <a:xfrm>
            <a:off x="457200" y="182880"/>
            <a:ext cx="1554480" cy="402336"/>
          </a:xfrm>
          <a:prstGeom prst="roundRect">
            <a:avLst/>
          </a:prstGeom>
          <a:solidFill>
            <a:srgbClr val="16130B"/>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
            <a:ext cx="1389888" cy="402336"/>
          </a:xfrm>
          <a:prstGeom prst="rect">
            <a:avLst/>
          </a:prstGeom>
          <a:noFill/>
        </p:spPr>
        <p:txBody>
          <a:bodyPr wrap="none" anchor="ctr" lIns="0" rIns="0" tIns="0" bIns="0">
            <a:spAutoFit/>
          </a:bodyPr>
          <a:lstStyle/>
          <a:p>
            <a:pPr algn="l"/>
            <a:r>
              <a:rPr sz="1500" b="1">
                <a:solidFill>
                  <a:srgbClr val="FAD02C"/>
                </a:solidFill>
                <a:latin typeface="Cambria"/>
              </a:rPr>
              <a:t>NEEDS REVIEW</a:t>
            </a:r>
          </a:p>
        </p:txBody>
      </p:sp>
      <p:sp>
        <p:nvSpPr>
          <p:cNvPr id="6" name="TextBox 5"/>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The vapour pressure of CCl₄ at 25°C is 143 mm Hg. If 0.5 gm of a non-volatile solute (mol. weight = 65) is dissolved in 100 g CCl₄, the vapour pressure of the solution will be</a:t>
            </a:r>
          </a:p>
        </p:txBody>
      </p:sp>
      <p:sp>
        <p:nvSpPr>
          <p:cNvPr id="7" name="TextBox 6"/>
          <p:cNvSpPr txBox="1"/>
          <p:nvPr/>
        </p:nvSpPr>
        <p:spPr>
          <a:xfrm>
            <a:off x="457200"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199.34 mm Hg</a:t>
            </a:r>
          </a:p>
        </p:txBody>
      </p:sp>
      <p:sp>
        <p:nvSpPr>
          <p:cNvPr id="8" name="TextBox 7"/>
          <p:cNvSpPr txBox="1"/>
          <p:nvPr/>
        </p:nvSpPr>
        <p:spPr>
          <a:xfrm>
            <a:off x="3321558"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143.99 mm Hg</a:t>
            </a:r>
          </a:p>
        </p:txBody>
      </p:sp>
      <p:sp>
        <p:nvSpPr>
          <p:cNvPr id="9" name="TextBox 8"/>
          <p:cNvSpPr txBox="1"/>
          <p:nvPr/>
        </p:nvSpPr>
        <p:spPr>
          <a:xfrm>
            <a:off x="6185916"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141.43 mm Hg</a:t>
            </a:r>
          </a:p>
        </p:txBody>
      </p:sp>
      <p:sp>
        <p:nvSpPr>
          <p:cNvPr id="10" name="TextBox 9"/>
          <p:cNvSpPr txBox="1"/>
          <p:nvPr/>
        </p:nvSpPr>
        <p:spPr>
          <a:xfrm>
            <a:off x="9050274" y="1690725"/>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94.39 mm Hg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What is the molarity of H₂SO₄ solution, that has a density 1.84 g/cc at 35°C and contains 98% by weight of solute?</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18.4 M</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18 M</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4.18 M</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8.14 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A 5% (w/v) solution of cane sugar (mol. wt. = 342) is isotonic with 1% (w/v) solution of a substance X. The molecular weight of X is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68.4</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171.2</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34.2</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136.8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a solvent decreased by 10 mm of mercury when a non-volatile solute was added to the solvent. The mole fraction of solute in the solution is 0.2. What should be the mole fraction of the solvent if the decrease in vapour pressure is to be 20 mm of mercury?</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0.4</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0.6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0.8</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0.2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pPr algn="l"/>
            <a:r>
              <a:rPr sz="1800" b="1" i="0">
                <a:solidFill>
                  <a:srgbClr val="FAD02C"/>
                </a:solidFill>
                <a:latin typeface="Cambria"/>
              </a:rPr>
              <a:t>If 0.15 g of a solute, dissolved in 15 g of solvent, is boiled at a temperature higher by 0.216°C, than that of the pure solvent. The molecular weight of the substance, (Molal elevation constant for the solvent is 2.16°
C) is</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10.1</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100</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1.01</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1000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217980"/>
          </a:xfrm>
          <a:prstGeom prst="rect">
            <a:avLst/>
          </a:prstGeom>
          <a:noFill/>
        </p:spPr>
        <p:txBody>
          <a:bodyPr wrap="square" lIns="0" rIns="0" tIns="0" bIns="0">
            <a:spAutoFit/>
          </a:bodyPr>
          <a:lstStyle/>
          <a:p>
            <a:r>
              <a:rPr sz="1800" b="1" i="0" u="none">
                <a:solidFill>
                  <a:srgbClr val="FAD02C"/>
                </a:solidFill>
                <a:latin typeface="Cambria"/>
              </a:rPr>
              <a:t>The vapour pressure of benzene at a certain temperature is 640 mm of Hg. A non-volatile and non-electrolyte solid, weighing 2.175 g is added to 39.08 g of benzene. The vapour pressure of the solution is 600 mm of Hg. What is the molecular weight of solid substance?</a:t>
            </a:r>
          </a:p>
        </p:txBody>
      </p:sp>
      <p:sp>
        <p:nvSpPr>
          <p:cNvPr id="4" name="TextBox 3"/>
          <p:cNvSpPr txBox="1"/>
          <p:nvPr/>
        </p:nvSpPr>
        <p:spPr>
          <a:xfrm>
            <a:off x="457200"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69.45</a:t>
            </a:r>
          </a:p>
        </p:txBody>
      </p:sp>
      <p:sp>
        <p:nvSpPr>
          <p:cNvPr id="5" name="TextBox 4"/>
          <p:cNvSpPr txBox="1"/>
          <p:nvPr/>
        </p:nvSpPr>
        <p:spPr>
          <a:xfrm>
            <a:off x="3321558"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59.6</a:t>
            </a:r>
          </a:p>
        </p:txBody>
      </p:sp>
      <p:sp>
        <p:nvSpPr>
          <p:cNvPr id="6" name="TextBox 5"/>
          <p:cNvSpPr txBox="1"/>
          <p:nvPr/>
        </p:nvSpPr>
        <p:spPr>
          <a:xfrm>
            <a:off x="6185916"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49.50</a:t>
            </a:r>
          </a:p>
        </p:txBody>
      </p:sp>
      <p:sp>
        <p:nvSpPr>
          <p:cNvPr id="7" name="TextBox 6"/>
          <p:cNvSpPr txBox="1"/>
          <p:nvPr/>
        </p:nvSpPr>
        <p:spPr>
          <a:xfrm>
            <a:off x="9050274" y="199522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79.8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r>
              <a:rPr sz="1800" b="1" i="0" u="none">
                <a:solidFill>
                  <a:srgbClr val="FAD02C"/>
                </a:solidFill>
                <a:latin typeface="Cambria"/>
              </a:rPr>
              <a:t>From the colligative properties of solution which one is the best method for the determination of molecular weight of proteins and polymers?</a:t>
            </a:r>
          </a:p>
        </p:txBody>
      </p:sp>
      <p:sp>
        <p:nvSpPr>
          <p:cNvPr id="4" name="TextBox 3"/>
          <p:cNvSpPr txBox="1"/>
          <p:nvPr/>
        </p:nvSpPr>
        <p:spPr>
          <a:xfrm>
            <a:off x="457200"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Osmotic pressure</a:t>
            </a:r>
          </a:p>
        </p:txBody>
      </p:sp>
      <p:sp>
        <p:nvSpPr>
          <p:cNvPr id="5" name="TextBox 4"/>
          <p:cNvSpPr txBox="1"/>
          <p:nvPr/>
        </p:nvSpPr>
        <p:spPr>
          <a:xfrm>
            <a:off x="3321558"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Lowering in vapour pressure</a:t>
            </a:r>
          </a:p>
        </p:txBody>
      </p:sp>
      <p:sp>
        <p:nvSpPr>
          <p:cNvPr id="6" name="TextBox 5"/>
          <p:cNvSpPr txBox="1"/>
          <p:nvPr/>
        </p:nvSpPr>
        <p:spPr>
          <a:xfrm>
            <a:off x="6185916"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Lowering in freezing point</a:t>
            </a:r>
          </a:p>
        </p:txBody>
      </p:sp>
      <p:sp>
        <p:nvSpPr>
          <p:cNvPr id="7" name="TextBox 6"/>
          <p:cNvSpPr txBox="1"/>
          <p:nvPr/>
        </p:nvSpPr>
        <p:spPr>
          <a:xfrm>
            <a:off x="9050274" y="138623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Elevation in boiling point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Molarity of liquid HCl, if density of solution is 1.17 gm/cc is</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36.5</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18.25</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32.05</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42.10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913485"/>
          </a:xfrm>
          <a:prstGeom prst="rect">
            <a:avLst/>
          </a:prstGeom>
          <a:noFill/>
        </p:spPr>
        <p:txBody>
          <a:bodyPr wrap="square" lIns="0" rIns="0" tIns="0" bIns="0">
            <a:spAutoFit/>
          </a:bodyPr>
          <a:lstStyle/>
          <a:p>
            <a:r>
              <a:rPr sz="1800" b="1" i="0" u="none">
                <a:solidFill>
                  <a:srgbClr val="FAD02C"/>
                </a:solidFill>
                <a:latin typeface="Cambria"/>
              </a:rPr>
              <a:t>A solution contains non-volatile solute of molecular mass M₂. Which of the following can be used to calculate the molecular mass of solute in terms of osmotic pressure (π; m₂ = mass of solute, V = volume of solution)?</a:t>
            </a:r>
          </a:p>
        </p:txBody>
      </p:sp>
      <p:sp>
        <p:nvSpPr>
          <p:cNvPr id="4" name="TextBox 3"/>
          <p:cNvSpPr txBox="1"/>
          <p:nvPr/>
        </p:nvSpPr>
        <p:spPr>
          <a:xfrm>
            <a:off x="457200" y="1690725"/>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M₂ = </a:t>
            </a:r>
            <a:r>
              <a:rPr sz="1600" b="1" i="0">
                <a:solidFill>
                  <a:srgbClr val="00B0F0"/>
                </a:solidFill>
                <a:latin typeface="Cambria"/>
              </a:rPr>
              <a:t>((m₂)/(π ))</a:t>
            </a:r>
            <a:r>
              <a:rPr sz="1600" b="1" i="0" u="none">
                <a:solidFill>
                  <a:srgbClr val="00B0F0"/>
                </a:solidFill>
                <a:latin typeface="Cambria"/>
              </a:rPr>
              <a:t> </a:t>
            </a:r>
            <a:r>
              <a:rPr sz="1600" b="1" i="0" u="none">
                <a:solidFill>
                  <a:srgbClr val="00B0F0"/>
                </a:solidFill>
                <a:latin typeface="Cambria"/>
              </a:rPr>
              <a:t>VRT</a:t>
            </a:r>
          </a:p>
        </p:txBody>
      </p:sp>
      <p:sp>
        <p:nvSpPr>
          <p:cNvPr id="5" name="TextBox 4"/>
          <p:cNvSpPr txBox="1"/>
          <p:nvPr/>
        </p:nvSpPr>
        <p:spPr>
          <a:xfrm>
            <a:off x="6254496" y="1690725"/>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(RT)/(π )</a:t>
            </a:r>
          </a:p>
        </p:txBody>
      </p:sp>
      <p:sp>
        <p:nvSpPr>
          <p:cNvPr id="6" name="TextBox 5"/>
          <p:cNvSpPr txBox="1"/>
          <p:nvPr/>
        </p:nvSpPr>
        <p:spPr>
          <a:xfrm>
            <a:off x="457200" y="2193645"/>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π</a:t>
            </a:r>
            <a:r>
              <a:rPr sz="1600" b="1" i="0" u="none">
                <a:solidFill>
                  <a:srgbClr val="00B0F0"/>
                </a:solidFill>
                <a:latin typeface="Cambria"/>
              </a:rPr>
              <a:t>RT</a:t>
            </a:r>
          </a:p>
        </p:txBody>
      </p:sp>
      <p:sp>
        <p:nvSpPr>
          <p:cNvPr id="7" name="TextBox 6"/>
          <p:cNvSpPr txBox="1"/>
          <p:nvPr/>
        </p:nvSpPr>
        <p:spPr>
          <a:xfrm>
            <a:off x="6254496" y="2193645"/>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M₂ = </a:t>
            </a:r>
            <a:r>
              <a:rPr sz="1600" b="1" i="0">
                <a:solidFill>
                  <a:srgbClr val="00B0F0"/>
                </a:solidFill>
                <a:latin typeface="Cambria"/>
              </a:rPr>
              <a:t>((m₂)/(v))</a:t>
            </a:r>
            <a:r>
              <a:rPr sz="1600" b="1" i="0" u="none">
                <a:solidFill>
                  <a:srgbClr val="00B0F0"/>
                </a:solidFill>
                <a:latin typeface="Cambria"/>
              </a:rPr>
              <a:t> </a:t>
            </a:r>
            <a:r>
              <a:rPr sz="1600" b="1" i="0">
                <a:solidFill>
                  <a:srgbClr val="00B0F0"/>
                </a:solidFill>
                <a:latin typeface="Cambria"/>
              </a:rPr>
              <a:t>(π )/(RT)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A solution containing components A and B follows Raoult’s law</a:t>
            </a:r>
          </a:p>
        </p:txBody>
      </p:sp>
      <p:sp>
        <p:nvSpPr>
          <p:cNvPr id="4" name="TextBox 3"/>
          <p:cNvSpPr txBox="1"/>
          <p:nvPr/>
        </p:nvSpPr>
        <p:spPr>
          <a:xfrm>
            <a:off x="457200"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A–B attraction force is greater than A–A and B–B</a:t>
            </a:r>
          </a:p>
        </p:txBody>
      </p:sp>
      <p:sp>
        <p:nvSpPr>
          <p:cNvPr id="5" name="TextBox 4"/>
          <p:cNvSpPr txBox="1"/>
          <p:nvPr/>
        </p:nvSpPr>
        <p:spPr>
          <a:xfrm>
            <a:off x="6254496" y="1097280"/>
            <a:ext cx="5477256" cy="541324"/>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A–B attraction force is less than A–A and B–B</a:t>
            </a:r>
          </a:p>
        </p:txBody>
      </p:sp>
      <p:sp>
        <p:nvSpPr>
          <p:cNvPr id="6" name="TextBox 5"/>
          <p:cNvSpPr txBox="1"/>
          <p:nvPr/>
        </p:nvSpPr>
        <p:spPr>
          <a:xfrm>
            <a:off x="457200"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A–B attraction force remains same as A–A and B–B</a:t>
            </a:r>
          </a:p>
        </p:txBody>
      </p:sp>
      <p:sp>
        <p:nvSpPr>
          <p:cNvPr id="7" name="TextBox 6"/>
          <p:cNvSpPr txBox="1"/>
          <p:nvPr/>
        </p:nvSpPr>
        <p:spPr>
          <a:xfrm>
            <a:off x="6254496" y="1684324"/>
            <a:ext cx="5477256" cy="541324"/>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Volume of solution is different from sum of volume of solute and solvent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Camphor is often used in molecular mass determination because</a:t>
            </a:r>
          </a:p>
        </p:txBody>
      </p:sp>
      <p:sp>
        <p:nvSpPr>
          <p:cNvPr id="4" name="TextBox 3"/>
          <p:cNvSpPr txBox="1"/>
          <p:nvPr/>
        </p:nvSpPr>
        <p:spPr>
          <a:xfrm>
            <a:off x="457200"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It is readily available</a:t>
            </a:r>
          </a:p>
        </p:txBody>
      </p:sp>
      <p:sp>
        <p:nvSpPr>
          <p:cNvPr id="5" name="TextBox 4"/>
          <p:cNvSpPr txBox="1"/>
          <p:nvPr/>
        </p:nvSpPr>
        <p:spPr>
          <a:xfrm>
            <a:off x="6254496" y="1097280"/>
            <a:ext cx="5477256"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It has very high cryoscopic constant</a:t>
            </a:r>
          </a:p>
        </p:txBody>
      </p:sp>
      <p:sp>
        <p:nvSpPr>
          <p:cNvPr id="6" name="TextBox 5"/>
          <p:cNvSpPr txBox="1"/>
          <p:nvPr/>
        </p:nvSpPr>
        <p:spPr>
          <a:xfrm>
            <a:off x="457200"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It is volatile</a:t>
            </a:r>
          </a:p>
        </p:txBody>
      </p:sp>
      <p:sp>
        <p:nvSpPr>
          <p:cNvPr id="7" name="TextBox 6"/>
          <p:cNvSpPr txBox="1"/>
          <p:nvPr/>
        </p:nvSpPr>
        <p:spPr>
          <a:xfrm>
            <a:off x="6254496" y="1600200"/>
            <a:ext cx="5477256"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It is solvent for organic substances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r>
              <a:rPr sz="1800" b="1" i="0" u="none">
                <a:solidFill>
                  <a:srgbClr val="FAD02C"/>
                </a:solidFill>
                <a:latin typeface="Cambria"/>
              </a:rPr>
              <a:t>Which condition is not satisfied by an ideal solution?</a:t>
            </a:r>
          </a:p>
        </p:txBody>
      </p:sp>
      <p:sp>
        <p:nvSpPr>
          <p:cNvPr id="4" name="TextBox 3"/>
          <p:cNvSpPr txBox="1"/>
          <p:nvPr/>
        </p:nvSpPr>
        <p:spPr>
          <a:xfrm>
            <a:off x="457200"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A.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H = 0</a:t>
            </a:r>
          </a:p>
        </p:txBody>
      </p:sp>
      <p:sp>
        <p:nvSpPr>
          <p:cNvPr id="5" name="TextBox 4"/>
          <p:cNvSpPr txBox="1"/>
          <p:nvPr/>
        </p:nvSpPr>
        <p:spPr>
          <a:xfrm>
            <a:off x="3321558"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B.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V = 0</a:t>
            </a:r>
          </a:p>
        </p:txBody>
      </p:sp>
      <p:sp>
        <p:nvSpPr>
          <p:cNvPr id="6" name="TextBox 5"/>
          <p:cNvSpPr txBox="1"/>
          <p:nvPr/>
        </p:nvSpPr>
        <p:spPr>
          <a:xfrm>
            <a:off x="6185916"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C. </a:t>
            </a:r>
            <a:r>
              <a:rPr sz="1600" b="1" i="0" u="none">
                <a:solidFill>
                  <a:srgbClr val="00B0F0"/>
                </a:solidFill>
                <a:latin typeface="Cambria"/>
              </a:rPr>
              <a:t>Δ</a:t>
            </a:r>
            <a:r>
              <a:rPr sz="1600" b="1" i="0" u="none" baseline="-25000">
                <a:solidFill>
                  <a:srgbClr val="00B0F0"/>
                </a:solidFill>
                <a:latin typeface="Cambria"/>
              </a:rPr>
              <a:t>mix</a:t>
            </a:r>
            <a:r>
              <a:rPr sz="1600" b="1" i="0" u="none">
                <a:solidFill>
                  <a:srgbClr val="00B0F0"/>
                </a:solidFill>
                <a:latin typeface="Cambria"/>
              </a:rPr>
              <a:t> </a:t>
            </a:r>
            <a:r>
              <a:rPr sz="1600" b="1" i="0" u="none">
                <a:solidFill>
                  <a:srgbClr val="00B0F0"/>
                </a:solidFill>
                <a:latin typeface="Cambria"/>
              </a:rPr>
              <a:t>S = 0</a:t>
            </a:r>
          </a:p>
        </p:txBody>
      </p:sp>
      <p:sp>
        <p:nvSpPr>
          <p:cNvPr id="7" name="TextBox 6"/>
          <p:cNvSpPr txBox="1"/>
          <p:nvPr/>
        </p:nvSpPr>
        <p:spPr>
          <a:xfrm>
            <a:off x="9050274" y="1097280"/>
            <a:ext cx="2681478" cy="457200"/>
          </a:xfrm>
          <a:prstGeom prst="rect">
            <a:avLst/>
          </a:prstGeom>
          <a:noFill/>
        </p:spPr>
        <p:txBody>
          <a:bodyPr wrap="square" lIns="0" tIns="0" bIns="0" rIns="73152" anchor="t">
            <a:spAutoFit/>
          </a:bodyPr>
          <a:lstStyle/>
          <a:p>
            <a:pPr algn="l"/>
            <a:r>
              <a:rPr b="1" sz="1600">
                <a:solidFill>
                  <a:srgbClr val="00B0F0"/>
                </a:solidFill>
                <a:latin typeface="Cambria"/>
              </a:rPr>
              <a:t>D. </a:t>
            </a:r>
            <a:r>
              <a:rPr sz="1600" b="1" i="0" u="none">
                <a:solidFill>
                  <a:srgbClr val="00B0F0"/>
                </a:solidFill>
                <a:latin typeface="Cambria"/>
              </a:rPr>
              <a:t>Obeyance to Raoult’s 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