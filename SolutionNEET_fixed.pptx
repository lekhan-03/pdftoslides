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r>
              <a:rPr sz="4400" b="1">
                <a:solidFill>
                  <a:srgbClr val="FAD02C"/>
                </a:solidFill>
                <a:latin typeface="Cambria"/>
              </a:rPr>
              <a:t>Solutionneet — Practice Deck</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1">
                <a:solidFill>
                  <a:srgbClr val="AAAAAA"/>
                </a:solidFill>
                <a:latin typeface="Cambria"/>
              </a:rPr>
              <a:t>68 Questions (5 Flagged for Review) · Exam Prep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1522475"/>
          </a:xfrm>
          <a:prstGeom prst="rect">
            <a:avLst/>
          </a:prstGeom>
          <a:noFill/>
        </p:spPr>
        <p:txBody>
          <a:bodyPr wrap="square" lIns="0" rIns="0" tIns="0" bIns="0">
            <a:spAutoFit/>
          </a:bodyPr>
          <a:lstStyle/>
          <a:p>
            <a:r>
              <a:rPr sz="1800" b="1" i="0" u="none">
                <a:solidFill>
                  <a:srgbClr val="FAD02C"/>
                </a:solidFill>
                <a:latin typeface="Cambria"/>
              </a:rPr>
              <a:t>Assertion A:</a:t>
            </a:r>
            <a:r>
              <a:rPr sz="1800" b="1" i="0" u="none">
                <a:solidFill>
                  <a:srgbClr val="FAD02C"/>
                </a:solidFill>
                <a:latin typeface="Cambria"/>
              </a:rPr>
              <a:t> For an ideal solution formed by mixing liquids P and Q,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hAnsi="Cambria Math"/>
                            <w:b/>
                            <w:i/>
                            <w:color w:val="FAD02C"/>
                          </w:rPr>
                        </m:ctrlPr>
                      </m:sSubPr>
                      <m:e>
                        <m:r>
                          <m:rPr>
                            <m:ctrlPr>
                              <w:rPr>
                                <w:b/>
                                <w:color w:val="FAD02C"/>
                              </w:rPr>
                            </m:ctrlPr>
                          </m:rPr>
                          <w:rPr>
                            <w:rFonts w:ascii="Cambria Math" w:hAnsi="Cambria Math"/>
                          </w:rPr>
                          <m:t>∆</m:t>
                        </m:r>
                      </m:e>
                      <m:sub>
                        <m:r>
                          <m:rPr>
                            <m:ctrlPr>
                              <w:rPr>
                                <w:b/>
                                <w:color w:val="FAD02C"/>
                              </w:rPr>
                            </m:ctrlPr>
                          </m:rPr>
                          <w:rPr>
                            <w:rFonts w:ascii="Cambria Math" w:hAnsi="Cambria Math"/>
                          </w:rPr>
                          <m:t>mix</m:t>
                        </m:r>
                      </m:sub>
                    </m:sSub>
                    <m:r>
                      <m:rPr>
                        <m:ctrlPr>
                          <w:rPr>
                            <w:b/>
                            <w:color w:val="FAD02C"/>
                          </w:rPr>
                        </m:ctrlPr>
                      </m:rPr>
                      <w:rPr>
                        <w:rFonts w:ascii="Cambria Math" w:hAnsi="Cambria Math"/>
                      </w:rPr>
                      <m:t xml:space="preserve">H=0 </m:t>
                    </m:r>
                  </m:oMath>
                </a14:m>
              </mc:Choice>
              <mc:Fallback>
                <a:r>
                  <a:rPr lang="en-US" sz="1800" b="1">
                    <a:solidFill>
                      <a:srgbClr val="FAD02C"/>
                    </a:solidFill>
                    <a:latin typeface="Cambria"/>
                  </a:rPr>
                  <a:t>∆_mixH=0</a:t>
                </a:r>
              </mc:Fallback>
            </mc:AlternateContent>
            <a:r>
              <a:rPr sz="1800" b="1" i="0" u="none">
                <a:solidFill>
                  <a:srgbClr val="FAD02C"/>
                </a:solidFill>
                <a:latin typeface="Cambria"/>
              </a:rPr>
              <a:t>and</a:t>
            </a:r>
            <a:r>
              <a:rPr sz="1800" b="1" i="0" u="none">
                <a:solidFill>
                  <a:srgbClr val="FAD02C"/>
                </a:solidFill>
                <a:latin typeface="Cambria"/>
              </a:rPr>
              <a:t>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hAnsi="Cambria Math"/>
                            <w:b/>
                            <w:i/>
                            <w:color w:val="FAD02C"/>
                          </w:rPr>
                        </m:ctrlPr>
                      </m:sSubPr>
                      <m:e>
                        <m:r>
                          <m:rPr>
                            <m:ctrlPr>
                              <w:rPr>
                                <w:b/>
                                <w:color w:val="FAD02C"/>
                              </w:rPr>
                            </m:ctrlPr>
                          </m:rPr>
                          <w:rPr>
                            <w:rFonts w:ascii="Cambria Math" w:hAnsi="Cambria Math"/>
                          </w:rPr>
                          <m:t>∆</m:t>
                        </m:r>
                      </m:e>
                      <m:sub>
                        <m:r>
                          <m:rPr>
                            <m:ctrlPr>
                              <w:rPr>
                                <w:b/>
                                <w:color w:val="FAD02C"/>
                              </w:rPr>
                            </m:ctrlPr>
                          </m:rPr>
                          <w:rPr>
                            <w:rFonts w:ascii="Cambria Math" w:hAnsi="Cambria Math"/>
                          </w:rPr>
                          <m:t>mix</m:t>
                        </m:r>
                      </m:sub>
                    </m:sSub>
                  </m:oMath>
                </a14:m>
              </mc:Choice>
              <mc:Fallback>
                <a:r>
                  <a:rPr lang="en-US" sz="1800" b="1">
                    <a:solidFill>
                      <a:srgbClr val="FAD02C"/>
                    </a:solidFill>
                    <a:latin typeface="Cambria"/>
                  </a:rPr>
                  <a:t>∆_mix</a:t>
                </a:r>
              </mc:Fallback>
            </mc:AlternateContent>
            <a:r>
              <a:rPr sz="1800" b="1" i="0" u="none">
                <a:solidFill>
                  <a:srgbClr val="FAD02C"/>
                </a:solidFill>
                <a:latin typeface="Cambria"/>
              </a:rPr>
              <a:t>V = 0.</a:t>
            </a:r>
            <a:br/>
            <a:r>
              <a:rPr sz="1800" b="1" i="0" u="none">
                <a:solidFill>
                  <a:srgbClr val="FAD02C"/>
                </a:solidFill>
                <a:latin typeface="Cambria"/>
              </a:rPr>
              <a:t>Reason R:</a:t>
            </a:r>
            <a:r>
              <a:rPr sz="1800" b="1" i="0" u="none">
                <a:solidFill>
                  <a:srgbClr val="FAD02C"/>
                </a:solidFill>
                <a:latin typeface="Cambria"/>
              </a:rPr>
              <a:t> No interactions occur between P and Q.</a:t>
            </a:r>
            <a:br/>
            <a:r>
              <a:rPr sz="1800" b="1" i="0" u="none">
                <a:solidFill>
                  <a:srgbClr val="FAD02C"/>
                </a:solidFill>
                <a:latin typeface="Cambria"/>
              </a:rPr>
              <a:t>In the light of the above statements, choose the most appropriate answer from the options given below.</a:t>
            </a:r>
          </a:p>
        </p:txBody>
      </p:sp>
      <p:sp>
        <p:nvSpPr>
          <p:cNvPr id="7" name="TextBox 6"/>
          <p:cNvSpPr txBox="1"/>
          <p:nvPr/>
        </p:nvSpPr>
        <p:spPr>
          <a:xfrm>
            <a:off x="457200" y="2299715"/>
            <a:ext cx="5477256" cy="811987"/>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 is not correct but R is correct.</a:t>
            </a:r>
          </a:p>
        </p:txBody>
      </p:sp>
      <p:sp>
        <p:nvSpPr>
          <p:cNvPr id="8" name="TextBox 7"/>
          <p:cNvSpPr txBox="1"/>
          <p:nvPr/>
        </p:nvSpPr>
        <p:spPr>
          <a:xfrm>
            <a:off x="6254496" y="2299715"/>
            <a:ext cx="5477256" cy="811987"/>
          </a:xfrm>
          <a:prstGeom prst="rect">
            <a:avLst/>
          </a:prstGeom>
          <a:noFill/>
        </p:spPr>
        <p:txBody>
          <a:bodyPr wrap="square" lIns="0" tIns="0" bIns="0" rIns="73152" anchor="t">
            <a:spAutoFit/>
          </a:bodyPr>
          <a:lstStyle/>
          <a:p>
            <a:pPr algn="l"/>
            <a:r>
              <a:rPr b="1" sz="1600">
                <a:solidFill>
                  <a:srgbClr val="00B0F0"/>
                </a:solidFill>
                <a:latin typeface="Cambria"/>
              </a:rPr>
              <a:t>B. </a:t>
            </a:r>
            <a:r>
              <a:rPr sz="1600" b="1">
                <a:solidFill>
                  <a:srgbClr val="F0F0F0"/>
                </a:solidFill>
                <a:latin typeface="Cambria"/>
              </a:rPr>
              <a:t>Both A and R are correct and R is the correct explanation of
A.</a:t>
            </a:r>
          </a:p>
        </p:txBody>
      </p:sp>
      <p:sp>
        <p:nvSpPr>
          <p:cNvPr id="9" name="TextBox 8"/>
          <p:cNvSpPr txBox="1"/>
          <p:nvPr/>
        </p:nvSpPr>
        <p:spPr>
          <a:xfrm>
            <a:off x="457200" y="3157423"/>
            <a:ext cx="5477256" cy="811987"/>
          </a:xfrm>
          <a:prstGeom prst="rect">
            <a:avLst/>
          </a:prstGeom>
          <a:noFill/>
        </p:spPr>
        <p:txBody>
          <a:bodyPr wrap="square" lIns="0" tIns="0" bIns="0" rIns="73152" anchor="t">
            <a:spAutoFit/>
          </a:bodyPr>
          <a:lstStyle/>
          <a:p>
            <a:pPr algn="l"/>
            <a:r>
              <a:rPr b="1" sz="1600">
                <a:solidFill>
                  <a:srgbClr val="00B0F0"/>
                </a:solidFill>
                <a:latin typeface="Cambria"/>
              </a:rPr>
              <a:t>C. </a:t>
            </a:r>
            <a:r>
              <a:rPr sz="1600" b="1">
                <a:solidFill>
                  <a:srgbClr val="F0F0F0"/>
                </a:solidFill>
                <a:latin typeface="Cambria"/>
              </a:rPr>
              <a:t>Both A and R are correct but R is not the correct explanation of
A.</a:t>
            </a:r>
          </a:p>
        </p:txBody>
      </p:sp>
      <p:sp>
        <p:nvSpPr>
          <p:cNvPr id="10" name="TextBox 9"/>
          <p:cNvSpPr txBox="1"/>
          <p:nvPr/>
        </p:nvSpPr>
        <p:spPr>
          <a:xfrm>
            <a:off x="6254496" y="3157423"/>
            <a:ext cx="5477256" cy="811987"/>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 is correct but R is not correct.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Consider the following statements about the solutions formed by mixing two liquids.</a:t>
            </a:r>
          </a:p>
        </p:txBody>
      </p:sp>
      <p:sp>
        <p:nvSpPr>
          <p:cNvPr id="7" name="TextBox 6"/>
          <p:cNvSpPr txBox="1"/>
          <p:nvPr/>
        </p:nvSpPr>
        <p:spPr>
          <a:xfrm>
            <a:off x="731520" y="1386230"/>
            <a:ext cx="11000232" cy="608990"/>
          </a:xfrm>
          <a:prstGeom prst="rect">
            <a:avLst/>
          </a:prstGeom>
          <a:noFill/>
        </p:spPr>
        <p:txBody>
          <a:bodyPr wrap="square" lIns="0" rIns="0" tIns="0" bIns="0">
            <a:spAutoFit/>
          </a:bodyPr>
          <a:lstStyle/>
          <a:p>
            <a:r>
              <a:rPr sz="1800" b="1" i="0" u="none">
                <a:solidFill>
                  <a:srgbClr val="FAD02C"/>
                </a:solidFill>
                <a:latin typeface="Cambria"/>
              </a:rPr>
              <a:t>A. An ideal solution thus formed obeys Raoult’s law throughout the composition range.</a:t>
            </a:r>
          </a:p>
        </p:txBody>
      </p:sp>
      <p:sp>
        <p:nvSpPr>
          <p:cNvPr id="8" name="TextBox 7"/>
          <p:cNvSpPr txBox="1"/>
          <p:nvPr/>
        </p:nvSpPr>
        <p:spPr>
          <a:xfrm>
            <a:off x="731520" y="2040940"/>
            <a:ext cx="11000232" cy="608990"/>
          </a:xfrm>
          <a:prstGeom prst="rect">
            <a:avLst/>
          </a:prstGeom>
          <a:noFill/>
        </p:spPr>
        <p:txBody>
          <a:bodyPr wrap="square" lIns="0" rIns="0" tIns="0" bIns="0">
            <a:spAutoFit/>
          </a:bodyPr>
          <a:lstStyle/>
          <a:p>
            <a:r>
              <a:rPr sz="1800" b="1" i="0" u="none">
                <a:solidFill>
                  <a:srgbClr val="FAD02C"/>
                </a:solidFill>
                <a:latin typeface="Cambria"/>
              </a:rPr>
              <a:t>B. Mixture of chloroform and acetone shows negative deviation from Raoult’s law.</a:t>
            </a:r>
          </a:p>
        </p:txBody>
      </p:sp>
      <p:sp>
        <p:nvSpPr>
          <p:cNvPr id="9" name="TextBox 8"/>
          <p:cNvSpPr txBox="1"/>
          <p:nvPr/>
        </p:nvSpPr>
        <p:spPr>
          <a:xfrm>
            <a:off x="731520" y="2695651"/>
            <a:ext cx="11000232" cy="320040"/>
          </a:xfrm>
          <a:prstGeom prst="rect">
            <a:avLst/>
          </a:prstGeom>
          <a:noFill/>
        </p:spPr>
        <p:txBody>
          <a:bodyPr wrap="square" lIns="0" rIns="0" tIns="0" bIns="0">
            <a:spAutoFit/>
          </a:bodyPr>
          <a:lstStyle/>
          <a:p>
            <a:r>
              <a:rPr sz="1800" b="1" i="0" u="none">
                <a:solidFill>
                  <a:srgbClr val="FAD02C"/>
                </a:solidFill>
                <a:latin typeface="Cambria"/>
              </a:rPr>
              <a:t>C. Mixture of aniline and phenol shows positive deviation from Raoult’s law.</a:t>
            </a:r>
          </a:p>
        </p:txBody>
      </p:sp>
      <p:sp>
        <p:nvSpPr>
          <p:cNvPr id="10" name="TextBox 9"/>
          <p:cNvSpPr txBox="1"/>
          <p:nvPr/>
        </p:nvSpPr>
        <p:spPr>
          <a:xfrm>
            <a:off x="457200"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 and C only</a:t>
            </a:r>
          </a:p>
        </p:txBody>
      </p:sp>
      <p:sp>
        <p:nvSpPr>
          <p:cNvPr id="11" name="TextBox 10"/>
          <p:cNvSpPr txBox="1"/>
          <p:nvPr/>
        </p:nvSpPr>
        <p:spPr>
          <a:xfrm>
            <a:off x="3321558"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 and B only</a:t>
            </a:r>
          </a:p>
        </p:txBody>
      </p:sp>
      <p:sp>
        <p:nvSpPr>
          <p:cNvPr id="12" name="TextBox 11"/>
          <p:cNvSpPr txBox="1"/>
          <p:nvPr/>
        </p:nvSpPr>
        <p:spPr>
          <a:xfrm>
            <a:off x="6185916"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B and C only</a:t>
            </a:r>
          </a:p>
        </p:txBody>
      </p:sp>
      <p:sp>
        <p:nvSpPr>
          <p:cNvPr id="13" name="TextBox 12"/>
          <p:cNvSpPr txBox="1"/>
          <p:nvPr/>
        </p:nvSpPr>
        <p:spPr>
          <a:xfrm>
            <a:off x="9050274"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Identify the correct statements</a:t>
            </a:r>
          </a:p>
        </p:txBody>
      </p:sp>
      <p:sp>
        <p:nvSpPr>
          <p:cNvPr id="7" name="TextBox 6"/>
          <p:cNvSpPr txBox="1"/>
          <p:nvPr/>
        </p:nvSpPr>
        <p:spPr>
          <a:xfrm>
            <a:off x="731520" y="1097280"/>
            <a:ext cx="11000232" cy="608990"/>
          </a:xfrm>
          <a:prstGeom prst="rect">
            <a:avLst/>
          </a:prstGeom>
          <a:noFill/>
        </p:spPr>
        <p:txBody>
          <a:bodyPr wrap="square" lIns="0" rIns="0" tIns="0" bIns="0">
            <a:spAutoFit/>
          </a:bodyPr>
          <a:lstStyle/>
          <a:p>
            <a:r>
              <a:rPr sz="1800" b="1" i="0" u="none">
                <a:solidFill>
                  <a:srgbClr val="FAD02C"/>
                </a:solidFill>
                <a:latin typeface="Cambria"/>
              </a:rPr>
              <a:t>A. The molality of 2.5 g of ethanoic acid (Molar mass: 60 g mol⁻¹) in 75 g of benzene solution is 0.556 m.</a:t>
            </a:r>
          </a:p>
        </p:txBody>
      </p:sp>
      <p:sp>
        <p:nvSpPr>
          <p:cNvPr id="8" name="TextBox 7"/>
          <p:cNvSpPr txBox="1"/>
          <p:nvPr/>
        </p:nvSpPr>
        <p:spPr>
          <a:xfrm>
            <a:off x="731520" y="1751990"/>
            <a:ext cx="11000232" cy="608990"/>
          </a:xfrm>
          <a:prstGeom prst="rect">
            <a:avLst/>
          </a:prstGeom>
          <a:noFill/>
        </p:spPr>
        <p:txBody>
          <a:bodyPr wrap="square" lIns="0" rIns="0" tIns="0" bIns="0">
            <a:spAutoFit/>
          </a:bodyPr>
          <a:lstStyle/>
          <a:p>
            <a:r>
              <a:rPr sz="1800" b="1" i="0" u="none">
                <a:solidFill>
                  <a:srgbClr val="FAD02C"/>
                </a:solidFill>
                <a:latin typeface="Cambria"/>
              </a:rPr>
              <a:t>B. The molarity of a solution containing 5 g of NaOH (molar mass: 40 g mol⁻¹) in 450 mL of solution is 0.278 M at 298 K.</a:t>
            </a:r>
          </a:p>
        </p:txBody>
      </p:sp>
      <p:sp>
        <p:nvSpPr>
          <p:cNvPr id="9" name="TextBox 8"/>
          <p:cNvSpPr txBox="1"/>
          <p:nvPr/>
        </p:nvSpPr>
        <p:spPr>
          <a:xfrm>
            <a:off x="731520" y="2406700"/>
            <a:ext cx="11000232" cy="320040"/>
          </a:xfrm>
          <a:prstGeom prst="rect">
            <a:avLst/>
          </a:prstGeom>
          <a:noFill/>
        </p:spPr>
        <p:txBody>
          <a:bodyPr wrap="square" lIns="0" rIns="0" tIns="0" bIns="0">
            <a:spAutoFit/>
          </a:bodyPr>
          <a:lstStyle/>
          <a:p>
            <a:r>
              <a:rPr sz="1800" b="1" i="0" u="none">
                <a:solidFill>
                  <a:srgbClr val="FAD02C"/>
                </a:solidFill>
                <a:latin typeface="Cambria"/>
              </a:rPr>
              <a:t>C. Aquatic species are more comfortable in cold water.</a:t>
            </a:r>
          </a:p>
        </p:txBody>
      </p:sp>
      <p:sp>
        <p:nvSpPr>
          <p:cNvPr id="10" name="TextBox 9"/>
          <p:cNvSpPr txBox="1"/>
          <p:nvPr/>
        </p:nvSpPr>
        <p:spPr>
          <a:xfrm>
            <a:off x="731520" y="2772460"/>
            <a:ext cx="11000232" cy="320040"/>
          </a:xfrm>
          <a:prstGeom prst="rect">
            <a:avLst/>
          </a:prstGeom>
          <a:noFill/>
        </p:spPr>
        <p:txBody>
          <a:bodyPr wrap="square" lIns="0" rIns="0" tIns="0" bIns="0">
            <a:spAutoFit/>
          </a:bodyPr>
          <a:lstStyle/>
          <a:p>
            <a:r>
              <a:rPr sz="1800" b="1" i="0" u="none">
                <a:solidFill>
                  <a:srgbClr val="FAD02C"/>
                </a:solidFill>
                <a:latin typeface="Cambria"/>
              </a:rPr>
              <a:t>D. The solubility of gas increases with decrease in pressure.</a:t>
            </a:r>
          </a:p>
        </p:txBody>
      </p:sp>
      <p:sp>
        <p:nvSpPr>
          <p:cNvPr id="11" name="TextBox 10"/>
          <p:cNvSpPr txBox="1"/>
          <p:nvPr/>
        </p:nvSpPr>
        <p:spPr>
          <a:xfrm>
            <a:off x="731520" y="3138220"/>
            <a:ext cx="11000232" cy="1217980"/>
          </a:xfrm>
          <a:prstGeom prst="rect">
            <a:avLst/>
          </a:prstGeom>
          <a:noFill/>
        </p:spPr>
        <p:txBody>
          <a:bodyPr wrap="square" lIns="0" rIns="0" tIns="0" bIns="0">
            <a:spAutoFit/>
          </a:bodyPr>
          <a:lstStyle/>
          <a:p>
            <a:r>
              <a:rPr sz="1800" b="1" i="0" u="none">
                <a:solidFill>
                  <a:srgbClr val="FAD02C"/>
                </a:solidFill>
                <a:latin typeface="Cambria"/>
              </a:rPr>
              <a:t>E. For a binary mixture of A and B, the number of moles of A and B are</a:t>
            </a:r>
            <a:r>
              <a:rPr sz="1800" b="1" i="0" u="none">
                <a:solidFill>
                  <a:srgbClr val="FAD02C"/>
                </a:solidFill>
                <a:latin typeface="Cambria"/>
              </a:rPr>
              <a:t> n</a:t>
            </a:r>
            <a:r>
              <a:rPr sz="1800" b="1" i="0" u="none" baseline="-25000">
                <a:solidFill>
                  <a:srgbClr val="FAD02C"/>
                </a:solidFill>
                <a:latin typeface="Cambria"/>
              </a:rPr>
              <a:t>A</a:t>
            </a:r>
            <a:r>
              <a:rPr sz="1800" b="1" i="0" u="none">
                <a:solidFill>
                  <a:srgbClr val="FAD02C"/>
                </a:solidFill>
                <a:latin typeface="Cambria"/>
              </a:rPr>
              <a:t> and n</a:t>
            </a:r>
            <a:r>
              <a:rPr sz="1800" b="1" i="0" u="none" baseline="-25000">
                <a:solidFill>
                  <a:srgbClr val="FAD02C"/>
                </a:solidFill>
                <a:latin typeface="Cambria"/>
              </a:rPr>
              <a:t>B</a:t>
            </a:r>
            <a:r>
              <a:rPr sz="1800" b="1" i="0" u="none">
                <a:solidFill>
                  <a:srgbClr val="FAD02C"/>
                </a:solidFill>
                <a:latin typeface="Cambria"/>
              </a:rPr>
              <a:t>, respectively. The mole fraction of B will be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eastAsia="Times New Roman" w:hAnsi="Cambria Math" w:cs="Times New Roman"/>
                            <w:b/>
                            <w:i/>
                            <w:sz w:val="24"/>
                            <w:szCs w:val="24"/>
                            <w:color w:val="FAD02C"/>
                          </w:rPr>
                        </m:ctrlPr>
                      </m:sSubPr>
                      <m:e>
                        <m:r>
                          <m:rPr>
                            <m:ctrlPr>
                              <w:rPr>
                                <w:b/>
                                <w:color w:val="FAD02C"/>
                              </w:rPr>
                            </m:ctrlPr>
                          </m:rPr>
                          <w:rPr>
                            <w:rFonts w:ascii="Cambria Math" w:eastAsia="Times New Roman" w:hAnsi="Cambria Math" w:cs="Times New Roman"/>
                            <w:sz w:val="24"/>
                            <w:szCs w:val="24"/>
                          </w:rPr>
                          <m:t>x</m:t>
                        </m:r>
                      </m:e>
                      <m:sub>
                        <m:r>
                          <m:rPr>
                            <m:ctrlPr>
                              <w:rPr>
                                <w:b/>
                                <w:color w:val="FAD02C"/>
                              </w:rPr>
                            </m:ctrlPr>
                          </m:rPr>
                          <w:rPr>
                            <w:rFonts w:ascii="Cambria Math" w:eastAsia="Times New Roman" w:hAnsi="Cambria Math" w:cs="Times New Roman"/>
                            <w:sz w:val="24"/>
                            <w:szCs w:val="24"/>
                          </w:rPr>
                          <m:t>B</m:t>
                        </m:r>
                      </m:sub>
                    </m:sSub>
                    <m:r>
                      <m:rPr>
                        <m:ctrlPr>
                          <w:rPr>
                            <w:b/>
                            <w:color w:val="FAD02C"/>
                          </w:rPr>
                        </m:ctrlPr>
                      </m:rPr>
                      <w:rPr>
                        <w:rFonts w:ascii="Cambria Math" w:eastAsia="Times New Roman" w:hAnsi="Cambria Math" w:cs="Times New Roman"/>
                        <w:sz w:val="24"/>
                        <w:szCs w:val="24"/>
                      </w:rPr>
                      <m:t>=</m:t>
                    </m:r>
                    <m:f>
                      <m:fPr>
                        <m:ctrlPr>
                          <w:rPr>
                            <w:rFonts w:ascii="Cambria Math" w:eastAsia="Times New Roman" w:hAnsi="Cambria Math" w:cs="Times New Roman"/>
                            <w:b/>
                            <w:i/>
                            <w:sz w:val="24"/>
                            <w:szCs w:val="24"/>
                            <w:color w:val="FAD02C"/>
                          </w:rPr>
                        </m:ctrlPr>
                      </m:fPr>
                      <m:num>
                        <m:sSub>
                          <m:sSubPr>
                            <m:ctrlPr>
                              <w:rPr>
                                <w:rFonts w:ascii="Cambria Math" w:eastAsia="Times New Roman" w:hAnsi="Cambria Math" w:cs="Times New Roman"/>
                                <w:b/>
                                <w:i/>
                                <w:sz w:val="24"/>
                                <w:szCs w:val="24"/>
                                <w:color w:val="FAD02C"/>
                              </w:rPr>
                            </m:ctrlPr>
                          </m:sSubPr>
                          <m:e>
                            <m:r>
                              <m:rPr>
                                <m:ctrlPr>
                                  <w:rPr>
                                    <w:b/>
                                    <w:color w:val="FAD02C"/>
                                  </w:rPr>
                                </m:ctrlPr>
                              </m:rPr>
                              <w:rPr>
                                <w:rFonts w:ascii="Cambria Math" w:eastAsia="Times New Roman" w:hAnsi="Cambria Math" w:cs="Times New Roman"/>
                                <w:sz w:val="24"/>
                                <w:szCs w:val="24"/>
                              </w:rPr>
                              <m:t>n</m:t>
                            </m:r>
                          </m:e>
                          <m:sub>
                            <m:r>
                              <m:rPr>
                                <m:ctrlPr>
                                  <w:rPr>
                                    <w:b/>
                                    <w:color w:val="FAD02C"/>
                                  </w:rPr>
                                </m:ctrlPr>
                              </m:rPr>
                              <w:rPr>
                                <w:rFonts w:ascii="Cambria Math" w:eastAsia="Times New Roman" w:hAnsi="Cambria Math" w:cs="Times New Roman"/>
                                <w:sz w:val="24"/>
                                <w:szCs w:val="24"/>
                              </w:rPr>
                              <m:t>A</m:t>
                            </m:r>
                          </m:sub>
                        </m:sSub>
                      </m:num>
                      <m:den>
                        <m:sSub>
                          <m:sSubPr>
                            <m:ctrlPr>
                              <w:rPr>
                                <w:rFonts w:ascii="Cambria Math" w:eastAsia="Times New Roman" w:hAnsi="Cambria Math" w:cs="Times New Roman"/>
                                <w:sz w:val="24"/>
                                <w:szCs w:val="24"/>
                                <w:b/>
                                <w:color w:val="FAD02C"/>
                              </w:rPr>
                            </m:ctrlPr>
                          </m:sSubPr>
                          <m:e>
                            <m:r>
                              <m:rPr>
                                <m:ctrlPr>
                                  <w:rPr>
                                    <w:b/>
                                    <w:color w:val="FAD02C"/>
                                  </w:rPr>
                                </m:ctrlPr>
                              </m:rPr>
                              <w:rPr>
                                <w:rFonts w:ascii="Cambria Math" w:eastAsia="Times New Roman" w:hAnsi="Cambria Math" w:cs="Times New Roman"/>
                                <w:sz w:val="24"/>
                                <w:szCs w:val="24"/>
                              </w:rPr>
                              <m:t>n</m:t>
                            </m:r>
                          </m:e>
                          <m:sub>
                            <m:r>
                              <m:rPr>
                                <m:ctrlPr>
                                  <w:rPr>
                                    <w:b/>
                                    <w:color w:val="FAD02C"/>
                                  </w:rPr>
                                </m:ctrlPr>
                              </m:rPr>
                              <w:rPr>
                                <w:rFonts w:ascii="Cambria Math" w:eastAsia="Times New Roman" w:hAnsi="Cambria Math" w:cs="Times New Roman"/>
                                <w:sz w:val="24"/>
                                <w:szCs w:val="24"/>
                              </w:rPr>
                              <m:t>A</m:t>
                            </m:r>
                          </m:sub>
                        </m:sSub>
                        <m:r>
                          <m:rPr>
                            <m:sty m:val="p"/>
                            <m:ctrlPr>
                              <w:rPr>
                                <w:b/>
                                <w:color w:val="FAD02C"/>
                              </w:rPr>
                            </m:ctrlPr>
                          </m:rPr>
                          <w:rPr>
                            <w:rFonts w:ascii="Cambria Math" w:eastAsia="Times New Roman" w:cs="Times New Roman"/>
                            <w:sz w:val="24"/>
                            <w:szCs w:val="24"/>
                          </w:rPr>
                          <m:t>+</m:t>
                        </m:r>
                        <m:sSub>
                          <m:sSubPr>
                            <m:ctrlPr>
                              <w:rPr>
                                <w:rFonts w:ascii="Cambria Math" w:hAnsi="Cambria Math"/>
                                <w:b/>
                                <w:color w:val="FAD02C"/>
                              </w:rPr>
                            </m:ctrlPr>
                          </m:sSubPr>
                          <m:e>
                            <m:r>
                              <m:rPr>
                                <m:ctrlPr>
                                  <w:rPr>
                                    <w:b/>
                                    <w:color w:val="FAD02C"/>
                                  </w:rPr>
                                </m:ctrlPr>
                              </m:rPr>
                              <w:rPr>
                                <w:rFonts w:ascii="Cambria Math" w:hAnsi="Cambria Math"/>
                              </w:rPr>
                              <m:t>n</m:t>
                            </m:r>
                          </m:e>
                          <m:sub>
                            <m:r>
                              <m:rPr>
                                <m:ctrlPr>
                                  <w:rPr>
                                    <w:b/>
                                    <w:color w:val="FAD02C"/>
                                  </w:rPr>
                                </m:ctrlPr>
                              </m:rPr>
                              <w:rPr>
                                <w:rFonts w:ascii="Cambria Math" w:hAnsi="Cambria Math"/>
                              </w:rPr>
                              <m:t>B</m:t>
                            </m:r>
                          </m:sub>
                        </m:sSub>
                      </m:den>
                    </m:f>
                  </m:oMath>
                </a14:m>
              </mc:Choice>
              <mc:Fallback>
                <a:r>
                  <a:rPr lang="en-US" sz="1800" b="1">
                    <a:solidFill>
                      <a:srgbClr val="FAD02C"/>
                    </a:solidFill>
                    <a:latin typeface="Cambria"/>
                  </a:rPr>
                  <a:t>x_B=(n_A)/(n_A+n_B)</a:t>
                </a:r>
              </mc:Fallback>
            </mc:AlternateContent>
            <a:br/>
            <a:r>
              <a:rPr sz="1800" b="1" i="0" u="none">
                <a:solidFill>
                  <a:srgbClr val="FAD02C"/>
                </a:solidFill>
                <a:latin typeface="Cambria"/>
              </a:rPr>
              <a:t>Choose the correct answer from the option given below:</a:t>
            </a:r>
          </a:p>
        </p:txBody>
      </p:sp>
      <p:sp>
        <p:nvSpPr>
          <p:cNvPr id="12" name="TextBox 11"/>
          <p:cNvSpPr txBox="1"/>
          <p:nvPr/>
        </p:nvSpPr>
        <p:spPr>
          <a:xfrm>
            <a:off x="457200"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 and C only</a:t>
            </a:r>
          </a:p>
        </p:txBody>
      </p:sp>
      <p:sp>
        <p:nvSpPr>
          <p:cNvPr id="13" name="TextBox 12"/>
          <p:cNvSpPr txBox="1"/>
          <p:nvPr/>
        </p:nvSpPr>
        <p:spPr>
          <a:xfrm>
            <a:off x="3321558"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 B and C only</a:t>
            </a:r>
          </a:p>
        </p:txBody>
      </p:sp>
      <p:sp>
        <p:nvSpPr>
          <p:cNvPr id="14" name="TextBox 13"/>
          <p:cNvSpPr txBox="1"/>
          <p:nvPr/>
        </p:nvSpPr>
        <p:spPr>
          <a:xfrm>
            <a:off x="6185916"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 D and E only</a:t>
            </a:r>
          </a:p>
        </p:txBody>
      </p:sp>
      <p:sp>
        <p:nvSpPr>
          <p:cNvPr id="15" name="TextBox 14"/>
          <p:cNvSpPr txBox="1"/>
          <p:nvPr/>
        </p:nvSpPr>
        <p:spPr>
          <a:xfrm>
            <a:off x="9050274"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 and B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Mixture of chloroform and acetone forms a solution with negative deviation from Raoult's law due to</a:t>
            </a:r>
          </a:p>
        </p:txBody>
      </p:sp>
      <p:sp>
        <p:nvSpPr>
          <p:cNvPr id="7" name="TextBox 6"/>
          <p:cNvSpPr txBox="1"/>
          <p:nvPr/>
        </p:nvSpPr>
        <p:spPr>
          <a:xfrm>
            <a:off x="457200"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formation of hydrogen bonding between acetone and chloroform</a:t>
            </a:r>
          </a:p>
        </p:txBody>
      </p:sp>
      <p:sp>
        <p:nvSpPr>
          <p:cNvPr id="8" name="TextBox 7"/>
          <p:cNvSpPr txBox="1"/>
          <p:nvPr/>
        </p:nvSpPr>
        <p:spPr>
          <a:xfrm>
            <a:off x="6254496"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increase in escaping tendency of molecules of each component</a:t>
            </a:r>
          </a:p>
        </p:txBody>
      </p:sp>
      <p:sp>
        <p:nvSpPr>
          <p:cNvPr id="9" name="TextBox 8"/>
          <p:cNvSpPr txBox="1"/>
          <p:nvPr/>
        </p:nvSpPr>
        <p:spPr>
          <a:xfrm>
            <a:off x="457200" y="1973275"/>
            <a:ext cx="5477256" cy="811987"/>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stronger intermolecular forces between chloroform molecules than those between chloroform and acetone molecules</a:t>
            </a:r>
          </a:p>
        </p:txBody>
      </p:sp>
      <p:sp>
        <p:nvSpPr>
          <p:cNvPr id="10" name="TextBox 9"/>
          <p:cNvSpPr txBox="1"/>
          <p:nvPr/>
        </p:nvSpPr>
        <p:spPr>
          <a:xfrm>
            <a:off x="6254496" y="1973275"/>
            <a:ext cx="5477256" cy="811987"/>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repulsive forces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of the following aqueous solution will exhibit highest boiling point?</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0.01 M Na₂SO₄</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0.015 M C₆H₁₂O₆</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0.01 M urea</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0.01 M KNO₃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5 moles of liquid X and 10 moles of liquid Y make a solution having a </a:t>
            </a:r>
            <a:r>
              <a:rPr sz="1800" b="1" i="0" u="none">
                <a:solidFill>
                  <a:srgbClr val="FAD02C"/>
                </a:solidFill>
                <a:latin typeface="Cambria"/>
              </a:rPr>
              <a:t>vapor</a:t>
            </a:r>
            <a:r>
              <a:rPr sz="1800" b="1" i="0" u="none">
                <a:solidFill>
                  <a:srgbClr val="FAD02C"/>
                </a:solidFill>
                <a:latin typeface="Cambria"/>
              </a:rPr>
              <a:t> pressure of 70 torr. The </a:t>
            </a:r>
            <a:r>
              <a:rPr sz="1800" b="1" i="0" u="none">
                <a:solidFill>
                  <a:srgbClr val="FAD02C"/>
                </a:solidFill>
                <a:latin typeface="Cambria"/>
              </a:rPr>
              <a:t>vapor</a:t>
            </a:r>
            <a:r>
              <a:rPr sz="1800" b="1" i="0" u="none">
                <a:solidFill>
                  <a:srgbClr val="FAD02C"/>
                </a:solidFill>
                <a:latin typeface="Cambria"/>
              </a:rPr>
              <a:t> pressures of pure X and Y are 63 torr and 78 torr respectively. Which of the following is true regarding the described solution?</a:t>
            </a:r>
          </a:p>
        </p:txBody>
      </p:sp>
      <p:sp>
        <p:nvSpPr>
          <p:cNvPr id="7" name="TextBox 6"/>
          <p:cNvSpPr txBox="1"/>
          <p:nvPr/>
        </p:nvSpPr>
        <p:spPr>
          <a:xfrm>
            <a:off x="457200"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The solution is ideal.</a:t>
            </a:r>
          </a:p>
        </p:txBody>
      </p:sp>
      <p:sp>
        <p:nvSpPr>
          <p:cNvPr id="8" name="TextBox 7"/>
          <p:cNvSpPr txBox="1"/>
          <p:nvPr/>
        </p:nvSpPr>
        <p:spPr>
          <a:xfrm>
            <a:off x="6254496"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The solution has volume greater than the sum of individual volumes.</a:t>
            </a:r>
          </a:p>
        </p:txBody>
      </p:sp>
      <p:sp>
        <p:nvSpPr>
          <p:cNvPr id="9" name="TextBox 8"/>
          <p:cNvSpPr txBox="1"/>
          <p:nvPr/>
        </p:nvSpPr>
        <p:spPr>
          <a:xfrm>
            <a:off x="457200" y="227777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The solution shows positive deviation.</a:t>
            </a:r>
          </a:p>
        </p:txBody>
      </p:sp>
      <p:sp>
        <p:nvSpPr>
          <p:cNvPr id="10" name="TextBox 9"/>
          <p:cNvSpPr txBox="1"/>
          <p:nvPr/>
        </p:nvSpPr>
        <p:spPr>
          <a:xfrm>
            <a:off x="6254496" y="227777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The solution shows negative deviation.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Match List-</a:t>
            </a:r>
            <a:r>
              <a:rPr sz="1800" b="1" i="0" u="none">
                <a:solidFill>
                  <a:srgbClr val="FAD02C"/>
                </a:solidFill>
                <a:latin typeface="Cambria"/>
              </a:rPr>
              <a:t>I</a:t>
            </a:r>
            <a:r>
              <a:rPr sz="1800" b="1" i="0" u="none">
                <a:solidFill>
                  <a:srgbClr val="FAD02C"/>
                </a:solidFill>
                <a:latin typeface="Cambria"/>
              </a:rPr>
              <a:t> with List-</a:t>
            </a:r>
            <a:r>
              <a:rPr sz="1800" b="1" i="0" u="none">
                <a:solidFill>
                  <a:srgbClr val="FAD02C"/>
                </a:solidFill>
                <a:latin typeface="Cambria"/>
              </a:rPr>
              <a:t> </a:t>
            </a:r>
            <a:r>
              <a:rPr sz="1800" b="1" i="0" u="none">
                <a:solidFill>
                  <a:srgbClr val="FAD02C"/>
                </a:solidFill>
                <a:latin typeface="Cambria"/>
              </a:rPr>
              <a:t>II</a:t>
            </a:r>
            <a:br/>
            <a:r>
              <a:rPr sz="1800" b="1" i="0" u="none">
                <a:solidFill>
                  <a:srgbClr val="FAD02C"/>
                </a:solidFill>
                <a:latin typeface="Cambria"/>
              </a:rPr>
              <a:t>Choose the correct answer from the options given below:</a:t>
            </a:r>
          </a:p>
        </p:txBody>
      </p:sp>
      <p:graphicFrame>
        <p:nvGraphicFramePr>
          <p:cNvPr id="7" name="Table 6"/>
          <p:cNvGraphicFramePr>
            <a:graphicFrameLocks noGrp="1"/>
          </p:cNvGraphicFramePr>
          <p:nvPr/>
        </p:nvGraphicFramePr>
        <p:xfrm>
          <a:off x="457200" y="1386230"/>
          <a:ext cx="11274552" cy="1965960"/>
        </p:xfrm>
        <a:graphic>
          <a:graphicData uri="http://schemas.openxmlformats.org/drawingml/2006/table">
            <a:tbl>
              <a:tblPr firstRow="1" bandRow="1">
                <a:tableStyleId>{5C22544A-7EE6-4342-B048-85BDC9FD1C3A}</a:tableStyleId>
              </a:tblPr>
              <a:tblGrid>
                <a:gridCol w="5637276"/>
                <a:gridCol w="5637276"/>
              </a:tblGrid>
              <a:tr h="393192">
                <a:tc>
                  <a:txBody>
                    <a:bodyPr/>
                    <a:lstStyle/>
                    <a:p>
                      <a:pPr algn="l"/>
                      <a:r>
                        <a:rPr sz="1400" b="0" i="0" u="none">
                          <a:solidFill>
                            <a:srgbClr val="F0F0F0"/>
                          </a:solidFill>
                          <a:latin typeface="Cambria"/>
                        </a:rPr>
                        <a:t>List-</a:t>
                      </a:r>
                      <a:r>
                        <a:rPr sz="1400" b="0" i="0" u="none">
                          <a:solidFill>
                            <a:srgbClr val="F0F0F0"/>
                          </a:solidFill>
                          <a:latin typeface="Cambria"/>
                        </a:rPr>
                        <a:t>I</a:t>
                      </a:r>
                      <a:r>
                        <a:rPr sz="1400" b="0" i="0" u="none">
                          <a:solidFill>
                            <a:srgbClr val="F0F0F0"/>
                          </a:solidFill>
                          <a:latin typeface="Cambria"/>
                        </a:rPr>
                        <a:t> (Example)</a:t>
                      </a:r>
                    </a:p>
                  </a:txBody>
                  <a:tcPr/>
                </a:tc>
                <a:tc>
                  <a:txBody>
                    <a:bodyPr/>
                    <a:lstStyle/>
                    <a:p>
                      <a:pPr algn="l"/>
                      <a:r>
                        <a:rPr sz="1400" b="0" i="0" u="none">
                          <a:solidFill>
                            <a:srgbClr val="F0F0F0"/>
                          </a:solidFill>
                          <a:latin typeface="Cambria"/>
                        </a:rPr>
                        <a:t>List- II</a:t>
                      </a:r>
                      <a:r>
                        <a:rPr sz="1400" b="0" i="0" u="none">
                          <a:solidFill>
                            <a:srgbClr val="F0F0F0"/>
                          </a:solidFill>
                          <a:latin typeface="Cambria"/>
                        </a:rPr>
                        <a:t> (Type of solution)</a:t>
                      </a:r>
                    </a:p>
                  </a:txBody>
                  <a:tcPr/>
                </a:tc>
              </a:tr>
              <a:tr h="393192">
                <a:tc>
                  <a:txBody>
                    <a:bodyPr/>
                    <a:lstStyle/>
                    <a:p>
                      <a:pPr algn="l"/>
                      <a:r>
                        <a:rPr sz="1400" b="0" i="0" u="none">
                          <a:solidFill>
                            <a:srgbClr val="F0F0F0"/>
                          </a:solidFill>
                          <a:latin typeface="Cambria"/>
                        </a:rPr>
                        <a:t>A. Humidity </a:t>
                      </a:r>
                    </a:p>
                  </a:txBody>
                  <a:tcPr/>
                </a:tc>
                <a:tc>
                  <a:txBody>
                    <a:bodyPr/>
                    <a:lstStyle/>
                    <a:p>
                      <a:pPr algn="l"/>
                      <a:r>
                        <a:rPr sz="1400" b="0" i="0" u="none">
                          <a:solidFill>
                            <a:srgbClr val="F0F0F0"/>
                          </a:solidFill>
                          <a:latin typeface="Cambria"/>
                        </a:rPr>
                        <a:t>I</a:t>
                      </a:r>
                      <a:r>
                        <a:rPr sz="1400" b="0" i="0" u="none">
                          <a:solidFill>
                            <a:srgbClr val="F0F0F0"/>
                          </a:solidFill>
                          <a:latin typeface="Cambria"/>
                        </a:rPr>
                        <a:t>. Solid in solid</a:t>
                      </a:r>
                    </a:p>
                  </a:txBody>
                  <a:tcPr/>
                </a:tc>
              </a:tr>
              <a:tr h="393192">
                <a:tc>
                  <a:txBody>
                    <a:bodyPr/>
                    <a:lstStyle/>
                    <a:p>
                      <a:pPr algn="l"/>
                      <a:r>
                        <a:rPr sz="1400" b="0" i="0" u="none">
                          <a:solidFill>
                            <a:srgbClr val="F0F0F0"/>
                          </a:solidFill>
                          <a:latin typeface="Cambria"/>
                        </a:rPr>
                        <a:t>B. Alloys </a:t>
                      </a:r>
                    </a:p>
                  </a:txBody>
                  <a:tcPr/>
                </a:tc>
                <a:tc>
                  <a:txBody>
                    <a:bodyPr/>
                    <a:lstStyle/>
                    <a:p>
                      <a:pPr algn="l"/>
                      <a:r>
                        <a:rPr sz="1400" b="0" i="0" u="none">
                          <a:solidFill>
                            <a:srgbClr val="F0F0F0"/>
                          </a:solidFill>
                          <a:latin typeface="Cambria"/>
                        </a:rPr>
                        <a:t>II</a:t>
                      </a:r>
                      <a:r>
                        <a:rPr sz="1400" b="0" i="0" u="none">
                          <a:solidFill>
                            <a:srgbClr val="F0F0F0"/>
                          </a:solidFill>
                          <a:latin typeface="Cambria"/>
                        </a:rPr>
                        <a:t>. Liquid in gas</a:t>
                      </a:r>
                    </a:p>
                  </a:txBody>
                  <a:tcPr/>
                </a:tc>
              </a:tr>
              <a:tr h="393192">
                <a:tc>
                  <a:txBody>
                    <a:bodyPr/>
                    <a:lstStyle/>
                    <a:p>
                      <a:pPr algn="l"/>
                      <a:r>
                        <a:rPr sz="1400" b="0" i="0" u="none">
                          <a:solidFill>
                            <a:srgbClr val="F0F0F0"/>
                          </a:solidFill>
                          <a:latin typeface="Cambria"/>
                        </a:rPr>
                        <a:t>C. Amalgams</a:t>
                      </a:r>
                    </a:p>
                  </a:txBody>
                  <a:tcPr/>
                </a:tc>
                <a:tc>
                  <a:txBody>
                    <a:bodyPr/>
                    <a:lstStyle/>
                    <a:p>
                      <a:pPr algn="l"/>
                      <a:r>
                        <a:rPr sz="1400" b="0" i="0" u="none">
                          <a:solidFill>
                            <a:srgbClr val="F0F0F0"/>
                          </a:solidFill>
                          <a:latin typeface="Cambria"/>
                        </a:rPr>
                        <a:t>III</a:t>
                      </a:r>
                      <a:r>
                        <a:rPr sz="1400" b="0" i="0" u="none">
                          <a:solidFill>
                            <a:srgbClr val="F0F0F0"/>
                          </a:solidFill>
                          <a:latin typeface="Cambria"/>
                        </a:rPr>
                        <a:t>. Solid in gas</a:t>
                      </a:r>
                    </a:p>
                  </a:txBody>
                  <a:tcPr/>
                </a:tc>
              </a:tr>
              <a:tr h="393192">
                <a:tc>
                  <a:txBody>
                    <a:bodyPr/>
                    <a:lstStyle/>
                    <a:p>
                      <a:pPr algn="l"/>
                      <a:r>
                        <a:rPr sz="1400" b="0" i="0" u="none">
                          <a:solidFill>
                            <a:srgbClr val="F0F0F0"/>
                          </a:solidFill>
                          <a:latin typeface="Cambria"/>
                        </a:rPr>
                        <a:t>D. Smoke</a:t>
                      </a:r>
                    </a:p>
                  </a:txBody>
                  <a:tcPr/>
                </a:tc>
                <a:tc>
                  <a:txBody>
                    <a:bodyPr/>
                    <a:lstStyle/>
                    <a:p>
                      <a:pPr algn="l"/>
                      <a:r>
                        <a:rPr sz="1400" b="0" i="0" u="none">
                          <a:solidFill>
                            <a:srgbClr val="F0F0F0"/>
                          </a:solidFill>
                          <a:latin typeface="Cambria"/>
                        </a:rPr>
                        <a:t>IV</a:t>
                      </a:r>
                      <a:r>
                        <a:rPr sz="1400" b="0" i="0" u="none">
                          <a:solidFill>
                            <a:srgbClr val="F0F0F0"/>
                          </a:solidFill>
                          <a:latin typeface="Cambria"/>
                        </a:rPr>
                        <a:t>. Liquid in solid</a:t>
                      </a:r>
                    </a:p>
                  </a:txBody>
                  <a:tcPr/>
                </a:tc>
              </a:tr>
            </a:tbl>
          </a:graphicData>
        </a:graphic>
      </p:graphicFrame>
      <p:sp>
        <p:nvSpPr>
          <p:cNvPr id="8" name="TextBox 7"/>
          <p:cNvSpPr txBox="1"/>
          <p:nvPr/>
        </p:nvSpPr>
        <p:spPr>
          <a:xfrm>
            <a:off x="457200"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A-III, B-I, C-IV, D-II</a:t>
            </a:r>
          </a:p>
        </p:txBody>
      </p:sp>
      <p:sp>
        <p:nvSpPr>
          <p:cNvPr id="9" name="TextBox 8"/>
          <p:cNvSpPr txBox="1"/>
          <p:nvPr/>
        </p:nvSpPr>
        <p:spPr>
          <a:xfrm>
            <a:off x="3321558"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A-III, B-II, C-I, D-IV</a:t>
            </a:r>
          </a:p>
        </p:txBody>
      </p:sp>
      <p:sp>
        <p:nvSpPr>
          <p:cNvPr id="10" name="TextBox 9"/>
          <p:cNvSpPr txBox="1"/>
          <p:nvPr/>
        </p:nvSpPr>
        <p:spPr>
          <a:xfrm>
            <a:off x="6185916"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A-II, B-IV, C-I, D-III</a:t>
            </a:r>
          </a:p>
        </p:txBody>
      </p:sp>
      <p:sp>
        <p:nvSpPr>
          <p:cNvPr id="11" name="TextBox 10"/>
          <p:cNvSpPr txBox="1"/>
          <p:nvPr/>
        </p:nvSpPr>
        <p:spPr>
          <a:xfrm>
            <a:off x="9050274"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A-II, B-I, C-IV, D-III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4358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78992" cy="402336"/>
          </a:xfrm>
          <a:prstGeom prst="rect">
            <a:avLst/>
          </a:prstGeom>
          <a:noFill/>
        </p:spPr>
        <p:txBody>
          <a:bodyPr wrap="none" anchor="ctr" lIns="0" rIns="0" tIns="0" bIns="0">
            <a:spAutoFit/>
          </a:bodyPr>
          <a:lstStyle/>
          <a:p>
            <a:pPr algn="l"/>
            <a:r>
              <a:rPr sz="1500" b="1">
                <a:solidFill>
                  <a:srgbClr val="FAD02C"/>
                </a:solidFill>
                <a:latin typeface="Cambria"/>
              </a:rPr>
              <a:t>NEET-2024</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Henry’s law constant (K</a:t>
            </a:r>
            <a:r>
              <a:rPr sz="1800" b="1" i="0" u="none" baseline="-25000">
                <a:solidFill>
                  <a:srgbClr val="FAD02C"/>
                </a:solidFill>
                <a:latin typeface="Cambria"/>
              </a:rPr>
              <a:t>H</a:t>
            </a:r>
            <a:r>
              <a:rPr sz="1800" b="1" i="0" u="none">
                <a:solidFill>
                  <a:srgbClr val="FAD02C"/>
                </a:solidFill>
                <a:latin typeface="Cambria"/>
              </a:rPr>
              <a:t>) values of three gases (A, B, C) in water are 145, 2 × 10⁻⁵ and 35 kbar, respectively. The solubility of these gases in water </a:t>
            </a:r>
            <a:r>
              <a:rPr sz="1800" b="1" i="0" u="none">
                <a:solidFill>
                  <a:srgbClr val="FAD02C"/>
                </a:solidFill>
                <a:latin typeface="Cambria"/>
              </a:rPr>
              <a:t>follows</a:t>
            </a:r>
            <a:r>
              <a:rPr sz="1800" b="1" i="0" u="none">
                <a:solidFill>
                  <a:srgbClr val="FAD02C"/>
                </a:solidFill>
                <a:latin typeface="Cambria"/>
              </a:rPr>
              <a:t> the order</a:t>
            </a:r>
            <a:r>
              <a:rPr sz="1800" b="1" i="0" u="none">
                <a:solidFill>
                  <a:srgbClr val="FAD02C"/>
                </a:solidFill>
                <a:latin typeface="Cambria"/>
              </a:rPr>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B &gt; A &gt; 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B &gt; C &gt; A</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 &gt; C &gt; B</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 &gt; B &gt;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4358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78992" cy="402336"/>
          </a:xfrm>
          <a:prstGeom prst="rect">
            <a:avLst/>
          </a:prstGeom>
          <a:noFill/>
        </p:spPr>
        <p:txBody>
          <a:bodyPr wrap="none" anchor="ctr" lIns="0" rIns="0" tIns="0" bIns="0">
            <a:spAutoFit/>
          </a:bodyPr>
          <a:lstStyle/>
          <a:p>
            <a:pPr algn="l"/>
            <a:r>
              <a:rPr sz="1500" b="1">
                <a:solidFill>
                  <a:srgbClr val="FAD02C"/>
                </a:solidFill>
                <a:latin typeface="Cambria"/>
              </a:rPr>
              <a:t>NEET-2024</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plot of osmotic pressure (Π) vs concentration (mol L⁻¹) for a solution gives a straight line with slope 25.73 L bar mol⁻¹. The temperature at which the osmotic pressure measurement is done is (Use R = 0.083 L bar mol⁻¹ K⁻</a:t>
            </a:r>
            <a:r>
              <a:rPr sz="1800" b="1" i="0" u="none">
                <a:solidFill>
                  <a:srgbClr val="FAD02C"/>
                </a:solidFill>
                <a:latin typeface="Cambria"/>
              </a:rPr>
              <a:t>¹)</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37°C</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310°C</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25.73°C</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12.05°C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NEET-2023 (PHASE-2</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amongst the following aqueous solutions of electrolytes will have minimum elevation in boiling point? Choose the correct option.</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0.1 M MgSO₄</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 M NaCl</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0.05 M NaCl</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0.1 M KCl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NEET-2022 (PHASE-2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eastAsia="Times New Roman" w:hAnsi="Cambria Math" w:cs="Times New Roman"/>
                            <w:sz w:val="24"/>
                            <w:szCs w:val="24"/>
                            <w:b/>
                            <w:color w:val="FAD02C"/>
                          </w:rPr>
                        </m:ctrlPr>
                      </m:sSubPr>
                      <m:e>
                        <m:r>
                          <m:rPr>
                            <m:ctrlPr>
                              <w:rPr>
                                <w:b/>
                                <w:color w:val="FAD02C"/>
                              </w:rPr>
                            </m:ctrlPr>
                          </m:rPr>
                          <w:rPr>
                            <w:rFonts w:ascii="Cambria Math" w:eastAsia="Times New Roman" w:hAnsi="Cambria Math" w:cs="Times New Roman"/>
                            <w:sz w:val="24"/>
                            <w:szCs w:val="24"/>
                          </w:rPr>
                          <m:t>K</m:t>
                        </m:r>
                      </m:e>
                      <m:sub>
                        <m:r>
                          <m:rPr>
                            <m:ctrlPr>
                              <w:rPr>
                                <w:b/>
                                <w:color w:val="FAD02C"/>
                              </w:rPr>
                            </m:ctrlPr>
                          </m:rPr>
                          <w:rPr>
                            <w:rFonts w:ascii="Cambria Math" w:eastAsia="Times New Roman" w:hAnsi="Cambria Math" w:cs="Times New Roman"/>
                            <w:sz w:val="24"/>
                            <w:szCs w:val="24"/>
                          </w:rPr>
                          <m:t>H</m:t>
                        </m:r>
                      </m:sub>
                    </m:sSub>
                  </m:oMath>
                </a14:m>
              </mc:Choice>
              <mc:Fallback>
                <a:r>
                  <a:rPr lang="en-US" sz="1800" b="1">
                    <a:solidFill>
                      <a:srgbClr val="FAD02C"/>
                    </a:solidFill>
                    <a:latin typeface="Cambria"/>
                  </a:rPr>
                  <a:t>K_H</a:t>
                </a:r>
              </mc:Fallback>
            </mc:AlternateContent>
            <a:r>
              <a:rPr sz="1800" b="1" i="0" u="none">
                <a:solidFill>
                  <a:srgbClr val="FAD02C"/>
                </a:solidFill>
                <a:latin typeface="Cambria"/>
              </a:rPr>
              <a:t>value for some gases at the same temperature are given: </a:t>
            </a:r>
            <a:r>
              <a:rPr sz="1800" b="1" i="0" u="none">
                <a:solidFill>
                  <a:srgbClr val="FAD02C"/>
                </a:solidFill>
                <a:latin typeface="Cambria"/>
              </a:rPr>
              <a:t>	</a:t>
            </a:r>
            <a:r>
              <a:rPr sz="1800" b="1" i="0" u="none">
                <a:solidFill>
                  <a:srgbClr val="FAD02C"/>
                </a:solidFill>
                <a:latin typeface="Cambria"/>
              </a:rPr>
              <a:t>	</a:t>
            </a:r>
            <a:r>
              <a:rPr sz="1800" b="1" i="0" u="none">
                <a:solidFill>
                  <a:srgbClr val="FAD02C"/>
                </a:solidFill>
                <a:latin typeface="Cambria"/>
              </a:rPr>
              <a:t>	</a:t>
            </a:r>
            <a:br/>
            <a:r>
              <a:rPr sz="1800" b="1" i="0" u="none">
                <a:solidFill>
                  <a:srgbClr val="FAD02C"/>
                </a:solidFill>
                <a:latin typeface="Cambria"/>
              </a:rPr>
              <a:t>where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eastAsia="Times New Roman" w:hAnsi="Cambria Math" w:cs="Times New Roman"/>
                            <w:sz w:val="24"/>
                            <w:szCs w:val="24"/>
                            <w:b/>
                            <w:color w:val="FAD02C"/>
                          </w:rPr>
                        </m:ctrlPr>
                      </m:sSubPr>
                      <m:e>
                        <m:r>
                          <m:rPr>
                            <m:ctrlPr>
                              <w:rPr>
                                <w:b/>
                                <w:color w:val="FAD02C"/>
                              </w:rPr>
                            </m:ctrlPr>
                          </m:rPr>
                          <w:rPr>
                            <w:rFonts w:ascii="Cambria Math" w:eastAsia="Times New Roman" w:hAnsi="Cambria Math" w:cs="Times New Roman"/>
                            <w:sz w:val="24"/>
                            <w:szCs w:val="24"/>
                          </w:rPr>
                          <m:t>K</m:t>
                        </m:r>
                      </m:e>
                      <m:sub>
                        <m:r>
                          <m:rPr>
                            <m:ctrlPr>
                              <w:rPr>
                                <w:b/>
                                <w:color w:val="FAD02C"/>
                              </w:rPr>
                            </m:ctrlPr>
                          </m:rPr>
                          <w:rPr>
                            <w:rFonts w:ascii="Cambria Math" w:eastAsia="Times New Roman" w:hAnsi="Cambria Math" w:cs="Times New Roman"/>
                            <w:sz w:val="24"/>
                            <w:szCs w:val="24"/>
                          </w:rPr>
                          <m:t>H</m:t>
                        </m:r>
                      </m:sub>
                    </m:sSub>
                  </m:oMath>
                </a14:m>
              </mc:Choice>
              <mc:Fallback>
                <a:r>
                  <a:rPr lang="en-US" sz="1800" b="1">
                    <a:solidFill>
                      <a:srgbClr val="FAD02C"/>
                    </a:solidFill>
                    <a:latin typeface="Cambria"/>
                  </a:rPr>
                  <a:t>K_H</a:t>
                </a:r>
              </mc:Fallback>
            </mc:AlternateContent>
            <a:r>
              <a:rPr sz="1800" b="1" i="0" u="none">
                <a:solidFill>
                  <a:srgbClr val="FAD02C"/>
                </a:solidFill>
                <a:latin typeface="Cambria"/>
              </a:rPr>
              <a:t>is Henry's Law constant in water. The order of their solubility in water is:</a:t>
            </a:r>
          </a:p>
        </p:txBody>
      </p:sp>
      <p:graphicFrame>
        <p:nvGraphicFramePr>
          <p:cNvPr id="7" name="Table 6"/>
          <p:cNvGraphicFramePr>
            <a:graphicFrameLocks noGrp="1"/>
          </p:cNvGraphicFramePr>
          <p:nvPr/>
        </p:nvGraphicFramePr>
        <p:xfrm>
          <a:off x="457200" y="1690725"/>
          <a:ext cx="11274552" cy="2057400"/>
        </p:xfrm>
        <a:graphic>
          <a:graphicData uri="http://schemas.openxmlformats.org/drawingml/2006/table">
            <a:tbl>
              <a:tblPr firstRow="1" bandRow="1">
                <a:tableStyleId>{5C22544A-7EE6-4342-B048-85BDC9FD1C3A}</a:tableStyleId>
              </a:tblPr>
              <a:tblGrid>
                <a:gridCol w="5637276"/>
                <a:gridCol w="5637276"/>
              </a:tblGrid>
              <a:tr h="438912">
                <a:tc>
                  <a:txBody>
                    <a:bodyPr/>
                    <a:lstStyle/>
                    <a:p>
                      <a:pPr algn="l"/>
                      <a:r>
                        <a:rPr sz="1400" b="1" i="0" u="none">
                          <a:solidFill>
                            <a:srgbClr val="F0F0F0"/>
                          </a:solidFill>
                          <a:latin typeface="Cambria"/>
                        </a:rPr>
                        <a:t>Gas</a:t>
                      </a:r>
                    </a:p>
                  </a:txBody>
                  <a:tcPr/>
                </a:tc>
                <a:tc>
                  <a:txBody>
                    <a:bodyPr/>
                    <a:lstStyle/>
                    <a:p>
                      <a:pPr algn="l"/>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eastAsia="Times New Roman" w:hAnsi="Cambria Math" w:cs="Times New Roman"/>
                                      <w:sz w:val="24"/>
                                      <w:szCs w:val="24"/>
                                      <w:color w:val="F0F0F0"/>
                                    </w:rPr>
                                  </m:ctrlPr>
                                </m:sSubPr>
                                <m:e>
                                  <m:r>
                                    <m:rPr>
                                      <m:ctrlPr>
                                        <w:rPr>
                                          <w:color w:val="F0F0F0"/>
                                        </w:rPr>
                                      </m:ctrlPr>
                                    </m:rPr>
                                    <w:rPr>
                                      <w:rFonts w:ascii="Cambria Math" w:eastAsia="Times New Roman" w:hAnsi="Cambria Math" w:cs="Times New Roman"/>
                                      <w:sz w:val="24"/>
                                      <w:szCs w:val="24"/>
                                    </w:rPr>
                                    <m:t>K</m:t>
                                  </m:r>
                                </m:e>
                                <m:sub>
                                  <m:r>
                                    <m:rPr>
                                      <m:ctrlPr>
                                        <w:rPr>
                                          <w:color w:val="F0F0F0"/>
                                        </w:rPr>
                                      </m:ctrlPr>
                                    </m:rPr>
                                    <w:rPr>
                                      <w:rFonts w:ascii="Cambria Math" w:eastAsia="Times New Roman" w:hAnsi="Cambria Math" w:cs="Times New Roman"/>
                                      <w:sz w:val="24"/>
                                      <w:szCs w:val="24"/>
                                    </w:rPr>
                                    <m:t>H</m:t>
                                  </m:r>
                                </m:sub>
                              </m:sSub>
                              <m:r>
                                <m:rPr>
                                  <m:ctrlPr>
                                    <w:rPr>
                                      <w:color w:val="F0F0F0"/>
                                    </w:rPr>
                                  </m:ctrlPr>
                                </m:rPr>
                                <w:rPr>
                                  <w:rFonts w:ascii="Cambria Math" w:eastAsia="Times New Roman" w:hAnsi="Cambria Math" w:cs="Times New Roman"/>
                                  <w:sz w:val="24"/>
                                  <w:szCs w:val="24"/>
                                </w:rPr>
                                <m:t>/k</m:t>
                              </m:r>
                            </m:oMath>
                          </a14:m>
                        </mc:Choice>
                        <mc:Fallback>
                          <a:r>
                            <a:rPr lang="en-US" sz="1400">
                              <a:solidFill>
                                <a:srgbClr val="F0F0F0"/>
                              </a:solidFill>
                              <a:latin typeface="Cambria"/>
                            </a:rPr>
                            <a:t>K_H/k</a:t>
                          </a:r>
                        </mc:Fallback>
                      </mc:AlternateContent>
                      <a:r>
                        <a:rPr sz="1400" b="1" i="0" u="none">
                          <a:solidFill>
                            <a:srgbClr val="F0F0F0"/>
                          </a:solidFill>
                          <a:latin typeface="Cambria"/>
                        </a:rPr>
                        <a:t>bar</a:t>
                      </a:r>
                    </a:p>
                  </a:txBody>
                  <a:tcPr/>
                </a:tc>
              </a:tr>
              <a:tr h="393192">
                <a:tc>
                  <a:txBody>
                    <a:bodyPr/>
                    <a:lstStyle/>
                    <a:p>
                      <a:pPr algn="l"/>
                      <a:r>
                        <a:rPr sz="1400" b="0" i="0" u="none">
                          <a:solidFill>
                            <a:srgbClr val="F0F0F0"/>
                          </a:solidFill>
                          <a:latin typeface="Cambria"/>
                        </a:rPr>
                        <a:t>Ar</a:t>
                      </a:r>
                    </a:p>
                  </a:txBody>
                  <a:tcPr/>
                </a:tc>
                <a:tc>
                  <a:txBody>
                    <a:bodyPr/>
                    <a:lstStyle/>
                    <a:p>
                      <a:pPr algn="l"/>
                      <a:r>
                        <a:rPr sz="1400" b="0" i="0" u="none">
                          <a:solidFill>
                            <a:srgbClr val="F0F0F0"/>
                          </a:solidFill>
                          <a:latin typeface="Cambria"/>
                        </a:rPr>
                        <a:t>40.3</a:t>
                      </a:r>
                    </a:p>
                  </a:txBody>
                  <a:tcPr/>
                </a:tc>
              </a:tr>
              <a:tr h="393192">
                <a:tc>
                  <a:txBody>
                    <a:bodyPr/>
                    <a:lstStyle/>
                    <a:p>
                      <a:pPr algn="l"/>
                      <a:r>
                        <a:rPr sz="1400" b="0" i="0" u="none">
                          <a:solidFill>
                            <a:srgbClr val="F0F0F0"/>
                          </a:solidFill>
                          <a:latin typeface="Cambria"/>
                        </a:rPr>
                        <a:t>CO₂</a:t>
                      </a:r>
                    </a:p>
                  </a:txBody>
                  <a:tcPr/>
                </a:tc>
                <a:tc>
                  <a:txBody>
                    <a:bodyPr/>
                    <a:lstStyle/>
                    <a:p>
                      <a:pPr algn="l"/>
                      <a:r>
                        <a:rPr sz="1400" b="0" i="0" u="none">
                          <a:solidFill>
                            <a:srgbClr val="F0F0F0"/>
                          </a:solidFill>
                          <a:latin typeface="Cambria"/>
                        </a:rPr>
                        <a:t>1.67</a:t>
                      </a:r>
                    </a:p>
                  </a:txBody>
                  <a:tcPr/>
                </a:tc>
              </a:tr>
              <a:tr h="438912">
                <a:tc>
                  <a:txBody>
                    <a:bodyPr/>
                    <a:lstStyle/>
                    <a:p>
                      <a:pPr algn="l"/>
                      <a:r>
                        <a:rPr sz="1400" b="0" i="0" u="none">
                          <a:solidFill>
                            <a:srgbClr val="F0F0F0"/>
                          </a:solidFill>
                          <a:latin typeface="Cambria"/>
                        </a:rPr>
                        <a:t>HCHO</a:t>
                      </a:r>
                    </a:p>
                  </a:txBody>
                  <a:tcPr/>
                </a:tc>
                <a:tc>
                  <a:txBody>
                    <a:bodyPr/>
                    <a:lstStyle/>
                    <a:p>
                      <a:pPr algn="l"/>
                      <a:r>
                        <a:rPr sz="1400" b="0" i="0" u="none">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r>
                                <m:rPr>
                                  <m:ctrlPr>
                                    <w:rPr>
                                      <w:color w:val="F0F0F0"/>
                                    </w:rPr>
                                  </m:ctrlPr>
                                </m:rPr>
                                <w:rPr>
                                  <w:rFonts w:ascii="Cambria Math" w:eastAsia="Times New Roman" w:hAnsi="Cambria Math" w:cs="Times New Roman"/>
                                  <w:sz w:val="24"/>
                                  <w:szCs w:val="24"/>
                                </w:rPr>
                                <m:t>1.83×</m:t>
                              </m:r>
                              <m:sSup>
                                <m:sSupPr>
                                  <m:ctrlPr>
                                    <w:rPr>
                                      <w:rFonts w:ascii="Cambria Math" w:eastAsia="Times New Roman" w:hAnsi="Cambria Math" w:cs="Times New Roman"/>
                                      <w:sz w:val="24"/>
                                      <w:szCs w:val="24"/>
                                      <w:color w:val="F0F0F0"/>
                                    </w:rPr>
                                  </m:ctrlPr>
                                </m:sSupPr>
                                <m:e>
                                  <m:r>
                                    <m:rPr>
                                      <m:ctrlPr>
                                        <w:rPr>
                                          <w:color w:val="F0F0F0"/>
                                        </w:rPr>
                                      </m:ctrlPr>
                                    </m:rPr>
                                    <w:rPr>
                                      <w:rFonts w:ascii="Cambria Math" w:eastAsia="Times New Roman" w:hAnsi="Cambria Math" w:cs="Times New Roman"/>
                                      <w:sz w:val="24"/>
                                      <w:szCs w:val="24"/>
                                    </w:rPr>
                                    <m:t>10</m:t>
                                  </m:r>
                                </m:e>
                                <m:sup>
                                  <m:r>
                                    <m:rPr>
                                      <m:ctrlPr>
                                        <w:rPr>
                                          <w:color w:val="F0F0F0"/>
                                        </w:rPr>
                                      </m:ctrlPr>
                                    </m:rPr>
                                    <w:rPr>
                                      <w:rFonts w:ascii="Cambria Math" w:eastAsia="Times New Roman" w:hAnsi="Cambria Math" w:cs="Times New Roman"/>
                                      <w:sz w:val="24"/>
                                      <w:szCs w:val="24"/>
                                    </w:rPr>
                                    <m:t>-5</m:t>
                                  </m:r>
                                </m:sup>
                              </m:sSup>
                            </m:oMath>
                          </a14:m>
                        </mc:Choice>
                        <mc:Fallback>
                          <a:r>
                            <a:rPr lang="en-US" sz="1400">
                              <a:solidFill>
                                <a:srgbClr val="F0F0F0"/>
                              </a:solidFill>
                              <a:latin typeface="Cambria"/>
                            </a:rPr>
                            <a:t>1.83 × 10⁻⁵</a:t>
                          </a:r>
                        </mc:Fallback>
                      </mc:AlternateContent>
                    </a:p>
                  </a:txBody>
                  <a:tcPr/>
                </a:tc>
              </a:tr>
              <a:tr h="393192">
                <a:tc>
                  <a:txBody>
                    <a:bodyPr/>
                    <a:lstStyle/>
                    <a:p>
                      <a:pPr algn="l"/>
                      <a:r>
                        <a:rPr sz="1400" b="0" i="0" u="none">
                          <a:solidFill>
                            <a:srgbClr val="F0F0F0"/>
                          </a:solidFill>
                          <a:latin typeface="Cambria"/>
                        </a:rPr>
                        <a:t>CH₄</a:t>
                      </a:r>
                    </a:p>
                  </a:txBody>
                  <a:tcPr/>
                </a:tc>
                <a:tc>
                  <a:txBody>
                    <a:bodyPr/>
                    <a:lstStyle/>
                    <a:p>
                      <a:pPr algn="l"/>
                      <a:r>
                        <a:rPr sz="1400" b="0" i="0" u="none">
                          <a:solidFill>
                            <a:srgbClr val="F0F0F0"/>
                          </a:solidFill>
                          <a:latin typeface="Cambria"/>
                        </a:rPr>
                        <a:t>0.413</a:t>
                      </a:r>
                    </a:p>
                  </a:txBody>
                  <a:tcPr/>
                </a:tc>
              </a:tr>
            </a:tbl>
          </a:graphicData>
        </a:graphic>
      </p:graphicFrame>
      <p:sp>
        <p:nvSpPr>
          <p:cNvPr id="8" name="TextBox 7"/>
          <p:cNvSpPr txBox="1"/>
          <p:nvPr/>
        </p:nvSpPr>
        <p:spPr>
          <a:xfrm>
            <a:off x="457200"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HCHO &lt; CH₄ &lt; CO₂ &lt; Ar</a:t>
            </a:r>
          </a:p>
        </p:txBody>
      </p:sp>
      <p:sp>
        <p:nvSpPr>
          <p:cNvPr id="9" name="TextBox 8"/>
          <p:cNvSpPr txBox="1"/>
          <p:nvPr/>
        </p:nvSpPr>
        <p:spPr>
          <a:xfrm>
            <a:off x="3321558"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Ar &lt; CO₂ &lt; CH₄ &lt; HCHO</a:t>
            </a:r>
          </a:p>
        </p:txBody>
      </p:sp>
      <p:sp>
        <p:nvSpPr>
          <p:cNvPr id="10" name="TextBox 9"/>
          <p:cNvSpPr txBox="1"/>
          <p:nvPr/>
        </p:nvSpPr>
        <p:spPr>
          <a:xfrm>
            <a:off x="6185916"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Ar &lt; CH₄ &lt; CO₂ &lt; HCHO</a:t>
            </a:r>
          </a:p>
        </p:txBody>
      </p:sp>
      <p:sp>
        <p:nvSpPr>
          <p:cNvPr id="11" name="TextBox 10"/>
          <p:cNvSpPr txBox="1"/>
          <p:nvPr/>
        </p:nvSpPr>
        <p:spPr>
          <a:xfrm>
            <a:off x="9050274"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HCHO &lt; CO₂ &lt; CH₄ &lt; 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NEET-2021</a:t>
            </a:r>
          </a:p>
        </p:txBody>
      </p:sp>
      <p:sp>
        <p:nvSpPr>
          <p:cNvPr id="6" name="TextBox 5"/>
          <p:cNvSpPr txBox="1"/>
          <p:nvPr/>
        </p:nvSpPr>
        <p:spPr>
          <a:xfrm>
            <a:off x="457200" y="731520"/>
            <a:ext cx="11274552" cy="1522475"/>
          </a:xfrm>
          <a:prstGeom prst="rect">
            <a:avLst/>
          </a:prstGeom>
          <a:noFill/>
        </p:spPr>
        <p:txBody>
          <a:bodyPr wrap="square" lIns="0" rIns="0" tIns="0" bIns="0">
            <a:spAutoFit/>
          </a:bodyPr>
          <a:lstStyle/>
          <a:p>
            <a:r>
              <a:rPr sz="1800" b="1" i="0" u="none">
                <a:solidFill>
                  <a:srgbClr val="FAD02C"/>
                </a:solidFill>
                <a:latin typeface="Cambria"/>
              </a:rPr>
              <a:t>The following solutions were prepared by dissolving 10 g of glucose (C₆H₁₂O₆) in 250 ml of water (P₁), 10 g of urea (CH₄N₂O) in 250 ml of water (P₂) and 10 g of sucrose (C₁₂H₂₂O₁₁) in 250 ml of water (P₃). The right option for the decreasing order of osmotic pressure of these solutions is:</a:t>
            </a:r>
          </a:p>
        </p:txBody>
      </p:sp>
      <p:sp>
        <p:nvSpPr>
          <p:cNvPr id="7" name="TextBox 6"/>
          <p:cNvSpPr txBox="1"/>
          <p:nvPr/>
        </p:nvSpPr>
        <p:spPr>
          <a:xfrm>
            <a:off x="457200" y="229971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P₃ &gt; P₁ &gt; P₂</a:t>
            </a:r>
          </a:p>
        </p:txBody>
      </p:sp>
      <p:sp>
        <p:nvSpPr>
          <p:cNvPr id="8" name="TextBox 7"/>
          <p:cNvSpPr txBox="1"/>
          <p:nvPr/>
        </p:nvSpPr>
        <p:spPr>
          <a:xfrm>
            <a:off x="3321558" y="229971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P₂ &gt; P₁ &gt; P₃</a:t>
            </a:r>
          </a:p>
        </p:txBody>
      </p:sp>
      <p:sp>
        <p:nvSpPr>
          <p:cNvPr id="9" name="TextBox 8"/>
          <p:cNvSpPr txBox="1"/>
          <p:nvPr/>
        </p:nvSpPr>
        <p:spPr>
          <a:xfrm>
            <a:off x="6185916" y="229971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P₁ &gt; P₂ &gt; P₃</a:t>
            </a:r>
          </a:p>
        </p:txBody>
      </p:sp>
      <p:sp>
        <p:nvSpPr>
          <p:cNvPr id="10" name="TextBox 9"/>
          <p:cNvSpPr txBox="1"/>
          <p:nvPr/>
        </p:nvSpPr>
        <p:spPr>
          <a:xfrm>
            <a:off x="9050274" y="229971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P₂ &gt; P₃ &gt; P₁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NEET-2021</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correct option for the value of vapor pressure of a solution at 45°C with benzene to octane in molar ratio 3: 2 is:</a:t>
            </a:r>
            <a:br/>
            <a:r>
              <a:rPr sz="1800" b="1" i="0" u="none">
                <a:solidFill>
                  <a:srgbClr val="FAD02C"/>
                </a:solidFill>
                <a:latin typeface="Cambria"/>
              </a:rPr>
              <a:t>[At 45°C vapor pressure of benzene is 280 mm Hg and that of octane is 420 mm Hg. Assume Ideal gas]</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350 mm of Hg</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160 mm of Hg</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168 mm of Hg</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336 mm of Hg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84831"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20239" cy="402336"/>
          </a:xfrm>
          <a:prstGeom prst="rect">
            <a:avLst/>
          </a:prstGeom>
          <a:noFill/>
        </p:spPr>
        <p:txBody>
          <a:bodyPr wrap="none" anchor="ctr" lIns="0" rIns="0" tIns="0" bIns="0">
            <a:spAutoFit/>
          </a:bodyPr>
          <a:lstStyle/>
          <a:p>
            <a:pPr algn="l"/>
            <a:r>
              <a:rPr sz="1500" b="1">
                <a:solidFill>
                  <a:srgbClr val="FAD02C"/>
                </a:solidFill>
                <a:latin typeface="Cambria"/>
              </a:rPr>
              <a:t>NEET-2020 (PHASE-1</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freezing point depression constant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sSub>
                      <m:sSubPr>
                        <m:ctrlPr>
                          <w:rPr>
                            <w:rFonts w:ascii="Cambria Math" w:hAnsi="Cambria Math"/>
                            <w:b/>
                            <w:color w:val="FAD02C"/>
                          </w:rPr>
                        </m:ctrlPr>
                      </m:sSubPr>
                      <m:e>
                        <m:r>
                          <m:rPr>
                            <m:ctrlPr>
                              <w:rPr>
                                <w:b/>
                                <w:color w:val="FAD02C"/>
                              </w:rPr>
                            </m:ctrlPr>
                          </m:rPr>
                          <w:rPr>
                            <w:rFonts w:ascii="Cambria Math" w:hAnsi="Cambria Math"/>
                          </w:rPr>
                          <m:t>K</m:t>
                        </m:r>
                      </m:e>
                      <m:sub>
                        <m:r>
                          <m:rPr>
                            <m:ctrlPr>
                              <w:rPr>
                                <w:b/>
                                <w:color w:val="FAD02C"/>
                              </w:rPr>
                            </m:ctrlPr>
                          </m:rPr>
                          <w:rPr>
                            <w:rFonts w:ascii="Cambria Math" w:hAnsi="Cambria Math"/>
                          </w:rPr>
                          <m:t>f</m:t>
                        </m:r>
                      </m:sub>
                    </m:sSub>
                  </m:oMath>
                </a14:m>
              </mc:Choice>
              <mc:Fallback>
                <a:r>
                  <a:rPr lang="en-US" sz="1800" b="1">
                    <a:solidFill>
                      <a:srgbClr val="FAD02C"/>
                    </a:solidFill>
                    <a:latin typeface="Cambria"/>
                  </a:rPr>
                  <a:t>K_f</a:t>
                </a:r>
              </mc:Fallback>
            </mc:AlternateContent>
            <a:r>
              <a:rPr sz="1800" b="1" i="0" u="none">
                <a:solidFill>
                  <a:srgbClr val="FAD02C"/>
                </a:solidFill>
                <a:latin typeface="Cambria"/>
              </a:rPr>
              <a:t>) of benzene is 5.12 K kg mol⁻¹. The freezing point depression for the solution of molality 0.078 m containing a non-electrolyte solute in benzene is (rounded off upto two decimal places):</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0.80 K</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0.40 K</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0.60 K</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0.20 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84831"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20239" cy="402336"/>
          </a:xfrm>
          <a:prstGeom prst="rect">
            <a:avLst/>
          </a:prstGeom>
          <a:noFill/>
        </p:spPr>
        <p:txBody>
          <a:bodyPr wrap="none" anchor="ctr" lIns="0" rIns="0" tIns="0" bIns="0">
            <a:spAutoFit/>
          </a:bodyPr>
          <a:lstStyle/>
          <a:p>
            <a:pPr algn="l"/>
            <a:r>
              <a:rPr sz="1500" b="1">
                <a:solidFill>
                  <a:srgbClr val="FAD02C"/>
                </a:solidFill>
                <a:latin typeface="Cambria"/>
              </a:rPr>
              <a:t>NEET-2020 (PHASE-1</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mixture which shows positive deviation from Raoult’s law 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Benzene + Toluene</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Acetone + Chloroform</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Chloromethane + Bromoethane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Ethanol + Acetone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NEET-2020 (PHASE-2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If 8 g of a non-electrolyte solute is dissolved in 114 g of n-octane to reduce its vapour pressure to 80%, the molar mass (in g mol⁻¹) of the solute is (Given that molar mass of n-octane is 114 g mol⁻¹)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20</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40</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60</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NEET-2020 (PHASE-2</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a:t>
            </a:r>
            <a:r>
              <a:rPr sz="1800" b="1" i="0" u="none">
                <a:solidFill>
                  <a:srgbClr val="FAD02C"/>
                </a:solidFill>
                <a:latin typeface="Cambria"/>
              </a:rPr>
              <a:t>sotonic solutions have </a:t>
            </a:r>
            <a:r>
              <a:rPr sz="1800" b="1" i="0" u="none">
                <a:solidFill>
                  <a:srgbClr val="FAD02C"/>
                </a:solidFill>
                <a:latin typeface="Cambria"/>
              </a:rPr>
              <a:t>same</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Boiling temperature</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Vapour pressure</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Freezing temperature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Osmotic pressure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842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9656" cy="402336"/>
          </a:xfrm>
          <a:prstGeom prst="rect">
            <a:avLst/>
          </a:prstGeom>
          <a:noFill/>
        </p:spPr>
        <p:txBody>
          <a:bodyPr wrap="none" anchor="ctr" lIns="0" rIns="0" tIns="0" bIns="0">
            <a:spAutoFit/>
          </a:bodyPr>
          <a:lstStyle/>
          <a:p>
            <a:pPr algn="l"/>
            <a:r>
              <a:rPr sz="1500" b="1">
                <a:solidFill>
                  <a:srgbClr val="FAD02C"/>
                </a:solidFill>
                <a:latin typeface="Cambria"/>
              </a:rPr>
              <a:t>NEET-2019 (ODISHA</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statements is correct regarding a solution of two components A and B exhibiting positive deviation from ideal behaviour?</a:t>
            </a:r>
          </a:p>
        </p:txBody>
      </p:sp>
      <p:sp>
        <p:nvSpPr>
          <p:cNvPr id="7" name="TextBox 6"/>
          <p:cNvSpPr txBox="1"/>
          <p:nvPr/>
        </p:nvSpPr>
        <p:spPr>
          <a:xfrm>
            <a:off x="457200" y="1386230"/>
            <a:ext cx="5477256" cy="811987"/>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Intermolecular attractive forces between A-A and B-B are equal to those between A-B</a:t>
            </a:r>
          </a:p>
        </p:txBody>
      </p:sp>
      <p:sp>
        <p:nvSpPr>
          <p:cNvPr id="8" name="TextBox 7"/>
          <p:cNvSpPr txBox="1"/>
          <p:nvPr/>
        </p:nvSpPr>
        <p:spPr>
          <a:xfrm>
            <a:off x="6254496" y="1386230"/>
            <a:ext cx="5477256" cy="811987"/>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Intermolecular attractive forces between A-A and B-B are stronger than those between A-B</a:t>
            </a:r>
          </a:p>
        </p:txBody>
      </p:sp>
      <p:sp>
        <p:nvSpPr>
          <p:cNvPr id="9" name="TextBox 8"/>
          <p:cNvSpPr txBox="1"/>
          <p:nvPr/>
        </p:nvSpPr>
        <p:spPr>
          <a:xfrm>
            <a:off x="457200" y="2243937"/>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H = 0 at constant T and P</a:t>
            </a:r>
          </a:p>
        </p:txBody>
      </p:sp>
      <p:sp>
        <p:nvSpPr>
          <p:cNvPr id="10" name="TextBox 9"/>
          <p:cNvSpPr txBox="1"/>
          <p:nvPr/>
        </p:nvSpPr>
        <p:spPr>
          <a:xfrm>
            <a:off x="6254496" y="2243937"/>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V = 0 at constant T and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NEET-2019</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mixture that forms maximum boiling azeotrope </a:t>
            </a:r>
            <a:r>
              <a:rPr sz="1800" b="1" i="0" u="none">
                <a:solidFill>
                  <a:srgbClr val="FAD02C"/>
                </a:solidFill>
                <a:latin typeface="Cambria"/>
              </a:rPr>
              <a:t>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Water + Nitric acid</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Ethanol + Water</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Acetone + Carbon disulphide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Heptane + Octane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NEET-2019</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For an ideal solution, the correct option </a:t>
            </a:r>
            <a:r>
              <a:rPr sz="1800" b="1" i="0" u="none">
                <a:solidFill>
                  <a:srgbClr val="FAD02C"/>
                </a:solidFill>
                <a:latin typeface="Cambria"/>
              </a:rPr>
              <a:t>is</a:t>
            </a:r>
          </a:p>
        </p:txBody>
      </p:sp>
      <p:sp>
        <p:nvSpPr>
          <p:cNvPr id="7" name="TextBox 6"/>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S = 0 at constant T and P</a:t>
            </a:r>
          </a:p>
        </p:txBody>
      </p:sp>
      <p:sp>
        <p:nvSpPr>
          <p:cNvPr id="8" name="TextBox 7"/>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V ≠ 0 at constant T and P</a:t>
            </a:r>
          </a:p>
        </p:txBody>
      </p:sp>
      <p:sp>
        <p:nvSpPr>
          <p:cNvPr id="9" name="TextBox 8"/>
          <p:cNvSpPr txBox="1"/>
          <p:nvPr/>
        </p:nvSpPr>
        <p:spPr>
          <a:xfrm>
            <a:off x="457200"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H = 0 at constant T and P</a:t>
            </a:r>
          </a:p>
        </p:txBody>
      </p:sp>
      <p:sp>
        <p:nvSpPr>
          <p:cNvPr id="10" name="TextBox 9"/>
          <p:cNvSpPr txBox="1"/>
          <p:nvPr/>
        </p:nvSpPr>
        <p:spPr>
          <a:xfrm>
            <a:off x="6254496"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G = 0 at constant T and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NEET-2017</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of the following is dependent on temperature?</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Molality</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Molarity</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Mole fraction</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Weight percentage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If molality of the dilute solution is doubled, the value of molal depression constant (K_f) will 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Doubled</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Halved</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Tripled</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Unchanged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751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0512" cy="402336"/>
          </a:xfrm>
          <a:prstGeom prst="rect">
            <a:avLst/>
          </a:prstGeom>
          <a:noFill/>
        </p:spPr>
        <p:txBody>
          <a:bodyPr wrap="none" anchor="ctr" lIns="0" rIns="0" tIns="0" bIns="0">
            <a:spAutoFit/>
          </a:bodyPr>
          <a:lstStyle/>
          <a:p>
            <a:pPr algn="l"/>
            <a:r>
              <a:rPr sz="1500" b="1">
                <a:solidFill>
                  <a:srgbClr val="FAD02C"/>
                </a:solidFill>
                <a:latin typeface="Cambria"/>
              </a:rPr>
              <a:t>NEET-PHASE-2-2016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van’t Hoff factor (i) for a dilute aqueous solution of the strong electrolyte barium hydroxide 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2</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751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0512" cy="402336"/>
          </a:xfrm>
          <a:prstGeom prst="rect">
            <a:avLst/>
          </a:prstGeom>
          <a:noFill/>
        </p:spPr>
        <p:txBody>
          <a:bodyPr wrap="none" anchor="ctr" lIns="0" rIns="0" tIns="0" bIns="0">
            <a:spAutoFit/>
          </a:bodyPr>
          <a:lstStyle/>
          <a:p>
            <a:pPr algn="l"/>
            <a:r>
              <a:rPr sz="1500" b="1">
                <a:solidFill>
                  <a:srgbClr val="FAD02C"/>
                </a:solidFill>
                <a:latin typeface="Cambria"/>
              </a:rPr>
              <a:t>NEET-PHASE-2-2016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one of the following is incorrect for ideal solution?</a:t>
            </a:r>
          </a:p>
        </p:txBody>
      </p:sp>
      <p:sp>
        <p:nvSpPr>
          <p:cNvPr id="7" name="TextBox 6"/>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ΔH</a:t>
            </a:r>
            <a:r>
              <a:rPr sz="1600" b="1" i="0" u="none" baseline="-25000">
                <a:solidFill>
                  <a:srgbClr val="F0F0F0"/>
                </a:solidFill>
                <a:latin typeface="Cambria"/>
              </a:rPr>
              <a:t>mix</a:t>
            </a:r>
            <a:r>
              <a:rPr sz="1600" b="1" i="0" u="none">
                <a:solidFill>
                  <a:srgbClr val="F0F0F0"/>
                </a:solidFill>
                <a:latin typeface="Cambria"/>
              </a:rPr>
              <a:t> = 0</a:t>
            </a:r>
          </a:p>
        </p:txBody>
      </p:sp>
      <p:sp>
        <p:nvSpPr>
          <p:cNvPr id="8" name="TextBox 7"/>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ΔU</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 0</a:t>
            </a:r>
          </a:p>
        </p:txBody>
      </p:sp>
      <p:sp>
        <p:nvSpPr>
          <p:cNvPr id="9" name="TextBox 8"/>
          <p:cNvSpPr txBox="1"/>
          <p:nvPr/>
        </p:nvSpPr>
        <p:spPr>
          <a:xfrm>
            <a:off x="457200" y="1600200"/>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sty m:val="p"/>
                        <m:ctrlPr>
                          <w:rPr>
                            <w:b/>
                            <w:color w:val="F0F0F0"/>
                          </w:rPr>
                        </m:ctrlPr>
                      </m:rPr>
                      <m:t>Δ</m:t>
                    </m:r>
                  </m:oMath>
                </a14:m>
              </mc:Choice>
              <mc:Fallback>
                <a:r>
                  <a:rPr lang="en-US" sz="1600" b="1">
                    <a:solidFill>
                      <a:srgbClr val="F0F0F0"/>
                    </a:solidFill>
                    <a:latin typeface="Cambria"/>
                  </a:rPr>
                  <a:t>Δ</a:t>
                </a:r>
              </mc:Fallback>
            </mc:AlternateContent>
            <a:r>
              <a:rPr sz="1600" b="1">
                <a:solidFill>
                  <a:srgbClr val="F0F0F0"/>
                </a:solidFill>
                <a:latin typeface="Cambria"/>
              </a:rPr>
              <a:t>P =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o</m:t>
                        </m:r>
                        <m:r>
                          <m:rPr>
                            <m:ctrlPr>
                              <w:rPr>
                                <w:b/>
                                <w:color w:val="F0F0F0"/>
                              </w:rPr>
                            </m:ctrlPr>
                          </m:rPr>
                          <m:t>b</m:t>
                        </m:r>
                        <m:r>
                          <m:rPr>
                            <m:ctrlPr>
                              <w:rPr>
                                <w:b/>
                                <w:color w:val="F0F0F0"/>
                              </w:rPr>
                            </m:ctrlPr>
                          </m:rPr>
                          <m:t>s</m:t>
                        </m:r>
                      </m:sub>
                    </m:sSub>
                    <m:r>
                      <m:rPr>
                        <m:sty m:val="p"/>
                        <m:ctrlPr>
                          <w:rPr>
                            <w:b/>
                            <w:color w:val="F0F0F0"/>
                          </w:rPr>
                        </m:ctrlPr>
                      </m:rPr>
                      <m:t>−</m:t>
                    </m:r>
                    <m:sSub>
                      <m:e>
                        <m:r>
                          <m:rPr>
                            <m:ctrlPr>
                              <w:rPr>
                                <w:b/>
                                <w:color w:val="F0F0F0"/>
                              </w:rPr>
                            </m:ctrlPr>
                          </m:rPr>
                          <m:t>P</m:t>
                        </m:r>
                      </m:e>
                      <m:sub>
                        <m:r>
                          <m:rPr>
                            <m:ctrlPr>
                              <w:rPr>
                                <w:b/>
                                <w:color w:val="F0F0F0"/>
                              </w:rPr>
                            </m:ctrlPr>
                          </m:rPr>
                          <m:t>c</m:t>
                        </m:r>
                        <m:r>
                          <m:rPr>
                            <m:ctrlPr>
                              <w:rPr>
                                <w:b/>
                                <w:color w:val="F0F0F0"/>
                              </w:rPr>
                            </m:ctrlPr>
                          </m:rPr>
                          <m:t>a</m:t>
                        </m:r>
                        <m:r>
                          <m:rPr>
                            <m:ctrlPr>
                              <w:rPr>
                                <w:b/>
                                <w:color w:val="F0F0F0"/>
                              </w:rPr>
                            </m:ctrlPr>
                          </m:rPr>
                          <m:t>l</m:t>
                        </m:r>
                        <m:r>
                          <m:rPr>
                            <m:ctrlPr>
                              <w:rPr>
                                <w:b/>
                                <w:color w:val="F0F0F0"/>
                              </w:rPr>
                            </m:ctrlPr>
                          </m:rPr>
                          <m:t>c</m:t>
                        </m:r>
                        <m:r>
                          <m:rPr>
                            <m:ctrlPr>
                              <w:rPr>
                                <w:b/>
                                <w:color w:val="F0F0F0"/>
                              </w:rPr>
                            </m:ctrlPr>
                          </m:rPr>
                          <m:t>u</m:t>
                        </m:r>
                        <m:r>
                          <m:rPr>
                            <m:ctrlPr>
                              <w:rPr>
                                <w:b/>
                                <w:color w:val="F0F0F0"/>
                              </w:rPr>
                            </m:ctrlPr>
                          </m:rPr>
                          <m:t>l</m:t>
                        </m:r>
                        <m:r>
                          <m:rPr>
                            <m:ctrlPr>
                              <w:rPr>
                                <w:b/>
                                <w:color w:val="F0F0F0"/>
                              </w:rPr>
                            </m:ctrlPr>
                          </m:rPr>
                          <m:t>a</m:t>
                        </m:r>
                        <m:r>
                          <m:rPr>
                            <m:ctrlPr>
                              <w:rPr>
                                <w:b/>
                                <w:color w:val="F0F0F0"/>
                              </w:rPr>
                            </m:ctrlPr>
                          </m:rPr>
                          <m:t>t</m:t>
                        </m:r>
                        <m:r>
                          <m:rPr>
                            <m:ctrlPr>
                              <w:rPr>
                                <w:b/>
                                <w:color w:val="F0F0F0"/>
                              </w:rPr>
                            </m:ctrlPr>
                          </m:rPr>
                          <m:t>e</m:t>
                        </m:r>
                        <m:r>
                          <m:rPr>
                            <m:ctrlPr>
                              <w:rPr>
                                <w:b/>
                                <w:color w:val="F0F0F0"/>
                              </w:rPr>
                            </m:ctrlPr>
                          </m:rPr>
                          <m:t>d</m:t>
                        </m:r>
                        <m:r>
                          <m:rPr>
                            <m:ctrlPr>
                              <w:rPr>
                                <w:b/>
                                <w:color w:val="F0F0F0"/>
                              </w:rPr>
                            </m:ctrlPr>
                          </m:rPr>
                          <m:t>b</m:t>
                        </m:r>
                        <m:r>
                          <m:rPr>
                            <m:ctrlPr>
                              <w:rPr>
                                <w:b/>
                                <w:color w:val="F0F0F0"/>
                              </w:rPr>
                            </m:ctrlPr>
                          </m:rPr>
                          <m:t>y</m:t>
                        </m:r>
                        <m:r>
                          <m:rPr>
                            <m:ctrlPr>
                              <w:rPr>
                                <w:b/>
                                <w:color w:val="F0F0F0"/>
                              </w:rPr>
                            </m:ctrlPr>
                          </m:rPr>
                          <m:t>R</m:t>
                        </m:r>
                        <m:r>
                          <m:rPr>
                            <m:ctrlPr>
                              <w:rPr>
                                <w:b/>
                                <w:color w:val="F0F0F0"/>
                              </w:rPr>
                            </m:ctrlPr>
                          </m:rPr>
                          <m:t>a</m:t>
                        </m:r>
                        <m:r>
                          <m:rPr>
                            <m:ctrlPr>
                              <w:rPr>
                                <w:b/>
                                <w:color w:val="F0F0F0"/>
                              </w:rPr>
                            </m:ctrlPr>
                          </m:rPr>
                          <m:t>o</m:t>
                        </m:r>
                        <m:r>
                          <m:rPr>
                            <m:ctrlPr>
                              <w:rPr>
                                <w:b/>
                                <w:color w:val="F0F0F0"/>
                              </w:rPr>
                            </m:ctrlPr>
                          </m:rPr>
                          <m:t>u</m:t>
                        </m:r>
                        <m:r>
                          <m:rPr>
                            <m:ctrlPr>
                              <w:rPr>
                                <w:b/>
                                <w:color w:val="F0F0F0"/>
                              </w:rPr>
                            </m:ctrlPr>
                          </m:rPr>
                          <m:t>l</m:t>
                        </m:r>
                        <m:r>
                          <m:rPr>
                            <m:ctrlPr>
                              <w:rPr>
                                <w:b/>
                                <w:color w:val="F0F0F0"/>
                              </w:rPr>
                            </m:ctrlPr>
                          </m:rPr>
                          <m:t>t</m:t>
                        </m:r>
                        <m:r>
                          <m:rPr>
                            <m:sty m:val="p"/>
                            <m:ctrlPr>
                              <w:rPr>
                                <w:b/>
                                <w:color w:val="F0F0F0"/>
                              </w:rPr>
                            </m:ctrlPr>
                          </m:rPr>
                          <m:t>’</m:t>
                        </m:r>
                        <m:r>
                          <m:rPr>
                            <m:ctrlPr>
                              <w:rPr>
                                <w:b/>
                                <w:color w:val="F0F0F0"/>
                              </w:rPr>
                            </m:ctrlPr>
                          </m:rPr>
                          <m:t>s</m:t>
                        </m:r>
                        <m:r>
                          <m:rPr>
                            <m:ctrlPr>
                              <w:rPr>
                                <w:b/>
                                <w:color w:val="F0F0F0"/>
                              </w:rPr>
                            </m:ctrlPr>
                          </m:rPr>
                          <m:t>l</m:t>
                        </m:r>
                        <m:r>
                          <m:rPr>
                            <m:ctrlPr>
                              <w:rPr>
                                <w:b/>
                                <w:color w:val="F0F0F0"/>
                              </w:rPr>
                            </m:ctrlPr>
                          </m:rPr>
                          <m:t>a</m:t>
                        </m:r>
                        <m:r>
                          <m:rPr>
                            <m:ctrlPr>
                              <w:rPr>
                                <w:b/>
                                <w:color w:val="F0F0F0"/>
                              </w:rPr>
                            </m:ctrlPr>
                          </m:rPr>
                          <m:t>w</m:t>
                        </m:r>
                      </m:sub>
                    </m:sSub>
                    <m:r>
                      <m:rPr>
                        <m:sty m:val="p"/>
                        <m:ctrlPr>
                          <w:rPr>
                            <w:b/>
                            <w:color w:val="F0F0F0"/>
                          </w:rPr>
                        </m:ctrlPr>
                      </m:rPr>
                      <m:t>=</m:t>
                    </m:r>
                  </m:oMath>
                </a14:m>
              </mc:Choice>
              <mc:Fallback>
                <a:r>
                  <a:rPr lang="en-US" sz="1600" b="1">
                    <a:solidFill>
                      <a:srgbClr val="F0F0F0"/>
                    </a:solidFill>
                    <a:latin typeface="Cambria"/>
                  </a:rPr>
                  <a:t>P_obs- P_(calculated by Raoult’s law)=</a:t>
                </a:r>
              </mc:Fallback>
            </mc:AlternateContent>
            <a:r>
              <a:rPr sz="1600" b="1">
                <a:solidFill>
                  <a:srgbClr val="F0F0F0"/>
                </a:solidFill>
                <a:latin typeface="Cambria"/>
              </a:rPr>
              <a:t> 0</a:t>
            </a:r>
          </a:p>
        </p:txBody>
      </p:sp>
      <p:sp>
        <p:nvSpPr>
          <p:cNvPr id="10" name="TextBox 9"/>
          <p:cNvSpPr txBox="1"/>
          <p:nvPr/>
        </p:nvSpPr>
        <p:spPr>
          <a:xfrm>
            <a:off x="6254496" y="1600200"/>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ΔG</a:t>
            </a:r>
            <a:r>
              <a:rPr sz="1600" b="1" i="0" u="none" baseline="-25000">
                <a:solidFill>
                  <a:srgbClr val="F0F0F0"/>
                </a:solidFill>
                <a:latin typeface="Cambria"/>
              </a:rPr>
              <a:t>mix</a:t>
            </a:r>
            <a:r>
              <a:rPr sz="1600" b="1" i="0" u="none">
                <a:solidFill>
                  <a:srgbClr val="F0F0F0"/>
                </a:solidFill>
                <a:latin typeface="Cambria"/>
              </a:rPr>
              <a:t> = 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6609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496312" cy="402336"/>
          </a:xfrm>
          <a:prstGeom prst="rect">
            <a:avLst/>
          </a:prstGeom>
          <a:noFill/>
        </p:spPr>
        <p:txBody>
          <a:bodyPr wrap="none" anchor="ctr" lIns="0" rIns="0" tIns="0" bIns="0">
            <a:spAutoFit/>
          </a:bodyPr>
          <a:lstStyle/>
          <a:p>
            <a:pPr algn="l"/>
            <a:r>
              <a:rPr sz="1500" b="1">
                <a:solidFill>
                  <a:srgbClr val="FAD02C"/>
                </a:solidFill>
                <a:latin typeface="Cambria"/>
              </a:rPr>
              <a:t>NEET-2016 · NEEDS REVIEW</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At 100°C the vapour pressure of a solution of 6.5 g of a solute in 100 g water is 732 mm. If K</a:t>
            </a:r>
            <a:r>
              <a:rPr sz="1800" b="1" i="0" u="none" baseline="-25000">
                <a:solidFill>
                  <a:srgbClr val="FAD02C"/>
                </a:solidFill>
                <a:latin typeface="Cambria"/>
              </a:rPr>
              <a:t>b</a:t>
            </a:r>
            <a:r>
              <a:rPr sz="1800" b="1" i="0" u="none">
                <a:solidFill>
                  <a:srgbClr val="FAD02C"/>
                </a:solidFill>
                <a:latin typeface="Cambria"/>
              </a:rPr>
              <a:t> = 0.52, the boiling point of this solution will </a:t>
            </a:r>
            <a:r>
              <a:rPr sz="1800" b="1" i="0" u="none">
                <a:solidFill>
                  <a:srgbClr val="FAD02C"/>
                </a:solidFill>
                <a:latin typeface="Cambria"/>
              </a:rPr>
              <a:t>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103°C</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101°C</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100°C</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102°C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NEET-2016</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a:solidFill>
                  <a:srgbClr val="FAD02C"/>
                </a:solidFill>
                <a:latin typeface="Cambria"/>
              </a:rPr>
              <a:t>Which of the following statements about the composition of the vapour over an ideal 1: 1 molar mixture of benzene and toluene is correct? Assume that the temperature is constant at 25°
C. (Given, Vapour Pressure Data at 25°C, benzene = 12.8 kPa, toluene = 3.85 kPa)</a:t>
            </a:r>
          </a:p>
        </p:txBody>
      </p:sp>
      <p:sp>
        <p:nvSpPr>
          <p:cNvPr id="7" name="TextBox 6"/>
          <p:cNvSpPr txBox="1"/>
          <p:nvPr/>
        </p:nvSpPr>
        <p:spPr>
          <a:xfrm>
            <a:off x="457200" y="199522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Not enough information is given to make a prediction</a:t>
            </a:r>
          </a:p>
        </p:txBody>
      </p:sp>
      <p:sp>
        <p:nvSpPr>
          <p:cNvPr id="8" name="TextBox 7"/>
          <p:cNvSpPr txBox="1"/>
          <p:nvPr/>
        </p:nvSpPr>
        <p:spPr>
          <a:xfrm>
            <a:off x="6254496" y="199522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The vapour will contain a higher percentage of benzene</a:t>
            </a:r>
          </a:p>
        </p:txBody>
      </p:sp>
      <p:sp>
        <p:nvSpPr>
          <p:cNvPr id="9" name="TextBox 8"/>
          <p:cNvSpPr txBox="1"/>
          <p:nvPr/>
        </p:nvSpPr>
        <p:spPr>
          <a:xfrm>
            <a:off x="457200" y="2582265"/>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The vapour will contain a higher percentage of toluene</a:t>
            </a:r>
          </a:p>
        </p:txBody>
      </p:sp>
      <p:sp>
        <p:nvSpPr>
          <p:cNvPr id="10" name="TextBox 9"/>
          <p:cNvSpPr txBox="1"/>
          <p:nvPr/>
        </p:nvSpPr>
        <p:spPr>
          <a:xfrm>
            <a:off x="6254496" y="2582265"/>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The vapour will contain equal amounts of benzene and toluene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7276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408176" cy="402336"/>
          </a:xfrm>
          <a:prstGeom prst="rect">
            <a:avLst/>
          </a:prstGeom>
          <a:noFill/>
        </p:spPr>
        <p:txBody>
          <a:bodyPr wrap="none" anchor="ctr" lIns="0" rIns="0" tIns="0" bIns="0">
            <a:spAutoFit/>
          </a:bodyPr>
          <a:lstStyle/>
          <a:p>
            <a:pPr algn="l"/>
            <a:r>
              <a:rPr sz="1500" b="1">
                <a:solidFill>
                  <a:srgbClr val="FAD02C"/>
                </a:solidFill>
                <a:latin typeface="Cambria"/>
              </a:rPr>
              <a:t>RE-AIPMT-2015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What is the mole fraction of the solute in 1.00 m aqueous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0.0354</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0.0177</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0.177</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1.770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one is not equal to zero for an ideal solution?</a:t>
            </a:r>
          </a:p>
        </p:txBody>
      </p:sp>
      <p:sp>
        <p:nvSpPr>
          <p:cNvPr id="7" name="TextBox 6"/>
          <p:cNvSpPr txBox="1"/>
          <p:nvPr/>
        </p:nvSpPr>
        <p:spPr>
          <a:xfrm>
            <a:off x="457200" y="1097280"/>
            <a:ext cx="2681478" cy="541324"/>
          </a:xfrm>
          <a:prstGeom prst="rect">
            <a:avLst/>
          </a:prstGeom>
          <a:noFill/>
        </p:spPr>
        <p:txBody>
          <a:bodyPr wrap="square" lIns="0" tIns="0" bIns="0" rIns="73152" anchor="t">
            <a:spAutoFit/>
          </a:bodyPr>
          <a:lstStyle/>
          <a:p>
            <a:pPr algn="l"/>
            <a:r>
              <a:rPr b="1" sz="1600">
                <a:solidFill>
                  <a:srgbClr val="00B0F0"/>
                </a:solidFill>
                <a:latin typeface="Cambria"/>
              </a:rPr>
              <a:t>A.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sty m:val="p"/>
                        <m:ctrlPr>
                          <w:rPr>
                            <w:b/>
                            <w:color w:val="F0F0F0"/>
                          </w:rPr>
                        </m:ctrlPr>
                      </m:rPr>
                      <m:t>Δ</m:t>
                    </m:r>
                  </m:oMath>
                </a14:m>
              </mc:Choice>
              <mc:Fallback>
                <a:r>
                  <a:rPr lang="en-US" sz="1600" b="1">
                    <a:solidFill>
                      <a:srgbClr val="F0F0F0"/>
                    </a:solidFill>
                    <a:latin typeface="Cambria"/>
                  </a:rPr>
                  <a:t>Δ</a:t>
                </a:r>
              </mc:Fallback>
            </mc:AlternateContent>
            <a:r>
              <a:rPr sz="1600" b="1">
                <a:solidFill>
                  <a:srgbClr val="F0F0F0"/>
                </a:solidFill>
                <a:latin typeface="Cambria"/>
              </a:rPr>
              <a:t>P =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o</m:t>
                        </m:r>
                        <m:r>
                          <m:rPr>
                            <m:ctrlPr>
                              <w:rPr>
                                <w:b/>
                                <w:color w:val="F0F0F0"/>
                              </w:rPr>
                            </m:ctrlPr>
                          </m:rPr>
                          <m:t>b</m:t>
                        </m:r>
                        <m:r>
                          <m:rPr>
                            <m:ctrlPr>
                              <w:rPr>
                                <w:b/>
                                <w:color w:val="F0F0F0"/>
                              </w:rPr>
                            </m:ctrlPr>
                          </m:rPr>
                          <m:t>s</m:t>
                        </m:r>
                        <m:r>
                          <m:rPr>
                            <m:ctrlPr>
                              <w:rPr>
                                <w:b/>
                                <w:color w:val="F0F0F0"/>
                              </w:rPr>
                            </m:ctrlPr>
                          </m:rPr>
                          <m:t>e</m:t>
                        </m:r>
                        <m:r>
                          <m:rPr>
                            <m:ctrlPr>
                              <w:rPr>
                                <w:b/>
                                <w:color w:val="F0F0F0"/>
                              </w:rPr>
                            </m:ctrlPr>
                          </m:rPr>
                          <m:t>r</m:t>
                        </m:r>
                        <m:r>
                          <m:rPr>
                            <m:ctrlPr>
                              <w:rPr>
                                <w:b/>
                                <w:color w:val="F0F0F0"/>
                              </w:rPr>
                            </m:ctrlPr>
                          </m:rPr>
                          <m:t>v</m:t>
                        </m:r>
                        <m:r>
                          <m:rPr>
                            <m:ctrlPr>
                              <w:rPr>
                                <w:b/>
                                <w:color w:val="F0F0F0"/>
                              </w:rPr>
                            </m:ctrlPr>
                          </m:rPr>
                          <m:t>e</m:t>
                        </m:r>
                        <m:r>
                          <m:rPr>
                            <m:ctrlPr>
                              <w:rPr>
                                <w:b/>
                                <w:color w:val="F0F0F0"/>
                              </w:rPr>
                            </m:ctrlPr>
                          </m:rPr>
                          <m:t>d</m:t>
                        </m:r>
                      </m:sub>
                    </m:sSub>
                    <m:r>
                      <m:rPr>
                        <m:sty m:val="p"/>
                        <m:ctrlPr>
                          <w:rPr>
                            <w:b/>
                            <w:color w:val="F0F0F0"/>
                          </w:rPr>
                        </m:ctrlPr>
                      </m:rPr>
                      <m:t>−</m:t>
                    </m:r>
                    <m:sSub>
                      <m:e>
                        <m:r>
                          <m:rPr>
                            <m:ctrlPr>
                              <w:rPr>
                                <w:b/>
                                <w:color w:val="F0F0F0"/>
                              </w:rPr>
                            </m:ctrlPr>
                          </m:rPr>
                          <m:t>P</m:t>
                        </m:r>
                      </m:e>
                      <m:sub>
                        <m:r>
                          <m:rPr>
                            <m:ctrlPr>
                              <w:rPr>
                                <w:b/>
                                <w:color w:val="F0F0F0"/>
                              </w:rPr>
                            </m:ctrlPr>
                          </m:rPr>
                          <m:t>R</m:t>
                        </m:r>
                        <m:r>
                          <m:rPr>
                            <m:ctrlPr>
                              <w:rPr>
                                <w:b/>
                                <w:color w:val="F0F0F0"/>
                              </w:rPr>
                            </m:ctrlPr>
                          </m:rPr>
                          <m:t>a</m:t>
                        </m:r>
                        <m:r>
                          <m:rPr>
                            <m:ctrlPr>
                              <w:rPr>
                                <w:b/>
                                <w:color w:val="F0F0F0"/>
                              </w:rPr>
                            </m:ctrlPr>
                          </m:rPr>
                          <m:t>o</m:t>
                        </m:r>
                        <m:r>
                          <m:rPr>
                            <m:ctrlPr>
                              <w:rPr>
                                <w:b/>
                                <w:color w:val="F0F0F0"/>
                              </w:rPr>
                            </m:ctrlPr>
                          </m:rPr>
                          <m:t>u</m:t>
                        </m:r>
                        <m:r>
                          <m:rPr>
                            <m:ctrlPr>
                              <w:rPr>
                                <w:b/>
                                <w:color w:val="F0F0F0"/>
                              </w:rPr>
                            </m:ctrlPr>
                          </m:rPr>
                          <m:t>l</m:t>
                        </m:r>
                        <m:r>
                          <m:rPr>
                            <m:ctrlPr>
                              <w:rPr>
                                <w:b/>
                                <w:color w:val="F0F0F0"/>
                              </w:rPr>
                            </m:ctrlPr>
                          </m:rPr>
                          <m:t>t</m:t>
                        </m:r>
                      </m:sub>
                    </m:sSub>
                  </m:oMath>
                </a14:m>
              </mc:Choice>
              <mc:Fallback>
                <a:r>
                  <a:rPr lang="en-US" sz="1600" b="1">
                    <a:solidFill>
                      <a:srgbClr val="F0F0F0"/>
                    </a:solidFill>
                    <a:latin typeface="Cambria"/>
                  </a:rPr>
                  <a:t>P_observed- P_Raoult</a:t>
                </a:r>
              </mc:Fallback>
            </mc:AlternateContent>
          </a:p>
        </p:txBody>
      </p:sp>
      <p:sp>
        <p:nvSpPr>
          <p:cNvPr id="8" name="TextBox 7"/>
          <p:cNvSpPr txBox="1"/>
          <p:nvPr/>
        </p:nvSpPr>
        <p:spPr>
          <a:xfrm>
            <a:off x="3321558" y="1097280"/>
            <a:ext cx="2681478"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ΔH</a:t>
            </a:r>
            <a:r>
              <a:rPr sz="1600" b="1" i="0" u="none" baseline="-25000">
                <a:solidFill>
                  <a:srgbClr val="F0F0F0"/>
                </a:solidFill>
                <a:latin typeface="Cambria"/>
              </a:rPr>
              <a:t>mix</a:t>
            </a:r>
          </a:p>
        </p:txBody>
      </p:sp>
      <p:sp>
        <p:nvSpPr>
          <p:cNvPr id="9" name="TextBox 8"/>
          <p:cNvSpPr txBox="1"/>
          <p:nvPr/>
        </p:nvSpPr>
        <p:spPr>
          <a:xfrm>
            <a:off x="6185916" y="1097280"/>
            <a:ext cx="2681478"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Δ</a:t>
            </a:r>
            <a:r>
              <a:rPr sz="1600" b="1" i="0" u="none">
                <a:solidFill>
                  <a:srgbClr val="F0F0F0"/>
                </a:solidFill>
                <a:latin typeface="Cambria"/>
              </a:rPr>
              <a:t>S</a:t>
            </a:r>
            <a:r>
              <a:rPr sz="1600" b="1" i="0" u="none" baseline="-25000">
                <a:solidFill>
                  <a:srgbClr val="F0F0F0"/>
                </a:solidFill>
                <a:latin typeface="Cambria"/>
              </a:rPr>
              <a:t>mix</a:t>
            </a:r>
          </a:p>
        </p:txBody>
      </p:sp>
      <p:sp>
        <p:nvSpPr>
          <p:cNvPr id="10" name="TextBox 9"/>
          <p:cNvSpPr txBox="1"/>
          <p:nvPr/>
        </p:nvSpPr>
        <p:spPr>
          <a:xfrm>
            <a:off x="9050274" y="1097280"/>
            <a:ext cx="2681478"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Δ</a:t>
            </a:r>
            <a:r>
              <a:rPr sz="1600" b="1" i="0" u="none">
                <a:solidFill>
                  <a:srgbClr val="F0F0F0"/>
                </a:solidFill>
                <a:latin typeface="Cambria"/>
              </a:rPr>
              <a:t>V</a:t>
            </a:r>
            <a:r>
              <a:rPr sz="1600" b="1" i="0" u="none" baseline="-25000">
                <a:solidFill>
                  <a:srgbClr val="F0F0F0"/>
                </a:solidFill>
                <a:latin typeface="Cambria"/>
              </a:rPr>
              <a:t>mix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boiling point of 0.2 mol kg⁻¹ solution of X in water is greater than equimolal solution of Y in water. Which one of the following is true in this case?</a:t>
            </a:r>
          </a:p>
        </p:txBody>
      </p:sp>
      <p:sp>
        <p:nvSpPr>
          <p:cNvPr id="7" name="TextBox 6"/>
          <p:cNvSpPr txBox="1"/>
          <p:nvPr/>
        </p:nvSpPr>
        <p:spPr>
          <a:xfrm>
            <a:off x="457200"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Y is undergoing dissociation in water while X undergoes no change</a:t>
            </a:r>
          </a:p>
        </p:txBody>
      </p:sp>
      <p:sp>
        <p:nvSpPr>
          <p:cNvPr id="8" name="TextBox 7"/>
          <p:cNvSpPr txBox="1"/>
          <p:nvPr/>
        </p:nvSpPr>
        <p:spPr>
          <a:xfrm>
            <a:off x="6254496"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X is undergoing dissociation in water</a:t>
            </a:r>
          </a:p>
        </p:txBody>
      </p:sp>
      <p:sp>
        <p:nvSpPr>
          <p:cNvPr id="9" name="TextBox 8"/>
          <p:cNvSpPr txBox="1"/>
          <p:nvPr/>
        </p:nvSpPr>
        <p:spPr>
          <a:xfrm>
            <a:off x="457200" y="1973275"/>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Molecular mass of X is greater than the molecular mass of Y</a:t>
            </a:r>
          </a:p>
        </p:txBody>
      </p:sp>
      <p:sp>
        <p:nvSpPr>
          <p:cNvPr id="10" name="TextBox 9"/>
          <p:cNvSpPr txBox="1"/>
          <p:nvPr/>
        </p:nvSpPr>
        <p:spPr>
          <a:xfrm>
            <a:off x="6254496" y="1973275"/>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Molecular mass of X is less than the molecular mass of 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one of the following electrolytes has the same value of van’t Hoff’s factor (i) as that of Al₂(SO</a:t>
            </a:r>
            <a:r>
              <a:rPr sz="1800" b="1" i="0" u="none">
                <a:solidFill>
                  <a:srgbClr val="FAD02C"/>
                </a:solidFill>
                <a:latin typeface="Cambria"/>
              </a:rPr>
              <a:t>₄) ₃</a:t>
            </a:r>
            <a:r>
              <a:rPr sz="1800" b="1" i="0" u="none">
                <a:solidFill>
                  <a:srgbClr val="FAD02C"/>
                </a:solidFill>
                <a:latin typeface="Cambria"/>
              </a:rPr>
              <a:t> (if all are 100% ionised)?</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K</a:t>
            </a:r>
            <a:r>
              <a:rPr sz="1600" b="1" i="0" u="none">
                <a:solidFill>
                  <a:srgbClr val="F0F0F0"/>
                </a:solidFill>
                <a:latin typeface="Cambria"/>
              </a:rPr>
              <a:t>₄ [Fe (</a:t>
            </a:r>
            <a:r>
              <a:rPr sz="1600" b="1" i="0" u="none">
                <a:solidFill>
                  <a:srgbClr val="F0F0F0"/>
                </a:solidFill>
                <a:latin typeface="Cambria"/>
              </a:rPr>
              <a:t>CN)₆]</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K₂SO₄</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K</a:t>
            </a:r>
            <a:r>
              <a:rPr sz="1600" b="1" i="0" u="none">
                <a:solidFill>
                  <a:srgbClr val="F0F0F0"/>
                </a:solidFill>
                <a:latin typeface="Cambria"/>
              </a:rPr>
              <a:t>₃ [Fe (</a:t>
            </a:r>
            <a:r>
              <a:rPr sz="1600" b="1" i="0" u="none">
                <a:solidFill>
                  <a:srgbClr val="F0F0F0"/>
                </a:solidFill>
                <a:latin typeface="Cambria"/>
              </a:rPr>
              <a:t>CN)₆]</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Al (</a:t>
            </a:r>
            <a:r>
              <a:rPr sz="1600" b="1" i="0" u="none">
                <a:solidFill>
                  <a:srgbClr val="F0F0F0"/>
                </a:solidFill>
                <a:latin typeface="Cambria"/>
              </a:rPr>
              <a:t>NO</a:t>
            </a:r>
            <a:r>
              <a:rPr sz="1600" b="1" i="0" u="none">
                <a:solidFill>
                  <a:srgbClr val="F0F0F0"/>
                </a:solidFill>
                <a:latin typeface="Cambria"/>
              </a:rPr>
              <a:t>₃) ₃</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AIPMT-2014</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Of the following 0.10 m aqueous solutions, which one will exhibit the largest freezing point depression?</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KCl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C₆H₁₂O₆</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Al₂(SO</a:t>
            </a:r>
            <a:r>
              <a:rPr sz="1600" b="1" i="0" u="none">
                <a:solidFill>
                  <a:srgbClr val="F0F0F0"/>
                </a:solidFill>
                <a:latin typeface="Cambria"/>
              </a:rPr>
              <a:t>₄) ₃</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K₂SO₄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1343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48839" cy="402336"/>
          </a:xfrm>
          <a:prstGeom prst="rect">
            <a:avLst/>
          </a:prstGeom>
          <a:noFill/>
        </p:spPr>
        <p:txBody>
          <a:bodyPr wrap="none" anchor="ctr" lIns="0" rIns="0" tIns="0" bIns="0">
            <a:spAutoFit/>
          </a:bodyPr>
          <a:lstStyle/>
          <a:p>
            <a:pPr algn="l"/>
            <a:r>
              <a:rPr sz="1500" b="1">
                <a:solidFill>
                  <a:srgbClr val="FAD02C"/>
                </a:solidFill>
                <a:latin typeface="Cambria"/>
              </a:rPr>
              <a:t>AIPMT (PRELIMS)-2012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p</a:t>
            </a:r>
            <a:r>
              <a:rPr sz="1800" b="1" i="0" u="none" baseline="-25000">
                <a:solidFill>
                  <a:srgbClr val="FAD02C"/>
                </a:solidFill>
                <a:latin typeface="Cambria"/>
              </a:rPr>
              <a:t>A</a:t>
            </a:r>
            <a:r>
              <a:rPr sz="1800" b="1" i="0" u="none">
                <a:solidFill>
                  <a:srgbClr val="FAD02C"/>
                </a:solidFill>
                <a:latin typeface="Cambria"/>
              </a:rPr>
              <a:t> and p</a:t>
            </a:r>
            <a:r>
              <a:rPr sz="1800" b="1" i="0" u="none" baseline="-25000">
                <a:solidFill>
                  <a:srgbClr val="FAD02C"/>
                </a:solidFill>
                <a:latin typeface="Cambria"/>
              </a:rPr>
              <a:t>B</a:t>
            </a:r>
            <a:r>
              <a:rPr sz="1800" b="1" i="0" u="none">
                <a:solidFill>
                  <a:srgbClr val="FAD02C"/>
                </a:solidFill>
                <a:latin typeface="Cambria"/>
              </a:rPr>
              <a:t> are the vapour pressure of pure liquid components, A and B, respectively of an ideal binary solution. If x</a:t>
            </a:r>
            <a:r>
              <a:rPr sz="1800" b="1" i="0" u="none" baseline="-25000">
                <a:solidFill>
                  <a:srgbClr val="FAD02C"/>
                </a:solidFill>
                <a:latin typeface="Cambria"/>
              </a:rPr>
              <a:t>A</a:t>
            </a:r>
            <a:r>
              <a:rPr sz="1800" b="1" i="0" u="none">
                <a:solidFill>
                  <a:srgbClr val="FAD02C"/>
                </a:solidFill>
                <a:latin typeface="Cambria"/>
              </a:rPr>
              <a:t> represents the mole fraction of component A, the total pressure of the solution will </a:t>
            </a:r>
            <a:r>
              <a:rPr sz="1800" b="1" i="0" u="none">
                <a:solidFill>
                  <a:srgbClr val="FAD02C"/>
                </a:solidFill>
                <a:latin typeface="Cambria"/>
              </a:rPr>
              <a:t>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B</m:t>
                        </m:r>
                      </m:sub>
                    </m:sSub>
                    <m:r>
                      <m:rPr>
                        <m:sty m:val="p"/>
                        <m:ctrlPr>
                          <w:rPr>
                            <w:b/>
                            <w:color w:val="F0F0F0"/>
                          </w:rPr>
                        </m:ctrlPr>
                      </m:rPr>
                      <m:t>+</m:t>
                    </m:r>
                    <m:sSub>
                      <m:e>
                        <m:r>
                          <m:rPr>
                            <m:ctrlPr>
                              <w:rPr>
                                <w:b/>
                                <w:color w:val="F0F0F0"/>
                              </w:rPr>
                            </m:ctrlPr>
                          </m:rPr>
                          <m:t>x</m:t>
                        </m:r>
                      </m:e>
                      <m:sub>
                        <m:r>
                          <m:rPr>
                            <m:ctrlPr>
                              <w:rPr>
                                <w:b/>
                                <w:color w:val="F0F0F0"/>
                              </w:rPr>
                            </m:ctrlPr>
                          </m:rPr>
                          <m:t>A</m:t>
                        </m:r>
                      </m:sub>
                    </m:sSub>
                  </m:oMath>
                </a14:m>
              </mc:Choice>
              <mc:Fallback>
                <a:r>
                  <a:rPr lang="en-US" sz="1600" b="1">
                    <a:solidFill>
                      <a:srgbClr val="F0F0F0"/>
                    </a:solidFill>
                    <a:latin typeface="Cambria"/>
                  </a:rPr>
                  <a:t>p_B + x_A</a:t>
                </a:r>
              </mc:Fallback>
            </mc:AlternateContent>
            <a:r>
              <a:rPr sz="1600" b="1">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B</m:t>
                        </m:r>
                      </m:sub>
                    </m:sSub>
                    <m:r>
                      <m:rPr>
                        <m:sty m:val="p"/>
                        <m:ctrlPr>
                          <w:rPr>
                            <w:b/>
                            <w:color w:val="F0F0F0"/>
                          </w:rPr>
                        </m:ctrlPr>
                      </m:rPr>
                      <m:t>−</m:t>
                    </m:r>
                    <m:sSub>
                      <m:e>
                        <m:r>
                          <m:rPr>
                            <m:ctrlPr>
                              <w:rPr>
                                <w:b/>
                                <w:color w:val="F0F0F0"/>
                              </w:rPr>
                            </m:ctrlPr>
                          </m:rPr>
                          <m:t>p</m:t>
                        </m:r>
                      </m:e>
                      <m:sub>
                        <m:r>
                          <m:rPr>
                            <m:ctrlPr>
                              <w:rPr>
                                <w:b/>
                                <w:color w:val="F0F0F0"/>
                              </w:rPr>
                            </m:ctrlPr>
                          </m:rPr>
                          <m:t>A</m:t>
                        </m:r>
                      </m:sub>
                    </m:sSub>
                  </m:oMath>
                </a14:m>
              </mc:Choice>
              <mc:Fallback>
                <a:r>
                  <a:rPr lang="en-US" sz="1600" b="1">
                    <a:solidFill>
                      <a:srgbClr val="F0F0F0"/>
                    </a:solidFill>
                    <a:latin typeface="Cambria"/>
                  </a:rPr>
                  <a:t>p_B - p_A</a:t>
                </a:r>
              </mc:Fallback>
            </mc:AlternateContent>
            <a:r>
              <a:rPr sz="1600" b="1">
                <a:solidFill>
                  <a:srgbClr val="F0F0F0"/>
                </a:solidFill>
                <a:latin typeface="Cambria"/>
              </a:rPr>
              <a:t>)</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B</m:t>
                        </m:r>
                      </m:sub>
                    </m:sSub>
                    <m:r>
                      <m:rPr>
                        <m:sty m:val="p"/>
                        <m:ctrlPr>
                          <w:rPr>
                            <w:b/>
                            <w:color w:val="F0F0F0"/>
                          </w:rPr>
                        </m:ctrlPr>
                      </m:rPr>
                      <m:t>+</m:t>
                    </m:r>
                    <m:sSub>
                      <m:e>
                        <m:r>
                          <m:rPr>
                            <m:ctrlPr>
                              <w:rPr>
                                <w:b/>
                                <w:color w:val="F0F0F0"/>
                              </w:rPr>
                            </m:ctrlPr>
                          </m:rPr>
                          <m:t>x</m:t>
                        </m:r>
                      </m:e>
                      <m:sub>
                        <m:r>
                          <m:rPr>
                            <m:ctrlPr>
                              <w:rPr>
                                <w:b/>
                                <w:color w:val="F0F0F0"/>
                              </w:rPr>
                            </m:ctrlPr>
                          </m:rPr>
                          <m:t>A</m:t>
                        </m:r>
                      </m:sub>
                    </m:sSub>
                  </m:oMath>
                </a14:m>
              </mc:Choice>
              <mc:Fallback>
                <a:r>
                  <a:rPr lang="en-US" sz="1600" b="1">
                    <a:solidFill>
                      <a:srgbClr val="F0F0F0"/>
                    </a:solidFill>
                    <a:latin typeface="Cambria"/>
                  </a:rPr>
                  <a:t>p_B + x_A</a:t>
                </a:r>
              </mc:Fallback>
            </mc:AlternateContent>
            <a:r>
              <a:rPr sz="1600" b="1">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A</m:t>
                        </m:r>
                      </m:sub>
                    </m:sSub>
                    <m:r>
                      <m:rPr>
                        <m:sty m:val="p"/>
                        <m:ctrlPr>
                          <w:rPr>
                            <w:b/>
                            <w:color w:val="F0F0F0"/>
                          </w:rPr>
                        </m:ctrlPr>
                      </m:rPr>
                      <m:t>−</m:t>
                    </m:r>
                    <m:sSub>
                      <m:e>
                        <m:r>
                          <m:rPr>
                            <m:ctrlPr>
                              <w:rPr>
                                <w:b/>
                                <w:color w:val="F0F0F0"/>
                              </w:rPr>
                            </m:ctrlPr>
                          </m:rPr>
                          <m:t>p</m:t>
                        </m:r>
                      </m:e>
                      <m:sub>
                        <m:r>
                          <m:rPr>
                            <m:ctrlPr>
                              <w:rPr>
                                <w:b/>
                                <w:color w:val="F0F0F0"/>
                              </w:rPr>
                            </m:ctrlPr>
                          </m:rPr>
                          <m:t>B</m:t>
                        </m:r>
                      </m:sub>
                    </m:sSub>
                  </m:oMath>
                </a14:m>
              </mc:Choice>
              <mc:Fallback>
                <a:r>
                  <a:rPr lang="en-US" sz="1600" b="1">
                    <a:solidFill>
                      <a:srgbClr val="F0F0F0"/>
                    </a:solidFill>
                    <a:latin typeface="Cambria"/>
                  </a:rPr>
                  <a:t>p_A - p_B</a:t>
                </a:r>
              </mc:Fallback>
            </mc:AlternateContent>
            <a:r>
              <a:rPr sz="1600" b="1">
                <a:solidFill>
                  <a:srgbClr val="F0F0F0"/>
                </a:solidFill>
                <a:latin typeface="Cambria"/>
              </a:rPr>
              <a:t>)</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A</m:t>
                        </m:r>
                      </m:sub>
                    </m:sSub>
                    <m:r>
                      <m:rPr>
                        <m:sty m:val="p"/>
                        <m:ctrlPr>
                          <w:rPr>
                            <w:b/>
                            <w:color w:val="F0F0F0"/>
                          </w:rPr>
                        </m:ctrlPr>
                      </m:rPr>
                      <m:t>+</m:t>
                    </m:r>
                    <m:sSub>
                      <m:e>
                        <m:r>
                          <m:rPr>
                            <m:ctrlPr>
                              <w:rPr>
                                <w:b/>
                                <w:color w:val="F0F0F0"/>
                              </w:rPr>
                            </m:ctrlPr>
                          </m:rPr>
                          <m:t>x</m:t>
                        </m:r>
                      </m:e>
                      <m:sub>
                        <m:r>
                          <m:rPr>
                            <m:ctrlPr>
                              <w:rPr>
                                <w:b/>
                                <w:color w:val="F0F0F0"/>
                              </w:rPr>
                            </m:ctrlPr>
                          </m:rPr>
                          <m:t>A</m:t>
                        </m:r>
                      </m:sub>
                    </m:sSub>
                  </m:oMath>
                </a14:m>
              </mc:Choice>
              <mc:Fallback>
                <a:r>
                  <a:rPr lang="en-US" sz="1600" b="1">
                    <a:solidFill>
                      <a:srgbClr val="F0F0F0"/>
                    </a:solidFill>
                    <a:latin typeface="Cambria"/>
                  </a:rPr>
                  <a:t>p_A + x_A</a:t>
                </a:r>
              </mc:Fallback>
            </mc:AlternateContent>
            <a:r>
              <a:rPr sz="1600" b="1">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B</m:t>
                        </m:r>
                      </m:sub>
                    </m:sSub>
                    <m:r>
                      <m:rPr>
                        <m:sty m:val="p"/>
                        <m:ctrlPr>
                          <w:rPr>
                            <w:b/>
                            <w:color w:val="F0F0F0"/>
                          </w:rPr>
                        </m:ctrlPr>
                      </m:rPr>
                      <m:t>−</m:t>
                    </m:r>
                    <m:sSub>
                      <m:e>
                        <m:r>
                          <m:rPr>
                            <m:ctrlPr>
                              <w:rPr>
                                <w:b/>
                                <w:color w:val="F0F0F0"/>
                              </w:rPr>
                            </m:ctrlPr>
                          </m:rPr>
                          <m:t>p</m:t>
                        </m:r>
                      </m:e>
                      <m:sub>
                        <m:r>
                          <m:rPr>
                            <m:ctrlPr>
                              <w:rPr>
                                <w:b/>
                                <w:color w:val="F0F0F0"/>
                              </w:rPr>
                            </m:ctrlPr>
                          </m:rPr>
                          <m:t>A</m:t>
                        </m:r>
                      </m:sub>
                    </m:sSub>
                  </m:oMath>
                </a14:m>
              </mc:Choice>
              <mc:Fallback>
                <a:r>
                  <a:rPr lang="en-US" sz="1600" b="1">
                    <a:solidFill>
                      <a:srgbClr val="F0F0F0"/>
                    </a:solidFill>
                    <a:latin typeface="Cambria"/>
                  </a:rPr>
                  <a:t>p_B - p_A</a:t>
                </a:r>
              </mc:Fallback>
            </mc:AlternateContent>
            <a:r>
              <a:rPr sz="1600" b="1">
                <a:solidFill>
                  <a:srgbClr val="F0F0F0"/>
                </a:solidFill>
                <a:latin typeface="Cambria"/>
              </a:rPr>
              <a:t>)</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A</m:t>
                        </m:r>
                      </m:sub>
                    </m:sSub>
                    <m:r>
                      <m:rPr>
                        <m:sty m:val="p"/>
                        <m:ctrlPr>
                          <w:rPr>
                            <w:b/>
                            <w:color w:val="F0F0F0"/>
                          </w:rPr>
                        </m:ctrlPr>
                      </m:rPr>
                      <m:t>+</m:t>
                    </m:r>
                    <m:sSub>
                      <m:e>
                        <m:r>
                          <m:rPr>
                            <m:ctrlPr>
                              <w:rPr>
                                <w:b/>
                                <w:color w:val="F0F0F0"/>
                              </w:rPr>
                            </m:ctrlPr>
                          </m:rPr>
                          <m:t>x</m:t>
                        </m:r>
                      </m:e>
                      <m:sub>
                        <m:r>
                          <m:rPr>
                            <m:ctrlPr>
                              <w:rPr>
                                <w:b/>
                                <w:color w:val="F0F0F0"/>
                              </w:rPr>
                            </m:ctrlPr>
                          </m:rPr>
                          <m:t>A</m:t>
                        </m:r>
                      </m:sub>
                    </m:sSub>
                  </m:oMath>
                </a14:m>
              </mc:Choice>
              <mc:Fallback>
                <a:r>
                  <a:rPr lang="en-US" sz="1600" b="1">
                    <a:solidFill>
                      <a:srgbClr val="F0F0F0"/>
                    </a:solidFill>
                    <a:latin typeface="Cambria"/>
                  </a:rPr>
                  <a:t>p_A + x_A</a:t>
                </a:r>
              </mc:Fallback>
            </mc:AlternateContent>
            <a:r>
              <a:rPr sz="1600" b="1">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0F0F0"/>
                              </w:rPr>
                            </m:ctrlPr>
                          </m:rPr>
                          <m:t>p</m:t>
                        </m:r>
                      </m:e>
                      <m:sub>
                        <m:r>
                          <m:rPr>
                            <m:ctrlPr>
                              <w:rPr>
                                <w:b/>
                                <w:color w:val="F0F0F0"/>
                              </w:rPr>
                            </m:ctrlPr>
                          </m:rPr>
                          <m:t>A</m:t>
                        </m:r>
                      </m:sub>
                    </m:sSub>
                    <m:r>
                      <m:rPr>
                        <m:sty m:val="p"/>
                        <m:ctrlPr>
                          <w:rPr>
                            <w:b/>
                            <w:color w:val="F0F0F0"/>
                          </w:rPr>
                        </m:ctrlPr>
                      </m:rPr>
                      <m:t>−</m:t>
                    </m:r>
                    <m:sSub>
                      <m:e>
                        <m:r>
                          <m:rPr>
                            <m:ctrlPr>
                              <w:rPr>
                                <w:b/>
                                <w:color w:val="F0F0F0"/>
                              </w:rPr>
                            </m:ctrlPr>
                          </m:rPr>
                          <m:t>p</m:t>
                        </m:r>
                      </m:e>
                      <m:sub>
                        <m:r>
                          <m:rPr>
                            <m:ctrlPr>
                              <w:rPr>
                                <w:b/>
                                <w:color w:val="F0F0F0"/>
                              </w:rPr>
                            </m:ctrlPr>
                          </m:rPr>
                          <m:t>B</m:t>
                        </m:r>
                      </m:sub>
                    </m:sSub>
                  </m:oMath>
                </a14:m>
              </mc:Choice>
              <mc:Fallback>
                <a:r>
                  <a:rPr lang="en-US" sz="1600" b="1">
                    <a:solidFill>
                      <a:srgbClr val="F0F0F0"/>
                    </a:solidFill>
                    <a:latin typeface="Cambria"/>
                  </a:rPr>
                  <a:t>p_A -p_B</a:t>
                </a:r>
              </mc:Fallback>
            </mc:AlternateContent>
            <a:r>
              <a:rPr sz="1600" b="1">
                <a:solidFill>
                  <a:srgbClr val="F0F0F0"/>
                </a:solidFill>
                <a:latin typeface="Cambria"/>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26771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03120" cy="402336"/>
          </a:xfrm>
          <a:prstGeom prst="rect">
            <a:avLst/>
          </a:prstGeom>
          <a:noFill/>
        </p:spPr>
        <p:txBody>
          <a:bodyPr wrap="none" anchor="ctr" lIns="0" rIns="0" tIns="0" bIns="0">
            <a:spAutoFit/>
          </a:bodyPr>
          <a:lstStyle/>
          <a:p>
            <a:pPr algn="l"/>
            <a:r>
              <a:rPr sz="1500" b="1">
                <a:solidFill>
                  <a:srgbClr val="FAD02C"/>
                </a:solidFill>
                <a:latin typeface="Cambria"/>
              </a:rPr>
              <a:t>AIPMT (PRELIMS)-2011</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van’t Hoff factor i for a compound which undergoes dissociation in one solvent and association in other solvent is </a:t>
            </a:r>
            <a:r>
              <a:rPr sz="1800" b="1" i="0" u="none">
                <a:solidFill>
                  <a:srgbClr val="FAD02C"/>
                </a:solidFill>
                <a:latin typeface="Cambria"/>
              </a:rPr>
              <a:t>respectively</a:t>
            </a:r>
          </a:p>
        </p:txBody>
      </p:sp>
      <p:sp>
        <p:nvSpPr>
          <p:cNvPr id="7" name="TextBox 6"/>
          <p:cNvSpPr txBox="1"/>
          <p:nvPr/>
        </p:nvSpPr>
        <p:spPr>
          <a:xfrm>
            <a:off x="457200" y="138623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Greater than one and greater than one</a:t>
            </a:r>
          </a:p>
        </p:txBody>
      </p:sp>
      <p:sp>
        <p:nvSpPr>
          <p:cNvPr id="8" name="TextBox 7"/>
          <p:cNvSpPr txBox="1"/>
          <p:nvPr/>
        </p:nvSpPr>
        <p:spPr>
          <a:xfrm>
            <a:off x="6254496" y="138623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Less than one and greater than one</a:t>
            </a:r>
          </a:p>
        </p:txBody>
      </p:sp>
      <p:sp>
        <p:nvSpPr>
          <p:cNvPr id="9" name="TextBox 8"/>
          <p:cNvSpPr txBox="1"/>
          <p:nvPr/>
        </p:nvSpPr>
        <p:spPr>
          <a:xfrm>
            <a:off x="457200" y="188915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Less than one and less than one</a:t>
            </a:r>
          </a:p>
        </p:txBody>
      </p:sp>
      <p:sp>
        <p:nvSpPr>
          <p:cNvPr id="10" name="TextBox 9"/>
          <p:cNvSpPr txBox="1"/>
          <p:nvPr/>
        </p:nvSpPr>
        <p:spPr>
          <a:xfrm>
            <a:off x="6254496" y="188915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Greater than one and less than one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7216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557016" cy="402336"/>
          </a:xfrm>
          <a:prstGeom prst="rect">
            <a:avLst/>
          </a:prstGeom>
          <a:noFill/>
        </p:spPr>
        <p:txBody>
          <a:bodyPr wrap="none" anchor="ctr" lIns="0" rIns="0" tIns="0" bIns="0">
            <a:spAutoFit/>
          </a:bodyPr>
          <a:lstStyle/>
          <a:p>
            <a:pPr algn="l"/>
            <a:r>
              <a:rPr sz="1500" b="1">
                <a:solidFill>
                  <a:srgbClr val="FAD02C"/>
                </a:solidFill>
                <a:latin typeface="Cambria"/>
              </a:rPr>
              <a:t>AIPMT (PRELIMS)-2011 · NEEDS REVIEW</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a:solidFill>
                  <a:srgbClr val="FAD02C"/>
                </a:solidFill>
                <a:latin typeface="Cambria"/>
              </a:rPr>
              <a:t>The freezing point depression constant for water is 1.86°C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p>
                      <m:e>
                        <m:r>
                          <m:rPr>
                            <m:ctrlPr>
                              <w:rPr>
                                <w:b/>
                                <w:color w:val="FAD02C"/>
                              </w:rPr>
                            </m:ctrlPr>
                          </m:rPr>
                          <m:t>m</m:t>
                        </m:r>
                      </m:e>
                      <m:sup>
                        <m:r>
                          <m:rPr>
                            <m:sty m:val="p"/>
                            <m:ctrlPr>
                              <w:rPr>
                                <w:b/>
                                <w:color w:val="FAD02C"/>
                              </w:rPr>
                            </m:ctrlPr>
                          </m:rPr>
                          <m:t>−</m:t>
                        </m:r>
                        <m:r>
                          <m:rPr>
                            <m:ctrlPr>
                              <w:rPr>
                                <w:b/>
                                <w:color w:val="FAD02C"/>
                              </w:rPr>
                            </m:ctrlPr>
                          </m:rPr>
                          <m:t>1</m:t>
                        </m:r>
                      </m:sup>
                    </m:sSup>
                    <m:r>
                      <m:rPr>
                        <m:sty m:val="p"/>
                        <m:ctrlPr>
                          <w:rPr>
                            <w:b/>
                            <w:color w:val="FAD02C"/>
                          </w:rPr>
                        </m:ctrlPr>
                      </m:rPr>
                      <m:t>.</m:t>
                    </m:r>
                  </m:oMath>
                </a14:m>
              </mc:Choice>
              <mc:Fallback>
                <a:r>
                  <a:rPr lang="en-US" sz="1800" b="1">
                    <a:solidFill>
                      <a:srgbClr val="FAD02C"/>
                    </a:solidFill>
                    <a:latin typeface="Cambria"/>
                  </a:rPr>
                  <a:t>m⁻¹.</a:t>
                </a:r>
              </mc:Fallback>
            </mc:AlternateContent>
            <a:r>
              <a:rPr sz="1800" b="1">
                <a:solidFill>
                  <a:srgbClr val="FAD02C"/>
                </a:solidFill>
                <a:latin typeface="Cambria"/>
              </a:rPr>
              <a:t> If 5.00 g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N</m:t>
                    </m:r>
                    <m:sSub>
                      <m:e>
                        <m:r>
                          <m:rPr>
                            <m:ctrlPr>
                              <w:rPr>
                                <w:b/>
                                <w:color w:val="FAD02C"/>
                              </w:rPr>
                            </m:ctrlPr>
                          </m:rPr>
                          <m:t>a</m:t>
                        </m:r>
                      </m:e>
                      <m:sub>
                        <m:r>
                          <m:rPr>
                            <m:ctrlPr>
                              <w:rPr>
                                <w:b/>
                                <w:color w:val="FAD02C"/>
                              </w:rPr>
                            </m:ctrlPr>
                          </m:rPr>
                          <m:t>2</m:t>
                        </m:r>
                      </m:sub>
                    </m:sSub>
                    <m:r>
                      <m:rPr>
                        <m:ctrlPr>
                          <w:rPr>
                            <w:b/>
                            <w:color w:val="FAD02C"/>
                          </w:rPr>
                        </m:ctrlPr>
                      </m:rPr>
                      <m:t>S</m:t>
                    </m:r>
                    <m:r>
                      <m:rPr>
                        <m:ctrlPr>
                          <w:rPr>
                            <w:b/>
                            <w:color w:val="FAD02C"/>
                          </w:rPr>
                        </m:ctrlPr>
                      </m:rPr>
                      <m:t>O</m:t>
                    </m:r>
                  </m:oMath>
                </a14:m>
              </mc:Choice>
              <mc:Fallback>
                <a:r>
                  <a:rPr lang="en-US" sz="1800" b="1">
                    <a:solidFill>
                      <a:srgbClr val="FAD02C"/>
                    </a:solidFill>
                    <a:latin typeface="Cambria"/>
                  </a:rPr>
                  <a:t>Na₂ SO</a:t>
                </a:r>
              </mc:Fallback>
            </mc:AlternateContent>
            <a:r>
              <a:rPr sz="1800" b="1">
                <a:solidFill>
                  <a:srgbClr val="FAD02C"/>
                </a:solidFill>
                <a:latin typeface="Cambria"/>
              </a:rPr>
              <a:t>₄ is dissolved in 45.0 g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AD02C"/>
                              </w:rPr>
                            </m:ctrlPr>
                          </m:rPr>
                          <m:t>H</m:t>
                        </m:r>
                      </m:e>
                      <m:sub>
                        <m:r>
                          <m:rPr>
                            <m:ctrlPr>
                              <w:rPr>
                                <w:b/>
                                <w:color w:val="FAD02C"/>
                              </w:rPr>
                            </m:ctrlPr>
                          </m:rPr>
                          <m:t>2</m:t>
                        </m:r>
                      </m:sub>
                    </m:sSub>
                    <m:r>
                      <m:rPr>
                        <m:ctrlPr>
                          <w:rPr>
                            <w:b/>
                            <w:color w:val="FAD02C"/>
                          </w:rPr>
                        </m:ctrlPr>
                      </m:rPr>
                      <m:t>O</m:t>
                    </m:r>
                    <m:r>
                      <m:rPr>
                        <m:sty m:val="p"/>
                        <m:ctrlPr>
                          <w:rPr>
                            <w:b/>
                            <w:color w:val="FAD02C"/>
                          </w:rPr>
                        </m:ctrlPr>
                      </m:rPr>
                      <m:t>,</m:t>
                    </m:r>
                  </m:oMath>
                </a14:m>
              </mc:Choice>
              <mc:Fallback>
                <a:r>
                  <a:rPr lang="en-US" sz="1800" b="1">
                    <a:solidFill>
                      <a:srgbClr val="FAD02C"/>
                    </a:solidFill>
                    <a:latin typeface="Cambria"/>
                  </a:rPr>
                  <a:t>H₂O,</a:t>
                </a:r>
              </mc:Fallback>
            </mc:AlternateContent>
            <a:r>
              <a:rPr sz="1800" b="1">
                <a:solidFill>
                  <a:srgbClr val="FAD02C"/>
                </a:solidFill>
                <a:latin typeface="Cambria"/>
              </a:rPr>
              <a:t> the freezing point is changed by -3.82°
C. Calculate the van’t Hoff factor for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N</m:t>
                    </m:r>
                    <m:sSub>
                      <m:e>
                        <m:r>
                          <m:rPr>
                            <m:ctrlPr>
                              <w:rPr>
                                <w:b/>
                                <w:color w:val="FAD02C"/>
                              </w:rPr>
                            </m:ctrlPr>
                          </m:rPr>
                          <m:t>a</m:t>
                        </m:r>
                      </m:e>
                      <m:sub>
                        <m:r>
                          <m:rPr>
                            <m:ctrlPr>
                              <w:rPr>
                                <w:b/>
                                <w:color w:val="FAD02C"/>
                              </w:rPr>
                            </m:ctrlPr>
                          </m:rPr>
                          <m:t>2</m:t>
                        </m:r>
                      </m:sub>
                    </m:sSub>
                    <m:r>
                      <m:rPr>
                        <m:ctrlPr>
                          <w:rPr>
                            <w:b/>
                            <w:color w:val="FAD02C"/>
                          </w:rPr>
                        </m:ctrlPr>
                      </m:rPr>
                      <m:t>S</m:t>
                    </m:r>
                    <m:r>
                      <m:rPr>
                        <m:ctrlPr>
                          <w:rPr>
                            <w:b/>
                            <w:color w:val="FAD02C"/>
                          </w:rPr>
                        </m:ctrlPr>
                      </m:rPr>
                      <m:t>O</m:t>
                    </m:r>
                  </m:oMath>
                </a14:m>
              </mc:Choice>
              <mc:Fallback>
                <a:r>
                  <a:rPr lang="en-US" sz="1800" b="1">
                    <a:solidFill>
                      <a:srgbClr val="FAD02C"/>
                    </a:solidFill>
                    <a:latin typeface="Cambria"/>
                  </a:rPr>
                  <a:t>Na₂ SO</a:t>
                </a:r>
              </mc:Fallback>
            </mc:AlternateContent>
            <a:r>
              <a:rPr sz="1800" b="1">
                <a:solidFill>
                  <a:srgbClr val="FAD02C"/>
                </a:solidFill>
                <a:latin typeface="Cambria"/>
              </a:rPr>
              <a:t>₄.</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0.381</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2.05</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a:solidFill>
                  <a:srgbClr val="F0F0F0"/>
                </a:solidFill>
                <a:latin typeface="Cambria"/>
              </a:rPr>
              <a:t>2.63</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3.11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5740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92807" cy="402336"/>
          </a:xfrm>
          <a:prstGeom prst="rect">
            <a:avLst/>
          </a:prstGeom>
          <a:noFill/>
        </p:spPr>
        <p:txBody>
          <a:bodyPr wrap="none" anchor="ctr" lIns="0" rIns="0" tIns="0" bIns="0">
            <a:spAutoFit/>
          </a:bodyPr>
          <a:lstStyle/>
          <a:p>
            <a:pPr algn="l"/>
            <a:r>
              <a:rPr sz="1500" b="1">
                <a:solidFill>
                  <a:srgbClr val="FAD02C"/>
                </a:solidFill>
                <a:latin typeface="Cambria"/>
              </a:rPr>
              <a:t>AIPMT (MAINS)-2011</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 0.1 molal aqueous solution of a weak acid is 30% ionized. If K</a:t>
            </a:r>
            <a:r>
              <a:rPr sz="1800" b="1" i="0" u="none" baseline="-25000">
                <a:solidFill>
                  <a:srgbClr val="FAD02C"/>
                </a:solidFill>
                <a:latin typeface="Cambria"/>
              </a:rPr>
              <a:t>f</a:t>
            </a:r>
            <a:r>
              <a:rPr sz="1800" b="1" i="0" u="none">
                <a:solidFill>
                  <a:srgbClr val="FAD02C"/>
                </a:solidFill>
                <a:latin typeface="Cambria"/>
              </a:rPr>
              <a:t> for water is 1.86°C/m, the freezing point of the solution will </a:t>
            </a:r>
            <a:r>
              <a:rPr sz="1800" b="1" i="0" u="none">
                <a:solidFill>
                  <a:srgbClr val="FAD02C"/>
                </a:solidFill>
                <a:latin typeface="Cambria"/>
              </a:rPr>
              <a:t>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−0.36°C</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−0.24°C</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−0.18°C</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−0.54°C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5740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92807" cy="402336"/>
          </a:xfrm>
          <a:prstGeom prst="rect">
            <a:avLst/>
          </a:prstGeom>
          <a:noFill/>
        </p:spPr>
        <p:txBody>
          <a:bodyPr wrap="none" anchor="ctr" lIns="0" rIns="0" tIns="0" bIns="0">
            <a:spAutoFit/>
          </a:bodyPr>
          <a:lstStyle/>
          <a:p>
            <a:pPr algn="l"/>
            <a:r>
              <a:rPr sz="1500" b="1">
                <a:solidFill>
                  <a:srgbClr val="FAD02C"/>
                </a:solidFill>
                <a:latin typeface="Cambria"/>
              </a:rPr>
              <a:t>AIPMT (MAINS)-2011</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200 mL of an aqueous solution of a protein contains 1.26 g. The osmotic pressure of this solution at 300 K is found to be 2.57 × 10⁻³ bar. The molar mass of protein will be (R = 0.083 L bar mol⁻¹ K⁻</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31011 g mol⁻¹</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61038 g mol⁻¹</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51022 g mol⁻¹</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122044 g mol⁻¹</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76732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602736" cy="402336"/>
          </a:xfrm>
          <a:prstGeom prst="rect">
            <a:avLst/>
          </a:prstGeom>
          <a:noFill/>
        </p:spPr>
        <p:txBody>
          <a:bodyPr wrap="none" anchor="ctr" lIns="0" rIns="0" tIns="0" bIns="0">
            <a:spAutoFit/>
          </a:bodyPr>
          <a:lstStyle/>
          <a:p>
            <a:pPr algn="l"/>
            <a:r>
              <a:rPr sz="1500" b="1">
                <a:solidFill>
                  <a:srgbClr val="FAD02C"/>
                </a:solidFill>
                <a:latin typeface="Cambria"/>
              </a:rPr>
              <a:t>AIPMT (PRELIMS)-2010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of sucrose (molar mass = 342 g mol⁻¹) has been prepared by dissolving 68.5 g of sucrose in 1000 g of water. The freezing point of the solution obtained will be (K</a:t>
            </a:r>
            <a:r>
              <a:rPr sz="1800" b="1" i="0" u="none" baseline="-25000">
                <a:solidFill>
                  <a:srgbClr val="FAD02C"/>
                </a:solidFill>
                <a:latin typeface="Cambria"/>
              </a:rPr>
              <a:t>f</a:t>
            </a:r>
            <a:r>
              <a:rPr sz="1800" b="1" i="0" u="none">
                <a:solidFill>
                  <a:srgbClr val="FAD02C"/>
                </a:solidFill>
                <a:latin typeface="Cambria"/>
              </a:rPr>
              <a:t> for water = 1.86 K kg mol⁻</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−0.372°C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−0.520°C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+0.372°C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−0.570°C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1343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48839" cy="402336"/>
          </a:xfrm>
          <a:prstGeom prst="rect">
            <a:avLst/>
          </a:prstGeom>
          <a:noFill/>
        </p:spPr>
        <p:txBody>
          <a:bodyPr wrap="none" anchor="ctr" lIns="0" rIns="0" tIns="0" bIns="0">
            <a:spAutoFit/>
          </a:bodyPr>
          <a:lstStyle/>
          <a:p>
            <a:pPr algn="l"/>
            <a:r>
              <a:rPr sz="1500" b="1">
                <a:solidFill>
                  <a:srgbClr val="FAD02C"/>
                </a:solidFill>
                <a:latin typeface="Cambria"/>
              </a:rPr>
              <a:t>AIPMT (PRELIMS)-2010</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An aqueous solution is 1.00 molal in KI. Which change will cause the vapour pressure of the solution to increase?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Addition of NaCl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Addition of Na₂SO₄</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Addition of 1.00 molal KI</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Addition of water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(PRELIMS)-2009</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a:solidFill>
                  <a:srgbClr val="FAD02C"/>
                </a:solidFill>
                <a:latin typeface="Cambria"/>
              </a:rPr>
              <a:t>A 0.0020 m aqueous solution of an ionic compound Co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N</m:t>
                    </m:r>
                    <m:sSub>
                      <m:e>
                        <m:r>
                          <m:rPr>
                            <m:ctrlPr>
                              <w:rPr>
                                <w:b/>
                                <w:color w:val="FAD02C"/>
                              </w:rPr>
                            </m:ctrlPr>
                          </m:rPr>
                          <m:t>H</m:t>
                        </m:r>
                      </m:e>
                      <m:sub>
                        <m:r>
                          <m:rPr>
                            <m:ctrlPr>
                              <w:rPr>
                                <w:b/>
                                <w:color w:val="FAD02C"/>
                              </w:rPr>
                            </m:ctrlPr>
                          </m:rPr>
                          <m:t>3</m:t>
                        </m:r>
                      </m:sub>
                    </m:sSub>
                  </m:oMath>
                </a14:m>
              </mc:Choice>
              <mc:Fallback>
                <a:r>
                  <a:rPr lang="en-US" sz="1800" b="1">
                    <a:solidFill>
                      <a:srgbClr val="FAD02C"/>
                    </a:solidFill>
                    <a:latin typeface="Cambria"/>
                  </a:rPr>
                  <a:t>NH₃</a:t>
                </a:r>
              </mc:Fallback>
            </mc:AlternateContent>
            <a:r>
              <a:rPr sz="1800" b="1">
                <a:solidFill>
                  <a:srgbClr val="FAD02C"/>
                </a:solidFill>
                <a:latin typeface="Cambria"/>
              </a:rPr>
              <a:t>) ₃(</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N</m:t>
                    </m:r>
                    <m:sSub>
                      <m:e>
                        <m:r>
                          <m:rPr>
                            <m:ctrlPr>
                              <w:rPr>
                                <w:b/>
                                <w:color w:val="FAD02C"/>
                              </w:rPr>
                            </m:ctrlPr>
                          </m:rPr>
                          <m:t>O</m:t>
                        </m:r>
                      </m:e>
                      <m:sub>
                        <m:r>
                          <m:rPr>
                            <m:ctrlPr>
                              <w:rPr>
                                <w:b/>
                                <w:color w:val="FAD02C"/>
                              </w:rPr>
                            </m:ctrlPr>
                          </m:rPr>
                          <m:t>2</m:t>
                        </m:r>
                      </m:sub>
                    </m:sSub>
                  </m:oMath>
                </a14:m>
              </mc:Choice>
              <mc:Fallback>
                <a:r>
                  <a:rPr lang="en-US" sz="1800" b="1">
                    <a:solidFill>
                      <a:srgbClr val="FAD02C"/>
                    </a:solidFill>
                    <a:latin typeface="Cambria"/>
                  </a:rPr>
                  <a:t>NO₂</a:t>
                </a:r>
              </mc:Fallback>
            </mc:AlternateContent>
            <a:r>
              <a:rPr sz="1800" b="1">
                <a:solidFill>
                  <a:srgbClr val="FAD02C"/>
                </a:solidFill>
                <a:latin typeface="Cambria"/>
              </a:rPr>
              <a:t>) Cl freezes at -0.00732°
C. Number of moles of ions which 1 mol of ionic compound produces on being dissolved in water will be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AD02C"/>
                              </w:rPr>
                            </m:ctrlPr>
                          </m:rPr>
                          <m:t>K</m:t>
                        </m:r>
                      </m:e>
                      <m:sub>
                        <m:r>
                          <m:rPr>
                            <m:ctrlPr>
                              <w:rPr>
                                <w:b/>
                                <w:color w:val="FAD02C"/>
                              </w:rPr>
                            </m:ctrlPr>
                          </m:rPr>
                          <m:t>f</m:t>
                        </m:r>
                      </m:sub>
                    </m:sSub>
                  </m:oMath>
                </a14:m>
              </mc:Choice>
              <mc:Fallback>
                <a:r>
                  <a:rPr lang="en-US" sz="1800" b="1">
                    <a:solidFill>
                      <a:srgbClr val="FAD02C"/>
                    </a:solidFill>
                    <a:latin typeface="Cambria"/>
                  </a:rPr>
                  <a:t>K_f</a:t>
                </a:r>
              </mc:Fallback>
            </mc:AlternateContent>
            <a:r>
              <a:rPr sz="1800" b="1">
                <a:solidFill>
                  <a:srgbClr val="FAD02C"/>
                </a:solidFill>
                <a:latin typeface="Cambria"/>
              </a:rPr>
              <a:t> = 1.86°C/m)</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₃</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4</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1</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0.5 molal aqueous solution of a weak acid (HX) is 20% ionized. If K_f for water is 1.86 K kg mol⁻¹, the lowering in freezing point of the solution </a:t>
            </a:r>
            <a:r>
              <a:rPr sz="1800" b="1" i="0" u="none">
                <a:solidFill>
                  <a:srgbClr val="FAD02C"/>
                </a:solidFill>
                <a:latin typeface="Cambria"/>
              </a:rPr>
              <a:t>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−0.56 K</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−1.12 K</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0.56 K</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1.12 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containing 10 g per dm³ of urea (molecular mass = 60 g mol⁻¹) is isotonic with a 5% solution of a non-volatile solute. The molecular mass of this non-volatile solute </a:t>
            </a:r>
            <a:r>
              <a:rPr sz="1800" b="1" i="0" u="none">
                <a:solidFill>
                  <a:srgbClr val="FAD02C"/>
                </a:solidFill>
                <a:latin typeface="Cambria"/>
              </a:rPr>
              <a:t>is</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250 g mol⁻¹</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300 g mol⁻¹</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350 g mol⁻¹</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200 g mol⁻¹</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8039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639312" cy="402336"/>
          </a:xfrm>
          <a:prstGeom prst="rect">
            <a:avLst/>
          </a:prstGeom>
          <a:noFill/>
        </p:spPr>
        <p:txBody>
          <a:bodyPr wrap="none" anchor="ctr" lIns="0" rIns="0" tIns="0" bIns="0">
            <a:spAutoFit/>
          </a:bodyPr>
          <a:lstStyle/>
          <a:p>
            <a:pPr algn="l"/>
            <a:r>
              <a:rPr sz="1500" b="1">
                <a:solidFill>
                  <a:srgbClr val="FAD02C"/>
                </a:solidFill>
                <a:latin typeface="Cambria"/>
              </a:rPr>
              <a:t>AIPMT (PRELIMS)-2006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1.00 g of a non-electrolyte solute (molar mass 250 g mol⁻¹) was dissolved in 51.2 g of benzene. If the freezing point depression constant, K</a:t>
            </a:r>
            <a:r>
              <a:rPr sz="1800" b="1" i="0" u="none" baseline="-25000">
                <a:solidFill>
                  <a:srgbClr val="FAD02C"/>
                </a:solidFill>
                <a:latin typeface="Cambria"/>
              </a:rPr>
              <a:t>f</a:t>
            </a:r>
            <a:r>
              <a:rPr sz="1800" b="1" i="0" u="none">
                <a:solidFill>
                  <a:srgbClr val="FAD02C"/>
                </a:solidFill>
                <a:latin typeface="Cambria"/>
              </a:rPr>
              <a:t> of benzene is 5.12 K kg mol⁻¹, the freezing point of benzene will be lowered </a:t>
            </a:r>
            <a:r>
              <a:rPr sz="1800" b="1" i="0" u="none">
                <a:solidFill>
                  <a:srgbClr val="FAD02C"/>
                </a:solidFill>
                <a:latin typeface="Cambria"/>
              </a:rPr>
              <a:t>by</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0.4 K</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0.3 K</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0.5 K</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0.2 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 solution of acetone in ethanol</a:t>
            </a:r>
          </a:p>
        </p:txBody>
      </p:sp>
      <p:sp>
        <p:nvSpPr>
          <p:cNvPr id="7" name="TextBox 6"/>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Shows a negative deviation from Raoult’s law</a:t>
            </a:r>
          </a:p>
        </p:txBody>
      </p:sp>
      <p:sp>
        <p:nvSpPr>
          <p:cNvPr id="8" name="TextBox 7"/>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Shows a positive deviation from Raoult’s law</a:t>
            </a:r>
          </a:p>
        </p:txBody>
      </p:sp>
      <p:sp>
        <p:nvSpPr>
          <p:cNvPr id="9" name="TextBox 8"/>
          <p:cNvSpPr txBox="1"/>
          <p:nvPr/>
        </p:nvSpPr>
        <p:spPr>
          <a:xfrm>
            <a:off x="457200" y="1684324"/>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Behaves like a near ideal solution</a:t>
            </a:r>
          </a:p>
        </p:txBody>
      </p:sp>
      <p:sp>
        <p:nvSpPr>
          <p:cNvPr id="10" name="TextBox 9"/>
          <p:cNvSpPr txBox="1"/>
          <p:nvPr/>
        </p:nvSpPr>
        <p:spPr>
          <a:xfrm>
            <a:off x="6254496" y="1684324"/>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Obeys Raoult’s law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During osmosis, flow of water through a semi-permeable membrane </a:t>
            </a:r>
            <a:r>
              <a:rPr sz="1800" b="1" i="0" u="none">
                <a:solidFill>
                  <a:srgbClr val="FAD02C"/>
                </a:solidFill>
                <a:latin typeface="Cambria"/>
              </a:rPr>
              <a:t>is</a:t>
            </a:r>
          </a:p>
        </p:txBody>
      </p:sp>
      <p:sp>
        <p:nvSpPr>
          <p:cNvPr id="7" name="TextBox 6"/>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From solution having higher concentration only</a:t>
            </a:r>
          </a:p>
        </p:txBody>
      </p:sp>
      <p:sp>
        <p:nvSpPr>
          <p:cNvPr id="8" name="TextBox 7"/>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From both sides of semi-permeable membrane with equal flow rates</a:t>
            </a:r>
          </a:p>
        </p:txBody>
      </p:sp>
      <p:sp>
        <p:nvSpPr>
          <p:cNvPr id="9" name="TextBox 8"/>
          <p:cNvSpPr txBox="1"/>
          <p:nvPr/>
        </p:nvSpPr>
        <p:spPr>
          <a:xfrm>
            <a:off x="457200"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From both sides of semi-permeable membrane with unequal flow rates</a:t>
            </a:r>
          </a:p>
        </p:txBody>
      </p:sp>
      <p:sp>
        <p:nvSpPr>
          <p:cNvPr id="10" name="TextBox 9"/>
          <p:cNvSpPr txBox="1"/>
          <p:nvPr/>
        </p:nvSpPr>
        <p:spPr>
          <a:xfrm>
            <a:off x="6254496"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From solution having lower concentration only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vapour pressure of two liquids P and Q are 80 and 60 torr, respectively. The total vapour pressure of solution obtained by mixing 3 moles of P and 2 moles of Q would 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140 torr</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20 torr</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68 torr</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72 torr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of urea (mol. mass 60 g mol⁻¹) boils at 100.18°C at the atmospheric pressure. If K</a:t>
            </a:r>
            <a:r>
              <a:rPr sz="1800" b="1" i="0" u="none" baseline="-25000">
                <a:solidFill>
                  <a:srgbClr val="FAD02C"/>
                </a:solidFill>
                <a:latin typeface="Cambria"/>
              </a:rPr>
              <a:t>f</a:t>
            </a:r>
            <a:r>
              <a:rPr sz="1800" b="1" i="0" u="none">
                <a:solidFill>
                  <a:srgbClr val="FAD02C"/>
                </a:solidFill>
                <a:latin typeface="Cambria"/>
              </a:rPr>
              <a:t> and K</a:t>
            </a:r>
            <a:r>
              <a:rPr sz="1800" b="1" i="0" u="none" baseline="-25000">
                <a:solidFill>
                  <a:srgbClr val="FAD02C"/>
                </a:solidFill>
                <a:latin typeface="Cambria"/>
              </a:rPr>
              <a:t>b</a:t>
            </a:r>
            <a:r>
              <a:rPr sz="1800" b="1" i="0" u="none">
                <a:solidFill>
                  <a:srgbClr val="FAD02C"/>
                </a:solidFill>
                <a:latin typeface="Cambria"/>
              </a:rPr>
              <a:t> for water are 1.86 and 0.512 K kg mol⁻¹ respectively, the above solution will freeze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−6.54°C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6.54°C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0.654°C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−0.654°C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has a </a:t>
            </a:r>
            <a:r>
              <a:rPr sz="1800" b="1" i="0" u="none">
                <a:solidFill>
                  <a:srgbClr val="FAD02C"/>
                </a:solidFill>
                <a:latin typeface="Cambria"/>
              </a:rPr>
              <a:t>1:</a:t>
            </a:r>
            <a:r>
              <a:rPr sz="1800" b="1" i="0" u="none">
                <a:solidFill>
                  <a:srgbClr val="FAD02C"/>
                </a:solidFill>
                <a:latin typeface="Cambria"/>
              </a:rPr>
              <a:t> 4 mole </a:t>
            </a:r>
            <a:r>
              <a:rPr sz="1800" b="1" i="0" u="none">
                <a:solidFill>
                  <a:srgbClr val="FAD02C"/>
                </a:solidFill>
                <a:latin typeface="Cambria"/>
              </a:rPr>
              <a:t>ratios</a:t>
            </a:r>
            <a:r>
              <a:rPr sz="1800" b="1" i="0" u="none">
                <a:solidFill>
                  <a:srgbClr val="FAD02C"/>
                </a:solidFill>
                <a:latin typeface="Cambria"/>
              </a:rPr>
              <a:t> of pentane to hexane. The vapour pressure of the pure hydrocarbons at 20°C are 440 mm of Hg for pentane and 120 mm of Hg for hexane. The mole fraction of pentane in the vapour phase would </a:t>
            </a:r>
            <a:r>
              <a:rPr sz="1800" b="1" i="0" u="none">
                <a:solidFill>
                  <a:srgbClr val="FAD02C"/>
                </a:solidFill>
                <a:latin typeface="Cambria"/>
              </a:rPr>
              <a:t>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0.549</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0.200</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0.786</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0.478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mole fraction of the solute in one molal aqueous solution </a:t>
            </a:r>
            <a:r>
              <a:rPr sz="1800" b="1" i="0" u="none">
                <a:solidFill>
                  <a:srgbClr val="FAD02C"/>
                </a:solidFill>
                <a:latin typeface="Cambria"/>
              </a:rPr>
              <a:t>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0.027</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0.036</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0.018</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0.009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compounds can be used as antifreeze in automobile radiators?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Methyl alcohol</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Glycol</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Nitrophenol</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Ethyl alcohol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Mole fraction of the solute in a 1.00 molal aqueous solution is</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1.7700</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0.1770</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0.0177</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0.0344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913485"/>
          </a:xfrm>
          <a:prstGeom prst="rect">
            <a:avLst/>
          </a:prstGeom>
          <a:noFill/>
        </p:spPr>
        <p:txBody>
          <a:bodyPr wrap="square" lIns="0" rIns="0" tIns="0" bIns="0">
            <a:spAutoFit/>
          </a:bodyPr>
          <a:lstStyle/>
          <a:p>
            <a:pPr algn="l"/>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1</m:t>
                    </m:r>
                    <m:r>
                      <m:rPr>
                        <m:sty m:val="p"/>
                        <m:ctrlPr>
                          <w:rPr>
                            <w:b/>
                            <w:color w:val="FAD02C"/>
                          </w:rPr>
                        </m:ctrlPr>
                      </m:rPr>
                      <m:t>×</m:t>
                    </m:r>
                    <m:sSup>
                      <m:e>
                        <m:r>
                          <m:rPr>
                            <m:ctrlPr>
                              <w:rPr>
                                <w:b/>
                                <w:color w:val="FAD02C"/>
                              </w:rPr>
                            </m:ctrlPr>
                          </m:rPr>
                          <m:t>10</m:t>
                        </m:r>
                      </m:e>
                      <m:sup>
                        <m:r>
                          <m:rPr>
                            <m:sty m:val="p"/>
                            <m:ctrlPr>
                              <w:rPr>
                                <w:b/>
                                <w:color w:val="FAD02C"/>
                              </w:rPr>
                            </m:ctrlPr>
                          </m:rPr>
                          <m:t>−</m:t>
                        </m:r>
                        <m:r>
                          <m:rPr>
                            <m:ctrlPr>
                              <w:rPr>
                                <w:b/>
                                <w:color w:val="FAD02C"/>
                              </w:rPr>
                            </m:ctrlPr>
                          </m:rPr>
                          <m:t>3</m:t>
                        </m:r>
                      </m:sup>
                    </m:sSup>
                  </m:oMath>
                </a14:m>
              </mc:Choice>
              <mc:Fallback>
                <a:r>
                  <a:rPr lang="en-US" sz="1800" b="1">
                    <a:solidFill>
                      <a:srgbClr val="FAD02C"/>
                    </a:solidFill>
                    <a:latin typeface="Cambria"/>
                  </a:rPr>
                  <a:t>1 × 10⁻³</a:t>
                </a:r>
              </mc:Fallback>
            </mc:AlternateContent>
            <a:r>
              <a:rPr sz="1800" b="1">
                <a:solidFill>
                  <a:srgbClr val="FAD02C"/>
                </a:solidFill>
                <a:latin typeface="Cambria"/>
              </a:rPr>
              <a:t> m solution of Pt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N</m:t>
                    </m:r>
                    <m:sSub>
                      <m:e>
                        <m:r>
                          <m:rPr>
                            <m:ctrlPr>
                              <w:rPr>
                                <w:b/>
                                <w:color w:val="FAD02C"/>
                              </w:rPr>
                            </m:ctrlPr>
                          </m:rPr>
                          <m:t>H</m:t>
                        </m:r>
                      </m:e>
                      <m:sub>
                        <m:r>
                          <m:rPr>
                            <m:ctrlPr>
                              <w:rPr>
                                <w:b/>
                                <w:color w:val="FAD02C"/>
                              </w:rPr>
                            </m:ctrlPr>
                          </m:rPr>
                          <m:t>3</m:t>
                        </m:r>
                      </m:sub>
                    </m:sSub>
                  </m:oMath>
                </a14:m>
              </mc:Choice>
              <mc:Fallback>
                <a:r>
                  <a:rPr lang="en-US" sz="1800" b="1">
                    <a:solidFill>
                      <a:srgbClr val="FAD02C"/>
                    </a:solidFill>
                    <a:latin typeface="Cambria"/>
                  </a:rPr>
                  <a:t>NH₃</a:t>
                </a:r>
              </mc:Fallback>
            </mc:AlternateContent>
            <a:r>
              <a:rPr sz="1800" b="1">
                <a:solidFill>
                  <a:srgbClr val="FAD02C"/>
                </a:solidFill>
                <a:latin typeface="Cambria"/>
              </a:rPr>
              <a:t>) ₄</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r>
                      <m:rPr>
                        <m:ctrlPr>
                          <w:rPr>
                            <w:b/>
                            <w:color w:val="FAD02C"/>
                          </w:rPr>
                        </m:ctrlPr>
                      </m:rPr>
                      <m:t>C</m:t>
                    </m:r>
                    <m:sSub>
                      <m:e>
                        <m:r>
                          <m:rPr>
                            <m:ctrlPr>
                              <w:rPr>
                                <w:b/>
                                <w:color w:val="FAD02C"/>
                              </w:rPr>
                            </m:ctrlPr>
                          </m:rPr>
                          <m:t>l</m:t>
                        </m:r>
                      </m:e>
                      <m:sub>
                        <m:r>
                          <m:rPr>
                            <m:ctrlPr>
                              <w:rPr>
                                <w:b/>
                                <w:color w:val="FAD02C"/>
                              </w:rPr>
                            </m:ctrlPr>
                          </m:rPr>
                          <m:t>2</m:t>
                        </m:r>
                      </m:sub>
                    </m:sSub>
                  </m:oMath>
                </a14:m>
              </mc:Choice>
              <mc:Fallback>
                <a:r>
                  <a:rPr lang="en-US" sz="1800" b="1">
                    <a:solidFill>
                      <a:srgbClr val="FAD02C"/>
                    </a:solidFill>
                    <a:latin typeface="Cambria"/>
                  </a:rPr>
                  <a:t>Cl₂</a:t>
                </a:r>
              </mc:Fallback>
            </mc:AlternateContent>
            <a:r>
              <a:rPr sz="1800" b="1">
                <a:solidFill>
                  <a:srgbClr val="FAD02C"/>
                </a:solidFill>
                <a:latin typeface="Cambria"/>
              </a:rPr>
              <a:t> in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AD02C"/>
                              </w:rPr>
                            </m:ctrlPr>
                          </m:rPr>
                          <m:t>H</m:t>
                        </m:r>
                      </m:e>
                      <m:sub>
                        <m:r>
                          <m:rPr>
                            <m:ctrlPr>
                              <w:rPr>
                                <w:b/>
                                <w:color w:val="FAD02C"/>
                              </w:rPr>
                            </m:ctrlPr>
                          </m:rPr>
                          <m:t>2</m:t>
                        </m:r>
                      </m:sub>
                    </m:sSub>
                    <m:r>
                      <m:rPr>
                        <m:ctrlPr>
                          <w:rPr>
                            <w:b/>
                            <w:color w:val="FAD02C"/>
                          </w:rPr>
                        </m:ctrlPr>
                      </m:rPr>
                      <m:t>O</m:t>
                    </m:r>
                  </m:oMath>
                </a14:m>
              </mc:Choice>
              <mc:Fallback>
                <a:r>
                  <a:rPr lang="en-US" sz="1800" b="1">
                    <a:solidFill>
                      <a:srgbClr val="FAD02C"/>
                    </a:solidFill>
                    <a:latin typeface="Cambria"/>
                  </a:rPr>
                  <a:t>H₂O</a:t>
                </a:r>
              </mc:Fallback>
            </mc:AlternateContent>
            <a:r>
              <a:rPr sz="1800" b="1">
                <a:solidFill>
                  <a:srgbClr val="FAD02C"/>
                </a:solidFill>
                <a:latin typeface="Cambria"/>
              </a:rPr>
              <a:t> shows depression in freezing point by 0.0054°
C. The structure of the compound will be (Given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b>
                      <m:e>
                        <m:r>
                          <m:rPr>
                            <m:ctrlPr>
                              <w:rPr>
                                <w:b/>
                                <w:color w:val="FAD02C"/>
                              </w:rPr>
                            </m:ctrlPr>
                          </m:rPr>
                          <m:t>K</m:t>
                        </m:r>
                      </m:e>
                      <m:sub>
                        <m:r>
                          <m:rPr>
                            <m:ctrlPr>
                              <w:rPr>
                                <w:b/>
                                <w:color w:val="FAD02C"/>
                              </w:rPr>
                            </m:ctrlPr>
                          </m:rPr>
                          <m:t>f</m:t>
                        </m:r>
                      </m:sub>
                    </m:sSub>
                  </m:oMath>
                </a14:m>
              </mc:Choice>
              <mc:Fallback>
                <a:r>
                  <a:rPr lang="en-US" sz="1800" b="1">
                    <a:solidFill>
                      <a:srgbClr val="FAD02C"/>
                    </a:solidFill>
                    <a:latin typeface="Cambria"/>
                  </a:rPr>
                  <a:t>K_f</a:t>
                </a:r>
              </mc:Fallback>
            </mc:AlternateContent>
            <a:r>
              <a:rPr sz="1800" b="1">
                <a:solidFill>
                  <a:srgbClr val="FAD02C"/>
                </a:solidFill>
                <a:latin typeface="Cambria"/>
              </a:rPr>
              <a:t> = 1.860 K </a:t>
            </a:r>
            <mc:AlternateContent xmlns:mc="http://schemas.openxmlformats.org/markup-compatibility/2006" xmlns:a14="http://schemas.microsoft.com/office/drawing/2010/main">
              <mc:Choice Requires="a14">
                <a14:m>
                  <m:oMath xmlns:m="http://schemas.openxmlformats.org/officeDocument/2006/math" xmlns:w="http://schemas.openxmlformats.org/wordprocessingml/2006/main">
                    <m:sSup>
                      <m:e>
                        <m:r>
                          <m:rPr>
                            <m:ctrlPr>
                              <w:rPr>
                                <w:b/>
                                <w:color w:val="FAD02C"/>
                              </w:rPr>
                            </m:ctrlPr>
                          </m:rPr>
                          <m:t>m</m:t>
                        </m:r>
                      </m:e>
                      <m:sup>
                        <m:r>
                          <m:rPr>
                            <m:sty m:val="p"/>
                            <m:ctrlPr>
                              <w:rPr>
                                <w:b/>
                                <w:color w:val="FAD02C"/>
                              </w:rPr>
                            </m:ctrlPr>
                          </m:rPr>
                          <m:t>−</m:t>
                        </m:r>
                        <m:r>
                          <m:rPr>
                            <m:ctrlPr>
                              <w:rPr>
                                <w:b/>
                                <w:color w:val="FAD02C"/>
                              </w:rPr>
                            </m:ctrlPr>
                          </m:rPr>
                          <m:t>1</m:t>
                        </m:r>
                      </m:sup>
                    </m:sSup>
                  </m:oMath>
                </a14:m>
              </mc:Choice>
              <mc:Fallback>
                <a:r>
                  <a:rPr lang="en-US" sz="1800" b="1">
                    <a:solidFill>
                      <a:srgbClr val="FAD02C"/>
                    </a:solidFill>
                    <a:latin typeface="Cambria"/>
                  </a:rPr>
                  <a:t>m⁻¹</a:t>
                </a:r>
              </mc:Fallback>
            </mc:AlternateContent>
            <a:r>
              <a:rPr sz="1800" b="1">
                <a:solidFill>
                  <a:srgbClr val="FAD02C"/>
                </a:solidFill>
                <a:latin typeface="Cambria"/>
              </a:rPr>
              <a:t>)</a:t>
            </a:r>
          </a:p>
        </p:txBody>
      </p:sp>
      <p:sp>
        <p:nvSpPr>
          <p:cNvPr id="4" name="TextBox 3"/>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t>
            </a:r>
            <a:r>
              <a:rPr sz="1600" b="1" i="0" u="none">
                <a:solidFill>
                  <a:srgbClr val="F0F0F0"/>
                </a:solidFill>
                <a:latin typeface="Cambria"/>
              </a:rPr>
              <a:t>Pt (</a:t>
            </a:r>
            <a:r>
              <a:rPr sz="1600" b="1" i="0" u="none">
                <a:solidFill>
                  <a:srgbClr val="F0F0F0"/>
                </a:solidFill>
                <a:latin typeface="Cambria"/>
              </a:rPr>
              <a:t>NH</a:t>
            </a:r>
            <a:r>
              <a:rPr sz="1600" b="1" i="0" u="none">
                <a:solidFill>
                  <a:srgbClr val="F0F0F0"/>
                </a:solidFill>
                <a:latin typeface="Cambria"/>
              </a:rPr>
              <a:t>₃) ₄] Cl</a:t>
            </a:r>
            <a:r>
              <a:rPr sz="1600" b="1" i="0" u="none">
                <a:solidFill>
                  <a:srgbClr val="F0F0F0"/>
                </a:solidFill>
                <a:latin typeface="Cambria"/>
              </a:rPr>
              <a:t>₄</a:t>
            </a:r>
          </a:p>
        </p:txBody>
      </p:sp>
      <p:sp>
        <p:nvSpPr>
          <p:cNvPr id="5" name="TextBox 4"/>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t>
            </a:r>
            <a:r>
              <a:rPr sz="1600" b="1" i="0" u="none">
                <a:solidFill>
                  <a:srgbClr val="F0F0F0"/>
                </a:solidFill>
                <a:latin typeface="Cambria"/>
              </a:rPr>
              <a:t>Pt (</a:t>
            </a:r>
            <a:r>
              <a:rPr sz="1600" b="1" i="0" u="none">
                <a:solidFill>
                  <a:srgbClr val="F0F0F0"/>
                </a:solidFill>
                <a:latin typeface="Cambria"/>
              </a:rPr>
              <a:t>NH</a:t>
            </a:r>
            <a:r>
              <a:rPr sz="1600" b="1" i="0" u="none">
                <a:solidFill>
                  <a:srgbClr val="F0F0F0"/>
                </a:solidFill>
                <a:latin typeface="Cambria"/>
              </a:rPr>
              <a:t>₃) ₃Cl] Cl</a:t>
            </a:r>
            <a:r>
              <a:rPr sz="1600" b="1" i="0" u="none">
                <a:solidFill>
                  <a:srgbClr val="F0F0F0"/>
                </a:solidFill>
                <a:latin typeface="Cambria"/>
              </a:rPr>
              <a:t>₃</a:t>
            </a:r>
          </a:p>
        </p:txBody>
      </p:sp>
      <p:sp>
        <p:nvSpPr>
          <p:cNvPr id="6" name="TextBox 5"/>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t>
            </a:r>
            <a:r>
              <a:rPr sz="1600" b="1" i="0" u="none">
                <a:solidFill>
                  <a:srgbClr val="F0F0F0"/>
                </a:solidFill>
                <a:latin typeface="Cambria"/>
              </a:rPr>
              <a:t>Pt (</a:t>
            </a:r>
            <a:r>
              <a:rPr sz="1600" b="1" i="0" u="none">
                <a:solidFill>
                  <a:srgbClr val="F0F0F0"/>
                </a:solidFill>
                <a:latin typeface="Cambria"/>
              </a:rPr>
              <a:t>NH</a:t>
            </a:r>
            <a:r>
              <a:rPr sz="1600" b="1" i="0" u="none">
                <a:solidFill>
                  <a:srgbClr val="F0F0F0"/>
                </a:solidFill>
                <a:latin typeface="Cambria"/>
              </a:rPr>
              <a:t>₃) ₄</a:t>
            </a:r>
            <a:r>
              <a:rPr sz="1600" b="1" i="0" u="none">
                <a:solidFill>
                  <a:srgbClr val="F0F0F0"/>
                </a:solidFill>
                <a:latin typeface="Cambria"/>
              </a:rPr>
              <a:t>Cl</a:t>
            </a:r>
            <a:r>
              <a:rPr sz="1600" b="1" i="0" u="none">
                <a:solidFill>
                  <a:srgbClr val="F0F0F0"/>
                </a:solidFill>
                <a:latin typeface="Cambria"/>
              </a:rPr>
              <a:t>₂] Cl</a:t>
            </a:r>
            <a:r>
              <a:rPr sz="1600" b="1" i="0" u="none">
                <a:solidFill>
                  <a:srgbClr val="F0F0F0"/>
                </a:solidFill>
                <a:latin typeface="Cambria"/>
              </a:rPr>
              <a:t>₂</a:t>
            </a:r>
          </a:p>
        </p:txBody>
      </p:sp>
      <p:sp>
        <p:nvSpPr>
          <p:cNvPr id="7" name="TextBox 6"/>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a:t>
            </a:r>
            <a:r>
              <a:rPr sz="1600" b="1" i="0" u="none">
                <a:solidFill>
                  <a:srgbClr val="F0F0F0"/>
                </a:solidFill>
                <a:latin typeface="Cambria"/>
              </a:rPr>
              <a:t>Pt (</a:t>
            </a:r>
            <a:r>
              <a:rPr sz="1600" b="1" i="0" u="none">
                <a:solidFill>
                  <a:srgbClr val="F0F0F0"/>
                </a:solidFill>
                <a:latin typeface="Cambria"/>
              </a:rPr>
              <a:t>NH</a:t>
            </a:r>
            <a:r>
              <a:rPr sz="1600" b="1" i="0" u="none">
                <a:solidFill>
                  <a:srgbClr val="F0F0F0"/>
                </a:solidFill>
                <a:latin typeface="Cambria"/>
              </a:rPr>
              <a:t>₃) ₃</a:t>
            </a:r>
            <a:r>
              <a:rPr sz="1600" b="1" i="0" u="none">
                <a:solidFill>
                  <a:srgbClr val="F0F0F0"/>
                </a:solidFill>
                <a:latin typeface="Cambria"/>
              </a:rPr>
              <a:t>Cl</a:t>
            </a:r>
            <a:r>
              <a:rPr sz="1600" b="1" i="0" u="none">
                <a:solidFill>
                  <a:srgbClr val="F0F0F0"/>
                </a:solidFill>
                <a:latin typeface="Cambria"/>
              </a:rPr>
              <a:t>₃] Cl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salt has the same value of van’t Hoff’s factor i as that of K</a:t>
            </a:r>
            <a:r>
              <a:rPr sz="1800" b="1" i="0" u="none">
                <a:solidFill>
                  <a:srgbClr val="FAD02C"/>
                </a:solidFill>
                <a:latin typeface="Cambria"/>
              </a:rPr>
              <a:t>₃ [Fe (</a:t>
            </a:r>
            <a:r>
              <a:rPr sz="1800" b="1" i="0" u="none">
                <a:solidFill>
                  <a:srgbClr val="FAD02C"/>
                </a:solidFill>
                <a:latin typeface="Cambria"/>
              </a:rPr>
              <a:t>CN)₆]?</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Na₂SO₄</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Al (</a:t>
            </a:r>
            <a:r>
              <a:rPr sz="1600" b="1" i="0" u="none">
                <a:solidFill>
                  <a:srgbClr val="F0F0F0"/>
                </a:solidFill>
                <a:latin typeface="Cambria"/>
              </a:rPr>
              <a:t>NO</a:t>
            </a:r>
            <a:r>
              <a:rPr sz="1600" b="1" i="0" u="none">
                <a:solidFill>
                  <a:srgbClr val="F0F0F0"/>
                </a:solidFill>
                <a:latin typeface="Cambria"/>
              </a:rPr>
              <a:t>₃) ₃</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Al₂(SO</a:t>
            </a:r>
            <a:r>
              <a:rPr sz="1600" b="1" i="0" u="none">
                <a:solidFill>
                  <a:srgbClr val="F0F0F0"/>
                </a:solidFill>
                <a:latin typeface="Cambria"/>
              </a:rPr>
              <a:t>₄) ₃</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NaCl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At 25°C, the highest osmotic pressure is exhibited by 0.1 M solution of</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Glucose</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Urea</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CaCl₂</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KCl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According to Raoult’s law, the relative lowering of vapour pressure for a solution is equal to</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Mole fraction of solute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Mole fraction of solvent</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Moles of solute</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Moles of solvent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concentration units, independent of temperature, would be</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Normality</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Weight volume percent</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Molality</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Molarity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In liquid-gas equilibrium, the pressure of vapour above the liquid is constant at</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Constant temperature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Low temperature</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High temperature</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None of these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5448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389888" cy="402336"/>
          </a:xfrm>
          <a:prstGeom prst="rect">
            <a:avLst/>
          </a:prstGeom>
          <a:noFill/>
        </p:spPr>
        <p:txBody>
          <a:bodyPr wrap="none" anchor="ctr" lIns="0" rIns="0" tIns="0" bIns="0">
            <a:spAutoFit/>
          </a:bodyPr>
          <a:lstStyle/>
          <a:p>
            <a:pPr algn="l"/>
            <a:r>
              <a:rPr sz="1500" b="1">
                <a:solidFill>
                  <a:srgbClr val="FAD02C"/>
                </a:solidFill>
                <a:latin typeface="Cambria"/>
              </a:rPr>
              <a:t>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vapour pressure of CCl₄ at 25°C is 143 mm Hg. If 0.5 gm of a non-volatile solute (mol. weight = 65) is dissolved in 100 g CCl₄, the vapour pressure of the solution will 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199.34 mm Hg</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143.99 mm Hg</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141.43 mm Hg</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94.39 mm Hg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What is the molarity of H₂SO₄ solution, that has a density 1.84 g/cc at 35°C and contains 98% by weight of solute?</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18.4 M</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18 M</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4.18 M</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8.14 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 5% (w/v) solution of cane sugar (mol. wt. = 342) is isotonic with 1% (w/v) solution of a substance X. The molecular weight of X is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68.4</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171.2</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34.2</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136.8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vapour pressure of a solvent decreased by 10 mm of mercury when a non-volatile solute was added to the solvent. The mole fraction of solute in the solution is 0.2. What should be the mole fraction of the solvent if the decrease in vapour pressure is to be 20 mm of mercury?</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0.4</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0.6</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0.8</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0.2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pPr algn="l"/>
            <a:r>
              <a:rPr sz="1800" b="1">
                <a:solidFill>
                  <a:srgbClr val="FAD02C"/>
                </a:solidFill>
                <a:latin typeface="Cambria"/>
              </a:rPr>
              <a:t>If 0.15 g of a solute, dissolved in 15 g of solvent, is boiled at a temperature higher by 0.216°C, than that of the pure solvent. The molecular weight of the substance, (Molal elevation constant for the solvent is 2.16°
C) is</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10.1</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100</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1.01</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1000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vapour pressure of benzene at a certain temperature is 640 mm of Hg. A non-volatile and non-electrolyte solid, weighing 2.175 g is added to 39.08 g of benzene. The vapour pressure of the solution is 600 mm of Hg. What is the molecular weight of solid substance?</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69.45</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59.6</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49.50</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79.8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From the colligative properties of solution which one is the best method for the determination of molecular weight of proteins and polymers?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Osmotic pressure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Lowering in vapour pressure</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Lowering in freezing point</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Elevation in boiling point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Molarity of liquid HCl, if density of solution is 1.17 gm/cc is</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36.5</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18.25</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32.05</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42.10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contains non-volatile solute of molecular mass M₂. Which of the following can be used to calculate the molecular mass of solute in terms of osmotic pressure (π; m₂ = mass of solute, V = volume of solution)?</a:t>
            </a:r>
          </a:p>
        </p:txBody>
      </p:sp>
      <p:sp>
        <p:nvSpPr>
          <p:cNvPr id="4" name="TextBox 3"/>
          <p:cNvSpPr txBox="1"/>
          <p:nvPr/>
        </p:nvSpPr>
        <p:spPr>
          <a:xfrm>
            <a:off x="457200"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M₂ =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d>
                      <m:dPr>
                        <m:ctrlPr>
                          <w:rPr>
                            <w:rFonts w:ascii="Cambria Math" w:hAnsi="Cambria Math" w:cs="Times New Roman"/>
                            <w:b/>
                            <w:i/>
                            <w:sz w:val="24"/>
                            <w:szCs w:val="24"/>
                            <w:color w:val="F0F0F0"/>
                          </w:rPr>
                        </m:ctrlPr>
                      </m:dPr>
                      <m:e>
                        <m:f>
                          <m:fPr>
                            <m:ctrlPr>
                              <w:rPr>
                                <w:rFonts w:ascii="Cambria Math" w:hAnsi="Cambria Math" w:cs="Times New Roman"/>
                                <w:b/>
                                <w:i/>
                                <w:sz w:val="24"/>
                                <w:szCs w:val="24"/>
                                <w:color w:val="F0F0F0"/>
                              </w:rPr>
                            </m:ctrlPr>
                          </m:fPr>
                          <m:num>
                            <m:r>
                              <m:rPr>
                                <m:sty m:val="p"/>
                                <m:ctrlPr>
                                  <w:rPr>
                                    <w:b/>
                                    <w:color w:val="F0F0F0"/>
                                  </w:rPr>
                                </m:ctrlPr>
                              </m:rPr>
                              <w:rPr>
                                <w:rFonts w:ascii="Cambria Math" w:hAnsi="Cambria Math" w:cs="Times New Roman"/>
                                <w:sz w:val="24"/>
                                <w:szCs w:val="24"/>
                              </w:rPr>
                              <m:t>m₂</m:t>
                            </m:r>
                          </m:num>
                          <m:den>
                            <m:r>
                              <m:rPr>
                                <m:sty m:val="p"/>
                                <m:ctrlPr>
                                  <w:rPr>
                                    <w:b/>
                                    <w:color w:val="F0F0F0"/>
                                  </w:rPr>
                                </m:ctrlPr>
                              </m:rPr>
                              <w:rPr>
                                <w:rFonts w:ascii="Cambria Math" w:hAnsi="Cambria Math" w:cs="Times New Roman"/>
                                <w:sz w:val="24"/>
                                <w:szCs w:val="24"/>
                              </w:rPr>
                              <m:t>π</m:t>
                            </m:r>
                          </m:den>
                        </m:f>
                      </m:e>
                    </m:d>
                  </m:oMath>
                </a14:m>
              </mc:Choice>
              <mc:Fallback>
                <a:r>
                  <a:rPr lang="en-US" sz="1600" b="1">
                    <a:solidFill>
                      <a:srgbClr val="F0F0F0"/>
                    </a:solidFill>
                    <a:latin typeface="Cambria"/>
                  </a:rPr>
                  <a:t>((m₂)/(π ))</a:t>
                </a:r>
              </mc:Fallback>
            </mc:AlternateContent>
            <a:r>
              <a:rPr sz="1600" b="1" i="0" u="none">
                <a:solidFill>
                  <a:srgbClr val="F0F0F0"/>
                </a:solidFill>
                <a:latin typeface="Cambria"/>
              </a:rPr>
              <a:t> </a:t>
            </a:r>
            <a:r>
              <a:rPr sz="1600" b="1" i="0" u="none">
                <a:solidFill>
                  <a:srgbClr val="F0F0F0"/>
                </a:solidFill>
                <a:latin typeface="Cambria"/>
              </a:rPr>
              <a:t>VRT</a:t>
            </a:r>
          </a:p>
        </p:txBody>
      </p:sp>
      <p:sp>
        <p:nvSpPr>
          <p:cNvPr id="5" name="TextBox 4"/>
          <p:cNvSpPr txBox="1"/>
          <p:nvPr/>
        </p:nvSpPr>
        <p:spPr>
          <a:xfrm>
            <a:off x="6254496"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M₂ =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d>
                      <m:dPr>
                        <m:ctrlPr>
                          <w:rPr>
                            <w:rFonts w:ascii="Cambria Math" w:hAnsi="Cambria Math" w:cs="Times New Roman"/>
                            <w:b/>
                            <w:i/>
                            <w:sz w:val="24"/>
                            <w:szCs w:val="24"/>
                            <w:color w:val="F0F0F0"/>
                          </w:rPr>
                        </m:ctrlPr>
                      </m:dPr>
                      <m:e>
                        <m:f>
                          <m:fPr>
                            <m:ctrlPr>
                              <w:rPr>
                                <w:rFonts w:ascii="Cambria Math" w:hAnsi="Cambria Math" w:cs="Times New Roman"/>
                                <w:b/>
                                <w:i/>
                                <w:sz w:val="24"/>
                                <w:szCs w:val="24"/>
                                <w:color w:val="F0F0F0"/>
                              </w:rPr>
                            </m:ctrlPr>
                          </m:fPr>
                          <m:num>
                            <m:r>
                              <m:rPr>
                                <m:sty m:val="p"/>
                                <m:ctrlPr>
                                  <w:rPr>
                                    <w:b/>
                                    <w:color w:val="F0F0F0"/>
                                  </w:rPr>
                                </m:ctrlPr>
                              </m:rPr>
                              <w:rPr>
                                <w:rFonts w:ascii="Cambria Math" w:hAnsi="Cambria Math" w:cs="Times New Roman"/>
                                <w:sz w:val="24"/>
                                <w:szCs w:val="24"/>
                              </w:rPr>
                              <m:t>m₂</m:t>
                            </m:r>
                          </m:num>
                          <m:den>
                            <m:r>
                              <m:rPr>
                                <m:sty m:val="p"/>
                                <m:ctrlPr>
                                  <w:rPr>
                                    <w:b/>
                                    <w:color w:val="F0F0F0"/>
                                  </w:rPr>
                                </m:ctrlPr>
                              </m:rPr>
                              <w:rPr>
                                <w:rFonts w:ascii="Cambria Math" w:hAnsi="Cambria Math" w:cs="Times New Roman"/>
                                <w:sz w:val="24"/>
                                <w:szCs w:val="24"/>
                              </w:rPr>
                              <m:t>v</m:t>
                            </m:r>
                          </m:den>
                        </m:f>
                      </m:e>
                    </m:d>
                  </m:oMath>
                </a14:m>
              </mc:Choice>
              <mc:Fallback>
                <a:r>
                  <a:rPr lang="en-US" sz="1600" b="1">
                    <a:solidFill>
                      <a:srgbClr val="F0F0F0"/>
                    </a:solidFill>
                    <a:latin typeface="Cambria"/>
                  </a:rPr>
                  <a:t>((m₂)/(v))</a:t>
                </a:r>
              </mc:Fallback>
            </mc:AlternateContent>
            <a:r>
              <a:rPr sz="1600" b="1" i="0" u="none">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f>
                      <m:fPr>
                        <m:ctrlPr>
                          <w:rPr>
                            <w:rFonts w:ascii="Cambria Math" w:hAnsi="Cambria Math" w:cs="Times New Roman"/>
                            <w:b/>
                            <w:i/>
                            <w:sz w:val="24"/>
                            <w:szCs w:val="24"/>
                            <w:color w:val="F0F0F0"/>
                          </w:rPr>
                        </m:ctrlPr>
                      </m:fPr>
                      <m:num>
                        <m:r>
                          <m:rPr>
                            <m:ctrlPr>
                              <w:rPr>
                                <w:b/>
                                <w:color w:val="F0F0F0"/>
                              </w:rPr>
                            </m:ctrlPr>
                          </m:rPr>
                          <w:rPr>
                            <w:rFonts w:ascii="Cambria Math" w:hAnsi="Cambria Math" w:cs="Times New Roman"/>
                            <w:sz w:val="24"/>
                            <w:szCs w:val="24"/>
                          </w:rPr>
                          <m:t>RT</m:t>
                        </m:r>
                      </m:num>
                      <m:den>
                        <m:r>
                          <m:rPr>
                            <m:ctrlPr>
                              <w:rPr>
                                <w:b/>
                                <w:color w:val="F0F0F0"/>
                              </w:rPr>
                            </m:ctrlPr>
                          </m:rPr>
                          <w:rPr>
                            <w:rFonts w:ascii="Cambria Math" w:hAnsi="Cambria Math" w:cs="Times New Roman"/>
                            <w:sz w:val="24"/>
                            <w:szCs w:val="24"/>
                          </w:rPr>
                          <m:t>π</m:t>
                        </m:r>
                      </m:den>
                    </m:f>
                  </m:oMath>
                </a14:m>
              </mc:Choice>
              <mc:Fallback>
                <a:r>
                  <a:rPr lang="en-US" sz="1600" b="1">
                    <a:solidFill>
                      <a:srgbClr val="F0F0F0"/>
                    </a:solidFill>
                    <a:latin typeface="Cambria"/>
                  </a:rPr>
                  <a:t>(RT)/(π )</a:t>
                </a:r>
              </mc:Fallback>
            </mc:AlternateContent>
          </a:p>
        </p:txBody>
      </p:sp>
      <p:sp>
        <p:nvSpPr>
          <p:cNvPr id="6" name="TextBox 5"/>
          <p:cNvSpPr txBox="1"/>
          <p:nvPr/>
        </p:nvSpPr>
        <p:spPr>
          <a:xfrm>
            <a:off x="457200" y="2277770"/>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M₂ =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d>
                      <m:dPr>
                        <m:ctrlPr>
                          <w:rPr>
                            <w:rFonts w:ascii="Cambria Math" w:hAnsi="Cambria Math" w:cs="Times New Roman"/>
                            <w:b/>
                            <w:i/>
                            <w:sz w:val="24"/>
                            <w:szCs w:val="24"/>
                            <w:color w:val="F0F0F0"/>
                          </w:rPr>
                        </m:ctrlPr>
                      </m:dPr>
                      <m:e>
                        <m:f>
                          <m:fPr>
                            <m:ctrlPr>
                              <w:rPr>
                                <w:rFonts w:ascii="Cambria Math" w:hAnsi="Cambria Math" w:cs="Times New Roman"/>
                                <w:b/>
                                <w:i/>
                                <w:sz w:val="24"/>
                                <w:szCs w:val="24"/>
                                <w:color w:val="F0F0F0"/>
                              </w:rPr>
                            </m:ctrlPr>
                          </m:fPr>
                          <m:num>
                            <m:r>
                              <m:rPr>
                                <m:sty m:val="p"/>
                                <m:ctrlPr>
                                  <w:rPr>
                                    <w:b/>
                                    <w:color w:val="F0F0F0"/>
                                  </w:rPr>
                                </m:ctrlPr>
                              </m:rPr>
                              <w:rPr>
                                <w:rFonts w:ascii="Cambria Math" w:hAnsi="Cambria Math" w:cs="Times New Roman"/>
                                <w:sz w:val="24"/>
                                <w:szCs w:val="24"/>
                                <w:lang w:val="sv-SE"/>
                              </w:rPr>
                              <m:t>m₂</m:t>
                            </m:r>
                          </m:num>
                          <m:den>
                            <m:r>
                              <m:rPr>
                                <m:sty m:val="p"/>
                                <m:ctrlPr>
                                  <w:rPr>
                                    <w:b/>
                                    <w:color w:val="F0F0F0"/>
                                  </w:rPr>
                                </m:ctrlPr>
                              </m:rPr>
                              <w:rPr>
                                <w:rFonts w:ascii="Cambria Math" w:hAnsi="Cambria Math" w:cs="Times New Roman"/>
                                <w:sz w:val="24"/>
                                <w:szCs w:val="24"/>
                                <w:lang w:val="sv-SE"/>
                              </w:rPr>
                              <m:t>v</m:t>
                            </m:r>
                          </m:den>
                        </m:f>
                      </m:e>
                    </m:d>
                  </m:oMath>
                </a14:m>
              </mc:Choice>
              <mc:Fallback>
                <a:r>
                  <a:rPr lang="en-US" sz="1600" b="1">
                    <a:solidFill>
                      <a:srgbClr val="F0F0F0"/>
                    </a:solidFill>
                    <a:latin typeface="Cambria"/>
                  </a:rPr>
                  <a:t>((m₂)/(v))</a:t>
                </a:r>
              </mc:Fallback>
            </mc:AlternateContent>
            <a:r>
              <a:rPr sz="1600" b="1" i="0" u="none">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r>
                      <m:rPr>
                        <m:ctrlPr>
                          <w:rPr>
                            <w:b/>
                            <w:color w:val="F0F0F0"/>
                          </w:rPr>
                        </m:ctrlPr>
                      </m:rPr>
                      <w:rPr>
                        <w:rFonts w:ascii="Cambria Math" w:hAnsi="Cambria Math" w:cs="Times New Roman"/>
                        <w:sz w:val="24"/>
                        <w:szCs w:val="24"/>
                      </w:rPr>
                      <m:t>π</m:t>
                    </m:r>
                  </m:oMath>
                </a14:m>
              </mc:Choice>
              <mc:Fallback>
                <a:r>
                  <a:rPr lang="en-US" sz="1600" b="1">
                    <a:solidFill>
                      <a:srgbClr val="F0F0F0"/>
                    </a:solidFill>
                    <a:latin typeface="Cambria"/>
                  </a:rPr>
                  <a:t>π</a:t>
                </a:r>
              </mc:Fallback>
            </mc:AlternateContent>
            <a:r>
              <a:rPr sz="1600" b="1" i="0" u="none">
                <a:solidFill>
                  <a:srgbClr val="F0F0F0"/>
                </a:solidFill>
                <a:latin typeface="Cambria"/>
              </a:rPr>
              <a:t>RT</a:t>
            </a:r>
          </a:p>
        </p:txBody>
      </p:sp>
      <p:sp>
        <p:nvSpPr>
          <p:cNvPr id="7" name="TextBox 6"/>
          <p:cNvSpPr txBox="1"/>
          <p:nvPr/>
        </p:nvSpPr>
        <p:spPr>
          <a:xfrm>
            <a:off x="6254496" y="2277770"/>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M₂ =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d>
                      <m:dPr>
                        <m:ctrlPr>
                          <w:rPr>
                            <w:rFonts w:ascii="Cambria Math" w:hAnsi="Cambria Math" w:cs="Times New Roman"/>
                            <w:b/>
                            <w:i/>
                            <w:sz w:val="24"/>
                            <w:szCs w:val="24"/>
                            <w:color w:val="F0F0F0"/>
                          </w:rPr>
                        </m:ctrlPr>
                      </m:dPr>
                      <m:e>
                        <m:f>
                          <m:fPr>
                            <m:ctrlPr>
                              <w:rPr>
                                <w:rFonts w:ascii="Cambria Math" w:hAnsi="Cambria Math" w:cs="Times New Roman"/>
                                <w:b/>
                                <w:i/>
                                <w:sz w:val="24"/>
                                <w:szCs w:val="24"/>
                                <w:color w:val="F0F0F0"/>
                              </w:rPr>
                            </m:ctrlPr>
                          </m:fPr>
                          <m:num>
                            <m:r>
                              <m:rPr>
                                <m:sty m:val="p"/>
                                <m:ctrlPr>
                                  <w:rPr>
                                    <w:b/>
                                    <w:color w:val="F0F0F0"/>
                                  </w:rPr>
                                </m:ctrlPr>
                              </m:rPr>
                              <w:rPr>
                                <w:rFonts w:ascii="Cambria Math" w:hAnsi="Cambria Math" w:cs="Times New Roman"/>
                                <w:sz w:val="24"/>
                                <w:szCs w:val="24"/>
                                <w:lang w:val="sv-SE"/>
                              </w:rPr>
                              <m:t>m₂</m:t>
                            </m:r>
                          </m:num>
                          <m:den>
                            <m:r>
                              <m:rPr>
                                <m:sty m:val="p"/>
                                <m:ctrlPr>
                                  <w:rPr>
                                    <w:b/>
                                    <w:color w:val="F0F0F0"/>
                                  </w:rPr>
                                </m:ctrlPr>
                              </m:rPr>
                              <w:rPr>
                                <w:rFonts w:ascii="Cambria Math" w:hAnsi="Cambria Math" w:cs="Times New Roman"/>
                                <w:sz w:val="24"/>
                                <w:szCs w:val="24"/>
                                <w:lang w:val="sv-SE"/>
                              </w:rPr>
                              <m:t>v</m:t>
                            </m:r>
                          </m:den>
                        </m:f>
                      </m:e>
                    </m:d>
                  </m:oMath>
                </a14:m>
              </mc:Choice>
              <mc:Fallback>
                <a:r>
                  <a:rPr lang="en-US" sz="1600" b="1">
                    <a:solidFill>
                      <a:srgbClr val="F0F0F0"/>
                    </a:solidFill>
                    <a:latin typeface="Cambria"/>
                  </a:rPr>
                  <a:t>((m₂)/(v))</a:t>
                </a:r>
              </mc:Fallback>
            </mc:AlternateContent>
            <a:r>
              <a:rPr sz="1600" b="1" i="0" u="none">
                <a:solidFill>
                  <a:srgbClr val="F0F0F0"/>
                </a:solidFill>
                <a:latin typeface="Cambria"/>
              </a:rPr>
              <a:t> </a:t>
            </a:r>
            <mc:AlternateContent xmlns:mc="http://schemas.openxmlformats.org/markup-compatibility/2006" xmlns:a14="http://schemas.microsoft.com/office/drawing/2010/main">
              <mc:Choice Requires="a14">
                <a14:m>
                  <m:oMath xmlns:m="http://schemas.openxmlformats.org/officeDocument/2006/math"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m:f>
                      <m:fPr>
                        <m:ctrlPr>
                          <w:rPr>
                            <w:rFonts w:ascii="Cambria Math" w:hAnsi="Cambria Math" w:cs="Times New Roman"/>
                            <w:b/>
                            <w:i/>
                            <w:sz w:val="24"/>
                            <w:szCs w:val="24"/>
                            <w:color w:val="F0F0F0"/>
                          </w:rPr>
                        </m:ctrlPr>
                      </m:fPr>
                      <m:num>
                        <m:r>
                          <m:rPr>
                            <m:ctrlPr>
                              <w:rPr>
                                <w:b/>
                                <w:color w:val="F0F0F0"/>
                              </w:rPr>
                            </m:ctrlPr>
                          </m:rPr>
                          <w:rPr>
                            <w:rFonts w:ascii="Cambria Math" w:hAnsi="Cambria Math" w:cs="Times New Roman"/>
                            <w:sz w:val="24"/>
                            <w:szCs w:val="24"/>
                          </w:rPr>
                          <m:t>π</m:t>
                        </m:r>
                      </m:num>
                      <m:den>
                        <m:r>
                          <m:rPr>
                            <m:ctrlPr>
                              <w:rPr>
                                <w:b/>
                                <w:color w:val="F0F0F0"/>
                              </w:rPr>
                            </m:ctrlPr>
                          </m:rPr>
                          <w:rPr>
                            <w:rFonts w:ascii="Cambria Math" w:hAnsi="Cambria Math" w:cs="Times New Roman"/>
                            <w:sz w:val="24"/>
                            <w:szCs w:val="24"/>
                          </w:rPr>
                          <m:t>RT</m:t>
                        </m:r>
                      </m:den>
                    </m:f>
                  </m:oMath>
                </a14:m>
              </mc:Choice>
              <mc:Fallback>
                <a:r>
                  <a:rPr lang="en-US" sz="1600" b="1">
                    <a:solidFill>
                      <a:srgbClr val="F0F0F0"/>
                    </a:solidFill>
                    <a:latin typeface="Cambria"/>
                  </a:rPr>
                  <a:t>(π )/(RT)</a:t>
                </a:r>
              </mc:Fallback>
            </mc:AlternateContent>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 solution containing components A and B follows Raoult’s law</a:t>
            </a:r>
          </a:p>
        </p:txBody>
      </p:sp>
      <p:sp>
        <p:nvSpPr>
          <p:cNvPr id="4" name="TextBox 3"/>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A–B attraction force is greater than A–A and B–B</a:t>
            </a:r>
          </a:p>
        </p:txBody>
      </p:sp>
      <p:sp>
        <p:nvSpPr>
          <p:cNvPr id="5" name="TextBox 4"/>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A–B attraction force is less than A–A and B–B</a:t>
            </a:r>
          </a:p>
        </p:txBody>
      </p:sp>
      <p:sp>
        <p:nvSpPr>
          <p:cNvPr id="6" name="TextBox 5"/>
          <p:cNvSpPr txBox="1"/>
          <p:nvPr/>
        </p:nvSpPr>
        <p:spPr>
          <a:xfrm>
            <a:off x="457200"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A–B attraction force remains same as A–A and B–B</a:t>
            </a:r>
          </a:p>
        </p:txBody>
      </p:sp>
      <p:sp>
        <p:nvSpPr>
          <p:cNvPr id="7" name="TextBox 6"/>
          <p:cNvSpPr txBox="1"/>
          <p:nvPr/>
        </p:nvSpPr>
        <p:spPr>
          <a:xfrm>
            <a:off x="6254496"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Volume of solution is different from sum of volume of solute and solvent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Camphor is often used in molecular mass determination because</a:t>
            </a:r>
          </a:p>
        </p:txBody>
      </p:sp>
      <p:sp>
        <p:nvSpPr>
          <p:cNvPr id="4" name="TextBox 3"/>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It is readily available</a:t>
            </a:r>
          </a:p>
        </p:txBody>
      </p:sp>
      <p:sp>
        <p:nvSpPr>
          <p:cNvPr id="5" name="TextBox 4"/>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It has very high cryoscopic constant</a:t>
            </a:r>
          </a:p>
        </p:txBody>
      </p:sp>
      <p:sp>
        <p:nvSpPr>
          <p:cNvPr id="6" name="TextBox 5"/>
          <p:cNvSpPr txBox="1"/>
          <p:nvPr/>
        </p:nvSpPr>
        <p:spPr>
          <a:xfrm>
            <a:off x="457200"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It is volatile</a:t>
            </a:r>
          </a:p>
        </p:txBody>
      </p:sp>
      <p:sp>
        <p:nvSpPr>
          <p:cNvPr id="7" name="TextBox 6"/>
          <p:cNvSpPr txBox="1"/>
          <p:nvPr/>
        </p:nvSpPr>
        <p:spPr>
          <a:xfrm>
            <a:off x="6254496"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It is solvent for organic substances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condition is not satisfied by an ideal solution?</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H = 0</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V = 0</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F0F0F0"/>
                </a:solidFill>
                <a:latin typeface="Cambria"/>
              </a:rPr>
              <a:t>Δ</a:t>
            </a:r>
            <a:r>
              <a:rPr sz="1600" b="1" i="0" u="none" baseline="-25000">
                <a:solidFill>
                  <a:srgbClr val="F0F0F0"/>
                </a:solidFill>
                <a:latin typeface="Cambria"/>
              </a:rPr>
              <a:t>mix</a:t>
            </a:r>
            <a:r>
              <a:rPr sz="1600" b="1" i="0" u="none">
                <a:solidFill>
                  <a:srgbClr val="F0F0F0"/>
                </a:solidFill>
                <a:latin typeface="Cambria"/>
              </a:rPr>
              <a:t> </a:t>
            </a:r>
            <a:r>
              <a:rPr sz="1600" b="1" i="0" u="none">
                <a:solidFill>
                  <a:srgbClr val="F0F0F0"/>
                </a:solidFill>
                <a:latin typeface="Cambria"/>
              </a:rPr>
              <a:t>S = 0</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F0F0F0"/>
                </a:solidFill>
                <a:latin typeface="Cambria"/>
              </a:rPr>
              <a:t>Obeyance to Raoult’s Law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