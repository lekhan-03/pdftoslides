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AD02C"/>
                </a:solidFill>
                <a:latin typeface="Cambria"/>
              </a:rPr>
              <a:t>Test3 — Practice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AAAAAA"/>
                </a:solidFill>
                <a:latin typeface="Cambria"/>
              </a:rPr>
              <a:t>73 Questions (3 Flagged for Review) · Exam Prep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2024M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The point of inflection of the function y = x³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(2, 8)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(1, 1)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(0, 0)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(-3, -27)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1014984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85039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2025M-1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The absolute maximum value of the function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w:rPr>
                        <w:rFonts w:ascii="Cambria Math" w:hAnsi="Cambria Math"/>
                      </w:rPr>
                      <m:t>f</m:t>
                    </m:r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f</a:t>
                </a:r>
              </mc:Fallback>
            </mc:AlternateContent>
            <a:r>
              <a:rPr sz="1800" b="1" i="0" u="none">
                <a:solidFill>
                  <a:srgbClr val="FAD02C"/>
                </a:solidFill>
                <a:latin typeface="Cambria"/>
              </a:rPr>
              <a:t>given by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w:rPr>
                        <w:rFonts w:ascii="Cambria Math" w:hAnsi="Cambria Math"/>
                      </w:rPr>
                      <m:t>f(x)=</m:t>
                    </m:r>
                    <m:sSup>
                      <m:sSupPr>
                        <m:ctrlPr>
                          <w:rPr>
                            <w:rFonts w:ascii="Cambria Math" w:hAnsi="Cambria Math"/>
                            <w:color w:val="FAD02C"/>
                          </w:rPr>
                        </m:ctrlPr>
                      </m:sSupPr>
                      <m:e>
                        <m:r>
                          <m:rPr>
                            <m:ctrlPr>
                              <w:rPr>
                                <w:color w:val="FAD02C"/>
                              </w:rPr>
                            </m:ctrlPr>
                          </m:rPr>
                          <w:rPr>
                            <w:rFonts w:ascii="Cambria Math" w:hAnsi="Cambria Math"/>
                          </w:rPr>
                          <m:t>x</m:t>
                        </m:r>
                      </m:e>
                      <m:sup>
                        <m:r>
                          <m:rPr>
                            <m:ctrlPr>
                              <w:rPr>
                                <w:color w:val="FAD02C"/>
                              </w:rPr>
                            </m:ctrlPr>
                          </m:rPr>
                          <w:rPr>
                            <w:rFonts w:ascii="Cambria Math" w:hAnsi="Cambria Math"/>
                          </w:rPr>
                          <m:t>3</m:t>
                        </m:r>
                      </m:sup>
                    </m:sSup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w:rPr>
                        <w:rFonts w:ascii="Cambria Math" w:hAnsi="Cambria Math"/>
                      </w:rPr>
                      <m:t>,</m:t>
                    </m:r>
                    <m:r>
                      <m:rPr>
                        <m:nor/>
                        <m:ctrlPr>
                          <w:rPr>
                            <w:color w:val="FAD02C"/>
                          </w:rPr>
                        </m:ctrlPr>
                      </m:rPr>
                      <m:t>  </m:t>
                    </m:r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w:rPr>
                        <w:rFonts w:ascii="Cambria Math" w:hAnsi="Cambria Math"/>
                      </w:rPr>
                      <m:t>x∈[-2,2]</m:t>
                    </m:r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f(x)=x³, x∈[-2,2]</a:t>
                </a:r>
              </mc:Fallback>
            </mc:AlternateContent>
            <a:r>
              <a:rPr sz="1800" b="1" i="0" u="none">
                <a:solidFill>
                  <a:srgbClr val="FAD02C"/>
                </a:solidFill>
                <a:latin typeface="Cambria"/>
              </a:rPr>
              <a:t>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8623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m:rPr>
                        <m:ctrlPr>
                          <w:rPr>
                            <w:color w:val="F0F0F0"/>
                          </w:rPr>
                        </m:ctrlPr>
                      </m:rPr>
                      <w:rPr>
                        <w:rFonts w:ascii="Cambria Math" w:hAnsi="Cambria Math"/>
                      </w:rPr>
                      <m:t>-2</m:t>
                    </m:r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-2</a:t>
                </a:r>
              </mc:Fallback>
            </mc:AlternateContent>
          </a:p>
        </p:txBody>
      </p:sp>
      <p:sp>
        <p:nvSpPr>
          <p:cNvPr id="8" name="TextBox 7"/>
          <p:cNvSpPr txBox="1"/>
          <p:nvPr/>
        </p:nvSpPr>
        <p:spPr>
          <a:xfrm>
            <a:off x="3321558" y="138623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m:rPr>
                        <m:ctrlPr>
                          <w:rPr>
                            <w:color w:val="F0F0F0"/>
                          </w:rPr>
                        </m:ctrlPr>
                      </m:rPr>
                      <w:rPr>
                        <w:rFonts w:ascii="Cambria Math" w:hAnsi="Cambria Math"/>
                      </w:rPr>
                      <m:t>2</m:t>
                    </m:r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2</a:t>
                </a:r>
              </mc:Fallback>
            </mc:AlternateContent>
          </a:p>
        </p:txBody>
      </p:sp>
      <p:sp>
        <p:nvSpPr>
          <p:cNvPr id="9" name="TextBox 8"/>
          <p:cNvSpPr txBox="1"/>
          <p:nvPr/>
        </p:nvSpPr>
        <p:spPr>
          <a:xfrm>
            <a:off x="6185916" y="138623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m:rPr>
                        <m:ctrlPr>
                          <w:rPr>
                            <w:color w:val="F0F0F0"/>
                          </w:rPr>
                        </m:ctrlPr>
                      </m:rPr>
                      <w:rPr>
                        <w:rFonts w:ascii="Cambria Math" w:hAnsi="Cambria Math"/>
                      </w:rPr>
                      <m:t>0</m:t>
                    </m:r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0</a:t>
                </a:r>
              </mc:Fallback>
            </mc:AlternateContent>
          </a:p>
        </p:txBody>
      </p:sp>
      <p:sp>
        <p:nvSpPr>
          <p:cNvPr id="10" name="TextBox 9"/>
          <p:cNvSpPr txBox="1"/>
          <p:nvPr/>
        </p:nvSpPr>
        <p:spPr>
          <a:xfrm>
            <a:off x="9050274" y="138623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m:rPr>
                        <m:ctrlPr>
                          <w:rPr>
                            <w:color w:val="F0F0F0"/>
                          </w:rPr>
                        </m:ctrlPr>
                      </m:rPr>
                      <w:rPr>
                        <w:rFonts w:ascii="Cambria Math" w:hAnsi="Cambria Math"/>
                      </w:rPr>
                      <m:t>8</m:t>
                    </m:r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8</a:t>
                </a:r>
              </mc:Fallback>
            </mc:AlternateContent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2025M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The function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w:rPr>
                        <w:rFonts w:ascii="Cambria Math" w:hAnsi="Cambria Math"/>
                      </w:rPr>
                      <m:t>f</m:t>
                    </m:r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f</a:t>
                </a:r>
              </mc:Fallback>
            </mc:AlternateContent>
            <a:r>
              <a:rPr sz="1800" b="1" i="0" u="none">
                <a:solidFill>
                  <a:srgbClr val="FAD02C"/>
                </a:solidFill>
                <a:latin typeface="Cambria"/>
              </a:rPr>
              <a:t>given by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w:rPr>
                        <w:rFonts w:ascii="Cambria Math" w:hAnsi="Cambria Math"/>
                      </w:rPr>
                      <m:t>f(x)=</m:t>
                    </m:r>
                    <m:r>
                      <m:rPr>
                        <m:sty m:val="p"/>
                        <m:ctrlPr>
                          <w:rPr>
                            <w:color w:val="FAD02C"/>
                          </w:rPr>
                        </m:ctrlPr>
                      </m:rPr>
                      <w:rPr>
                        <w:rFonts w:ascii="Cambria Math" w:hAnsi="Cambria Math"/>
                      </w:rPr>
                      <m:t>log</m:t>
                    </m:r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w:rPr>
                        <w:rFonts w:ascii="Cambria Math" w:hAnsi="Cambria Math"/>
                      </w:rPr>
                      <m:t>⁡(</m:t>
                    </m:r>
                    <m:r>
                      <m:rPr>
                        <m:sty m:val="p"/>
                        <m:ctrlPr>
                          <w:rPr>
                            <w:color w:val="FAD02C"/>
                          </w:rPr>
                        </m:ctrlPr>
                      </m:rPr>
                      <w:rPr>
                        <w:rFonts w:ascii="Cambria Math" w:hAnsi="Cambria Math"/>
                      </w:rPr>
                      <m:t>sin</m:t>
                    </m:r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w:rPr>
                        <w:rFonts w:ascii="Cambria Math" w:hAnsi="Cambria Math"/>
                      </w:rPr>
                      <m:t>⁡x)</m:t>
                    </m:r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f(x)=log(sin(x))</a:t>
                </a:r>
              </mc:Fallback>
            </mc:AlternateContent>
            <a:r>
              <a:rPr sz="1800" b="1" i="0" u="none">
                <a:solidFill>
                  <a:srgbClr val="FAD02C"/>
                </a:solidFill>
                <a:latin typeface="Cambria"/>
              </a:rPr>
              <a:t>is increasing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d>
                      <m:dPr>
                        <m:sepChr m:val=","/>
                        <m:ctrlPr>
                          <w:rPr>
                            <w:rFonts w:ascii="Cambria Math" w:hAnsi="Cambria Math"/>
                            <w:color w:val="F0F0F0"/>
                          </w:rPr>
                        </m:ctrlPr>
                      </m:dPr>
                      <m:e>
                        <m:r>
                          <m:rPr>
                            <m:ctrlPr>
                              <w:rPr>
                                <w:color w:val="F0F0F0"/>
                              </w:rPr>
                            </m:ctrlPr>
                          </m:rPr>
                          <w:rPr>
                            <w:rFonts w:ascii="Cambria Math" w:hAnsi="Cambria Math"/>
                            <w:lang w:val="pt-BR"/>
                          </w:rPr>
                          <m:t>0</m:t>
                        </m:r>
                      </m:e>
                      <m:e>
                        <m:r>
                          <m:rPr>
                            <m:ctrlPr>
                              <w:rPr>
                                <w:color w:val="F0F0F0"/>
                              </w:rPr>
                            </m:ctrlPr>
                          </m:rPr>
                          <w:rPr>
                            <w:rFonts w:ascii="Cambria Math" w:hAnsi="Cambria Math"/>
                          </w:rPr>
                          <m:t>π</m:t>
                        </m:r>
                      </m:e>
                    </m:d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(0)</a:t>
                </a:r>
              </mc:Fallback>
            </mc:AlternateContent>
          </a:p>
        </p:txBody>
      </p:sp>
      <p:sp>
        <p:nvSpPr>
          <p:cNvPr id="8" name="TextBox 7"/>
          <p:cNvSpPr txBox="1"/>
          <p:nvPr/>
        </p:nvSpPr>
        <p:spPr>
          <a:xfrm>
            <a:off x="3321558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d>
                      <m:dPr>
                        <m:sepChr m:val=","/>
                        <m:ctrlPr>
                          <w:rPr>
                            <w:rFonts w:ascii="Cambria Math" w:hAnsi="Cambria Math"/>
                            <w:color w:val="F0F0F0"/>
                          </w:rPr>
                        </m:ctrlPr>
                      </m:dPr>
                      <m:e>
                        <m:r>
                          <m:rPr>
                            <m:ctrlPr>
                              <w:rPr>
                                <w:color w:val="F0F0F0"/>
                              </w:rPr>
                            </m:ctrlPr>
                          </m:rPr>
                          <w:rPr>
                            <w:rFonts w:ascii="Cambria Math" w:hAnsi="Cambria Math"/>
                          </w:rPr>
                          <m:t>π</m:t>
                        </m:r>
                      </m:e>
                      <m:e>
                        <m:f>
                          <m:fPr>
                            <m:ctrlPr>
                              <w:rPr>
                                <w:rFonts w:ascii="Cambria Math" w:hAnsi="Cambria Math"/>
                                <w:color w:val="F0F0F0"/>
                              </w:rPr>
                            </m:ctrlPr>
                          </m:fPr>
                          <m:num>
                            <m:r>
                              <m:rPr>
                                <m:ctrlPr>
                                  <w:rPr>
                                    <w:color w:val="F0F0F0"/>
                                  </w:rPr>
                                </m:ctrlPr>
                              </m:rPr>
                              <w:rPr>
                                <w:rFonts w:ascii="Cambria Math" w:hAnsi="Cambria Math"/>
                                <w:lang w:val="pt-BR"/>
                              </w:rPr>
                              <m:t>3</m:t>
                            </m:r>
                            <m:r>
                              <m:rPr>
                                <m:ctrlPr>
                                  <w:rPr>
                                    <w:color w:val="F0F0F0"/>
                                  </w:rPr>
                                </m:ctrlPr>
                              </m:rPr>
                              <w:rPr>
                                <w:rFonts w:ascii="Cambria Math" w:hAnsi="Cambria Math"/>
                              </w:rPr>
                              <m:t>π</m:t>
                            </m:r>
                          </m:num>
                          <m:den>
                            <m:r>
                              <m:rPr>
                                <m:ctrlPr>
                                  <w:rPr>
                                    <w:color w:val="F0F0F0"/>
                                  </w:rPr>
                                </m:ctrlPr>
                              </m:rPr>
                              <w:rPr>
                                <w:rFonts w:ascii="Cambria Math" w:hAnsi="Cambria Math"/>
                                <w:lang w:val="pt-BR"/>
                              </w:rPr>
                              <m:t>2</m:t>
                            </m:r>
                          </m:den>
                        </m:f>
                      </m:e>
                    </m:d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(π )</a:t>
                </a:r>
              </mc:Fallback>
            </mc:AlternateContent>
          </a:p>
        </p:txBody>
      </p:sp>
      <p:sp>
        <p:nvSpPr>
          <p:cNvPr id="9" name="TextBox 8"/>
          <p:cNvSpPr txBox="1"/>
          <p:nvPr/>
        </p:nvSpPr>
        <p:spPr>
          <a:xfrm>
            <a:off x="6185916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d>
                      <m:dPr>
                        <m:sepChr m:val=","/>
                        <m:ctrlPr>
                          <w:rPr>
                            <w:rFonts w:ascii="Cambria Math" w:hAnsi="Cambria Math"/>
                            <w:color w:val="F0F0F0"/>
                          </w:rPr>
                        </m:ctrlPr>
                      </m:dPr>
                      <m:e>
                        <m:f>
                          <m:fPr>
                            <m:ctrlPr>
                              <w:rPr>
                                <w:rFonts w:ascii="Cambria Math" w:hAnsi="Cambria Math"/>
                                <w:color w:val="F0F0F0"/>
                              </w:rPr>
                            </m:ctrlPr>
                          </m:fPr>
                          <m:num>
                            <m:r>
                              <m:rPr>
                                <m:ctrlPr>
                                  <w:rPr>
                                    <w:color w:val="F0F0F0"/>
                                  </w:rPr>
                                </m:ctrlPr>
                              </m:rPr>
                              <w:rPr>
                                <w:rFonts w:ascii="Cambria Math" w:hAnsi="Cambria Math"/>
                              </w:rPr>
                              <m:t>π</m:t>
                            </m:r>
                          </m:num>
                          <m:den>
                            <m:r>
                              <m:rPr>
                                <m:ctrlPr>
                                  <w:rPr>
                                    <w:color w:val="F0F0F0"/>
                                  </w:rPr>
                                </m:ctrlPr>
                              </m:rPr>
                              <w:rPr>
                                <w:rFonts w:ascii="Cambria Math" w:hAnsi="Cambria Math"/>
                                <w:lang w:val="pt-BR"/>
                              </w:rPr>
                              <m:t>2</m:t>
                            </m:r>
                          </m:den>
                        </m:f>
                      </m:e>
                      <m:e>
                        <m:r>
                          <m:rPr>
                            <m:ctrlPr>
                              <w:rPr>
                                <w:color w:val="F0F0F0"/>
                              </w:rPr>
                            </m:ctrlPr>
                          </m:rPr>
                          <w:rPr>
                            <w:rFonts w:ascii="Cambria Math" w:hAnsi="Cambria Math"/>
                          </w:rPr>
                          <m:t>π</m:t>
                        </m:r>
                      </m:e>
                    </m:d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((π )/(2))</a:t>
                </a:r>
              </mc:Fallback>
            </mc:AlternateContent>
          </a:p>
        </p:txBody>
      </p:sp>
      <p:sp>
        <p:nvSpPr>
          <p:cNvPr id="10" name="TextBox 9"/>
          <p:cNvSpPr txBox="1"/>
          <p:nvPr/>
        </p:nvSpPr>
        <p:spPr>
          <a:xfrm>
            <a:off x="9050274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d>
                      <m:dPr>
                        <m:sepChr m:val=","/>
                        <m:ctrlPr>
                          <w:rPr>
                            <w:rFonts w:ascii="Cambria Math" w:hAnsi="Cambria Math"/>
                            <w:color w:val="F0F0F0"/>
                          </w:rPr>
                        </m:ctrlPr>
                      </m:dPr>
                      <m:e>
                        <m:f>
                          <m:fPr>
                            <m:ctrlPr>
                              <w:rPr>
                                <w:rFonts w:ascii="Cambria Math" w:hAnsi="Cambria Math"/>
                                <w:color w:val="F0F0F0"/>
                              </w:rPr>
                            </m:ctrlPr>
                          </m:fPr>
                          <m:num>
                            <m:r>
                              <m:rPr>
                                <m:ctrlPr>
                                  <w:rPr>
                                    <w:color w:val="F0F0F0"/>
                                  </w:rPr>
                                </m:ctrlPr>
                              </m:rPr>
                              <w:rPr>
                                <w:rFonts w:ascii="Cambria Math" w:hAnsi="Cambria Math"/>
                                <w:lang w:val="pt-BR"/>
                              </w:rPr>
                              <m:t>3</m:t>
                            </m:r>
                            <m:r>
                              <m:rPr>
                                <m:ctrlPr>
                                  <w:rPr>
                                    <w:color w:val="F0F0F0"/>
                                  </w:rPr>
                                </m:ctrlPr>
                              </m:rPr>
                              <w:rPr>
                                <w:rFonts w:ascii="Cambria Math" w:hAnsi="Cambria Math"/>
                              </w:rPr>
                              <m:t>π</m:t>
                            </m:r>
                          </m:num>
                          <m:den>
                            <m:r>
                              <m:rPr>
                                <m:ctrlPr>
                                  <w:rPr>
                                    <w:color w:val="F0F0F0"/>
                                  </w:rPr>
                                </m:ctrlPr>
                              </m:rPr>
                              <w:rPr>
                                <w:rFonts w:ascii="Cambria Math" w:hAnsi="Cambria Math"/>
                                <w:lang w:val="pt-BR"/>
                              </w:rPr>
                              <m:t>2</m:t>
                            </m:r>
                          </m:den>
                        </m:f>
                      </m:e>
                      <m:e>
                        <m:r>
                          <m:rPr>
                            <m:ctrlPr>
                              <w:rPr>
                                <w:color w:val="F0F0F0"/>
                              </w:rPr>
                            </m:ctrlPr>
                          </m:rPr>
                          <w:rPr>
                            <w:rFonts w:ascii="Cambria Math" w:hAnsi="Cambria Math"/>
                            <w:lang w:val="pt-BR"/>
                          </w:rPr>
                          <m:t>2</m:t>
                        </m:r>
                        <m:r>
                          <m:rPr>
                            <m:ctrlPr>
                              <w:rPr>
                                <w:color w:val="F0F0F0"/>
                              </w:rPr>
                            </m:ctrlPr>
                          </m:rPr>
                          <w:rPr>
                            <w:rFonts w:ascii="Cambria Math" w:hAnsi="Cambria Math"/>
                          </w:rPr>
                          <m:t>π</m:t>
                        </m:r>
                      </m:e>
                    </m:d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((3π )/(2))</a:t>
                </a:r>
              </mc:Fallback>
            </mc:AlternateContent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2025M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3494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Consider the following statements for the given function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="http://schemas.openxmlformats.org/wordprocessingml/2006/main"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m:t>y</m:t>
                    </m:r>
                    <m:r>
                      <m:rPr>
                        <m:sty m:val="p"/>
                        <m:ctrlPr>
                          <w:rPr>
                            <w:color w:val="FAD02C"/>
                          </w:rPr>
                        </m:ctrlPr>
                      </m:rPr>
                      <m:t>=</m:t>
                    </m:r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m:t>f</m:t>
                    </m:r>
                    <m:r>
                      <m:rPr>
                        <m:sty m:val="p"/>
                        <m:ctrlPr>
                          <w:rPr>
                            <w:color w:val="FAD02C"/>
                          </w:rPr>
                        </m:ctrlPr>
                      </m:rPr>
                      <m:t>(</m:t>
                    </m:r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m:t>x</m:t>
                    </m:r>
                    <m:r>
                      <m:rPr>
                        <m:sty m:val="p"/>
                        <m:ctrlPr>
                          <w:rPr>
                            <w:color w:val="FAD02C"/>
                          </w:rPr>
                        </m:ctrlPr>
                      </m:rPr>
                      <m:t>)</m:t>
                    </m:r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y=f(x)</a:t>
                </a:r>
              </mc:Fallback>
            </mc:AlternateContent>
            <a:r>
              <a:rPr sz="1800" b="1">
                <a:solidFill>
                  <a:srgbClr val="FAD02C"/>
                </a:solidFill>
                <a:latin typeface="Cambria"/>
              </a:rPr>
              <a:t>defined on an interval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="http://schemas.openxmlformats.org/wordprocessingml/2006/main"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m:t>I</m:t>
                    </m:r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I</a:t>
                </a:r>
              </mc:Fallback>
            </mc:AlternateContent>
            <a:r>
              <a:rPr sz="1800" b="1">
                <a:solidFill>
                  <a:srgbClr val="FAD02C"/>
                </a:solidFill>
                <a:latin typeface="Cambria"/>
              </a:rPr>
              <a:t>and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="http://schemas.openxmlformats.org/wordprocessingml/2006/main"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m:t>c</m:t>
                    </m:r>
                    <m:r>
                      <m:rPr>
                        <m:sty m:val="p"/>
                        <m:ctrlPr>
                          <w:rPr>
                            <w:color w:val="FAD02C"/>
                          </w:rPr>
                        </m:ctrlPr>
                      </m:rPr>
                      <m:t>∈</m:t>
                    </m:r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m:t>I</m:t>
                    </m:r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c∈I</a:t>
                </a:r>
              </mc:Fallback>
            </mc:AlternateContent>
            <a:r>
              <a:rPr sz="1800" b="1">
                <a:solidFill>
                  <a:srgbClr val="FAD02C"/>
                </a:solidFill>
                <a:latin typeface="Cambria"/>
              </a:rPr>
              <a:t>, at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="http://schemas.openxmlformats.org/wordprocessingml/2006/main"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m:t>x</m:t>
                    </m:r>
                    <m:r>
                      <m:rPr>
                        <m:sty m:val="p"/>
                        <m:ctrlPr>
                          <w:rPr>
                            <w:color w:val="FAD02C"/>
                          </w:rPr>
                        </m:ctrlPr>
                      </m:rPr>
                      <m:t>=</m:t>
                    </m:r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m:t>c</m:t>
                    </m:r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x=c</a:t>
                </a:r>
              </mc:Fallback>
            </mc:AlternateContent>
            <a:r>
              <a:rPr sz="1800" b="1">
                <a:solidFill>
                  <a:srgbClr val="FAD02C"/>
                </a:solidFill>
                <a:latin typeface="Cambria"/>
              </a:rPr>
              <a:t>
I. 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="http://schemas.openxmlformats.org/wordprocessingml/2006/main">
                    <m:sSup>
                      <m:e>
                        <m:r>
                          <m:rPr>
                            <m:ctrlPr>
                              <w:rPr>
                                <w:color w:val="FAD02C"/>
                              </w:rPr>
                            </m:ctrlPr>
                          </m:rPr>
                          <m:t>f</m:t>
                        </m:r>
                      </m:e>
                      <m:sup>
                        <m:r>
                          <m:rPr>
                            <m:sty m:val="p"/>
                            <m:ctrlPr>
                              <w:rPr>
                                <w:color w:val="FAD02C"/>
                              </w:rPr>
                            </m:ctrlPr>
                          </m:rPr>
                          <m:t>′</m:t>
                        </m:r>
                      </m:sup>
                    </m:sSup>
                    <m:r>
                      <m:rPr>
                        <m:sty m:val="p"/>
                        <m:ctrlPr>
                          <w:rPr>
                            <w:color w:val="FAD02C"/>
                          </w:rPr>
                        </m:ctrlPr>
                      </m:rPr>
                      <m:t>(</m:t>
                    </m:r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m:t>c</m:t>
                    </m:r>
                    <m:r>
                      <m:rPr>
                        <m:sty m:val="p"/>
                        <m:ctrlPr>
                          <w:rPr>
                            <w:color w:val="FAD02C"/>
                          </w:rPr>
                        </m:ctrlPr>
                      </m:rPr>
                      <m:t>)</m:t>
                    </m:r>
                    <m:r>
                      <m:rPr>
                        <m:sty m:val="p"/>
                        <m:ctrlPr>
                          <w:rPr>
                            <w:color w:val="FAD02C"/>
                          </w:rPr>
                        </m:ctrlPr>
                      </m:rPr>
                      <m:t>=</m:t>
                    </m:r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m:t>0</m:t>
                    </m:r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f^(') (c)=0</a:t>
                </a:r>
              </mc:Fallback>
            </mc:AlternateContent>
            <a:r>
              <a:rPr sz="1800" b="1">
                <a:solidFill>
                  <a:srgbClr val="FAD02C"/>
                </a:solidFill>
                <a:latin typeface="Cambria"/>
              </a:rPr>
              <a:t> and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="http://schemas.openxmlformats.org/wordprocessingml/2006/main">
                    <m:sSup>
                      <m:e>
                        <m:r>
                          <m:rPr>
                            <m:ctrlPr>
                              <w:rPr>
                                <w:color w:val="FAD02C"/>
                              </w:rPr>
                            </m:ctrlPr>
                          </m:rPr>
                          <m:t>f</m:t>
                        </m:r>
                      </m:e>
                      <m:sup>
                        <m:r>
                          <m:rPr>
                            <m:sty m:val="p"/>
                            <m:ctrlPr>
                              <w:rPr>
                                <w:color w:val="FAD02C"/>
                              </w:rPr>
                            </m:ctrlPr>
                          </m:rPr>
                          <m:t>″</m:t>
                        </m:r>
                      </m:sup>
                    </m:sSup>
                    <m:r>
                      <m:rPr>
                        <m:sty m:val="p"/>
                        <m:ctrlPr>
                          <w:rPr>
                            <w:color w:val="FAD02C"/>
                          </w:rPr>
                        </m:ctrlPr>
                      </m:rPr>
                      <m:t>(</m:t>
                    </m:r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m:t>c</m:t>
                    </m:r>
                    <m:r>
                      <m:rPr>
                        <m:sty m:val="p"/>
                        <m:ctrlPr>
                          <w:rPr>
                            <w:color w:val="FAD02C"/>
                          </w:rPr>
                        </m:ctrlPr>
                      </m:rPr>
                      <m:t>)</m:t>
                    </m:r>
                    <m:r>
                      <m:rPr>
                        <m:sty m:val="p"/>
                        <m:ctrlPr>
                          <w:rPr>
                            <w:color w:val="FAD02C"/>
                          </w:rPr>
                        </m:ctrlPr>
                      </m:rPr>
                      <m:t>&lt;</m:t>
                    </m:r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m:t>0</m:t>
                    </m:r>
                    <m:r>
                      <m:rPr>
                        <m:sty m:val="p"/>
                        <m:ctrlPr>
                          <w:rPr>
                            <w:color w:val="FAD02C"/>
                          </w:rPr>
                        </m:ctrlPr>
                      </m:rPr>
                      <m:t>⇒</m:t>
                    </m:r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m:t>f</m:t>
                    </m:r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f^('') (c)&lt;0⇒f</a:t>
                </a:r>
              </mc:Fallback>
            </mc:AlternateContent>
            <a:r>
              <a:rPr sz="1800" b="1">
                <a:solidFill>
                  <a:srgbClr val="FAD02C"/>
                </a:solidFill>
                <a:latin typeface="Cambria"/>
              </a:rPr>
              <a:t>attains local maxima
II. 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="http://schemas.openxmlformats.org/wordprocessingml/2006/main">
                    <m:sSup>
                      <m:e>
                        <m:r>
                          <m:rPr>
                            <m:ctrlPr>
                              <w:rPr>
                                <w:color w:val="FAD02C"/>
                              </w:rPr>
                            </m:ctrlPr>
                          </m:rPr>
                          <m:t>f</m:t>
                        </m:r>
                      </m:e>
                      <m:sup>
                        <m:r>
                          <m:rPr>
                            <m:sty m:val="p"/>
                            <m:ctrlPr>
                              <w:rPr>
                                <w:color w:val="FAD02C"/>
                              </w:rPr>
                            </m:ctrlPr>
                          </m:rPr>
                          <m:t>′</m:t>
                        </m:r>
                      </m:sup>
                    </m:sSup>
                    <m:r>
                      <m:rPr>
                        <m:sty m:val="p"/>
                        <m:ctrlPr>
                          <w:rPr>
                            <w:color w:val="FAD02C"/>
                          </w:rPr>
                        </m:ctrlPr>
                      </m:rPr>
                      <m:t>(</m:t>
                    </m:r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m:t>c</m:t>
                    </m:r>
                    <m:r>
                      <m:rPr>
                        <m:sty m:val="p"/>
                        <m:ctrlPr>
                          <w:rPr>
                            <w:color w:val="FAD02C"/>
                          </w:rPr>
                        </m:ctrlPr>
                      </m:rPr>
                      <m:t>)</m:t>
                    </m:r>
                    <m:r>
                      <m:rPr>
                        <m:sty m:val="p"/>
                        <m:ctrlPr>
                          <w:rPr>
                            <w:color w:val="FAD02C"/>
                          </w:rPr>
                        </m:ctrlPr>
                      </m:rPr>
                      <m:t>=</m:t>
                    </m:r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m:t>0</m:t>
                    </m:r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f^(') (c)=0</a:t>
                </a:r>
              </mc:Fallback>
            </mc:AlternateContent>
            <a:r>
              <a:rPr sz="1800" b="1">
                <a:solidFill>
                  <a:srgbClr val="FAD02C"/>
                </a:solidFill>
                <a:latin typeface="Cambria"/>
              </a:rPr>
              <a:t> and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="http://schemas.openxmlformats.org/wordprocessingml/2006/main">
                    <m:sSup>
                      <m:e>
                        <m:r>
                          <m:rPr>
                            <m:ctrlPr>
                              <w:rPr>
                                <w:color w:val="FAD02C"/>
                              </w:rPr>
                            </m:ctrlPr>
                          </m:rPr>
                          <m:t>f</m:t>
                        </m:r>
                      </m:e>
                      <m:sup>
                        <m:r>
                          <m:rPr>
                            <m:sty m:val="p"/>
                            <m:ctrlPr>
                              <w:rPr>
                                <w:color w:val="FAD02C"/>
                              </w:rPr>
                            </m:ctrlPr>
                          </m:rPr>
                          <m:t>″</m:t>
                        </m:r>
                      </m:sup>
                    </m:sSup>
                    <m:r>
                      <m:rPr>
                        <m:sty m:val="p"/>
                        <m:ctrlPr>
                          <w:rPr>
                            <w:color w:val="FAD02C"/>
                          </w:rPr>
                        </m:ctrlPr>
                      </m:rPr>
                      <m:t>(</m:t>
                    </m:r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m:t>c</m:t>
                    </m:r>
                    <m:r>
                      <m:rPr>
                        <m:sty m:val="p"/>
                        <m:ctrlPr>
                          <w:rPr>
                            <w:color w:val="FAD02C"/>
                          </w:rPr>
                        </m:ctrlPr>
                      </m:rPr>
                      <m:t>)</m:t>
                    </m:r>
                    <m:r>
                      <m:rPr>
                        <m:sty m:val="p"/>
                        <m:ctrlPr>
                          <w:rPr>
                            <w:color w:val="FAD02C"/>
                          </w:rPr>
                        </m:ctrlPr>
                      </m:rPr>
                      <m:t>&gt;</m:t>
                    </m:r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m:t>0</m:t>
                    </m:r>
                    <m:r>
                      <m:rPr>
                        <m:sty m:val="p"/>
                        <m:ctrlPr>
                          <w:rPr>
                            <w:color w:val="FAD02C"/>
                          </w:rPr>
                        </m:ctrlPr>
                      </m:rPr>
                      <m:t>⇒</m:t>
                    </m:r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m:t>f</m:t>
                    </m:r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f^('') (c)&gt;0⇒f</a:t>
                </a:r>
              </mc:Fallback>
            </mc:AlternateContent>
            <a:r>
              <a:rPr sz="1800" b="1">
                <a:solidFill>
                  <a:srgbClr val="FAD02C"/>
                </a:solidFill>
                <a:latin typeface="Cambria"/>
              </a:rPr>
              <a:t>attains local minima
III. 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="http://schemas.openxmlformats.org/wordprocessingml/2006/main">
                    <m:sSup>
                      <m:e>
                        <m:r>
                          <m:rPr>
                            <m:ctrlPr>
                              <w:rPr>
                                <w:color w:val="FAD02C"/>
                              </w:rPr>
                            </m:ctrlPr>
                          </m:rPr>
                          <m:t>f</m:t>
                        </m:r>
                      </m:e>
                      <m:sup>
                        <m:r>
                          <m:rPr>
                            <m:sty m:val="p"/>
                            <m:ctrlPr>
                              <w:rPr>
                                <w:color w:val="FAD02C"/>
                              </w:rPr>
                            </m:ctrlPr>
                          </m:rPr>
                          <m:t>′</m:t>
                        </m:r>
                      </m:sup>
                    </m:sSup>
                    <m:r>
                      <m:rPr>
                        <m:sty m:val="p"/>
                        <m:ctrlPr>
                          <w:rPr>
                            <w:color w:val="FAD02C"/>
                          </w:rPr>
                        </m:ctrlPr>
                      </m:rPr>
                      <m:t>(</m:t>
                    </m:r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m:t>c</m:t>
                    </m:r>
                    <m:r>
                      <m:rPr>
                        <m:sty m:val="p"/>
                        <m:ctrlPr>
                          <w:rPr>
                            <w:color w:val="FAD02C"/>
                          </w:rPr>
                        </m:ctrlPr>
                      </m:rPr>
                      <m:t>)</m:t>
                    </m:r>
                    <m:r>
                      <m:rPr>
                        <m:sty m:val="p"/>
                        <m:ctrlPr>
                          <w:rPr>
                            <w:color w:val="FAD02C"/>
                          </w:rPr>
                        </m:ctrlPr>
                      </m:rPr>
                      <m:t>=</m:t>
                    </m:r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m:t>0</m:t>
                    </m:r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f^(') (c)=0</a:t>
                </a:r>
              </mc:Fallback>
            </mc:AlternateContent>
            <a:r>
              <a:rPr sz="1800" b="1">
                <a:solidFill>
                  <a:srgbClr val="FAD02C"/>
                </a:solidFill>
                <a:latin typeface="Cambria"/>
              </a:rPr>
              <a:t> and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="http://schemas.openxmlformats.org/wordprocessingml/2006/main">
                    <m:sSup>
                      <m:e>
                        <m:r>
                          <m:rPr>
                            <m:ctrlPr>
                              <w:rPr>
                                <w:color w:val="FAD02C"/>
                              </w:rPr>
                            </m:ctrlPr>
                          </m:rPr>
                          <m:t>f</m:t>
                        </m:r>
                      </m:e>
                      <m:sup>
                        <m:r>
                          <m:rPr>
                            <m:sty m:val="p"/>
                            <m:ctrlPr>
                              <w:rPr>
                                <w:color w:val="FAD02C"/>
                              </w:rPr>
                            </m:ctrlPr>
                          </m:rPr>
                          <m:t>″</m:t>
                        </m:r>
                      </m:sup>
                    </m:sSup>
                    <m:r>
                      <m:rPr>
                        <m:sty m:val="p"/>
                        <m:ctrlPr>
                          <w:rPr>
                            <w:color w:val="FAD02C"/>
                          </w:rPr>
                        </m:ctrlPr>
                      </m:rPr>
                      <m:t>(</m:t>
                    </m:r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m:t>c</m:t>
                    </m:r>
                    <m:r>
                      <m:rPr>
                        <m:sty m:val="p"/>
                        <m:ctrlPr>
                          <w:rPr>
                            <w:color w:val="FAD02C"/>
                          </w:rPr>
                        </m:ctrlPr>
                      </m:rPr>
                      <m:t>)</m:t>
                    </m:r>
                    <m:r>
                      <m:rPr>
                        <m:sty m:val="p"/>
                        <m:ctrlPr>
                          <w:rPr>
                            <w:color w:val="FAD02C"/>
                          </w:rPr>
                        </m:ctrlPr>
                      </m:rPr>
                      <m:t>=</m:t>
                    </m:r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m:t>0</m:t>
                    </m:r>
                    <m:r>
                      <m:rPr>
                        <m:sty m:val="p"/>
                        <m:ctrlPr>
                          <w:rPr>
                            <w:color w:val="FAD02C"/>
                          </w:rPr>
                        </m:ctrlPr>
                      </m:rPr>
                      <m:t>⇒</m:t>
                    </m:r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m:t>f</m:t>
                    </m:r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f^('') (c)=0⇒f</a:t>
                </a:r>
              </mc:Fallback>
            </mc:AlternateContent>
            <a:r>
              <a:rPr sz="1800" b="1">
                <a:solidFill>
                  <a:srgbClr val="FAD02C"/>
                </a:solidFill>
                <a:latin typeface="Cambria"/>
              </a:rPr>
              <a:t>attains both maxima and minima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26687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I and II are true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4126687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I and III are true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4126687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II and III are true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4126687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all are false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2025M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If each side of a cube is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w:rPr>
                        <w:rFonts w:ascii="Cambria Math" w:hAnsi="Cambria Math"/>
                      </w:rPr>
                      <m:t>x</m:t>
                    </m:r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x</a:t>
                </a:r>
              </mc:Fallback>
            </mc:AlternateContent>
            <a:r>
              <a:rPr sz="1800" b="1" i="0" u="none">
                <a:solidFill>
                  <a:srgbClr val="FAD02C"/>
                </a:solidFill>
                <a:latin typeface="Cambria"/>
              </a:rPr>
              <a:t>units, then the rate of change of its surface area with respect to side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8623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m:rPr>
                        <m:ctrlPr>
                          <w:rPr>
                            <w:color w:val="F0F0F0"/>
                          </w:rPr>
                        </m:ctrlPr>
                      </m:rPr>
                      <w:rPr>
                        <w:rFonts w:ascii="Cambria Math" w:hAnsi="Cambria Math"/>
                      </w:rPr>
                      <m:t>12x</m:t>
                    </m:r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12x</a:t>
                </a:r>
              </mc:Fallback>
            </mc:AlternateContent>
          </a:p>
        </p:txBody>
      </p:sp>
      <p:sp>
        <p:nvSpPr>
          <p:cNvPr id="8" name="TextBox 7"/>
          <p:cNvSpPr txBox="1"/>
          <p:nvPr/>
        </p:nvSpPr>
        <p:spPr>
          <a:xfrm>
            <a:off x="3321558" y="138623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m:rPr>
                        <m:ctrlPr>
                          <w:rPr>
                            <w:color w:val="F0F0F0"/>
                          </w:rPr>
                        </m:ctrlPr>
                      </m:rPr>
                      <w:rPr>
                        <w:rFonts w:ascii="Cambria Math" w:hAnsi="Cambria Math"/>
                      </w:rPr>
                      <m:t>6x</m:t>
                    </m:r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6x</a:t>
                </a:r>
              </mc:Fallback>
            </mc:AlternateContent>
          </a:p>
        </p:txBody>
      </p:sp>
      <p:sp>
        <p:nvSpPr>
          <p:cNvPr id="9" name="TextBox 8"/>
          <p:cNvSpPr txBox="1"/>
          <p:nvPr/>
        </p:nvSpPr>
        <p:spPr>
          <a:xfrm>
            <a:off x="6185916" y="138623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m:rPr>
                        <m:ctrlPr>
                          <w:rPr>
                            <w:color w:val="F0F0F0"/>
                          </w:rPr>
                        </m:ctrlPr>
                      </m:rPr>
                      <w:rPr>
                        <w:rFonts w:ascii="Cambria Math" w:hAnsi="Cambria Math"/>
                      </w:rPr>
                      <m:t>6</m:t>
                    </m:r>
                    <m:sSup>
                      <m:sSupPr>
                        <m:ctrlPr>
                          <w:rPr>
                            <w:rFonts w:ascii="Cambria Math" w:hAnsi="Cambria Math"/>
                            <w:color w:val="F0F0F0"/>
                          </w:rPr>
                        </m:ctrlPr>
                      </m:sSupPr>
                      <m:e>
                        <m:r>
                          <m:rPr>
                            <m:ctrlPr>
                              <w:rPr>
                                <w:color w:val="F0F0F0"/>
                              </w:rPr>
                            </m:ctrlPr>
                          </m:rPr>
                          <w:rPr>
                            <w:rFonts w:ascii="Cambria Math" w:hAnsi="Cambria Math"/>
                          </w:rPr>
                          <m:t>x</m:t>
                        </m:r>
                      </m:e>
                      <m:sup>
                        <m:r>
                          <m:rPr>
                            <m:ctrlPr>
                              <w:rPr>
                                <w:color w:val="F0F0F0"/>
                              </w:rPr>
                            </m:ctrlPr>
                          </m:rPr>
                          <w:rPr>
                            <w:rFonts w:ascii="Cambria Math" w:hAnsi="Cambria Math"/>
                          </w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6x²</a:t>
                </a:r>
              </mc:Fallback>
            </mc:AlternateContent>
          </a:p>
        </p:txBody>
      </p:sp>
      <p:sp>
        <p:nvSpPr>
          <p:cNvPr id="10" name="TextBox 9"/>
          <p:cNvSpPr txBox="1"/>
          <p:nvPr/>
        </p:nvSpPr>
        <p:spPr>
          <a:xfrm>
            <a:off x="9050274" y="138623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m:rPr>
                        <m:ctrlPr>
                          <w:rPr>
                            <w:color w:val="F0F0F0"/>
                          </w:rPr>
                        </m:ctrlPr>
                      </m:rPr>
                      <w:rPr>
                        <w:rFonts w:ascii="Cambria Math" w:hAnsi="Cambria Math"/>
                      </w:rPr>
                      <m:t>3</m:t>
                    </m:r>
                    <m:sSup>
                      <m:sSupPr>
                        <m:ctrlPr>
                          <w:rPr>
                            <w:rFonts w:ascii="Cambria Math" w:hAnsi="Cambria Math"/>
                            <w:color w:val="F0F0F0"/>
                          </w:rPr>
                        </m:ctrlPr>
                      </m:sSupPr>
                      <m:e>
                        <m:r>
                          <m:rPr>
                            <m:ctrlPr>
                              <w:rPr>
                                <w:color w:val="F0F0F0"/>
                              </w:rPr>
                            </m:ctrlPr>
                          </m:rPr>
                          <w:rPr>
                            <w:rFonts w:ascii="Cambria Math" w:hAnsi="Cambria Math"/>
                          </w:rPr>
                          <m:t>x</m:t>
                        </m:r>
                      </m:e>
                      <m:sup>
                        <m:r>
                          <m:rPr>
                            <m:ctrlPr>
                              <w:rPr>
                                <w:color w:val="F0F0F0"/>
                              </w:rPr>
                            </m:ctrlPr>
                          </m:rPr>
                          <w:rPr>
                            <w:rFonts w:ascii="Cambria Math" w:hAnsi="Cambria Math"/>
                          </w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3x²</a:t>
                </a:r>
              </mc:Fallback>
            </mc:AlternateContent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2026M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Let C be the circumference and A be the area of a circle.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100023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The rate of change of the area with respective to radius is equal to 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51990"/>
            <a:ext cx="1100023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The rate of change of the area with respective to diameter is C/2.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1775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Only Statement 1 is true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21558" y="211775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Only statement 2 is true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85916" y="211775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Both statements are true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0274" y="211775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Both statements are false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2026M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Function f(x) =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sSup>
                      <m:sSupPr>
                        <m:ctrlPr>
                          <w:rPr>
                            <w:rFonts w:ascii="Cambria Math" w:hAnsi="Cambria Math"/>
                            <w:i/>
                            <w:color w:val="FAD02C"/>
                          </w:rPr>
                        </m:ctrlPr>
                      </m:sSupPr>
                      <m:e>
                        <m:r>
                          <m:rPr>
                            <m:ctrlPr>
                              <w:rPr>
                                <w:color w:val="FAD02C"/>
                              </w:rPr>
                            </m:ctrlPr>
                          </m:rPr>
                          <w:rPr>
                            <w:rFonts w:ascii="Cambria Math" w:hAnsi="Cambria Math"/>
                          </w:rPr>
                          <m:t>a</m:t>
                        </m:r>
                      </m:e>
                      <m:sup>
                        <m:r>
                          <m:rPr>
                            <m:ctrlPr>
                              <w:rPr>
                                <w:color w:val="FAD02C"/>
                              </w:rPr>
                            </m:ctrlPr>
                          </m:rPr>
                          <w:rPr>
                            <w:rFonts w:ascii="Cambria Math" w:hAnsi="Cambria Math"/>
                          </w:rPr>
                          <m:t>x</m:t>
                        </m:r>
                      </m:sup>
                    </m:sSup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a^(x)</a:t>
                </a:r>
              </mc:Fallback>
            </mc:AlternateContent>
            <a:r>
              <a:rPr sz="1800" b="1" i="0" u="none">
                <a:solidFill>
                  <a:srgbClr val="FAD02C"/>
                </a:solidFill>
                <a:latin typeface="Cambria"/>
              </a:rPr>
              <a:t> is increasing on R, 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a&gt;0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a&lt;0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0&lt;a&lt;1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a&gt;1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2026M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The total revenue in rupees received from the sale of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w:rPr>
                        <w:rFonts w:ascii="Cambria Math" w:hAnsi="Cambria Math"/>
                      </w:rPr>
                      <m:t>x</m:t>
                    </m:r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x</a:t>
                </a:r>
              </mc:Fallback>
            </mc:AlternateContent>
            <a:r>
              <a:rPr sz="1800" b="1" i="0" u="none">
                <a:solidFill>
                  <a:srgbClr val="FAD02C"/>
                </a:solidFill>
                <a:latin typeface="Cambria"/>
              </a:rPr>
              <a:t> units of a product 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is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w:rPr>
                        <w:rFonts w:ascii="Cambria Math" w:hAnsi="Cambria Math"/>
                      </w:rPr>
                      <m:t>R(x)=3</m:t>
                    </m:r>
                    <m:sSup>
                      <m:sSupPr>
                        <m:ctrlPr>
                          <w:rPr>
                            <w:rFonts w:ascii="Cambria Math" w:hAnsi="Cambria Math"/>
                            <w:color w:val="FAD02C"/>
                          </w:rPr>
                        </m:ctrlPr>
                      </m:sSupPr>
                      <m:e>
                        <m:r>
                          <m:rPr>
                            <m:ctrlPr>
                              <w:rPr>
                                <w:color w:val="FAD02C"/>
                              </w:rPr>
                            </m:ctrlPr>
                          </m:rPr>
                          <w:rPr>
                            <w:rFonts w:ascii="Cambria Math" w:hAnsi="Cambria Math"/>
                          </w:rPr>
                          <m:t>x</m:t>
                        </m:r>
                      </m:e>
                      <m:sup>
                        <m:r>
                          <m:rPr>
                            <m:ctrlPr>
                              <w:rPr>
                                <w:color w:val="FAD02C"/>
                              </w:rPr>
                            </m:ctrlPr>
                          </m:rPr>
                          <w:rPr>
                            <w:rFonts w:ascii="Cambria Math" w:hAnsi="Cambria Math"/>
                          </w:rPr>
                          <m:t>2</m:t>
                        </m:r>
                      </m:sup>
                    </m:sSup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w:rPr>
                        <w:rFonts w:ascii="Cambria Math" w:hAnsi="Cambria Math"/>
                      </w:rPr>
                      <m:t>+36x+5</m:t>
                    </m:r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R(x)=3x²+36x+5</a:t>
                </a:r>
              </mc:Fallback>
            </mc:AlternateContent>
            <a:r>
              <a:rPr sz="1800" b="1" i="0" u="none">
                <a:solidFill>
                  <a:srgbClr val="FAD02C"/>
                </a:solidFill>
                <a:latin typeface="Cambria"/>
              </a:rPr>
              <a:t>, then the marginal revenue when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w:rPr>
                        <w:rFonts w:ascii="Cambria Math" w:hAnsi="Cambria Math"/>
                      </w:rPr>
                      <m:t>x=15</m:t>
                    </m:r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x=15</a:t>
                </a:r>
              </mc:Fallback>
            </mc:AlternateContent>
            <a:r>
              <a:rPr sz="1800" b="1" i="0" u="none">
                <a:solidFill>
                  <a:srgbClr val="FAD02C"/>
                </a:solidFill>
                <a:latin typeface="Cambria"/>
              </a:rPr>
              <a:t> is …… Rupees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8623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116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38623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96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38623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38623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126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2026M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The absolute maximum value of the function given by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w:rPr>
                        <w:rFonts w:ascii="Cambria Math" w:hAnsi="Cambria Math"/>
                      </w:rPr>
                      <m:t>f(x)=</m:t>
                    </m:r>
                    <m:sSup>
                      <m:sSupPr>
                        <m:ctrlPr>
                          <w:rPr>
                            <w:rFonts w:ascii="Cambria Math" w:hAnsi="Cambria Math"/>
                            <w:color w:val="FAD02C"/>
                          </w:rPr>
                        </m:ctrlPr>
                      </m:sSupPr>
                      <m:e>
                        <m:r>
                          <m:rPr>
                            <m:ctrlPr>
                              <w:rPr>
                                <w:color w:val="FAD02C"/>
                              </w:rPr>
                            </m:ctrlPr>
                          </m:rPr>
                          <w:rPr>
                            <w:rFonts w:ascii="Cambria Math" w:hAnsi="Cambria Math"/>
                          </w:rPr>
                          <m:t>x</m:t>
                        </m:r>
                      </m:e>
                      <m:sup>
                        <m:r>
                          <m:rPr>
                            <m:ctrlPr>
                              <w:rPr>
                                <w:color w:val="FAD02C"/>
                              </w:rPr>
                            </m:ctrlPr>
                          </m:rPr>
                          <w:rPr>
                            <w:rFonts w:ascii="Cambria Math" w:hAnsi="Cambria Math"/>
                          </w:rPr>
                          <m:t>3</m:t>
                        </m:r>
                      </m:sup>
                    </m:sSup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f(x)=x³</a:t>
                </a:r>
              </mc:Fallback>
            </mc:AlternateContent>
            <a:r>
              <a:rPr sz="1800" b="1" i="0" u="none">
                <a:solidFill>
                  <a:srgbClr val="FAD02C"/>
                </a:solidFill>
                <a:latin typeface="Cambria"/>
              </a:rPr>
              <a:t>,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w:rPr>
                        <w:rFonts w:ascii="Cambria Math" w:hAnsi="Cambria Math"/>
                      </w:rPr>
                      <m:t xml:space="preserve">x∈[-2,2] </m:t>
                    </m:r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x∈[-2,2]</a:t>
                </a:r>
              </mc:Fallback>
            </mc:AlternateContent>
            <a:r>
              <a:rPr sz="1800" b="1" i="0" u="none">
                <a:solidFill>
                  <a:srgbClr val="FAD02C"/>
                </a:solidFill>
                <a:latin typeface="Cambria"/>
              </a:rPr>
              <a:t>is ……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−2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2026-1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The minimum value of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m:rPr>
                        <m:sty m:val="p"/>
                        <m:ctrlPr>
                          <w:rPr>
                            <w:color w:val="FAD02C"/>
                          </w:rPr>
                        </m:ctrlPr>
                      </m:rPr>
                      <w:rPr>
                        <w:rFonts w:ascii="Cambria Math" w:hAnsi="Cambria Math" w:cs="Times New Roman"/>
                        <w:sz w:val="24"/>
                        <w:szCs w:val="24"/>
                      </w:rPr>
                      <m:t>∣</m:t>
                    </m:r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w:rPr>
                        <w:rFonts w:ascii="Cambria Math" w:hAnsi="Cambria Math" w:cs="Times New Roman"/>
                        <w:sz w:val="24"/>
                        <w:szCs w:val="24"/>
                      </w:rPr>
                      <m:t>x</m:t>
                    </m:r>
                    <m:r>
                      <m:rPr>
                        <m:sty m:val="p"/>
                        <m:ctrlPr>
                          <w:rPr>
                            <w:color w:val="FAD02C"/>
                          </w:rPr>
                        </m:ctrlPr>
                      </m:rPr>
                      <w:rPr>
                        <w:rFonts w:ascii="Cambria Math" w:hAnsi="Cambria Math" w:cs="Times New Roman"/>
                        <w:sz w:val="24"/>
                        <w:szCs w:val="24"/>
                      </w:rPr>
                      <m:t>∣</m:t>
                    </m:r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∣x∣</a:t>
                </a:r>
              </mc:Fallback>
            </mc:AlternateContent>
            <a:r>
              <a:rPr sz="1800" b="1" i="0" u="none">
                <a:solidFill>
                  <a:srgbClr val="FAD02C"/>
                </a:solidFill>
                <a:latin typeface="Cambria"/>
              </a:rPr>
              <a:t>in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w:rPr>
                        <w:rFonts w:ascii="Cambria Math" w:hAnsi="Cambria Math" w:cs="Times New Roman"/>
                        <w:sz w:val="24"/>
                        <w:szCs w:val="24"/>
                      </w:rPr>
                      <m:t>R</m:t>
                    </m:r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R</a:t>
                </a:r>
              </mc:Fallback>
            </mc:AlternateContent>
            <a:r>
              <a:rPr sz="1800" b="1" i="0" u="none">
                <a:solidFill>
                  <a:srgbClr val="FAD02C"/>
                </a:solidFill>
                <a:latin typeface="Cambria"/>
              </a:rPr>
              <a:t> 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is……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does not exist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2026M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The rate of change of the area of a circle with respect to its radius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w:rPr>
                        <w:rFonts w:ascii="Cambria Math" w:hAnsi="Cambria Math" w:cs="Times New Roman"/>
                        <w:sz w:val="24"/>
                        <w:szCs w:val="24"/>
                      </w:rPr>
                      <m:t>r</m:t>
                    </m:r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r</a:t>
                </a:r>
              </mc:Fallback>
            </mc:AlternateContent>
            <a:r>
              <a:rPr sz="1800" b="1" i="0" u="none">
                <a:solidFill>
                  <a:srgbClr val="FAD02C"/>
                </a:solidFill>
                <a:latin typeface="Cambria"/>
              </a:rPr>
              <a:t> 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when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w:rPr>
                        <w:rFonts w:ascii="Cambria Math" w:hAnsi="Cambria Math" w:cs="Times New Roman"/>
                        <w:sz w:val="24"/>
                        <w:szCs w:val="24"/>
                      </w:rPr>
                      <m:t>r=4</m:t>
                    </m:r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r=4</a:t>
                </a:r>
              </mc:Fallback>
            </mc:AlternateContent>
            <a:r>
              <a:rPr sz="1800" b="1" i="0" u="none">
                <a:solidFill>
                  <a:srgbClr val="FAD02C"/>
                </a:solidFill>
                <a:latin typeface="Cambria"/>
              </a:rPr>
              <a:t>cm is……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w:rPr>
                        <w:rFonts w:ascii="Cambria Math" w:hAnsi="Cambria Math" w:cs="Times New Roman"/>
                        <w:sz w:val="24"/>
                        <w:szCs w:val="24"/>
                      </w:rPr>
                      <m:t>π</m:t>
                    </m:r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π</a:t>
                </a:r>
              </mc:Fallback>
            </mc:AlternateContent>
            <a:r>
              <a:rPr sz="1800" b="1" i="0" u="none">
                <a:solidFill>
                  <a:srgbClr val="FAD02C"/>
                </a:solidFill>
                <a:latin typeface="Cambria"/>
              </a:rPr>
              <a:t>cm²/cm.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8623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38623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38623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38623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11.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2026M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The rate of change of area of circle per second with respect to its radius r when r = 3 cm (in cm²/s)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8623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m:rPr>
                        <m:ctrlPr>
                          <w:rPr>
                            <w:color w:val="F0F0F0"/>
                          </w:rPr>
                        </m:ctrlPr>
                      </m:rPr>
                      <w:rPr>
                        <w:rFonts w:ascii="Cambria Math" w:hAnsi="Cambria Math"/>
                      </w:rPr>
                      <m:t>π</m:t>
                    </m:r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π</a:t>
                </a:r>
              </mc:Fallback>
            </mc:AlternateContent>
          </a:p>
        </p:txBody>
      </p:sp>
      <p:sp>
        <p:nvSpPr>
          <p:cNvPr id="8" name="TextBox 7"/>
          <p:cNvSpPr txBox="1"/>
          <p:nvPr/>
        </p:nvSpPr>
        <p:spPr>
          <a:xfrm>
            <a:off x="3321558" y="138623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m:rPr>
                        <m:ctrlPr>
                          <w:rPr>
                            <w:color w:val="F0F0F0"/>
                          </w:rPr>
                        </m:ctrlPr>
                      </m:rPr>
                      <w:rPr>
                        <w:rFonts w:ascii="Cambria Math" w:hAnsi="Cambria Math"/>
                      </w:rPr>
                      <m:t>3π</m:t>
                    </m:r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3π</a:t>
                </a:r>
              </mc:Fallback>
            </mc:AlternateContent>
          </a:p>
        </p:txBody>
      </p:sp>
      <p:sp>
        <p:nvSpPr>
          <p:cNvPr id="9" name="TextBox 8"/>
          <p:cNvSpPr txBox="1"/>
          <p:nvPr/>
        </p:nvSpPr>
        <p:spPr>
          <a:xfrm>
            <a:off x="6185916" y="138623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m:rPr>
                        <m:ctrlPr>
                          <w:rPr>
                            <w:color w:val="F0F0F0"/>
                          </w:rPr>
                        </m:ctrlPr>
                      </m:rPr>
                      <w:rPr>
                        <w:rFonts w:ascii="Cambria Math" w:hAnsi="Cambria Math"/>
                      </w:rPr>
                      <m:t>6π</m:t>
                    </m:r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6π</a:t>
                </a:r>
              </mc:Fallback>
            </mc:AlternateContent>
          </a:p>
        </p:txBody>
      </p:sp>
      <p:sp>
        <p:nvSpPr>
          <p:cNvPr id="10" name="TextBox 9"/>
          <p:cNvSpPr txBox="1"/>
          <p:nvPr/>
        </p:nvSpPr>
        <p:spPr>
          <a:xfrm>
            <a:off x="9050274" y="138623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m:rPr>
                        <m:ctrlPr>
                          <w:rPr>
                            <w:color w:val="F0F0F0"/>
                          </w:rPr>
                        </m:ctrlPr>
                      </m:rPr>
                      <w:rPr>
                        <w:rFonts w:ascii="Cambria Math" w:hAnsi="Cambria Math"/>
                      </w:rPr>
                      <m:t>9π</m:t>
                    </m:r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9π</a:t>
                </a:r>
              </mc:Fallback>
            </mc:AlternateContent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2026M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The minimum values of the function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w:rPr>
                        <w:rFonts w:ascii="Cambria Math" w:hAnsi="Cambria Math"/>
                      </w:rPr>
                      <m:t>f(x)=x</m:t>
                    </m:r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f(x)=x</a:t>
                </a:r>
              </mc:Fallback>
            </mc:AlternateContent>
            <a:r>
              <a:rPr sz="1800" b="1" i="0" u="none">
                <a:solidFill>
                  <a:srgbClr val="FAD02C"/>
                </a:solidFill>
                <a:latin typeface="Cambria"/>
              </a:rPr>
              <a:t>,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w:rPr>
                        <w:rFonts w:ascii="Cambria Math" w:hAnsi="Cambria Math"/>
                      </w:rPr>
                      <m:t>x∈[0,1]</m:t>
                    </m:r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x∈[0,1]</a:t>
                </a:r>
              </mc:Fallback>
            </mc:AlternateContent>
            <a:r>
              <a:rPr sz="1800" b="1" i="0" u="none">
                <a:solidFill>
                  <a:srgbClr val="FAD02C"/>
                </a:solidFill>
                <a:latin typeface="Cambria"/>
              </a:rPr>
              <a:t>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−1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1609344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14447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2026M, 2024-2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The rate of change of area of circle with respect to its radius ‘r’ at r = 6 cm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8623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m:rPr>
                        <m:ctrlPr>
                          <w:rPr>
                            <w:color w:val="F0F0F0"/>
                          </w:rPr>
                        </m:ctrlPr>
                      </m:rPr>
                      <w:rPr>
                        <w:rFonts w:ascii="Cambria Math" w:hAnsi="Cambria Math"/>
                      </w:rPr>
                      <m:t>10π</m:t>
                    </m:r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10π</a:t>
                </a:r>
              </mc:Fallback>
            </mc:AlternateContent>
          </a:p>
        </p:txBody>
      </p:sp>
      <p:sp>
        <p:nvSpPr>
          <p:cNvPr id="8" name="TextBox 7"/>
          <p:cNvSpPr txBox="1"/>
          <p:nvPr/>
        </p:nvSpPr>
        <p:spPr>
          <a:xfrm>
            <a:off x="3321558" y="138623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m:rPr>
                        <m:ctrlPr>
                          <w:rPr>
                            <w:color w:val="F0F0F0"/>
                          </w:rPr>
                        </m:ctrlPr>
                      </m:rPr>
                      <w:rPr>
                        <w:rFonts w:ascii="Cambria Math" w:hAnsi="Cambria Math"/>
                      </w:rPr>
                      <m:t>12π</m:t>
                    </m:r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12π</a:t>
                </a:r>
              </mc:Fallback>
            </mc:AlternateContent>
          </a:p>
        </p:txBody>
      </p:sp>
      <p:sp>
        <p:nvSpPr>
          <p:cNvPr id="9" name="TextBox 8"/>
          <p:cNvSpPr txBox="1"/>
          <p:nvPr/>
        </p:nvSpPr>
        <p:spPr>
          <a:xfrm>
            <a:off x="6185916" y="138623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m:rPr>
                        <m:ctrlPr>
                          <w:rPr>
                            <w:color w:val="F0F0F0"/>
                          </w:rPr>
                        </m:ctrlPr>
                      </m:rPr>
                      <w:rPr>
                        <w:rFonts w:ascii="Cambria Math" w:hAnsi="Cambria Math"/>
                      </w:rPr>
                      <m:t>8π</m:t>
                    </m:r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8π</a:t>
                </a:r>
              </mc:Fallback>
            </mc:AlternateContent>
          </a:p>
        </p:txBody>
      </p:sp>
      <p:sp>
        <p:nvSpPr>
          <p:cNvPr id="10" name="TextBox 9"/>
          <p:cNvSpPr txBox="1"/>
          <p:nvPr/>
        </p:nvSpPr>
        <p:spPr>
          <a:xfrm>
            <a:off x="9050274" y="138623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m:rPr>
                        <m:ctrlPr>
                          <w:rPr>
                            <w:color w:val="F0F0F0"/>
                          </w:rPr>
                        </m:ctrlPr>
                      </m:rPr>
                      <w:rPr>
                        <w:rFonts w:ascii="Cambria Math" w:hAnsi="Cambria Math"/>
                      </w:rPr>
                      <m:t>11π</m:t>
                    </m:r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11π</a:t>
                </a:r>
              </mc:Fallback>
            </mc:AlternateContent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2340864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2026M · NEEDS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The point of inflection of the following graph is</a:t>
            </a:r>
          </a:p>
        </p:txBody>
      </p:sp>
      <p:pic>
        <p:nvPicPr>
          <p:cNvPr id="7" name="Picture 6" descr="img_rId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3749039" cy="2560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70332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d>
                      <m:dPr>
                        <m:sepChr m:val=","/>
                        <m:ctrlPr>
                          <w:rPr>
                            <w:rFonts w:ascii="Cambria Math" w:hAnsi="Cambria Math"/>
                            <w:color w:val="F0F0F0"/>
                          </w:rPr>
                        </m:ctrlPr>
                      </m:dPr>
                      <m:e>
                        <m:f>
                          <m:fPr>
                            <m:ctrlPr>
                              <w:rPr>
                                <w:rFonts w:ascii="Cambria Math" w:hAnsi="Cambria Math"/>
                                <w:color w:val="F0F0F0"/>
                              </w:rPr>
                            </m:ctrlPr>
                          </m:fPr>
                          <m:num>
                            <m:r>
                              <m:rPr>
                                <m:ctrlPr>
                                  <w:rPr>
                                    <w:color w:val="F0F0F0"/>
                                  </w:rPr>
                                </m:ctrlPr>
                              </m:rPr>
                              <w:rPr>
                                <w:rFonts w:ascii="Cambria Math" w:hAnsi="Cambria Math"/>
                              </w:rPr>
                              <m:t>π</m:t>
                            </m:r>
                          </m:num>
                          <m:den>
                            <m:r>
                              <m:rPr>
                                <m:ctrlPr>
                                  <w:rPr>
                                    <w:color w:val="F0F0F0"/>
                                  </w:rPr>
                                </m:ctrlPr>
                              </m:rPr>
                              <w:rPr>
                                <w:rFonts w:ascii="Cambria Math" w:hAnsi="Cambria Math"/>
                              </w:rPr>
                              <m:t>2</m:t>
                            </m:r>
                          </m:den>
                        </m:f>
                      </m:e>
                      <m:e>
                        <m:r>
                          <m:rPr>
                            <m:nor/>
                            <m:ctrlPr>
                              <w:rPr>
                                <w:color w:val="F0F0F0"/>
                              </w:rPr>
                            </m:ctrlPr>
                          </m:rPr>
                          <m:t> </m:t>
                        </m:r>
                        <m:r>
                          <m:rPr>
                            <m:ctrlPr>
                              <w:rPr>
                                <w:color w:val="F0F0F0"/>
                              </w:rPr>
                            </m:ctrlPr>
                          </m:rPr>
                          <w:rPr>
                            <w:rFonts w:ascii="Cambria Math" w:hAnsi="Cambria Math"/>
                          </w:rPr>
                          <m:t>0</m:t>
                        </m:r>
                      </m:e>
                    </m:d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((π )/(2))</a:t>
                </a:r>
              </mc:Fallback>
            </mc:AlternateContent>
          </a:p>
        </p:txBody>
      </p:sp>
      <p:sp>
        <p:nvSpPr>
          <p:cNvPr id="9" name="TextBox 8"/>
          <p:cNvSpPr txBox="1"/>
          <p:nvPr/>
        </p:nvSpPr>
        <p:spPr>
          <a:xfrm>
            <a:off x="3321558" y="370332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d>
                      <m:dPr>
                        <m:sepChr m:val=","/>
                        <m:ctrlPr>
                          <w:rPr>
                            <w:rFonts w:ascii="Cambria Math" w:hAnsi="Cambria Math"/>
                            <w:color w:val="F0F0F0"/>
                          </w:rPr>
                        </m:ctrlPr>
                      </m:dPr>
                      <m:e>
                        <m:r>
                          <m:rPr>
                            <m:ctrlPr>
                              <w:rPr>
                                <w:color w:val="F0F0F0"/>
                              </w:rPr>
                            </m:ctrlPr>
                          </m:rPr>
                          <w:rPr>
                            <w:rFonts w:ascii="Cambria Math" w:hAnsi="Cambria Math"/>
                          </w:rPr>
                          <m:t>0</m:t>
                        </m:r>
                      </m:e>
                      <m:e>
                        <m:r>
                          <m:rPr>
                            <m:nor/>
                            <m:ctrlPr>
                              <w:rPr>
                                <w:color w:val="F0F0F0"/>
                              </w:rPr>
                            </m:ctrlPr>
                          </m:rPr>
                          <m:t> </m:t>
                        </m:r>
                        <m:f>
                          <m:fPr>
                            <m:ctrlPr>
                              <w:rPr>
                                <w:rFonts w:ascii="Cambria Math" w:hAnsi="Cambria Math"/>
                                <w:color w:val="F0F0F0"/>
                              </w:rPr>
                            </m:ctrlPr>
                          </m:fPr>
                          <m:num>
                            <m:r>
                              <m:rPr>
                                <m:ctrlPr>
                                  <w:rPr>
                                    <w:color w:val="F0F0F0"/>
                                  </w:rPr>
                                </m:ctrlPr>
                              </m:rPr>
                              <w:rPr>
                                <w:rFonts w:ascii="Cambria Math" w:hAnsi="Cambria Math"/>
                              </w:rPr>
                              <m:t>π</m:t>
                            </m:r>
                          </m:num>
                          <m:den>
                            <m:r>
                              <m:rPr>
                                <m:ctrlPr>
                                  <w:rPr>
                                    <w:color w:val="F0F0F0"/>
                                  </w:rPr>
                                </m:ctrlPr>
                              </m:rPr>
                              <w:rPr>
                                <w:rFonts w:ascii="Cambria Math" w:hAnsi="Cambria Math"/>
                              </w:rPr>
                              <m:t>2</m:t>
                            </m:r>
                          </m:den>
                        </m:f>
                      </m:e>
                    </m:d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(0)</a:t>
                </a:r>
              </mc:Fallback>
            </mc:AlternateContent>
          </a:p>
        </p:txBody>
      </p:sp>
      <p:sp>
        <p:nvSpPr>
          <p:cNvPr id="10" name="TextBox 9"/>
          <p:cNvSpPr txBox="1"/>
          <p:nvPr/>
        </p:nvSpPr>
        <p:spPr>
          <a:xfrm>
            <a:off x="6185916" y="370332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(0, 0)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0274" y="370332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d>
                      <m:dPr>
                        <m:sepChr m:val=","/>
                        <m:ctrlPr>
                          <w:rPr>
                            <w:rFonts w:ascii="Cambria Math" w:hAnsi="Cambria Math"/>
                            <w:color w:val="F0F0F0"/>
                          </w:rPr>
                        </m:ctrlPr>
                      </m:dPr>
                      <m:e>
                        <m:f>
                          <m:fPr>
                            <m:ctrlPr>
                              <w:rPr>
                                <w:rFonts w:ascii="Cambria Math" w:hAnsi="Cambria Math"/>
                                <w:color w:val="F0F0F0"/>
                              </w:rPr>
                            </m:ctrlPr>
                          </m:fPr>
                          <m:num>
                            <m:r>
                              <m:rPr>
                                <m:ctrlPr>
                                  <w:rPr>
                                    <w:color w:val="F0F0F0"/>
                                  </w:rPr>
                                </m:ctrlPr>
                              </m:rPr>
                              <w:rPr>
                                <w:rFonts w:ascii="Cambria Math" w:hAnsi="Cambria Math"/>
                              </w:rPr>
                              <m:t>π</m:t>
                            </m:r>
                          </m:num>
                          <m:den>
                            <m:r>
                              <m:rPr>
                                <m:ctrlPr>
                                  <w:rPr>
                                    <w:color w:val="F0F0F0"/>
                                  </w:rPr>
                                </m:ctrlPr>
                              </m:rPr>
                              <w:rPr>
                                <w:rFonts w:ascii="Cambria Math" w:hAnsi="Cambria Math"/>
                              </w:rPr>
                              <m:t>2</m:t>
                            </m:r>
                          </m:den>
                        </m:f>
                      </m:e>
                      <m:e>
                        <m:r>
                          <m:rPr>
                            <m:nor/>
                            <m:ctrlPr>
                              <w:rPr>
                                <w:color w:val="F0F0F0"/>
                              </w:rPr>
                            </m:ctrlPr>
                          </m:rPr>
                          <m:t> </m:t>
                        </m:r>
                        <m:r>
                          <m:rPr>
                            <m:sty m:val="p"/>
                            <m:ctrlPr>
                              <w:rPr>
                                <w:color w:val="F0F0F0"/>
                              </w:rPr>
                            </m:ctrlPr>
                          </m:rPr>
                          <w:rPr>
                            <w:rFonts w:ascii="Cambria Math" w:hAnsi="Cambria Math"/>
                          </w:rPr>
                          <m:t>∞</m:t>
                        </m:r>
                      </m:e>
                    </m:d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((π )/(2))</a:t>
                </a:r>
              </mc:Fallback>
            </mc:AlternateContent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2340864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2026M · NEEDS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The point on the curve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sSup>
                      <m:sSupPr>
                        <m:ctrlPr>
                          <w:rPr>
                            <w:rFonts w:ascii="Cambria Math" w:hAnsi="Cambria Math"/>
                            <w:color w:val="FAD02C"/>
                          </w:rPr>
                        </m:ctrlPr>
                      </m:sSupPr>
                      <m:e>
                        <m:r>
                          <m:rPr>
                            <m:ctrlPr>
                              <w:rPr>
                                <w:color w:val="FAD02C"/>
                              </w:rPr>
                            </m:ctrlPr>
                          </m:rPr>
                          <w:rPr>
                            <w:rFonts w:ascii="Cambria Math" w:hAnsi="Cambria Math"/>
                          </w:rPr>
                          <m:t>x</m:t>
                        </m:r>
                      </m:e>
                      <m:sup>
                        <m:r>
                          <m:rPr>
                            <m:ctrlPr>
                              <w:rPr>
                                <w:color w:val="FAD02C"/>
                              </w:rPr>
                            </m:ctrlPr>
                          </m:rPr>
                          <w:rPr>
                            <w:rFonts w:ascii="Cambria Math" w:hAnsi="Cambria Math"/>
                          </w:rPr>
                          <m:t>2</m:t>
                        </m:r>
                      </m:sup>
                    </m:sSup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w:rPr>
                        <w:rFonts w:ascii="Cambria Math" w:hAnsi="Cambria Math"/>
                      </w:rPr>
                      <m:t>=2y</m:t>
                    </m:r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x²=2y</a:t>
                </a:r>
              </mc:Fallback>
            </mc:AlternateContent>
            <a:r>
              <a:rPr sz="1800" b="1" i="0" u="none">
                <a:solidFill>
                  <a:srgbClr val="FAD02C"/>
                </a:solidFill>
                <a:latin typeface="Cambria"/>
              </a:rPr>
              <a:t> which is nearest to the point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d>
                      <m:dPr>
                        <m:sepChr m:val=","/>
                        <m:ctrlPr>
                          <w:rPr>
                            <w:rFonts w:ascii="Cambria Math" w:hAnsi="Cambria Math"/>
                            <w:color w:val="FAD02C"/>
                          </w:rPr>
                        </m:ctrlPr>
                      </m:dPr>
                      <m:e>
                        <m:r>
                          <m:rPr>
                            <m:ctrlPr>
                              <w:rPr>
                                <w:color w:val="FAD02C"/>
                              </w:rPr>
                            </m:ctrlPr>
                          </m:rPr>
                          <w:rPr>
                            <w:rFonts w:ascii="Cambria Math" w:hAnsi="Cambria Math"/>
                          </w:rPr>
                          <m:t>0</m:t>
                        </m:r>
                      </m:e>
                      <m:e>
                        <m:r>
                          <m:rPr>
                            <m:ctrlPr>
                              <w:rPr>
                                <w:color w:val="FAD02C"/>
                              </w:rPr>
                            </m:ctrlPr>
                          </m:rPr>
                          <w:rPr>
                            <w:rFonts w:ascii="Cambria Math" w:hAnsi="Cambria Math"/>
                          </w:rPr>
                          <m:t>5</m:t>
                        </m:r>
                      </m:e>
                    </m:d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(0)</a:t>
                </a:r>
              </mc:Fallback>
            </mc:AlternateContent>
            <a:r>
              <a:rPr sz="1800" b="1" i="0" u="none">
                <a:solidFill>
                  <a:srgbClr val="FAD02C"/>
                </a:solidFill>
                <a:latin typeface="Cambria"/>
              </a:rPr>
              <a:t>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d>
                      <m:dPr>
                        <m:sepChr m:val=","/>
                        <m:ctrlPr>
                          <w:rPr>
                            <w:rFonts w:ascii="Cambria Math" w:hAnsi="Cambria Math"/>
                            <w:color w:val="F0F0F0"/>
                          </w:rPr>
                        </m:ctrlPr>
                      </m:dPr>
                      <m:e>
                        <m:r>
                          <m:rPr>
                            <m:ctrlPr>
                              <w:rPr>
                                <w:color w:val="F0F0F0"/>
                              </w:rPr>
                            </m:ctrlPr>
                          </m:rPr>
                          <w:rPr>
                            <w:rFonts w:ascii="Cambria Math" w:hAnsi="Cambria Math"/>
                          </w:rPr>
                          <m:t>0</m:t>
                        </m:r>
                      </m:e>
                      <m:e>
                        <m:r>
                          <m:rPr>
                            <m:ctrlPr>
                              <w:rPr>
                                <w:color w:val="F0F0F0"/>
                              </w:rPr>
                            </m:ctrlPr>
                          </m:rPr>
                          <w:rPr>
                            <w:rFonts w:ascii="Cambria Math" w:hAnsi="Cambria Math"/>
                          </w:rPr>
                          <m:t>0</m:t>
                        </m:r>
                      </m:e>
                    </m:d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(0)</a:t>
                </a:r>
              </mc:Fallback>
            </mc:AlternateContent>
          </a:p>
        </p:txBody>
      </p:sp>
      <p:sp>
        <p:nvSpPr>
          <p:cNvPr id="8" name="TextBox 7"/>
          <p:cNvSpPr txBox="1"/>
          <p:nvPr/>
        </p:nvSpPr>
        <p:spPr>
          <a:xfrm>
            <a:off x="3321558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d>
                      <m:dPr>
                        <m:sepChr m:val=","/>
                        <m:ctrlPr>
                          <w:rPr>
                            <w:rFonts w:ascii="Cambria Math" w:hAnsi="Cambria Math"/>
                            <w:color w:val="F0F0F0"/>
                          </w:rPr>
                        </m:ctrlPr>
                      </m:dPr>
                      <m:e>
                        <m:r>
                          <m:rPr>
                            <m:ctrlPr>
                              <w:rPr>
                                <w:color w:val="F0F0F0"/>
                              </w:rPr>
                            </m:ctrlPr>
                          </m:rPr>
                          <w:rPr>
                            <w:rFonts w:ascii="Cambria Math" w:hAnsi="Cambria Math"/>
                          </w:rPr>
                          <m:t>2</m:t>
                        </m:r>
                        <m:rad>
                          <m:radPr>
                            <m:degHide m:val="1"/>
                            <m:ctrlPr>
                              <w:rPr>
                                <w:rFonts w:ascii="Cambria Math" w:hAnsi="Cambria Math"/>
                                <w:color w:val="F0F0F0"/>
                              </w:rPr>
                            </m:ctrlPr>
                          </m:radPr>
                          <m:deg/>
                          <m:e>
                            <m:r>
                              <m:rPr>
                                <m:ctrlPr>
                                  <w:rPr>
                                    <w:color w:val="F0F0F0"/>
                                  </w:rPr>
                                </m:ctrlPr>
                              </m:rPr>
                              <w:rPr>
                                <w:rFonts w:ascii="Cambria Math" w:hAnsi="Cambria Math"/>
                              </w:rPr>
                              <m:t>2</m:t>
                            </m:r>
                          </m:e>
                        </m:rad>
                      </m:e>
                      <m:e>
                        <m:r>
                          <m:rPr>
                            <m:ctrlPr>
                              <w:rPr>
                                <w:color w:val="F0F0F0"/>
                              </w:rPr>
                            </m:ctrlPr>
                          </m:rPr>
                          <w:rPr>
                            <w:rFonts w:ascii="Cambria Math" w:hAnsi="Cambria Math"/>
                          </w:rPr>
                          <m:t>4</m:t>
                        </m:r>
                      </m:e>
                    </m:d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(2√(2))</a:t>
                </a:r>
              </mc:Fallback>
            </mc:AlternateContent>
          </a:p>
        </p:txBody>
      </p:sp>
      <p:sp>
        <p:nvSpPr>
          <p:cNvPr id="9" name="TextBox 8"/>
          <p:cNvSpPr txBox="1"/>
          <p:nvPr/>
        </p:nvSpPr>
        <p:spPr>
          <a:xfrm>
            <a:off x="6185916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d>
                      <m:dPr>
                        <m:sepChr m:val=","/>
                        <m:ctrlPr>
                          <w:rPr>
                            <w:rFonts w:ascii="Cambria Math" w:hAnsi="Cambria Math"/>
                            <w:color w:val="F0F0F0"/>
                          </w:rPr>
                        </m:ctrlPr>
                      </m:dPr>
                      <m:e>
                        <m:r>
                          <m:rPr>
                            <m:ctrlPr>
                              <w:rPr>
                                <w:color w:val="F0F0F0"/>
                              </w:rPr>
                            </m:ctrlPr>
                          </m:rPr>
                          <w:rPr>
                            <w:rFonts w:ascii="Cambria Math" w:hAnsi="Cambria Math"/>
                          </w:rPr>
                          <m:t>2</m:t>
                        </m:r>
                        <m:rad>
                          <m:radPr>
                            <m:degHide m:val="1"/>
                            <m:ctrlPr>
                              <w:rPr>
                                <w:rFonts w:ascii="Cambria Math" w:hAnsi="Cambria Math"/>
                                <w:color w:val="F0F0F0"/>
                              </w:rPr>
                            </m:ctrlPr>
                          </m:radPr>
                          <m:deg/>
                          <m:e>
                            <m:r>
                              <m:rPr>
                                <m:ctrlPr>
                                  <w:rPr>
                                    <w:color w:val="F0F0F0"/>
                                  </w:rPr>
                                </m:ctrlPr>
                              </m:rPr>
                              <w:rPr>
                                <w:rFonts w:ascii="Cambria Math" w:hAnsi="Cambria Math"/>
                              </w:rPr>
                              <m:t>2</m:t>
                            </m:r>
                          </m:e>
                        </m:rad>
                      </m:e>
                      <m:e>
                        <m:r>
                          <m:rPr>
                            <m:ctrlPr>
                              <w:rPr>
                                <w:color w:val="F0F0F0"/>
                              </w:rPr>
                            </m:ctrlPr>
                          </m:rPr>
                          <w:rPr>
                            <w:rFonts w:ascii="Cambria Math" w:hAnsi="Cambria Math"/>
                          </w:rPr>
                          <m:t>0</m:t>
                        </m:r>
                      </m:e>
                    </m:d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(2√(2))</a:t>
                </a:r>
              </mc:Fallback>
            </mc:AlternateContent>
          </a:p>
        </p:txBody>
      </p:sp>
      <p:sp>
        <p:nvSpPr>
          <p:cNvPr id="10" name="TextBox 9"/>
          <p:cNvSpPr txBox="1"/>
          <p:nvPr/>
        </p:nvSpPr>
        <p:spPr>
          <a:xfrm>
            <a:off x="9050274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d>
                      <m:dPr>
                        <m:sepChr m:val=","/>
                        <m:ctrlPr>
                          <w:rPr>
                            <w:rFonts w:ascii="Cambria Math" w:hAnsi="Cambria Math"/>
                            <w:color w:val="F0F0F0"/>
                          </w:rPr>
                        </m:ctrlPr>
                      </m:dPr>
                      <m:e>
                        <m:r>
                          <m:rPr>
                            <m:ctrlPr>
                              <w:rPr>
                                <w:color w:val="F0F0F0"/>
                              </w:rPr>
                            </m:ctrlPr>
                          </m:rPr>
                          <w:rPr>
                            <w:rFonts w:ascii="Cambria Math" w:hAnsi="Cambria Math"/>
                          </w:rPr>
                          <m:t>2</m:t>
                        </m:r>
                      </m:e>
                      <m:e>
                        <m:r>
                          <m:rPr>
                            <m:ctrlPr>
                              <w:rPr>
                                <w:color w:val="F0F0F0"/>
                              </w:rPr>
                            </m:ctrlPr>
                          </m:rPr>
                          <w:rPr>
                            <w:rFonts w:ascii="Cambria Math" w:hAnsi="Cambria Math"/>
                          </w:rPr>
                          <m:t>2</m:t>
                        </m:r>
                      </m:e>
                    </m:d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(2)</a:t>
                </a:r>
              </mc:Fallback>
            </mc:AlternateContent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2024-1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The maximum value of the function f(x)= x, x 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∈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(1, 2)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do not have maximum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2024-3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The maximum value of the function f given by f(x) = |x|, x 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∈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R is: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does not exist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The absolute maximum value of the function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w:rPr>
                        <w:rFonts w:ascii="Cambria Math" w:hAnsi="Cambria Math"/>
                      </w:rPr>
                      <m:t>f</m:t>
                    </m:r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f</a:t>
                </a:r>
              </mc:Fallback>
            </mc:AlternateContent>
            <a:r>
              <a:rPr sz="1800" b="1" i="0" u="none">
                <a:solidFill>
                  <a:srgbClr val="FAD02C"/>
                </a:solidFill>
                <a:latin typeface="Cambria"/>
              </a:rPr>
              <a:t>given by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w:rPr>
                        <w:rFonts w:ascii="Cambria Math" w:hAnsi="Cambria Math"/>
                      </w:rPr>
                      <m:t>f(x)=</m:t>
                    </m:r>
                    <m:sSup>
                      <m:sSupPr>
                        <m:ctrlPr>
                          <w:rPr>
                            <w:rFonts w:ascii="Cambria Math" w:hAnsi="Cambria Math"/>
                            <w:color w:val="FAD02C"/>
                          </w:rPr>
                        </m:ctrlPr>
                      </m:sSupPr>
                      <m:e>
                        <m:r>
                          <m:rPr>
                            <m:ctrlPr>
                              <w:rPr>
                                <w:color w:val="FAD02C"/>
                              </w:rPr>
                            </m:ctrlPr>
                          </m:rPr>
                          <w:rPr>
                            <w:rFonts w:ascii="Cambria Math" w:hAnsi="Cambria Math"/>
                          </w:rPr>
                          <m:t>x</m:t>
                        </m:r>
                      </m:e>
                      <m:sup>
                        <m:r>
                          <m:rPr>
                            <m:ctrlPr>
                              <w:rPr>
                                <w:color w:val="FAD02C"/>
                              </w:rPr>
                            </m:ctrlPr>
                          </m:rPr>
                          <w:rPr>
                            <w:rFonts w:ascii="Cambria Math" w:hAnsi="Cambria Math"/>
                          </w:rPr>
                          <m:t>3</m:t>
                        </m:r>
                      </m:sup>
                    </m:sSup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f(x)=x³</a:t>
                </a:r>
              </mc:Fallback>
            </mc:AlternateContent>
            <a:r>
              <a:rPr sz="1800" b="1" i="0" u="none">
                <a:solidFill>
                  <a:srgbClr val="FAD02C"/>
                </a:solidFill>
                <a:latin typeface="Cambria"/>
              </a:rPr>
              <a:t>,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w:rPr>
                        <w:rFonts w:ascii="Cambria Math" w:hAnsi="Cambria Math"/>
                      </w:rPr>
                      <m:t>x∈[-2,2]</m:t>
                    </m:r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x∈[-2,2]</a:t>
                </a:r>
              </mc:Fallback>
            </mc:AlternateContent>
            <a:r>
              <a:rPr sz="1800" b="1" i="0" u="none">
                <a:solidFill>
                  <a:srgbClr val="FAD02C"/>
                </a:solidFill>
                <a:latin typeface="Cambria"/>
              </a:rPr>
              <a:t>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m:rPr>
                        <m:ctrlPr>
                          <w:rPr>
                            <w:color w:val="F0F0F0"/>
                          </w:rPr>
                        </m:ctrlPr>
                      </m:rPr>
                      <w:rPr>
                        <w:rFonts w:ascii="Cambria Math" w:hAnsi="Cambria Math"/>
                      </w:rPr>
                      <m:t>-2</m:t>
                    </m:r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-2</a:t>
                </a:r>
              </mc:Fallback>
            </mc:AlternateContent>
          </a:p>
        </p:txBody>
      </p:sp>
      <p:sp>
        <p:nvSpPr>
          <p:cNvPr id="10" name="TextBox 9"/>
          <p:cNvSpPr txBox="1"/>
          <p:nvPr/>
        </p:nvSpPr>
        <p:spPr>
          <a:xfrm>
            <a:off x="9050274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2025-2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The total revenue in Rupees received from the sale of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w:rPr>
                        <w:rFonts w:ascii="Cambria Math" w:hAnsi="Cambria Math"/>
                      </w:rPr>
                      <m:t>x</m:t>
                    </m:r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x</a:t>
                </a:r>
              </mc:Fallback>
            </mc:AlternateContent>
            <a:r>
              <a:rPr sz="1800" b="1" i="0" u="none">
                <a:solidFill>
                  <a:srgbClr val="FAD02C"/>
                </a:solidFill>
                <a:latin typeface="Cambria"/>
              </a:rPr>
              <a:t>units of a product 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is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given by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w:rPr>
                        <w:rFonts w:ascii="Cambria Math" w:hAnsi="Cambria Math"/>
                      </w:rPr>
                      <m:t>R(x)=3</m:t>
                    </m:r>
                    <m:sSup>
                      <m:sSupPr>
                        <m:ctrlPr>
                          <w:rPr>
                            <w:rFonts w:ascii="Cambria Math" w:hAnsi="Cambria Math"/>
                            <w:color w:val="FAD02C"/>
                          </w:rPr>
                        </m:ctrlPr>
                      </m:sSupPr>
                      <m:e>
                        <m:r>
                          <m:rPr>
                            <m:ctrlPr>
                              <w:rPr>
                                <w:color w:val="FAD02C"/>
                              </w:rPr>
                            </m:ctrlPr>
                          </m:rPr>
                          <w:rPr>
                            <w:rFonts w:ascii="Cambria Math" w:hAnsi="Cambria Math"/>
                          </w:rPr>
                          <m:t>x</m:t>
                        </m:r>
                      </m:e>
                      <m:sup>
                        <m:r>
                          <m:rPr>
                            <m:ctrlPr>
                              <w:rPr>
                                <w:color w:val="FAD02C"/>
                              </w:rPr>
                            </m:ctrlPr>
                          </m:rPr>
                          <w:rPr>
                            <w:rFonts w:ascii="Cambria Math" w:hAnsi="Cambria Math"/>
                          </w:rPr>
                          <m:t>2</m:t>
                        </m:r>
                      </m:sup>
                    </m:sSup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w:rPr>
                        <w:rFonts w:ascii="Cambria Math" w:hAnsi="Cambria Math"/>
                      </w:rPr>
                      <m:t>+36x+5.</m:t>
                    </m:r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R(x)=3x²+36x+5.</a:t>
                </a:r>
              </mc:Fallback>
            </mc:AlternateContent>
            <a:r>
              <a:rPr sz="1800" b="1" i="0" u="none">
                <a:solidFill>
                  <a:srgbClr val="FAD02C"/>
                </a:solidFill>
                <a:latin typeface="Cambria"/>
              </a:rPr>
              <a:t> 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The marginal revenue when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m:rPr>
                        <m:sty m:val="p"/>
                        <m:ctrlPr>
                          <w:rPr>
                            <w:color w:val="FAD02C"/>
                          </w:rPr>
                        </m:ctrlPr>
                      </m:rPr>
                      <w:rPr>
                        <w:rFonts w:ascii="Cambria Math" w:hAnsi="Cambria Math"/>
                      </w:rPr>
                      <m:t>x=15</m:t>
                    </m:r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x=15</a:t>
                </a:r>
              </mc:Fallback>
            </mc:AlternateContent>
            <a:r>
              <a:rPr sz="1800" b="1" i="0" u="none">
                <a:solidFill>
                  <a:srgbClr val="FAD02C"/>
                </a:solidFill>
                <a:latin typeface="Cambria"/>
              </a:rPr>
              <a:t>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8623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38623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96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38623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116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38623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126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The function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w:rPr>
                        <w:rFonts w:ascii="Cambria Math" w:hAnsi="Cambria Math"/>
                      </w:rPr>
                      <m:t>f</m:t>
                    </m:r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f</a:t>
                </a:r>
              </mc:Fallback>
            </mc:AlternateContent>
            <a:r>
              <a:rPr sz="1800" b="1" i="0" u="none">
                <a:solidFill>
                  <a:srgbClr val="FAD02C"/>
                </a:solidFill>
                <a:latin typeface="Cambria"/>
              </a:rPr>
              <a:t>given by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w:rPr>
                        <w:rFonts w:ascii="Cambria Math" w:hAnsi="Cambria Math"/>
                      </w:rPr>
                      <m:t>f(x)=</m:t>
                    </m:r>
                    <m:sSup>
                      <m:sSupPr>
                        <m:ctrlPr>
                          <w:rPr>
                            <w:rFonts w:ascii="Cambria Math" w:hAnsi="Cambria Math"/>
                            <w:color w:val="FAD02C"/>
                          </w:rPr>
                        </m:ctrlPr>
                      </m:sSupPr>
                      <m:e>
                        <m:r>
                          <m:rPr>
                            <m:ctrlPr>
                              <w:rPr>
                                <w:color w:val="FAD02C"/>
                              </w:rPr>
                            </m:ctrlPr>
                          </m:rPr>
                          <w:rPr>
                            <w:rFonts w:ascii="Cambria Math" w:hAnsi="Cambria Math"/>
                          </w:rPr>
                          <m:t>x</m:t>
                        </m:r>
                      </m:e>
                      <m:sup>
                        <m:r>
                          <m:rPr>
                            <m:ctrlPr>
                              <w:rPr>
                                <w:color w:val="FAD02C"/>
                              </w:rPr>
                            </m:ctrlPr>
                          </m:rPr>
                          <w:rPr>
                            <w:rFonts w:ascii="Cambria Math" w:hAnsi="Cambria Math"/>
                          </w:rPr>
                          <m:t>2</m:t>
                        </m:r>
                      </m:sup>
                    </m:sSup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w:rPr>
                        <w:rFonts w:ascii="Cambria Math" w:hAnsi="Cambria Math"/>
                      </w:rPr>
                      <m:t>-4x+6</m:t>
                    </m:r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f(x)=x²-4x+6</a:t>
                </a:r>
              </mc:Fallback>
            </mc:AlternateContent>
            <a:r>
              <a:rPr sz="1800" b="1" i="0" u="none">
                <a:solidFill>
                  <a:srgbClr val="FAD02C"/>
                </a:solidFill>
                <a:latin typeface="Cambria"/>
              </a:rPr>
              <a:t> is increasing in the interval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d>
                      <m:dPr>
                        <m:ctrlPr>
                          <w:rPr>
                            <w:rFonts w:ascii="Cambria Math" w:hAnsi="Cambria Math"/>
                            <w:color w:val="F0F0F0"/>
                          </w:rPr>
                        </m:ctrlPr>
                      </m:dPr>
                      <m:e>
                        <m:r>
                          <m:rPr>
                            <m:ctrlPr>
                              <w:rPr>
                                <w:color w:val="F0F0F0"/>
                              </w:rPr>
                            </m:ctrlPr>
                          </m:rPr>
                          <w:rPr>
                            <w:rFonts w:ascii="Cambria Math" w:hAnsi="Cambria Math"/>
                          </w:rPr>
                          <m:t>-</m:t>
                        </m:r>
                        <m:r>
                          <m:rPr>
                            <m:sty m:val="p"/>
                            <m:ctrlPr>
                              <w:rPr>
                                <w:color w:val="F0F0F0"/>
                              </w:rPr>
                            </m:ctrlPr>
                          </m:rPr>
                          <w:rPr>
                            <w:rFonts w:ascii="Cambria Math" w:hAnsi="Cambria Math"/>
                          </w:rPr>
                          <m:t>∞</m:t>
                        </m:r>
                        <m:r>
                          <m:rPr>
                            <m:ctrlPr>
                              <w:rPr>
                                <w:color w:val="F0F0F0"/>
                              </w:rPr>
                            </m:ctrlPr>
                          </m:rPr>
                          <w:rPr>
                            <w:rFonts w:ascii="Cambria Math" w:hAnsi="Cambria Math"/>
                          </w:rPr>
                          <m:t>,2</m:t>
                        </m:r>
                      </m:e>
                    </m:d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(-∞,2)</a:t>
                </a:r>
              </mc:Fallback>
            </mc:AlternateContent>
          </a:p>
        </p:txBody>
      </p:sp>
      <p:sp>
        <p:nvSpPr>
          <p:cNvPr id="8" name="TextBox 7"/>
          <p:cNvSpPr txBox="1"/>
          <p:nvPr/>
        </p:nvSpPr>
        <p:spPr>
          <a:xfrm>
            <a:off x="3321558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d>
                      <m:dPr>
                        <m:sepChr m:val=","/>
                        <m:ctrlPr>
                          <w:rPr>
                            <w:rFonts w:ascii="Cambria Math" w:hAnsi="Cambria Math"/>
                            <w:color w:val="F0F0F0"/>
                          </w:rPr>
                        </m:ctrlPr>
                      </m:dPr>
                      <m:e>
                        <m:r>
                          <m:rPr>
                            <m:ctrlPr>
                              <w:rPr>
                                <w:color w:val="F0F0F0"/>
                              </w:rPr>
                            </m:ctrlPr>
                          </m:rPr>
                          <w:rPr>
                            <w:rFonts w:ascii="Cambria Math" w:hAnsi="Cambria Math"/>
                          </w:rPr>
                          <m:t>2</m:t>
                        </m:r>
                      </m:e>
                      <m:e>
                        <m:r>
                          <m:rPr>
                            <m:sty m:val="p"/>
                            <m:ctrlPr>
                              <w:rPr>
                                <w:color w:val="F0F0F0"/>
                              </w:rPr>
                            </m:ctrlPr>
                          </m:rPr>
                          <w:rPr>
                            <w:rFonts w:ascii="Cambria Math" w:hAnsi="Cambria Math"/>
                          </w:rPr>
                          <m:t>∞</m:t>
                        </m:r>
                      </m:e>
                    </m:d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(2)</a:t>
                </a:r>
              </mc:Fallback>
            </mc:AlternateContent>
          </a:p>
        </p:txBody>
      </p:sp>
      <p:sp>
        <p:nvSpPr>
          <p:cNvPr id="9" name="TextBox 8"/>
          <p:cNvSpPr txBox="1"/>
          <p:nvPr/>
        </p:nvSpPr>
        <p:spPr>
          <a:xfrm>
            <a:off x="6185916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m:rPr>
                        <m:ctrlPr>
                          <w:rPr>
                            <w:color w:val="F0F0F0"/>
                          </w:rPr>
                        </m:ctrlPr>
                      </m:rPr>
                      <w:rPr>
                        <w:rFonts w:ascii="Cambria Math" w:hAnsi="Cambria Math"/>
                      </w:rPr>
                      <m:t>[2,</m:t>
                    </m:r>
                    <m:r>
                      <m:rPr>
                        <m:sty m:val="p"/>
                        <m:ctrlPr>
                          <w:rPr>
                            <w:color w:val="F0F0F0"/>
                          </w:rPr>
                        </m:ctrlPr>
                      </m:rPr>
                      <w:rPr>
                        <w:rFonts w:ascii="Cambria Math" w:hAnsi="Cambria Math"/>
                      </w:rPr>
                      <m:t>∞</m:t>
                    </m:r>
                    <m:r>
                      <m:rPr>
                        <m:ctrlPr>
                          <w:rPr>
                            <w:color w:val="F0F0F0"/>
                          </w:rPr>
                        </m:ctrlPr>
                      </m:rPr>
                      <w:rPr>
                        <w:rFonts w:ascii="Cambria Math" w:hAnsi="Cambria Math"/>
                      </w:rPr>
                      <m:t>)</m:t>
                    </m:r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[2,∞)</a:t>
                </a:r>
              </mc:Fallback>
            </mc:AlternateContent>
          </a:p>
        </p:txBody>
      </p:sp>
      <p:sp>
        <p:nvSpPr>
          <p:cNvPr id="10" name="TextBox 9"/>
          <p:cNvSpPr txBox="1"/>
          <p:nvPr/>
        </p:nvSpPr>
        <p:spPr>
          <a:xfrm>
            <a:off x="9050274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d>
                      <m:dPr>
                        <m:ctrlPr>
                          <w:rPr>
                            <w:rFonts w:ascii="Cambria Math" w:hAnsi="Cambria Math"/>
                            <w:color w:val="F0F0F0"/>
                          </w:rPr>
                        </m:ctrlPr>
                      </m:dPr>
                      <m:e>
                        <m:r>
                          <m:rPr>
                            <m:ctrlPr>
                              <w:rPr>
                                <w:color w:val="F0F0F0"/>
                              </w:rPr>
                            </m:ctrlPr>
                          </m:rPr>
                          <w:rPr>
                            <w:rFonts w:ascii="Cambria Math" w:hAnsi="Cambria Math"/>
                          </w:rPr>
                          <m:t>-</m:t>
                        </m:r>
                        <m:r>
                          <m:rPr>
                            <m:sty m:val="p"/>
                            <m:ctrlPr>
                              <w:rPr>
                                <w:color w:val="F0F0F0"/>
                              </w:rPr>
                            </m:ctrlPr>
                          </m:rPr>
                          <w:rPr>
                            <w:rFonts w:ascii="Cambria Math" w:hAnsi="Cambria Math"/>
                          </w:rPr>
                          <m:t>∞</m:t>
                        </m:r>
                        <m:r>
                          <m:rPr>
                            <m:ctrlPr>
                              <w:rPr>
                                <w:color w:val="F0F0F0"/>
                              </w:rPr>
                            </m:ctrlPr>
                          </m:rPr>
                          <w:rPr>
                            <w:rFonts w:ascii="Cambria Math" w:hAnsi="Cambria Math"/>
                          </w:rPr>
                          <m:t>,</m:t>
                        </m:r>
                        <m:r>
                          <m:rPr>
                            <m:sty m:val="p"/>
                            <m:ctrlPr>
                              <w:rPr>
                                <w:color w:val="F0F0F0"/>
                              </w:rPr>
                            </m:ctrlPr>
                          </m:rPr>
                          <w:rPr>
                            <w:rFonts w:ascii="Cambria Math" w:hAnsi="Cambria Math"/>
                          </w:rPr>
                          <m:t>∞</m:t>
                        </m:r>
                      </m:e>
                    </m:d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(-∞,∞)</a:t>
                </a:r>
              </mc:Fallback>
            </mc:AlternateContent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2025-3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A particle moving in a straight line covers a distance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w:rPr>
                        <w:rFonts w:ascii="Cambria Math" w:eastAsia="Times New Roman" w:hAnsi="Cambria Math" w:cs="Times New Roman"/>
                        <w:sz w:val="24"/>
                        <w:szCs w:val="24"/>
                      </w:rPr>
                      <m:t>S</m:t>
                    </m:r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S</a:t>
                </a:r>
              </mc:Fallback>
            </mc:AlternateContent>
            <a:r>
              <a:rPr sz="1800" b="1" i="0" u="none">
                <a:solidFill>
                  <a:srgbClr val="FAD02C"/>
                </a:solidFill>
                <a:latin typeface="Cambria"/>
              </a:rPr>
              <a:t>cm in time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w:rPr>
                        <w:rFonts w:ascii="Cambria Math" w:eastAsia="Times New Roman" w:hAnsi="Cambria Math" w:cs="Times New Roman"/>
                        <w:sz w:val="24"/>
                        <w:szCs w:val="24"/>
                      </w:rPr>
                      <m:t>t</m:t>
                    </m:r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t</a:t>
                </a:r>
              </mc:Fallback>
            </mc:AlternateContent>
            <a:r>
              <a:rPr sz="1800" b="1" i="0" u="none">
                <a:solidFill>
                  <a:srgbClr val="FAD02C"/>
                </a:solidFill>
                <a:latin typeface="Cambria"/>
              </a:rPr>
              <a:t>sec. is given by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w:rPr>
                        <w:rFonts w:ascii="Cambria Math" w:eastAsia="Times New Roman" w:hAnsi="Cambria Math" w:cs="Times New Roman"/>
                        <w:sz w:val="24"/>
                        <w:szCs w:val="24"/>
                      </w:rPr>
                      <m:t>S=</m:t>
                    </m:r>
                    <m:sSup>
                      <m:sSupPr>
                        <m:ctrlPr>
                          <w:rPr>
                            <w:rFonts w:ascii="Cambria Math" w:eastAsia="Times New Roman" w:hAnsi="Cambria Math" w:cs="Times New Roman"/>
                            <w:sz w:val="24"/>
                            <w:szCs w:val="24"/>
                            <w:color w:val="FAD02C"/>
                          </w:rPr>
                        </m:ctrlPr>
                      </m:sSupPr>
                      <m:e>
                        <m:r>
                          <m:rPr>
                            <m:ctrlPr>
                              <w:rPr>
                                <w:color w:val="FAD02C"/>
                              </w:rPr>
                            </m:ctrlPr>
                          </m:rPr>
                          <w:rPr>
                            <w:rFonts w:ascii="Cambria Math" w:eastAsia="Times New Roman" w:hAnsi="Cambria Math" w:cs="Times New Roman"/>
                            <w:sz w:val="24"/>
                            <w:szCs w:val="24"/>
                          </w:rPr>
                          <m:t>t</m:t>
                        </m:r>
                      </m:e>
                      <m:sup>
                        <m:r>
                          <m:rPr>
                            <m:ctrlPr>
                              <w:rPr>
                                <w:color w:val="FAD02C"/>
                              </w:rPr>
                            </m:ctrlPr>
                          </m:rPr>
                          <w:rPr>
                            <w:rFonts w:ascii="Cambria Math" w:eastAsia="Times New Roman" w:hAnsi="Cambria Math" w:cs="Times New Roman"/>
                            <w:sz w:val="24"/>
                            <w:szCs w:val="24"/>
                          </w:rPr>
                          <m:t>3</m:t>
                        </m:r>
                      </m:sup>
                    </m:sSup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w:rPr>
                        <w:rFonts w:ascii="Cambria Math" w:eastAsia="Times New Roman" w:hAnsi="Cambria Math" w:cs="Times New Roman"/>
                        <w:sz w:val="24"/>
                        <w:szCs w:val="24"/>
                      </w:rPr>
                      <m:t>+3</m:t>
                    </m:r>
                    <m:sSup>
                      <m:sSupPr>
                        <m:ctrlPr>
                          <w:rPr>
                            <w:rFonts w:ascii="Cambria Math" w:eastAsia="Times New Roman" w:hAnsi="Cambria Math" w:cs="Times New Roman"/>
                            <w:sz w:val="24"/>
                            <w:szCs w:val="24"/>
                            <w:color w:val="FAD02C"/>
                          </w:rPr>
                        </m:ctrlPr>
                      </m:sSupPr>
                      <m:e>
                        <m:r>
                          <m:rPr>
                            <m:ctrlPr>
                              <w:rPr>
                                <w:color w:val="FAD02C"/>
                              </w:rPr>
                            </m:ctrlPr>
                          </m:rPr>
                          <w:rPr>
                            <w:rFonts w:ascii="Cambria Math" w:eastAsia="Times New Roman" w:hAnsi="Cambria Math" w:cs="Times New Roman"/>
                            <w:sz w:val="24"/>
                            <w:szCs w:val="24"/>
                          </w:rPr>
                          <m:t>t</m:t>
                        </m:r>
                      </m:e>
                      <m:sup>
                        <m:r>
                          <m:rPr>
                            <m:ctrlPr>
                              <w:rPr>
                                <w:color w:val="FAD02C"/>
                              </w:rPr>
                            </m:ctrlPr>
                          </m:rPr>
                          <w:rPr>
                            <w:rFonts w:ascii="Cambria Math" w:eastAsia="Times New Roman" w:hAnsi="Cambria Math" w:cs="Times New Roman"/>
                            <w:sz w:val="24"/>
                            <w:szCs w:val="24"/>
                          </w:rPr>
                          <m:t>2</m:t>
                        </m:r>
                      </m:sup>
                    </m:sSup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w:rPr>
                        <w:rFonts w:ascii="Cambria Math" w:eastAsia="Times New Roman" w:hAnsi="Cambria Math" w:cs="Times New Roman"/>
                        <w:sz w:val="24"/>
                        <w:szCs w:val="24"/>
                      </w:rPr>
                      <m:t>+6t-18,</m:t>
                    </m:r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S=t³+3t²+6t-18,</a:t>
                </a:r>
              </mc:Fallback>
            </mc:AlternateContent>
            <a:r>
              <a:rPr sz="1800" b="1" i="1" u="none">
                <a:solidFill>
                  <a:srgbClr val="FAD02C"/>
                </a:solidFill>
                <a:latin typeface="Cambria"/>
              </a:rPr>
              <a:t> 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the initial velocity of a particle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8623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3 cm/sec.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38623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18 cm/sec.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38623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8 cm/sec.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38623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6 cm/sec.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2340864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2026-1 · NEEDS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100023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The function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m:rPr>
                        <m:sty m:val="p"/>
                        <m:ctrlPr>
                          <w:rPr>
                            <w:color w:val="FAD02C"/>
                          </w:rPr>
                        </m:ctrlPr>
                      </m:rPr>
                      <w:rPr>
                        <w:rFonts w:ascii="Cambria Math" w:hAnsi="Cambria Math"/>
                      </w:rPr>
                      <m:t>f</m:t>
                    </m:r>
                    <m:d>
                      <m:dPr>
                        <m:ctrlPr>
                          <w:rPr>
                            <w:rFonts w:ascii="Cambria Math" w:hAnsi="Cambria Math"/>
                            <w:color w:val="FAD02C"/>
                          </w:rPr>
                        </m:ctrlPr>
                      </m:dPr>
                      <m:e>
                        <m:r>
                          <m:rPr>
                            <m:sty m:val="p"/>
                            <m:ctrlPr>
                              <w:rPr>
                                <w:color w:val="FAD02C"/>
                              </w:rPr>
                            </m:ctrlPr>
                          </m:rPr>
                          <w:rPr>
                            <w:rFonts w:ascii="Cambria Math" w:hAnsi="Cambria Math"/>
                          </w:rPr>
                          <m:t>x</m:t>
                        </m:r>
                      </m:e>
                    </m:d>
                    <m:r>
                      <m:rPr>
                        <m:sty m:val="p"/>
                        <m:ctrlPr>
                          <w:rPr>
                            <w:color w:val="FAD02C"/>
                          </w:rPr>
                        </m:ctrlPr>
                      </m:rPr>
                      <w:rPr>
                        <w:rFonts w:ascii="Cambria Math" w:hAnsi="Cambria Math"/>
                      </w:rPr>
                      <m:t>=</m:t>
                    </m:r>
                    <m:sSup>
                      <m:sSupPr>
                        <m:ctrlPr>
                          <w:rPr>
                            <w:rFonts w:ascii="Cambria Math" w:hAnsi="Cambria Math"/>
                            <w:color w:val="FAD02C"/>
                          </w:rPr>
                        </m:ctrlPr>
                      </m:sSupPr>
                      <m:e>
                        <m:r>
                          <m:rPr>
                            <m:sty m:val="p"/>
                            <m:ctrlPr>
                              <w:rPr>
                                <w:color w:val="FAD02C"/>
                              </w:rPr>
                            </m:ctrlPr>
                          </m:rPr>
                          <w:rPr>
                            <w:rFonts w:ascii="Cambria Math" w:hAnsi="Cambria Math"/>
                          </w:rPr>
                          <m:t>x</m:t>
                        </m:r>
                      </m:e>
                      <m:sup>
                        <m:r>
                          <m:rPr>
                            <m:sty m:val="p"/>
                            <m:ctrlPr>
                              <w:rPr>
                                <w:color w:val="FAD02C"/>
                              </w:rPr>
                            </m:ctrlPr>
                          </m:rPr>
                          <w:rPr>
                            <w:rFonts w:ascii="Cambria Math" w:hAnsi="Cambria Math"/>
                          </w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f(x)=x²</a:t>
                </a:r>
              </mc:Fallback>
            </mc:AlternateContent>
            <a:r>
              <a:rPr sz="1800" b="1" i="0" u="none">
                <a:solidFill>
                  <a:srgbClr val="FAD02C"/>
                </a:solidFill>
                <a:latin typeface="Cambria"/>
              </a:rPr>
              <a:t> is decreasing in the interval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d>
                      <m:dPr>
                        <m:ctrlPr>
                          <w:rPr>
                            <w:rFonts w:ascii="Cambria Math" w:hAnsi="Cambria Math"/>
                            <w:color w:val="FAD02C"/>
                          </w:rPr>
                        </m:ctrlPr>
                      </m:dPr>
                      <m:e>
                        <m:r>
                          <m:rPr>
                            <m:sty m:val="p"/>
                            <m:ctrlPr>
                              <w:rPr>
                                <w:color w:val="FAD02C"/>
                              </w:rPr>
                            </m:ctrlPr>
                          </m:rPr>
                          <w:rPr>
                            <w:rFonts w:ascii="Cambria Math" w:hAnsi="Cambria Math"/>
                          </w:rPr>
                          <m:t>0,∞</m:t>
                        </m:r>
                      </m:e>
                    </m:d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(0,∞)</a:t>
                </a:r>
              </mc:Fallback>
            </mc:AlternateContent>
            <a:r>
              <a:rPr sz="1800" b="1" i="0" u="none">
                <a:solidFill>
                  <a:srgbClr val="FAD02C"/>
                </a:solidFill>
                <a:latin typeface="Cambria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100023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Any function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m:rPr>
                        <m:sty m:val="p"/>
                        <m:ctrlPr>
                          <w:rPr>
                            <w:color w:val="FAD02C"/>
                          </w:rPr>
                        </m:ctrlPr>
                      </m:rPr>
                      <w:rPr>
                        <w:rFonts w:ascii="Cambria Math" w:hAnsi="Cambria Math"/>
                      </w:rPr>
                      <m:t>y=f</m:t>
                    </m:r>
                    <m:d>
                      <m:dPr>
                        <m:ctrlPr>
                          <w:rPr>
                            <w:rFonts w:ascii="Cambria Math" w:hAnsi="Cambria Math"/>
                            <w:color w:val="FAD02C"/>
                          </w:rPr>
                        </m:ctrlPr>
                      </m:dPr>
                      <m:e>
                        <m:r>
                          <m:rPr>
                            <m:sty m:val="p"/>
                            <m:ctrlPr>
                              <w:rPr>
                                <w:color w:val="FAD02C"/>
                              </w:rPr>
                            </m:ctrlPr>
                          </m:rPr>
                          <w:rPr>
                            <w:rFonts w:ascii="Cambria Math" w:hAnsi="Cambria Math"/>
                          </w:rPr>
                          <m:t>x</m:t>
                        </m:r>
                      </m:e>
                    </m:d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y=f(x)</a:t>
                </a:r>
              </mc:Fallback>
            </mc:AlternateContent>
            <a:r>
              <a:rPr sz="1800" b="1" i="0" u="none">
                <a:solidFill>
                  <a:srgbClr val="FAD02C"/>
                </a:solidFill>
                <a:latin typeface="Cambria"/>
              </a:rPr>
              <a:t> is decreasing if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f>
                      <m:fPr>
                        <m:ctrlPr>
                          <w:rPr>
                            <w:rFonts w:ascii="Cambria Math" w:hAnsi="Cambria Math"/>
                            <w:color w:val="FAD02C"/>
                          </w:rPr>
                        </m:ctrlPr>
                      </m:fPr>
                      <m:num>
                        <m:r>
                          <m:rPr>
                            <m:sty m:val="p"/>
                            <m:ctrlPr>
                              <w:rPr>
                                <w:color w:val="FAD02C"/>
                              </w:rPr>
                            </m:ctrlPr>
                          </m:rPr>
                          <w:rPr>
                            <w:rFonts w:ascii="Cambria Math" w:hAnsi="Cambria Math"/>
                          </w:rPr>
                          <m:t>dy</m:t>
                        </m:r>
                      </m:num>
                      <m:den>
                        <m:r>
                          <m:rPr>
                            <m:sty m:val="p"/>
                            <m:ctrlPr>
                              <w:rPr>
                                <w:color w:val="FAD02C"/>
                              </w:rPr>
                            </m:ctrlPr>
                          </m:rPr>
                          <w:rPr>
                            <w:rFonts w:ascii="Cambria Math" w:hAnsi="Cambria Math"/>
                          </w:rPr>
                          <m:t>dx</m:t>
                        </m:r>
                      </m:den>
                    </m:f>
                    <m:r>
                      <m:rPr>
                        <m:sty m:val="p"/>
                        <m:ctrlPr>
                          <w:rPr>
                            <w:color w:val="FAD02C"/>
                          </w:rPr>
                        </m:ctrlPr>
                      </m:rPr>
                      <w:rPr>
                        <w:rFonts w:ascii="Cambria Math" w:hAnsi="Cambria Math"/>
                      </w:rPr>
                      <m:t>&lt;0</m:t>
                    </m:r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(dy)/(dx)&lt;0</a:t>
                </a:r>
              </mc:Fallback>
            </mc:AlternateContent>
            <a:r>
              <a:rPr sz="1800" b="1" i="0" u="none">
                <a:solidFill>
                  <a:srgbClr val="FAD02C"/>
                </a:solidFill>
                <a:latin typeface="Cambria"/>
              </a:rPr>
              <a:t>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Which of the following is correct?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77256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Both Statements I and II are true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097280"/>
            <a:ext cx="5477256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Both Statements I and II are false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77256" cy="541324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Statement I is true and Statement II is false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600200"/>
            <a:ext cx="5477256" cy="541324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 i="0" u="none">
                <a:solidFill>
                  <a:srgbClr val="F0F0F0"/>
                </a:solidFill>
                <a:latin typeface="Cambria"/>
              </a:rPr>
              <a:t>Statement I is false and Statement II is true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2023M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The slope of the normal to the curve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="http://schemas.openxmlformats.org/wordprocessingml/2006/main"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m:t>y</m:t>
                    </m:r>
                    <m:r>
                      <m:rPr>
                        <m:sty m:val="p"/>
                        <m:ctrlPr>
                          <w:rPr>
                            <w:color w:val="FAD02C"/>
                          </w:rPr>
                        </m:ctrlPr>
                      </m:rPr>
                      <m:t>=</m:t>
                    </m:r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m:t>2</m:t>
                    </m:r>
                    <m:sSup>
                      <m:e>
                        <m:r>
                          <m:rPr>
                            <m:ctrlPr>
                              <w:rPr>
                                <w:color w:val="FAD02C"/>
                              </w:rPr>
                            </m:ctrlPr>
                          </m:rPr>
                          <m:t>x</m:t>
                        </m:r>
                      </m:e>
                      <m:sup>
                        <m:r>
                          <m:rPr>
                            <m:ctrlPr>
                              <w:rPr>
                                <w:color w:val="FAD02C"/>
                              </w:rPr>
                            </m:ctrlPr>
                          </m:rPr>
                          <m:t>2</m:t>
                        </m:r>
                      </m:sup>
                    </m:sSup>
                    <m:r>
                      <m:rPr>
                        <m:sty m:val="p"/>
                        <m:ctrlPr>
                          <w:rPr>
                            <w:color w:val="FAD02C"/>
                          </w:rPr>
                        </m:ctrlPr>
                      </m:rPr>
                      <m:t>−</m:t>
                    </m:r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m:t>3</m:t>
                    </m:r>
                    <m:r>
                      <m:rPr>
                        <m:sty m:val="p"/>
                        <m:ctrlPr>
                          <w:rPr>
                            <w:color w:val="FAD02C"/>
                          </w:rPr>
                        </m:ctrlPr>
                      </m:rPr>
                      <m:t>sin</m:t>
                    </m:r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m:t>x</m:t>
                    </m:r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y = 2x² - 3sin (x)</a:t>
                </a:r>
              </mc:Fallback>
            </mc:AlternateContent>
            <a:r>
              <a:rPr sz="1800" b="1">
                <a:solidFill>
                  <a:srgbClr val="FAD02C"/>
                </a:solidFill>
                <a:latin typeface="Cambria"/>
              </a:rPr>
              <a:t> at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="http://schemas.openxmlformats.org/wordprocessingml/2006/main"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m:t>x</m:t>
                    </m:r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x</a:t>
                </a:r>
              </mc:Fallback>
            </mc:AlternateContent>
            <a:r>
              <a:rPr sz="1800" b="1">
                <a:solidFill>
                  <a:srgbClr val="FAD02C"/>
                </a:solidFill>
                <a:latin typeface="Cambria"/>
              </a:rPr>
              <a:t> = 0 is____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2026-1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The point of inflection of the function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="http://schemas.openxmlformats.org/wordprocessingml/2006/main"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m:t>f</m:t>
                    </m:r>
                    <m:r>
                      <m:rPr>
                        <m:sty m:val="p"/>
                        <m:ctrlPr>
                          <w:rPr>
                            <w:color w:val="FAD02C"/>
                          </w:rPr>
                        </m:ctrlPr>
                      </m:rPr>
                      <m:t>(</m:t>
                    </m:r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m:t>x</m:t>
                    </m:r>
                    <m:r>
                      <m:rPr>
                        <m:sty m:val="p"/>
                        <m:ctrlPr>
                          <w:rPr>
                            <w:color w:val="FAD02C"/>
                          </w:rPr>
                        </m:ctrlPr>
                      </m:rPr>
                      <m:t>)</m:t>
                    </m:r>
                    <m:r>
                      <m:rPr>
                        <m:sty m:val="p"/>
                        <m:ctrlPr>
                          <w:rPr>
                            <w:color w:val="FAD02C"/>
                          </w:rPr>
                        </m:ctrlPr>
                      </m:rPr>
                      <m:t>=</m:t>
                    </m:r>
                    <m:sSup>
                      <m:e>
                        <m:r>
                          <m:rPr>
                            <m:ctrlPr>
                              <w:rPr>
                                <w:color w:val="FAD02C"/>
                              </w:rPr>
                            </m:ctrlPr>
                          </m:rPr>
                          <m:t>x</m:t>
                        </m:r>
                      </m:e>
                      <m:sup>
                        <m:r>
                          <m:rPr>
                            <m:ctrlPr>
                              <w:rPr>
                                <w:color w:val="FAD02C"/>
                              </w:rPr>
                            </m:ctrlPr>
                          </m:rPr>
                          <m:t>3</m:t>
                        </m:r>
                      </m:sup>
                    </m:sSup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f(x) = x³</a:t>
                </a:r>
              </mc:Fallback>
            </mc:AlternateContent>
            <a:r>
              <a:rPr sz="1800" b="1">
                <a:solidFill>
                  <a:srgbClr val="FAD02C"/>
                </a:solidFill>
                <a:latin typeface="Cambria"/>
              </a:rPr>
              <a:t> in the interval [-1,1] is_____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1234440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106984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2014, 2019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Find the approximate charge in the volume v of a cube of side x meters caused by increasing the side by 2%.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1380744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12161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2014S, 2020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Approximate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ad>
                      <m:radPr>
                        <m:degHide m:val="1"/>
                        <m:ctrlPr>
                          <w:rPr>
                            <w:rFonts w:ascii="Cambria Math" w:hAnsi="Cambria Math" w:cs="Times New Roman"/>
                            <w:i/>
                            <w:sz w:val="24"/>
                            <w:szCs w:val="24"/>
                            <w:color w:val="FAD02C"/>
                          </w:rPr>
                        </m:ctrlPr>
                      </m:radPr>
                      <m:deg/>
                      <m:e>
                        <m:r>
                          <m:rPr>
                            <m:ctrlPr>
                              <w:rPr>
                                <w:color w:val="FAD02C"/>
                              </w:rPr>
                            </m:ctrlPr>
                          </m:rPr>
                          <w:rPr>
                            <w:rFonts w:ascii="Cambria Math" w:hAnsi="Cambria Math" w:cs="Times New Roman"/>
                            <w:sz w:val="24"/>
                            <w:szCs w:val="24"/>
                          </w:rPr>
                          <m:t>36.6</m:t>
                        </m:r>
                      </m:e>
                    </m:rad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w:rPr>
                        <w:rFonts w:ascii="Cambria Math" w:hAnsi="Cambria Math" w:cs="Times New Roman"/>
                        <w:sz w:val="24"/>
                        <w:szCs w:val="24"/>
                      </w:rPr>
                      <m:t xml:space="preserve"> </m:t>
                    </m:r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√(36.6)</a:t>
                </a:r>
              </mc:Fallback>
            </mc:AlternateContent>
            <a:r>
              <a:rPr sz="1800" b="1" i="0" u="none">
                <a:solidFill>
                  <a:srgbClr val="FAD02C"/>
                </a:solidFill>
                <a:latin typeface="Cambria"/>
              </a:rPr>
              <a:t>by using differential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Find the slope of the tangent to the curve y =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f>
                      <m:fPr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  <w:szCs w:val="24"/>
                            <w:color w:val="FAD02C"/>
                          </w:rPr>
                        </m:ctrlPr>
                      </m:fPr>
                      <m:num>
                        <m:r>
                          <m:rPr>
                            <m:ctrlPr>
                              <w:rPr>
                                <w:color w:val="FAD02C"/>
                              </w:rPr>
                            </m:ctrlPr>
                          </m:rPr>
                          <w:rPr>
                            <w:rFonts w:ascii="Cambria Math" w:eastAsiaTheme="minorEastAsia" w:hAnsi="Cambria Math" w:cs="Times New Roman"/>
                            <w:sz w:val="24"/>
                            <w:szCs w:val="24"/>
                          </w:rPr>
                          <m:t>x-1</m:t>
                        </m:r>
                      </m:num>
                      <m:den>
                        <m:r>
                          <m:rPr>
                            <m:ctrlPr>
                              <w:rPr>
                                <w:color w:val="FAD02C"/>
                              </w:rPr>
                            </m:ctrlPr>
                          </m:rPr>
                          <w:rPr>
                            <w:rFonts w:ascii="Cambria Math" w:eastAsiaTheme="minorEastAsia" w:hAnsi="Cambria Math" w:cs="Times New Roman"/>
                            <w:sz w:val="24"/>
                            <w:szCs w:val="24"/>
                          </w:rPr>
                          <m:t>x-2</m:t>
                        </m:r>
                      </m:den>
                    </m:f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(x⁻¹)/(x⁻²)</a:t>
                </a:r>
              </mc:Fallback>
            </mc:AlternateContent>
            <a:r>
              <a:rPr sz="1800" b="1" i="0" u="none">
                <a:solidFill>
                  <a:srgbClr val="FAD02C"/>
                </a:solidFill>
                <a:latin typeface="Cambria"/>
              </a:rPr>
              <a:t>, x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w:rPr>
                        <w:rFonts w:ascii="Cambria Math" w:eastAsiaTheme="minorEastAsia" w:hAnsi="Cambria Math" w:cs="Times New Roman"/>
                        <w:sz w:val="24"/>
                        <w:szCs w:val="24"/>
                      </w:rPr>
                      <m:t xml:space="preserve">≠2 </m:t>
                    </m:r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≠2</a:t>
                </a:r>
              </mc:Fallback>
            </mc:AlternateContent>
            <a:r>
              <a:rPr sz="1800" b="1" i="0" u="none">
                <a:solidFill>
                  <a:srgbClr val="FAD02C"/>
                </a:solidFill>
                <a:latin typeface="Cambria"/>
              </a:rPr>
              <a:t>at x =10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2015S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Using differentials, find the approximate value of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ad>
                      <m:radPr>
                        <m:degHide m:val="1"/>
                        <m:ctrlPr>
                          <w:rPr>
                            <w:rFonts w:ascii="Cambria Math" w:hAnsi="Cambria Math" w:cs="Times New Roman"/>
                            <w:i/>
                            <w:sz w:val="24"/>
                            <w:szCs w:val="24"/>
                            <w:color w:val="FAD02C"/>
                          </w:rPr>
                        </m:ctrlPr>
                      </m:radPr>
                      <m:deg/>
                      <m:e>
                        <m:r>
                          <m:rPr>
                            <m:ctrlPr>
                              <w:rPr>
                                <w:color w:val="FAD02C"/>
                              </w:rPr>
                            </m:ctrlPr>
                          </m:rPr>
                          <w:rPr>
                            <w:rFonts w:ascii="Cambria Math" w:hAnsi="Cambria Math" w:cs="Times New Roman"/>
                            <w:sz w:val="24"/>
                            <w:szCs w:val="24"/>
                          </w:rPr>
                          <m:t>49.5</m:t>
                        </m:r>
                      </m:e>
                    </m:rad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√(49.5)</a:t>
                </a:r>
              </mc:Fallback>
            </mc:AlternateContent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Using differentials, find the approximate value of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sSup>
                      <m:sSupPr>
                        <m:ctrlPr>
                          <w:rPr>
                            <w:rFonts w:ascii="Cambria Math" w:hAnsi="Cambria Math" w:cs="Times New Roman"/>
                            <w:i/>
                            <w:sz w:val="24"/>
                            <w:szCs w:val="24"/>
                            <w:color w:val="FAD02C"/>
                          </w:rPr>
                        </m:ctrlPr>
                      </m:sSupPr>
                      <m:e>
                        <m:d>
                          <m:dPr>
                            <m:ctrlPr>
                              <w:rPr>
                                <w:rFonts w:ascii="Cambria Math" w:hAnsi="Cambria Math" w:cs="Times New Roman"/>
                                <w:i/>
                                <w:sz w:val="24"/>
                                <w:szCs w:val="24"/>
                                <w:color w:val="FAD02C"/>
                              </w:rPr>
                            </m:ctrlPr>
                          </m:dPr>
                          <m:e>
                            <m:r>
                              <m:rPr>
                                <m:ctrlPr>
                                  <w:rPr>
                                    <w:color w:val="FAD02C"/>
                                  </w:rPr>
                                </m:ctrlPr>
                              </m:rPr>
                              <w:rPr>
                                <w:rFonts w:ascii="Cambria Math" w:hAnsi="Cambria Math" w:cs="Times New Roman"/>
                                <w:sz w:val="24"/>
                                <w:szCs w:val="24"/>
                              </w:rPr>
                              <m:t>25</m:t>
                            </m:r>
                          </m:e>
                        </m:d>
                      </m:e>
                      <m:sup>
                        <m:f>
                          <m:fPr>
                            <m:ctrlPr>
                              <w:rPr>
                                <w:rFonts w:ascii="Cambria Math" w:hAnsi="Cambria Math" w:cs="Times New Roman"/>
                                <w:i/>
                                <w:sz w:val="24"/>
                                <w:szCs w:val="24"/>
                                <w:color w:val="FAD02C"/>
                              </w:rPr>
                            </m:ctrlPr>
                          </m:fPr>
                          <m:num>
                            <m:r>
                              <m:rPr>
                                <m:ctrlPr>
                                  <w:rPr>
                                    <w:color w:val="FAD02C"/>
                                  </w:rPr>
                                </m:ctrlPr>
                              </m:rPr>
                              <w:rPr>
                                <w:rFonts w:ascii="Cambria Math" w:hAnsi="Cambria Math" w:cs="Times New Roman"/>
                                <w:sz w:val="24"/>
                                <w:szCs w:val="24"/>
                              </w:rPr>
                              <m:t>1</m:t>
                            </m:r>
                          </m:num>
                          <m:den>
                            <m:r>
                              <m:rPr>
                                <m:ctrlPr>
                                  <w:rPr>
                                    <w:color w:val="FAD02C"/>
                                  </w:rPr>
                                </m:ctrlPr>
                              </m:rPr>
                              <w:rPr>
                                <w:rFonts w:ascii="Cambria Math" w:hAnsi="Cambria Math" w:cs="Times New Roman"/>
                                <w:sz w:val="24"/>
                                <w:szCs w:val="24"/>
                              </w:rPr>
                              <m:t>3</m:t>
                            </m:r>
                          </m:den>
                        </m:f>
                      </m:sup>
                    </m:sSup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(25)^((1)/(3))</a:t>
                </a:r>
              </mc:Fallback>
            </mc:AlternateContent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2167128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200253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2016S, 2019S, 2025-2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Find the interval in which the function of given by f(x) = 2x</a:t>
            </a:r>
            <a:r>
              <a:rPr sz="1800" b="1" i="0" u="none" baseline="30000">
                <a:solidFill>
                  <a:srgbClr val="FAD02C"/>
                </a:solidFill>
                <a:latin typeface="Cambria"/>
              </a:rPr>
              <a:t>2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– 3x is strictly increasing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Find the approximate charge in the volume v of a cube of side x meters caused by increasing the side by 3%.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1362456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119786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2018, 2021M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Find the slope of the tangent to the curve y = x</a:t>
            </a:r>
            <a:r>
              <a:rPr sz="1800" b="1" i="0" u="none" baseline="30000">
                <a:solidFill>
                  <a:srgbClr val="FAD02C"/>
                </a:solidFill>
                <a:latin typeface="Cambria"/>
              </a:rPr>
              <a:t>3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– x at x = 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2017S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Find the points on the curve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f>
                      <m:fPr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  <w:szCs w:val="24"/>
                            <w:color w:val="FAD02C"/>
                          </w:rPr>
                        </m:ctrlPr>
                      </m:fPr>
                      <m:num>
                        <m:sSup>
                          <m:sSupPr>
                            <m:ctrlPr>
                              <w:rPr>
                                <w:rFonts w:ascii="Cambria Math" w:eastAsiaTheme="minorEastAsia" w:hAnsi="Cambria Math" w:cs="Times New Roman"/>
                                <w:i/>
                                <w:sz w:val="24"/>
                                <w:szCs w:val="24"/>
                                <w:color w:val="FAD02C"/>
                              </w:rPr>
                            </m:ctrlPr>
                          </m:sSupPr>
                          <m:e>
                            <m:r>
                              <m:rPr>
                                <m:ctrlPr>
                                  <w:rPr>
                                    <w:color w:val="FAD02C"/>
                                  </w:rPr>
                                </m:ctrlPr>
                              </m:rPr>
                              <w:rPr>
                                <w:rFonts w:ascii="Cambria Math" w:hAnsi="Cambria Math" w:cs="Times New Roman"/>
                                <w:sz w:val="24"/>
                                <w:szCs w:val="24"/>
                              </w:rPr>
                              <m:t>x</m:t>
                            </m:r>
                          </m:e>
                          <m:sup>
                            <m:r>
                              <m:rPr>
                                <m:ctrlPr>
                                  <w:rPr>
                                    <w:color w:val="FAD02C"/>
                                  </w:rPr>
                                </m:ctrlPr>
                              </m:rPr>
                              <w:rPr>
                                <w:rFonts w:ascii="Cambria Math" w:hAnsi="Cambria Math" w:cs="Times New Roman"/>
                                <w:sz w:val="24"/>
                                <w:szCs w:val="24"/>
                              </w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ctrlPr>
                              <w:rPr>
                                <w:color w:val="FAD02C"/>
                              </w:rPr>
                            </m:ctrlPr>
                          </m:rPr>
                          <w:rPr>
                            <w:rFonts w:ascii="Cambria Math" w:eastAsiaTheme="minorEastAsia" w:hAnsi="Cambria Math" w:cs="Times New Roman"/>
                            <w:sz w:val="24"/>
                            <w:szCs w:val="24"/>
                          </w:rPr>
                          <m:t>4</m:t>
                        </m:r>
                      </m:den>
                    </m:f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w:rPr>
                        <w:rFonts w:ascii="Cambria Math" w:eastAsiaTheme="minorEastAsia" w:hAnsi="Cambria Math" w:cs="Times New Roman"/>
                        <w:sz w:val="24"/>
                        <w:szCs w:val="24"/>
                      </w:rPr>
                      <m:t>+</m:t>
                    </m:r>
                    <m:f>
                      <m:fPr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  <w:szCs w:val="24"/>
                            <w:color w:val="FAD02C"/>
                          </w:rPr>
                        </m:ctrlPr>
                      </m:fPr>
                      <m:num>
                        <m:sSup>
                          <m:sSupPr>
                            <m:ctrlPr>
                              <w:rPr>
                                <w:rFonts w:ascii="Cambria Math" w:eastAsiaTheme="minorEastAsia" w:hAnsi="Cambria Math" w:cs="Times New Roman"/>
                                <w:i/>
                                <w:sz w:val="24"/>
                                <w:szCs w:val="24"/>
                                <w:color w:val="FAD02C"/>
                              </w:rPr>
                            </m:ctrlPr>
                          </m:sSupPr>
                          <m:e>
                            <m:r>
                              <m:rPr>
                                <m:ctrlPr>
                                  <w:rPr>
                                    <w:color w:val="FAD02C"/>
                                  </w:rPr>
                                </m:ctrlPr>
                              </m:rPr>
                              <w:rPr>
                                <w:rFonts w:ascii="Cambria Math" w:eastAsiaTheme="minorEastAsia" w:hAnsi="Cambria Math" w:cs="Times New Roman"/>
                                <w:sz w:val="24"/>
                                <w:szCs w:val="24"/>
                              </w:rPr>
                              <m:t>y</m:t>
                            </m:r>
                          </m:e>
                          <m:sup>
                            <m:r>
                              <m:rPr>
                                <m:ctrlPr>
                                  <w:rPr>
                                    <w:color w:val="FAD02C"/>
                                  </w:rPr>
                                </m:ctrlPr>
                              </m:rPr>
                              <w:rPr>
                                <w:rFonts w:ascii="Cambria Math" w:eastAsiaTheme="minorEastAsia" w:hAnsi="Cambria Math" w:cs="Times New Roman"/>
                                <w:sz w:val="24"/>
                                <w:szCs w:val="24"/>
                              </w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ctrlPr>
                              <w:rPr>
                                <w:color w:val="FAD02C"/>
                              </w:rPr>
                            </m:ctrlPr>
                          </m:rPr>
                          <w:rPr>
                            <w:rFonts w:ascii="Cambria Math" w:eastAsiaTheme="minorEastAsia" w:hAnsi="Cambria Math" w:cs="Times New Roman"/>
                            <w:sz w:val="24"/>
                            <w:szCs w:val="24"/>
                          </w:rPr>
                          <m:t>25</m:t>
                        </m:r>
                      </m:den>
                    </m:f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(x²)/(4)+(y²)/(25)</a:t>
                </a:r>
              </mc:Fallback>
            </mc:AlternateContent>
            <a:r>
              <a:rPr sz="1800" b="1" i="0" u="none">
                <a:solidFill>
                  <a:srgbClr val="FAD02C"/>
                </a:solidFill>
                <a:latin typeface="Cambria"/>
              </a:rPr>
              <a:t> = 1 at which the tangents are parallel to x – axis.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Find the interval in which the function f given by f(x) = x</a:t>
            </a:r>
            <a:r>
              <a:rPr sz="1800" b="1" i="0" u="none" baseline="30000">
                <a:solidFill>
                  <a:srgbClr val="FAD02C"/>
                </a:solidFill>
                <a:latin typeface="Cambria"/>
              </a:rPr>
              <a:t>2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– 4x + 6 is strictly 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decreasing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2021M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Find the local maximum value of the function g(x) = x</a:t>
            </a:r>
            <a:r>
              <a:rPr sz="1800" b="1" i="0" u="none" baseline="30000">
                <a:solidFill>
                  <a:srgbClr val="FAD02C"/>
                </a:solidFill>
                <a:latin typeface="Cambria"/>
              </a:rPr>
              <a:t>2 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+ 3x.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Using differentials, find the approximate value of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ad>
                      <m:radPr>
                        <m:degHide m:val="1"/>
                        <m:ctrlPr>
                          <w:rPr>
                            <w:rFonts w:ascii="Cambria Math" w:hAnsi="Cambria Math" w:cs="Times New Roman"/>
                            <w:i/>
                            <w:sz w:val="24"/>
                            <w:szCs w:val="24"/>
                            <w:color w:val="FAD02C"/>
                          </w:rPr>
                        </m:ctrlPr>
                      </m:radPr>
                      <m:deg/>
                      <m:e>
                        <m:r>
                          <m:rPr>
                            <m:ctrlPr>
                              <w:rPr>
                                <w:color w:val="FAD02C"/>
                              </w:rPr>
                            </m:ctrlPr>
                          </m:rPr>
                          <w:rPr>
                            <w:rFonts w:ascii="Cambria Math" w:hAnsi="Cambria Math" w:cs="Times New Roman"/>
                            <w:sz w:val="24"/>
                            <w:szCs w:val="24"/>
                          </w:rPr>
                          <m:t>25.3</m:t>
                        </m:r>
                      </m:e>
                    </m:rad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√(25.3)</a:t>
                </a:r>
              </mc:Fallback>
            </mc:AlternateContent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2286000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21214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2022M, 2024-2, 2025M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Find the local maximum value of the function g(x) = x</a:t>
            </a:r>
            <a:r>
              <a:rPr sz="1800" b="1" i="0" u="none" baseline="30000">
                <a:solidFill>
                  <a:srgbClr val="FAD02C"/>
                </a:solidFill>
                <a:latin typeface="Cambria"/>
              </a:rPr>
              <a:t>3 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- 3x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1673352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150876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2024-1,3,2026-1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The radius of circle is increasing at the rate of 0.7 cm/what is the rate of increase of its circumference?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2024-3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Prove that the function f(x)=cos x is decreasing in (0,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w:rPr>
                        <w:rFonts w:ascii="Cambria Math" w:eastAsiaTheme="minorEastAsia" w:hAnsi="Cambria Math" w:cs="Times New Roman"/>
                        <w:sz w:val="24"/>
                        <w:szCs w:val="24"/>
                      </w:rPr>
                      <m:t>π</m:t>
                    </m:r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π</a:t>
                </a:r>
              </mc:Fallback>
            </mc:AlternateContent>
            <a:r>
              <a:rPr sz="1800" b="1" i="0" u="none">
                <a:solidFill>
                  <a:srgbClr val="FAD02C"/>
                </a:solidFill>
                <a:latin typeface="Cambria"/>
              </a:rPr>
              <a:t>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2024-2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The total revenue in rupees received from the sale of x units of a product is given by R(x)=3x</a:t>
            </a:r>
            <a:r>
              <a:rPr sz="1800" b="1" i="0" u="none" baseline="30000">
                <a:solidFill>
                  <a:srgbClr val="FAD02C"/>
                </a:solidFill>
                <a:latin typeface="Cambria"/>
              </a:rPr>
              <a:t>2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+36x+5.Find the marginal revenue when x = 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2025-1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Find the interval in which the function f given f (x) = 4x</a:t>
            </a:r>
            <a:r>
              <a:rPr sz="1800" b="1" i="0" u="none" baseline="30000">
                <a:solidFill>
                  <a:srgbClr val="FAD02C"/>
                </a:solidFill>
                <a:latin typeface="Cambria"/>
              </a:rPr>
              <a:t>3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-6x-72x+30 is decreasing.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2025-1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A balloon which always remains spherical has a variable radius. Find the rate at which its volume is increasing with radius when the radius is 10 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cms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2025-2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Find the absolute maximum value of the function f (x) = x</a:t>
            </a:r>
            <a:r>
              <a:rPr sz="1800" b="1" i="0" u="none" baseline="30000">
                <a:solidFill>
                  <a:srgbClr val="FAD02C"/>
                </a:solidFill>
                <a:latin typeface="Cambria"/>
              </a:rPr>
              <a:t>3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in the given interval [-2,2]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2025-3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Differentiate sin</a:t>
            </a:r>
            <a:r>
              <a:rPr sz="1800" b="1" i="0" u="none" baseline="30000">
                <a:solidFill>
                  <a:srgbClr val="FAD02C"/>
                </a:solidFill>
                <a:latin typeface="Cambria"/>
              </a:rPr>
              <a:t>2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x+cos</a:t>
            </a:r>
            <a:r>
              <a:rPr sz="1800" b="1" i="0" u="none" baseline="30000">
                <a:solidFill>
                  <a:srgbClr val="FAD02C"/>
                </a:solidFill>
                <a:latin typeface="Cambria"/>
              </a:rPr>
              <a:t>2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y = 1 with respect to x.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Find the interval in which the function f given by f(x) = x</a:t>
            </a:r>
            <a:r>
              <a:rPr sz="1800" b="1" i="0" u="none" baseline="30000">
                <a:solidFill>
                  <a:srgbClr val="FAD02C"/>
                </a:solidFill>
                <a:latin typeface="Cambria"/>
              </a:rPr>
              <a:t>2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– 4x + 6 is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Strictly increasing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Strictly decreasing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2020824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1856231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2014S, 2017, 2024-1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Find two positive numbers x and y such that x + y = 60 and xy</a:t>
            </a:r>
            <a:r>
              <a:rPr sz="1800" b="1" i="0" u="none" baseline="30000">
                <a:solidFill>
                  <a:srgbClr val="FAD02C"/>
                </a:solidFill>
                <a:latin typeface="Cambria"/>
              </a:rPr>
              <a:t>3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is maximum.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1956816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179222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2015, 2017S, 2018S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Find the two positive numbers whose sum is 15 and sum of whose squares is 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minimum.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1335024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117043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2015S, 2018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Find two numbers whose sum is 24 and whose product is as large as possible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Find two numbers whose product is 100 and whose sum is minimum.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2018S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If the radius of a sphere is measured as 7 m with an error of 0.02 m, then find the approximate error in calculating its volume.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Find the intervals in which the function f is given by f(x) = 2x</a:t>
            </a:r>
            <a:r>
              <a:rPr sz="1800" b="1" i="0" u="none" baseline="30000">
                <a:solidFill>
                  <a:srgbClr val="FAD02C"/>
                </a:solidFill>
                <a:latin typeface="Cambria"/>
              </a:rPr>
              <a:t>3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– 3x</a:t>
            </a:r>
            <a:r>
              <a:rPr sz="1800" b="1" i="0" u="none" baseline="30000">
                <a:solidFill>
                  <a:srgbClr val="FAD02C"/>
                </a:solidFill>
                <a:latin typeface="Cambria"/>
              </a:rPr>
              <a:t>2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– 36x + 7 is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Strictly increasing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or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strictly decreasing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1472184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130759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2019S, 2021M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Find the point at which the tangent to the curve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w:rPr>
                        <w:rFonts w:ascii="Cambria Math" w:hAnsi="Cambria Math" w:cs="Times New Roman"/>
                        <w:sz w:val="24"/>
                        <w:szCs w:val="24"/>
                        <w:lang w:val="en-IN"/>
                      </w:rPr>
                      <m:t>y=</m:t>
                    </m:r>
                    <m:rad>
                      <m:radPr>
                        <m:degHide m:val="1"/>
                        <m:ctrlPr>
                          <w:rPr>
                            <w:rFonts w:ascii="Cambria Math" w:hAnsi="Cambria Math" w:cs="Times New Roman"/>
                            <w:i/>
                            <w:sz w:val="24"/>
                            <w:szCs w:val="24"/>
                            <w:lang w:val="en-IN"/>
                            <w:color w:val="FAD02C"/>
                          </w:rPr>
                        </m:ctrlPr>
                      </m:radPr>
                      <m:deg/>
                      <m:e>
                        <m:r>
                          <m:rPr>
                            <m:ctrlPr>
                              <w:rPr>
                                <w:color w:val="FAD02C"/>
                              </w:rPr>
                            </m:ctrlPr>
                          </m:rPr>
                          <w:rPr>
                            <w:rFonts w:ascii="Cambria Math" w:hAnsi="Cambria Math" w:cs="Times New Roman"/>
                            <w:sz w:val="24"/>
                            <w:szCs w:val="24"/>
                            <w:lang w:val="en-IN"/>
                          </w:rPr>
                          <m:t>4x-3</m:t>
                        </m:r>
                      </m:e>
                    </m:rad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w:rPr>
                        <w:rFonts w:ascii="Cambria Math" w:hAnsi="Cambria Math" w:cs="Times New Roman"/>
                        <w:sz w:val="24"/>
                        <w:szCs w:val="24"/>
                        <w:lang w:val="en-IN"/>
                      </w:rPr>
                      <m:t xml:space="preserve">-1 </m:t>
                    </m:r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y=√(4x-3)-1</a:t>
                </a:r>
              </mc:Fallback>
            </mc:AlternateContent>
            <a:r>
              <a:rPr sz="1800" b="1" i="0" u="none">
                <a:solidFill>
                  <a:srgbClr val="FAD02C"/>
                </a:solidFill>
                <a:latin typeface="Cambria"/>
              </a:rPr>
              <a:t>has its slope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f>
                      <m:fPr>
                        <m:ctrlPr>
                          <w:rPr>
                            <w:rFonts w:ascii="Cambria Math" w:hAnsi="Cambria Math" w:cs="Times New Roman"/>
                            <w:i/>
                            <w:sz w:val="24"/>
                            <w:szCs w:val="24"/>
                            <w:lang w:val="en-IN"/>
                            <w:color w:val="FAD02C"/>
                          </w:rPr>
                        </m:ctrlPr>
                      </m:fPr>
                      <m:num>
                        <m:r>
                          <m:rPr>
                            <m:ctrlPr>
                              <w:rPr>
                                <w:color w:val="FAD02C"/>
                              </w:rPr>
                            </m:ctrlPr>
                          </m:rPr>
                          <w:rPr>
                            <w:rFonts w:ascii="Cambria Math" w:hAnsi="Cambria Math" w:cs="Times New Roman"/>
                            <w:sz w:val="24"/>
                            <w:szCs w:val="24"/>
                            <w:lang w:val="en-IN"/>
                          </w:rPr>
                          <m:t>2</m:t>
                        </m:r>
                      </m:num>
                      <m:den>
                        <m:r>
                          <m:rPr>
                            <m:ctrlPr>
                              <w:rPr>
                                <w:color w:val="FAD02C"/>
                              </w:rPr>
                            </m:ctrlPr>
                          </m:rPr>
                          <w:rPr>
                            <w:rFonts w:ascii="Cambria Math" w:hAnsi="Cambria Math" w:cs="Times New Roman"/>
                            <w:sz w:val="24"/>
                            <w:szCs w:val="24"/>
                            <w:lang w:val="en-IN"/>
                          </w:rPr>
                          <m:t>3</m:t>
                        </m:r>
                      </m:den>
                    </m:f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(2)/(3)</a:t>
                </a:r>
              </mc:Fallback>
            </mc:AlternateContent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Find the intervals in which the function f is given by f(x) = 4x</a:t>
            </a:r>
            <a:r>
              <a:rPr sz="1800" b="1" i="0" u="none" baseline="30000">
                <a:solidFill>
                  <a:srgbClr val="FAD02C"/>
                </a:solidFill>
                <a:latin typeface="Cambria"/>
              </a:rPr>
              <a:t>3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- 6x</a:t>
            </a:r>
            <a:r>
              <a:rPr sz="1800" b="1" i="0" u="none" baseline="30000">
                <a:solidFill>
                  <a:srgbClr val="FAD02C"/>
                </a:solidFill>
                <a:latin typeface="Cambria"/>
              </a:rPr>
              <a:t>2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– 72x + 30 is 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Strictly increasing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or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strictly decreasing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Find the intervals in which the function f is given by f(x) =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sSup>
                      <m:sSupPr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  <w:szCs w:val="24"/>
                            <w:color w:val="FAD02C"/>
                          </w:rPr>
                        </m:ctrlPr>
                      </m:sSupPr>
                      <m:e>
                        <m:r>
                          <m:rPr>
                            <m:ctrlPr>
                              <w:rPr>
                                <w:color w:val="FAD02C"/>
                              </w:rPr>
                            </m:ctrlPr>
                          </m:rPr>
                          <w:rPr>
                            <w:rFonts w:ascii="Cambria Math" w:eastAsiaTheme="minorEastAsia" w:hAnsi="Cambria Math" w:cs="Times New Roman"/>
                            <w:sz w:val="24"/>
                            <w:szCs w:val="24"/>
                          </w:rPr>
                          <m:t>(x-2)</m:t>
                        </m:r>
                      </m:e>
                      <m:sup>
                        <m:r>
                          <m:rPr>
                            <m:ctrlPr>
                              <w:rPr>
                                <w:color w:val="FAD02C"/>
                              </w:rPr>
                            </m:ctrlPr>
                          </m:rPr>
                          <w:rPr>
                            <w:rFonts w:ascii="Cambria Math" w:eastAsiaTheme="minorEastAsia" w:hAnsi="Cambria Math" w:cs="Times New Roman"/>
                            <w:sz w:val="24"/>
                            <w:szCs w:val="24"/>
                          </w:rPr>
                          <m:t>2</m:t>
                        </m:r>
                      </m:sup>
                    </m:sSup>
                    <m:sSup>
                      <m:sSupPr>
                        <m:ctrlPr>
                          <w:rPr>
                            <w:rFonts w:ascii="Cambria Math" w:eastAsiaTheme="minorEastAsia" w:hAnsi="Cambria Math" w:cs="Times New Roman"/>
                            <w:i/>
                            <w:sz w:val="24"/>
                            <w:szCs w:val="24"/>
                            <w:color w:val="FAD02C"/>
                          </w:rPr>
                        </m:ctrlPr>
                      </m:sSupPr>
                      <m:e>
                        <m:r>
                          <m:rPr>
                            <m:ctrlPr>
                              <w:rPr>
                                <w:color w:val="FAD02C"/>
                              </w:rPr>
                            </m:ctrlPr>
                          </m:rPr>
                          <w:rPr>
                            <w:rFonts w:ascii="Cambria Math" w:eastAsiaTheme="minorEastAsia" w:hAnsi="Cambria Math" w:cs="Times New Roman"/>
                            <w:sz w:val="24"/>
                            <w:szCs w:val="24"/>
                          </w:rPr>
                          <m:t>(x+4)</m:t>
                        </m:r>
                      </m:e>
                      <m:sup>
                        <m:r>
                          <m:rPr>
                            <m:ctrlPr>
                              <w:rPr>
                                <w:color w:val="FAD02C"/>
                              </w:rPr>
                            </m:ctrlPr>
                          </m:rPr>
                          <w:rPr>
                            <w:rFonts w:ascii="Cambria Math" w:eastAsiaTheme="minorEastAsia" w:hAnsi="Cambria Math" w:cs="Times New Roman"/>
                            <w:sz w:val="24"/>
                            <w:szCs w:val="24"/>
                          </w:rPr>
                          <m:t>3</m:t>
                        </m:r>
                      </m:sup>
                    </m:sSup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(x-2)²(x+4)³</a:t>
                </a:r>
              </mc:Fallback>
            </mc:AlternateContent>
            <a:r>
              <a:rPr sz="1800" b="1" i="0" u="none">
                <a:solidFill>
                  <a:srgbClr val="FAD02C"/>
                </a:solidFill>
                <a:latin typeface="Cambria"/>
              </a:rPr>
              <a:t> is 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Strictly increasing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or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strictly decreasing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Find the intervals in which the function f is given by f(x) = x</a:t>
            </a:r>
            <a:r>
              <a:rPr sz="1800" b="1" i="0" u="none" baseline="30000">
                <a:solidFill>
                  <a:srgbClr val="FAD02C"/>
                </a:solidFill>
                <a:latin typeface="Cambria"/>
              </a:rPr>
              <a:t>2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w:rPr>
                        <w:rFonts w:ascii="Cambria Math" w:eastAsiaTheme="minorEastAsia" w:hAnsi="Cambria Math" w:cs="Times New Roman"/>
                        <w:sz w:val="24"/>
                        <w:szCs w:val="24"/>
                      </w:rPr>
                      <m:t>- 4x+6</m:t>
                    </m:r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- 4x+6</a:t>
                </a:r>
              </mc:Fallback>
            </mc:AlternateContent>
            <a:r>
              <a:rPr sz="1800" b="1" i="0" u="none">
                <a:solidFill>
                  <a:srgbClr val="FAD02C"/>
                </a:solidFill>
                <a:latin typeface="Cambria"/>
              </a:rPr>
              <a:t> is 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Strictly increasing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or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strictly decreasing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2024-3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Find local maximum and local minimum values of the function f given by 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f (x) = 3x</a:t>
            </a:r>
            <a:r>
              <a:rPr sz="1800" b="1" i="0" u="none" baseline="30000">
                <a:solidFill>
                  <a:srgbClr val="FAD02C"/>
                </a:solidFill>
                <a:latin typeface="Cambria"/>
              </a:rPr>
              <a:t>4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+4x</a:t>
            </a:r>
            <a:r>
              <a:rPr sz="1800" b="1" i="0" u="none" baseline="30000">
                <a:solidFill>
                  <a:srgbClr val="FAD02C"/>
                </a:solidFill>
                <a:latin typeface="Cambria"/>
              </a:rPr>
              <a:t>3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-12x</a:t>
            </a:r>
            <a:r>
              <a:rPr sz="1800" b="1" i="0" u="none" baseline="30000">
                <a:solidFill>
                  <a:srgbClr val="FAD02C"/>
                </a:solidFill>
                <a:latin typeface="Cambria"/>
              </a:rPr>
              <a:t>2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+12.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2025-1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Find the two positive numbers x and y such that x + y = 60 and xy</a:t>
            </a:r>
            <a:r>
              <a:rPr sz="1800" b="1" i="0" u="none" baseline="30000">
                <a:solidFill>
                  <a:srgbClr val="FAD02C"/>
                </a:solidFill>
                <a:latin typeface="Cambria"/>
              </a:rPr>
              <a:t>3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is maximum.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2025-2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A man of height 2 meters walks at a uniform speed of 5 Km/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hr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away from a lamp post which is 6 meter high. Find the rate at which the length of his shadow increases.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2025-3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Find the absolute maximum value of 2x</a:t>
            </a:r>
            <a:r>
              <a:rPr sz="1800" b="1" i="0" u="none" baseline="30000">
                <a:solidFill>
                  <a:srgbClr val="FAD02C"/>
                </a:solidFill>
                <a:latin typeface="Cambria"/>
              </a:rPr>
              <a:t>3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-24x+107 in the interval [1,3]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2026-1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Find the absolute maximum and minimum values of a function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w:rPr>
                        <w:rFonts w:ascii="Cambria Math" w:eastAsia="Times New Roman" w:hAnsi="Cambria Math" w:cs="Times New Roman"/>
                        <w:sz w:val="24"/>
                        <w:szCs w:val="24"/>
                        <w:lang w:val="en-US"/>
                      </w:rPr>
                      <m:t>f</m:t>
                    </m:r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f</a:t>
                </a:r>
              </mc:Fallback>
            </mc:AlternateContent>
            <a:r>
              <a:rPr sz="1800" b="1" i="0" u="none">
                <a:solidFill>
                  <a:srgbClr val="FAD02C"/>
                </a:solidFill>
                <a:latin typeface="Cambria"/>
              </a:rPr>
              <a:t> given by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w:rPr>
                        <w:rFonts w:ascii="Cambria Math" w:eastAsia="Times New Roman" w:hAnsi="Cambria Math" w:cs="Times New Roman"/>
                        <w:sz w:val="24"/>
                        <w:szCs w:val="24"/>
                        <w:lang w:val="en-US"/>
                      </w:rPr>
                      <m:t>f</m:t>
                    </m:r>
                    <m:d>
                      <m:dPr>
                        <m:ctrlPr>
                          <w:rPr>
                            <w:rFonts w:ascii="Cambria Math" w:eastAsia="Times New Roman" w:hAnsi="Cambria Math" w:cs="Times New Roman"/>
                            <w:sz w:val="24"/>
                            <w:szCs w:val="24"/>
                            <w:lang w:val="en-US"/>
                            <w:color w:val="FAD02C"/>
                          </w:rPr>
                        </m:ctrlPr>
                      </m:dPr>
                      <m:e>
                        <m:r>
                          <m:rPr>
                            <m:ctrlPr>
                              <w:rPr>
                                <w:color w:val="FAD02C"/>
                              </w:rPr>
                            </m:ctrlPr>
                          </m:rPr>
                          <w:rPr>
                            <w:rFonts w:ascii="Cambria Math" w:eastAsia="Times New Roman" w:hAnsi="Cambria Math" w:cs="Times New Roman"/>
                            <w:sz w:val="24"/>
                            <w:szCs w:val="24"/>
                            <w:lang w:val="en-US"/>
                          </w:rPr>
                          <m:t>x</m:t>
                        </m:r>
                      </m:e>
                    </m:d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w:rPr>
                        <w:rFonts w:ascii="Cambria Math" w:eastAsia="Times New Roman" w:hAnsi="Cambria Math" w:cs="Times New Roman"/>
                        <w:sz w:val="24"/>
                        <w:szCs w:val="24"/>
                        <w:lang w:val="en-US"/>
                      </w:rPr>
                      <m:t>=2</m:t>
                    </m:r>
                    <m:sSup>
                      <m:sSupPr>
                        <m:ctrlPr>
                          <w:rPr>
                            <w:rFonts w:ascii="Cambria Math" w:eastAsia="Times New Roman" w:hAnsi="Cambria Math" w:cs="Times New Roman"/>
                            <w:sz w:val="24"/>
                            <w:szCs w:val="24"/>
                            <w:lang w:val="en-US"/>
                            <w:color w:val="FAD02C"/>
                          </w:rPr>
                        </m:ctrlPr>
                      </m:sSupPr>
                      <m:e>
                        <m:r>
                          <m:rPr>
                            <m:ctrlPr>
                              <w:rPr>
                                <w:color w:val="FAD02C"/>
                              </w:rPr>
                            </m:ctrlPr>
                          </m:rPr>
                          <w:rPr>
                            <w:rFonts w:ascii="Cambria Math" w:eastAsia="Times New Roman" w:hAnsi="Cambria Math" w:cs="Times New Roman"/>
                            <w:sz w:val="24"/>
                            <w:szCs w:val="24"/>
                            <w:lang w:val="en-US"/>
                          </w:rPr>
                          <m:t>x</m:t>
                        </m:r>
                      </m:e>
                      <m:sup>
                        <m:r>
                          <m:rPr>
                            <m:ctrlPr>
                              <w:rPr>
                                <w:color w:val="FAD02C"/>
                              </w:rPr>
                            </m:ctrlPr>
                          </m:rPr>
                          <w:rPr>
                            <w:rFonts w:ascii="Cambria Math" w:eastAsia="Times New Roman" w:hAnsi="Cambria Math" w:cs="Times New Roman"/>
                            <w:sz w:val="24"/>
                            <w:szCs w:val="24"/>
                            <w:lang w:val="en-US"/>
                          </w:rPr>
                          <m:t>3</m:t>
                        </m:r>
                      </m:sup>
                    </m:sSup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w:rPr>
                        <w:rFonts w:ascii="Cambria Math" w:eastAsia="Times New Roman" w:hAnsi="Cambria Math" w:cs="Times New Roman"/>
                        <w:sz w:val="24"/>
                        <w:szCs w:val="24"/>
                        <w:lang w:val="en-US"/>
                      </w:rPr>
                      <m:t>-15</m:t>
                    </m:r>
                    <m:sSup>
                      <m:sSupPr>
                        <m:ctrlPr>
                          <w:rPr>
                            <w:rFonts w:ascii="Cambria Math" w:eastAsia="Times New Roman" w:hAnsi="Cambria Math" w:cs="Times New Roman"/>
                            <w:sz w:val="24"/>
                            <w:szCs w:val="24"/>
                            <w:lang w:val="en-US"/>
                            <w:color w:val="FAD02C"/>
                          </w:rPr>
                        </m:ctrlPr>
                      </m:sSupPr>
                      <m:e>
                        <m:r>
                          <m:rPr>
                            <m:ctrlPr>
                              <w:rPr>
                                <w:color w:val="FAD02C"/>
                              </w:rPr>
                            </m:ctrlPr>
                          </m:rPr>
                          <w:rPr>
                            <w:rFonts w:ascii="Cambria Math" w:eastAsia="Times New Roman" w:hAnsi="Cambria Math" w:cs="Times New Roman"/>
                            <w:sz w:val="24"/>
                            <w:szCs w:val="24"/>
                            <w:lang w:val="en-US"/>
                          </w:rPr>
                          <m:t>x</m:t>
                        </m:r>
                      </m:e>
                      <m:sup>
                        <m:r>
                          <m:rPr>
                            <m:ctrlPr>
                              <w:rPr>
                                <w:color w:val="FAD02C"/>
                              </w:rPr>
                            </m:ctrlPr>
                          </m:rPr>
                          <w:rPr>
                            <w:rFonts w:ascii="Cambria Math" w:eastAsia="Times New Roman" w:hAnsi="Cambria Math" w:cs="Times New Roman"/>
                            <w:sz w:val="24"/>
                            <w:szCs w:val="24"/>
                            <w:lang w:val="en-US"/>
                          </w:rPr>
                          <m:t>2</m:t>
                        </m:r>
                      </m:sup>
                    </m:sSup>
                    <m:r>
                      <m:rPr>
                        <m:ctrlPr>
                          <w:rPr>
                            <w:color w:val="FAD02C"/>
                          </w:rPr>
                        </m:ctrlPr>
                      </m:rPr>
                      <w:rPr>
                        <w:rFonts w:ascii="Cambria Math" w:eastAsia="Times New Roman" w:hAnsi="Cambria Math" w:cs="Times New Roman"/>
                        <w:sz w:val="24"/>
                        <w:szCs w:val="24"/>
                        <w:lang w:val="en-US"/>
                      </w:rPr>
                      <m:t>+36x+1</m:t>
                    </m:r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f(x)=2x³-15x²+36x+1</a:t>
                </a:r>
              </mc:Fallback>
            </mc:AlternateContent>
            <a:r>
              <a:rPr sz="1800" b="1" i="0" u="none">
                <a:solidFill>
                  <a:srgbClr val="FAD02C"/>
                </a:solidFill>
                <a:latin typeface="Cambria"/>
              </a:rPr>
              <a:t> on the interval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d>
                      <m:dPr>
                        <m:begChr m:val="["/>
                        <m:endChr m:val="]"/>
                        <m:ctrlPr>
                          <w:rPr>
                            <w:rFonts w:ascii="Cambria Math" w:eastAsia="Times New Roman" w:hAnsi="Cambria Math" w:cs="Times New Roman"/>
                            <w:sz w:val="24"/>
                            <w:szCs w:val="24"/>
                            <w:lang w:val="en-US"/>
                            <w:color w:val="FAD02C"/>
                          </w:rPr>
                        </m:ctrlPr>
                      </m:dPr>
                      <m:e>
                        <m:r>
                          <m:rPr>
                            <m:ctrlPr>
                              <w:rPr>
                                <w:color w:val="FAD02C"/>
                              </w:rPr>
                            </m:ctrlPr>
                          </m:rPr>
                          <w:rPr>
                            <w:rFonts w:ascii="Cambria Math" w:eastAsia="Times New Roman" w:hAnsi="Cambria Math" w:cs="Times New Roman"/>
                            <w:sz w:val="24"/>
                            <w:szCs w:val="24"/>
                            <w:lang w:val="en-US"/>
                          </w:rPr>
                          <m:t>1,5</m:t>
                        </m:r>
                      </m:e>
                    </m:d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[1,5]</a:t>
                </a:r>
              </mc:Fallback>
            </mc:AlternateContent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A ladder 24ft long leans against a vertical wall. The lower end is moving away at the rate of 3ft/sec. find the rate at which the top of the ladder is moving down wars.  If its foot is 8ft from the wall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2496312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233172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2014S, 2017, 2019, 2021M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The length x of a rectangle is decreasing at the rate 5cm/min and width y is increasing at the rate of 4cm/min when x = 8cm and y = 6 cm. find the rate of change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0725"/>
            <a:ext cx="1100023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i the perimeter (ii) the area of rectangle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1984248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181965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2015, 2018S, 2021M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A particle moves along the curve 6y = x</a:t>
            </a:r>
            <a:r>
              <a:rPr sz="1800" b="1" i="0" u="none" baseline="30000">
                <a:solidFill>
                  <a:srgbClr val="FAD02C"/>
                </a:solidFill>
                <a:latin typeface="Cambria"/>
              </a:rPr>
              <a:t>3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+ 2. Find the points on the curve at which the y-coordinate is changing 8 times as fast as the –coordinate.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3127248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296265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2015S, 2018, 2017S, 2018S, 2020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1217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A sand is pouring from a pie at the rate of 12cm</a:t>
            </a:r>
            <a:r>
              <a:rPr sz="1800" b="1" i="0" u="none" baseline="30000">
                <a:solidFill>
                  <a:srgbClr val="FAD02C"/>
                </a:solidFill>
                <a:latin typeface="Cambria"/>
              </a:rPr>
              <a:t>3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/sec. the falling sand 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form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a cone on the ground in such way that the height of the cone is always one-sixth of the radius of the base. How fast is the height of the sand cone increasing when the height is 4 cm.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1271016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110642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2016, 2022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If length x of a rectangle is decreasing at the rate of 3cm/min and the width y is increasing at the rate of 2 cm/min, when x = 10cm and y = 6 cm, find the rate of change of (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i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) the perimeter (ii) the area of rectangle.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1508760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13441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2016S, 2023M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A ladder 5m long is leaning against a wall. The bottom of the ladder is pulled along the ground, away from the wall, at the rate of 2 cm. how fast is its height on the wall decreasing when the foot of the ladder is 4m away from the wall?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Detailed Explanation for every topic.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Lecture pdfs and Hand written notes for all important derivations for PU Board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In app chat feature for all your doubts directly with the faculty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(RP Sir)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